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9" r:id="rId2"/>
    <p:sldMasterId id="2147483685" r:id="rId3"/>
  </p:sldMasterIdLst>
  <p:notesMasterIdLst>
    <p:notesMasterId r:id="rId26"/>
  </p:notesMasterIdLst>
  <p:sldIdLst>
    <p:sldId id="256" r:id="rId4"/>
    <p:sldId id="260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306" r:id="rId24"/>
    <p:sldId id="282" r:id="rId2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40D1A-CC74-4959-9E7B-CBAF54B05A8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806B6-C474-448F-8E4F-3CC9AF25F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44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6453" y="3780231"/>
            <a:ext cx="10182225" cy="126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D28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D28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D28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D28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6453" y="3800043"/>
            <a:ext cx="5695950" cy="1183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D28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5B67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01406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D28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5B67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68937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D28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6621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9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7153" y="15626"/>
            <a:ext cx="18201005" cy="10271760"/>
          </a:xfrm>
          <a:custGeom>
            <a:avLst/>
            <a:gdLst/>
            <a:ahLst/>
            <a:cxnLst/>
            <a:rect l="l" t="t" r="r" b="b"/>
            <a:pathLst>
              <a:path w="18201005" h="10271760">
                <a:moveTo>
                  <a:pt x="18200846" y="0"/>
                </a:moveTo>
                <a:lnTo>
                  <a:pt x="0" y="0"/>
                </a:lnTo>
                <a:lnTo>
                  <a:pt x="0" y="10271373"/>
                </a:lnTo>
                <a:lnTo>
                  <a:pt x="18200846" y="10271373"/>
                </a:lnTo>
                <a:lnTo>
                  <a:pt x="182008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257175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5CB8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514350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F39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7715249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629" y="723557"/>
            <a:ext cx="15744698" cy="94279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D28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0810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9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8309"/>
            <a:ext cx="17935575" cy="10259060"/>
          </a:xfrm>
          <a:custGeom>
            <a:avLst/>
            <a:gdLst/>
            <a:ahLst/>
            <a:cxnLst/>
            <a:rect l="l" t="t" r="r" b="b"/>
            <a:pathLst>
              <a:path w="17935575" h="10259060">
                <a:moveTo>
                  <a:pt x="17935397" y="10258690"/>
                </a:moveTo>
                <a:lnTo>
                  <a:pt x="17935397" y="0"/>
                </a:lnTo>
                <a:lnTo>
                  <a:pt x="0" y="0"/>
                </a:lnTo>
                <a:lnTo>
                  <a:pt x="0" y="10258690"/>
                </a:lnTo>
                <a:lnTo>
                  <a:pt x="17935397" y="102586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257175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5CB8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514350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F39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7715249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1646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192E-05BC-7370-5007-0781D8458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DEADD-FC41-678E-8BB7-B27BEF9CD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078D4-2AF8-DB81-9A05-66ED6E9BE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37675-1730-9F57-C23B-DD9C2DFC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2C966-C56A-64C1-5F87-7CFFDFE5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56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117F9-452A-6F30-5137-ABEDF921E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5D0C-868C-1248-4AAB-81836FAF8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1BC18-CB10-E262-9E48-FAAFE700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4F3B2-DAA5-4E0A-F7A5-D71FDA49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92A2F-E8ED-A2F0-A6C3-69924DC8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67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D2E2-4BA0-E0B2-4DBB-16D747751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070D1-695A-8E67-FD18-DFC0F2102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CD334-A273-E1FA-1F16-36FF2379C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A4A5-6E88-125C-93D7-127F08FA8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4D1FA-4BDF-8461-0F1A-E776445D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74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67045-EB64-8B55-AF30-34BF9591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71541-5251-A7CC-83E9-A918DF69E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E532C-FFFC-8037-60EC-BDB36E684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D95A0-B8BE-A5B0-72BA-3502E4C8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5A6CF-75E9-91D8-823A-4DF130E6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A375D-DCF8-DB20-A4BC-4BF5586E6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01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494B-7FC8-8E00-5BAF-36FEC7F7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85B24-DCD9-5A92-6875-494E205AA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DA670-A2D2-B572-0A54-2C0BBAA80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91D31-FEE0-E055-47B9-21DC523CE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B44F0-F566-DE7F-E395-4B137036C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1CA54-9951-0F01-5D52-F86994FF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67B389-31F3-86D7-06B4-A83EFCCC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E879F-06BE-2F0B-BA03-9A828D5D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4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CE0F6-8C94-09A4-41E4-439EFBDC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B8CB-1C90-03FE-D613-EEC14E5A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1D98B-2F57-579F-28BD-1D818A25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6A11F-E6E8-68B3-6F10-E32DD979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28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724FA-B941-2095-D6C9-294610799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494CF-23B4-7DB1-8857-3FC32817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1FA21-0F09-ACBF-2EB9-002E0678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44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CD965-8EC3-F5ED-4A7E-5A05F0A0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9908A-D4A2-3594-52FE-395FA3957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12EF6-4E92-9B6B-6F42-936BED604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C0AD1-CC87-4ADB-46E5-D27BCC90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AF333-001D-7458-E817-B270BDD6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A31AC-7546-0BEC-B4E2-73A50DA8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265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78692-FA58-702A-87D9-F5BF4FCB3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424496-0737-2B66-9463-82C3C0C45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DCCDF-2D7A-57D3-1110-63D75355E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C0E5E-AC76-86C8-C68C-3A193465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AC532-9444-5198-FB06-158D1924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388F-8BBE-5C33-0C42-766494B6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887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5AC5-6EF1-9C86-6FED-26995196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76280-6CFF-2D23-D642-609BF86BA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BF3B6-354C-89D4-945C-08001C332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30B76-C963-7905-C5E1-5549F0C8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57028-666C-002F-3C8A-908AE8C0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80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A7FE0-3B4B-B239-86A2-8C8F9675E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95A38-C32E-6949-49BB-D30CE4E6C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D8A45-D7E4-0ACB-CD0F-60355F94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1E59-49F8-C1BB-2F7F-360206942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135D5-ACF9-A064-223F-C169A332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5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7175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5CB8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514350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F39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715249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6453" y="1356817"/>
            <a:ext cx="1198626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D28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46453" y="4586173"/>
            <a:ext cx="8830310" cy="2391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905986" y="9444952"/>
            <a:ext cx="834390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7175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5CB8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5143500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F39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715249"/>
            <a:ext cx="209550" cy="2571750"/>
          </a:xfrm>
          <a:custGeom>
            <a:avLst/>
            <a:gdLst/>
            <a:ahLst/>
            <a:cxnLst/>
            <a:rect l="l" t="t" r="r" b="b"/>
            <a:pathLst>
              <a:path w="209550" h="2571750">
                <a:moveTo>
                  <a:pt x="209550" y="0"/>
                </a:moveTo>
                <a:lnTo>
                  <a:pt x="0" y="0"/>
                </a:lnTo>
                <a:lnTo>
                  <a:pt x="0" y="2571750"/>
                </a:lnTo>
                <a:lnTo>
                  <a:pt x="209550" y="2571750"/>
                </a:lnTo>
                <a:lnTo>
                  <a:pt x="209550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6453" y="1356817"/>
            <a:ext cx="715645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D284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17075" y="3586098"/>
            <a:ext cx="7623175" cy="4335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5B67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905986" y="9444952"/>
            <a:ext cx="834390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B676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b="1" dirty="0">
                <a:solidFill>
                  <a:srgbClr val="0D2841"/>
                </a:solidFill>
                <a:latin typeface="Arial"/>
                <a:cs typeface="Arial"/>
              </a:rPr>
              <a:t>‹#›</a:t>
            </a:fld>
            <a:r>
              <a:rPr b="1" spc="23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dirty="0"/>
              <a:t>/</a:t>
            </a:r>
            <a:r>
              <a:rPr spc="220" dirty="0"/>
              <a:t> </a:t>
            </a:r>
            <a:r>
              <a:rPr spc="-25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71987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0CC063-C55E-1F7D-DA40-1FF5FEFD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23345-AC0C-D6CF-076F-ECE24F505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6B052-F785-0606-AD5C-DAC73BCC6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E06D1-6B7F-467D-9E53-3C5D493F90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52771-CA95-0C56-C6E2-03E682A5C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8F742-9D99-2BE2-4AFB-9A6321F29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13032-7CF7-4C2F-9D5B-CF7E72691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9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World-Meteorological-Organization/wis2downloader/archive/refs/tags/v1.0.0b1%2Brc4.tar.gz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raining.wis2box.wis.wmo.int/practical-sessions/setting-up-wis2-downloader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enter for Geospatial Solutions Home">
            <a:extLst>
              <a:ext uri="{FF2B5EF4-FFF2-40B4-BE49-F238E27FC236}">
                <a16:creationId xmlns:a16="http://schemas.microsoft.com/office/drawing/2014/main" id="{A13028E5-D617-340D-D89A-76F63740D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109" y="7917417"/>
            <a:ext cx="3185435" cy="112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0CD01A1-9F7A-8794-A742-84A17B76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1" y="7692389"/>
            <a:ext cx="1577816" cy="1577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3615567-1D62-07C5-D17D-078BEA694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9314" y="7940464"/>
            <a:ext cx="1631156" cy="163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9">
            <a:extLst>
              <a:ext uri="{FF2B5EF4-FFF2-40B4-BE49-F238E27FC236}">
                <a16:creationId xmlns:a16="http://schemas.microsoft.com/office/drawing/2014/main" id="{F3421A7C-DEF0-1E3A-4A69-39A8EE66A8B2}"/>
              </a:ext>
            </a:extLst>
          </p:cNvPr>
          <p:cNvSpPr txBox="1"/>
          <p:nvPr/>
        </p:nvSpPr>
        <p:spPr>
          <a:xfrm>
            <a:off x="1220724" y="4519630"/>
            <a:ext cx="1508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685800" rtl="0">
              <a:defRPr/>
            </a:pPr>
            <a:r>
              <a:rPr lang="en-US" sz="6600" kern="1200" dirty="0">
                <a:solidFill>
                  <a:schemeClr val="tx1"/>
                </a:solidFill>
                <a:latin typeface="Calibri" panose="020F0502020204030204"/>
                <a:cs typeface="Calibri"/>
              </a:rPr>
              <a:t>WIS2DOWNLOADER</a:t>
            </a:r>
            <a:endParaRPr lang="en-US" sz="6600" kern="1200" dirty="0">
              <a:solidFill>
                <a:schemeClr val="tx1"/>
              </a:solidFill>
              <a:latin typeface="Calibri" panose="020F0502020204030204"/>
            </a:endParaRPr>
          </a:p>
          <a:p>
            <a:pPr algn="l" defTabSz="685800" rtl="0">
              <a:defRPr/>
            </a:pPr>
            <a:endParaRPr lang="en-US" sz="6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F32655D0-FE85-C341-280E-4E42BAB2D242}"/>
              </a:ext>
            </a:extLst>
          </p:cNvPr>
          <p:cNvSpPr txBox="1"/>
          <p:nvPr/>
        </p:nvSpPr>
        <p:spPr>
          <a:xfrm>
            <a:off x="1234440" y="5417820"/>
            <a:ext cx="1316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685800" rtl="0">
              <a:lnSpc>
                <a:spcPct val="125000"/>
              </a:lnSpc>
              <a:defRPr/>
            </a:pPr>
            <a:r>
              <a:rPr lang="en-US" sz="2475" kern="1200" dirty="0">
                <a:solidFill>
                  <a:prstClr val="black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Mutai</a:t>
            </a:r>
          </a:p>
          <a:p>
            <a:pPr algn="l" defTabSz="685800" rtl="0">
              <a:lnSpc>
                <a:spcPct val="125000"/>
              </a:lnSpc>
              <a:defRPr/>
            </a:pPr>
            <a:r>
              <a:rPr lang="en-US" sz="2475" kern="1200" dirty="0">
                <a:solidFill>
                  <a:prstClr val="black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Meteorological Service Authority</a:t>
            </a:r>
            <a:endParaRPr lang="en-US" sz="247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021F5AF2-C935-D4DB-AE7D-364F4146B14D}"/>
              </a:ext>
            </a:extLst>
          </p:cNvPr>
          <p:cNvSpPr txBox="1"/>
          <p:nvPr/>
        </p:nvSpPr>
        <p:spPr>
          <a:xfrm>
            <a:off x="1220724" y="6907649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685800" rtl="0">
              <a:defRPr/>
            </a:pPr>
            <a:r>
              <a:rPr lang="en-US" sz="1875" spc="300" dirty="0">
                <a:solidFill>
                  <a:srgbClr val="8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</a:t>
            </a:r>
            <a:r>
              <a:rPr lang="en-US" sz="1875" spc="300" baseline="30000" dirty="0">
                <a:solidFill>
                  <a:srgbClr val="8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875" spc="300" dirty="0">
                <a:solidFill>
                  <a:srgbClr val="8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SEPTEMBER 2026</a:t>
            </a:r>
          </a:p>
          <a:p>
            <a:pPr algn="l" defTabSz="685800" rtl="0">
              <a:defRPr/>
            </a:pPr>
            <a:endParaRPr lang="en-US" sz="187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419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What</a:t>
            </a:r>
            <a:r>
              <a:rPr spc="-245" dirty="0"/>
              <a:t> </a:t>
            </a:r>
            <a:r>
              <a:rPr dirty="0"/>
              <a:t>is</a:t>
            </a:r>
            <a:r>
              <a:rPr spc="-270" dirty="0"/>
              <a:t> </a:t>
            </a:r>
            <a:r>
              <a:rPr spc="-60" dirty="0"/>
              <a:t>WIS2</a:t>
            </a:r>
            <a:r>
              <a:rPr spc="-240" dirty="0"/>
              <a:t> </a:t>
            </a:r>
            <a:r>
              <a:rPr spc="-85" dirty="0"/>
              <a:t>Downloader?</a:t>
            </a:r>
          </a:p>
        </p:txBody>
      </p:sp>
      <p:sp>
        <p:nvSpPr>
          <p:cNvPr id="4" name="object 4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46453" y="2639694"/>
            <a:ext cx="6400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An</a:t>
            </a:r>
            <a:r>
              <a:rPr sz="1800" spc="-4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B676F"/>
                </a:solidFill>
                <a:latin typeface="Arial MT"/>
                <a:cs typeface="Arial MT"/>
              </a:rPr>
              <a:t>open-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source</a:t>
            </a:r>
            <a:r>
              <a:rPr sz="1800" spc="-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tool</a:t>
            </a:r>
            <a:r>
              <a:rPr sz="1800" spc="-2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automated</a:t>
            </a:r>
            <a:r>
              <a:rPr sz="1800" spc="-2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data</a:t>
            </a:r>
            <a:r>
              <a:rPr sz="1800" spc="-2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acquisition</a:t>
            </a:r>
            <a:r>
              <a:rPr sz="1800" spc="-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B676F"/>
                </a:solidFill>
                <a:latin typeface="Arial MT"/>
                <a:cs typeface="Arial MT"/>
              </a:rPr>
              <a:t>WIS2.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33500" y="4287901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46453" y="3308532"/>
            <a:ext cx="3321050" cy="80327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b="1" dirty="0">
                <a:solidFill>
                  <a:srgbClr val="0D2841"/>
                </a:solidFill>
                <a:latin typeface="Arial"/>
                <a:cs typeface="Arial"/>
              </a:rPr>
              <a:t>Subscribes</a:t>
            </a:r>
            <a:r>
              <a:rPr sz="1800" b="1" spc="60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2841"/>
                </a:solidFill>
                <a:latin typeface="Arial"/>
                <a:cs typeface="Arial"/>
              </a:rPr>
              <a:t>via</a:t>
            </a:r>
            <a:r>
              <a:rPr sz="1800" b="1" spc="70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D2841"/>
                </a:solidFill>
                <a:latin typeface="Arial"/>
                <a:cs typeface="Arial"/>
              </a:rPr>
              <a:t>MQTT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Connects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WIS2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Global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Brokers.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33500" y="5293740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46453" y="4314372"/>
            <a:ext cx="5039995" cy="80327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b="1" dirty="0">
                <a:solidFill>
                  <a:srgbClr val="0D2841"/>
                </a:solidFill>
                <a:latin typeface="Arial"/>
                <a:cs typeface="Arial"/>
              </a:rPr>
              <a:t>Automatic</a:t>
            </a:r>
            <a:r>
              <a:rPr sz="1800" b="1" spc="60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downloads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Pulls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meteorological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files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as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notifications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arrive.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33500" y="6299453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46453" y="5319809"/>
            <a:ext cx="2930525" cy="80391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b="1" dirty="0">
                <a:solidFill>
                  <a:srgbClr val="0D2841"/>
                </a:solidFill>
                <a:latin typeface="Arial"/>
                <a:cs typeface="Arial"/>
              </a:rPr>
              <a:t>Containerised</a:t>
            </a:r>
            <a:r>
              <a:rPr sz="1800" b="1" spc="90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deployment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Docker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&amp;</a:t>
            </a:r>
            <a:r>
              <a:rPr sz="17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Docker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Compose.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6453" y="6325242"/>
            <a:ext cx="4257040" cy="80454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Audience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NMHSs,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researchers,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WIS2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node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 operators.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572625" y="3288538"/>
            <a:ext cx="7689850" cy="5570220"/>
            <a:chOff x="9572625" y="3288538"/>
            <a:chExt cx="7689850" cy="5570220"/>
          </a:xfrm>
        </p:grpSpPr>
        <p:sp>
          <p:nvSpPr>
            <p:cNvPr id="14" name="object 14"/>
            <p:cNvSpPr/>
            <p:nvPr/>
          </p:nvSpPr>
          <p:spPr>
            <a:xfrm>
              <a:off x="9594850" y="3288538"/>
              <a:ext cx="7667625" cy="5570220"/>
            </a:xfrm>
            <a:custGeom>
              <a:avLst/>
              <a:gdLst/>
              <a:ahLst/>
              <a:cxnLst/>
              <a:rect l="l" t="t" r="r" b="b"/>
              <a:pathLst>
                <a:path w="7667625" h="5570220">
                  <a:moveTo>
                    <a:pt x="7667625" y="0"/>
                  </a:moveTo>
                  <a:lnTo>
                    <a:pt x="0" y="0"/>
                  </a:lnTo>
                  <a:lnTo>
                    <a:pt x="0" y="5569711"/>
                  </a:lnTo>
                  <a:lnTo>
                    <a:pt x="7667625" y="5569711"/>
                  </a:lnTo>
                  <a:lnTo>
                    <a:pt x="7667625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72625" y="3288538"/>
              <a:ext cx="44450" cy="5570220"/>
            </a:xfrm>
            <a:custGeom>
              <a:avLst/>
              <a:gdLst/>
              <a:ahLst/>
              <a:cxnLst/>
              <a:rect l="l" t="t" r="r" b="b"/>
              <a:pathLst>
                <a:path w="44450" h="5570220">
                  <a:moveTo>
                    <a:pt x="44450" y="0"/>
                  </a:moveTo>
                  <a:lnTo>
                    <a:pt x="0" y="0"/>
                  </a:lnTo>
                  <a:lnTo>
                    <a:pt x="0" y="5569711"/>
                  </a:lnTo>
                  <a:lnTo>
                    <a:pt x="44450" y="5569711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1FB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948036" y="3566921"/>
            <a:ext cx="2651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114" dirty="0">
                <a:solidFill>
                  <a:srgbClr val="5B676F"/>
                </a:solidFill>
                <a:latin typeface="Arial"/>
                <a:cs typeface="Arial"/>
              </a:rPr>
              <a:t>KEY</a:t>
            </a:r>
            <a:r>
              <a:rPr sz="1800" b="1" spc="385" dirty="0">
                <a:solidFill>
                  <a:srgbClr val="5B676F"/>
                </a:solidFill>
                <a:latin typeface="Arial"/>
                <a:cs typeface="Arial"/>
              </a:rPr>
              <a:t> </a:t>
            </a:r>
            <a:r>
              <a:rPr sz="1800" b="1" spc="150" dirty="0">
                <a:solidFill>
                  <a:srgbClr val="5B676F"/>
                </a:solidFill>
                <a:latin typeface="Arial"/>
                <a:cs typeface="Arial"/>
              </a:rPr>
              <a:t>DESIGN</a:t>
            </a:r>
            <a:r>
              <a:rPr sz="1800" b="1" spc="350" dirty="0">
                <a:solidFill>
                  <a:srgbClr val="5B676F"/>
                </a:solidFill>
                <a:latin typeface="Arial"/>
                <a:cs typeface="Arial"/>
              </a:rPr>
              <a:t> </a:t>
            </a:r>
            <a:r>
              <a:rPr sz="1800" b="1" spc="114" dirty="0">
                <a:solidFill>
                  <a:srgbClr val="5B676F"/>
                </a:solidFill>
                <a:latin typeface="Arial"/>
                <a:cs typeface="Arial"/>
              </a:rPr>
              <a:t>GOALS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48036" y="4138117"/>
            <a:ext cx="1092835" cy="770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D2841"/>
                </a:solidFill>
                <a:latin typeface="Arial"/>
                <a:cs typeface="Arial"/>
              </a:rPr>
              <a:t>Ease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Reliability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024614" y="4151121"/>
            <a:ext cx="33502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one</a:t>
            </a:r>
            <a:r>
              <a:rPr sz="1800" spc="-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command</a:t>
            </a:r>
            <a:r>
              <a:rPr sz="1800" spc="-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B676F"/>
                </a:solidFill>
                <a:latin typeface="Arial MT"/>
                <a:cs typeface="Arial MT"/>
              </a:rPr>
              <a:t>start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dedup · </a:t>
            </a:r>
            <a:r>
              <a:rPr sz="1800" spc="-10" dirty="0">
                <a:solidFill>
                  <a:srgbClr val="5B676F"/>
                </a:solidFill>
                <a:latin typeface="Arial MT"/>
                <a:cs typeface="Arial MT"/>
              </a:rPr>
              <a:t>SHA-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512</a:t>
            </a:r>
            <a:r>
              <a:rPr sz="1800" spc="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· </a:t>
            </a:r>
            <a:r>
              <a:rPr sz="1800" spc="-10" dirty="0">
                <a:solidFill>
                  <a:srgbClr val="5B676F"/>
                </a:solidFill>
                <a:latin typeface="Arial MT"/>
                <a:cs typeface="Arial MT"/>
              </a:rPr>
              <a:t>multi-queuing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48036" y="5078348"/>
            <a:ext cx="1068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Flexibility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024614" y="5091176"/>
            <a:ext cx="3568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wildcards</a:t>
            </a:r>
            <a:r>
              <a:rPr sz="1800" spc="4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·</a:t>
            </a:r>
            <a:r>
              <a:rPr sz="1800" spc="-2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filter</a:t>
            </a:r>
            <a:r>
              <a:rPr sz="1800" spc="-1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rules</a:t>
            </a:r>
            <a:r>
              <a:rPr sz="1800" spc="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·</a:t>
            </a:r>
            <a:r>
              <a:rPr sz="1800" spc="-1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5B676F"/>
                </a:solidFill>
                <a:latin typeface="Arial MT"/>
                <a:cs typeface="Arial MT"/>
              </a:rPr>
              <a:t>multi-</a:t>
            </a:r>
            <a:r>
              <a:rPr sz="1800" spc="-10" dirty="0">
                <a:solidFill>
                  <a:srgbClr val="5B676F"/>
                </a:solidFill>
                <a:latin typeface="Arial MT"/>
                <a:cs typeface="Arial MT"/>
              </a:rPr>
              <a:t>broker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48036" y="5548376"/>
            <a:ext cx="145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Observability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024614" y="5561203"/>
            <a:ext cx="2277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Prometheus</a:t>
            </a:r>
            <a:r>
              <a:rPr sz="1800" spc="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676F"/>
                </a:solidFill>
                <a:latin typeface="Arial MT"/>
                <a:cs typeface="Arial MT"/>
              </a:rPr>
              <a:t>·</a:t>
            </a:r>
            <a:r>
              <a:rPr sz="1800" spc="-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B676F"/>
                </a:solidFill>
                <a:latin typeface="Arial MT"/>
                <a:cs typeface="Arial MT"/>
              </a:rPr>
              <a:t>Grafana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23" name="object 2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Key</a:t>
            </a:r>
            <a:r>
              <a:rPr spc="-250" dirty="0"/>
              <a:t> </a:t>
            </a:r>
            <a:r>
              <a:rPr spc="-85" dirty="0"/>
              <a:t>features.</a:t>
            </a:r>
          </a:p>
        </p:txBody>
      </p:sp>
      <p:sp>
        <p:nvSpPr>
          <p:cNvPr id="4" name="object 4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3500" y="4008501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6453" y="3028870"/>
            <a:ext cx="2749550" cy="80391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Multi-language</a:t>
            </a:r>
            <a:r>
              <a:rPr kumimoji="0" sz="1800" b="1" i="0" u="none" strike="noStrike" kern="0" cap="none" spc="5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Web</a:t>
            </a:r>
            <a:r>
              <a:rPr kumimoji="0" sz="1800" b="1" i="0" u="none" strike="noStrike" kern="0" cap="none" spc="4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UI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EN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FR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ES</a:t>
            </a:r>
            <a:r>
              <a:rPr kumimoji="0" sz="1700" b="0" i="0" u="none" strike="noStrike" kern="0" cap="none" spc="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r>
              <a:rPr kumimoji="0" sz="1700" b="0" i="0" u="none" strike="noStrike" kern="0" cap="none" spc="-1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AR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ZH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RU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33500" y="5014340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6453" y="4035208"/>
            <a:ext cx="3967479" cy="80327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REST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API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Programmatic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subscription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management.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33500" y="6026403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6453" y="5165547"/>
            <a:ext cx="2434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MQTT</a:t>
            </a:r>
            <a:r>
              <a:rPr kumimoji="0" sz="1800" b="1" i="0" u="none" strike="noStrike" kern="0" cap="none" spc="5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topic</a:t>
            </a:r>
            <a:r>
              <a:rPr kumimoji="0" sz="1800" b="1" i="0" u="none" strike="noStrike" kern="0" cap="none" spc="5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wildcards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0" y="5579998"/>
            <a:ext cx="260985" cy="283845"/>
          </a:xfrm>
          <a:prstGeom prst="rect">
            <a:avLst/>
          </a:prstGeom>
          <a:solidFill>
            <a:srgbClr val="EDF3F7"/>
          </a:solidFill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+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07058" y="5578855"/>
            <a:ext cx="122618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single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level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81376" y="5579998"/>
            <a:ext cx="260985" cy="283845"/>
          </a:xfrm>
          <a:prstGeom prst="rect">
            <a:avLst/>
          </a:prstGeom>
          <a:solidFill>
            <a:srgbClr val="EDF3F7"/>
          </a:solidFill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#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9533" y="5578855"/>
            <a:ext cx="100012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multi-level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33500" y="7032243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4"/>
                </a:lnTo>
                <a:lnTo>
                  <a:pt x="7667625" y="9524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46453" y="6053256"/>
            <a:ext cx="3795395" cy="80327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Topic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search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UI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browses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GDC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catalogue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directly.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46453" y="7059096"/>
            <a:ext cx="6256655" cy="80327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Filtering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Pre-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post-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download</a:t>
            </a:r>
            <a:r>
              <a:rPr kumimoji="0" sz="1700" b="0" i="0" u="none" strike="noStrike" kern="0" cap="none" spc="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rules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media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type</a:t>
            </a:r>
            <a:r>
              <a:rPr kumimoji="0" sz="1700" b="0" i="0" u="none" strike="noStrike" kern="0" cap="none" spc="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custom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condition.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72625" y="4008501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86086" y="3028870"/>
            <a:ext cx="2754630" cy="80391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Automatic</a:t>
            </a:r>
            <a:r>
              <a:rPr kumimoji="0" sz="1800" b="1" i="0" u="none" strike="noStrike" kern="0" cap="none" spc="6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deduplication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Redis</a:t>
            </a:r>
            <a:r>
              <a:rPr kumimoji="0" sz="1700" b="0" i="0" u="none" strike="noStrike" kern="0" cap="none" spc="-7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tracks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notification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IDs.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572625" y="5014340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86086" y="4035208"/>
            <a:ext cx="3991610" cy="80327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SHA-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512</a:t>
            </a:r>
            <a:r>
              <a:rPr kumimoji="0" sz="1800" b="1" i="0" u="none" strike="noStrike" kern="0" cap="none" spc="9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verification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File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integrity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checked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every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download.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572625" y="6026403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572625" y="5515990"/>
            <a:ext cx="4815840" cy="336550"/>
          </a:xfrm>
          <a:custGeom>
            <a:avLst/>
            <a:gdLst/>
            <a:ahLst/>
            <a:cxnLst/>
            <a:rect l="l" t="t" r="r" b="b"/>
            <a:pathLst>
              <a:path w="4815840" h="336550">
                <a:moveTo>
                  <a:pt x="4796790" y="0"/>
                </a:moveTo>
                <a:lnTo>
                  <a:pt x="19050" y="0"/>
                </a:lnTo>
                <a:lnTo>
                  <a:pt x="11626" y="1494"/>
                </a:lnTo>
                <a:lnTo>
                  <a:pt x="5572" y="5572"/>
                </a:lnTo>
                <a:lnTo>
                  <a:pt x="1494" y="11626"/>
                </a:lnTo>
                <a:lnTo>
                  <a:pt x="0" y="19050"/>
                </a:lnTo>
                <a:lnTo>
                  <a:pt x="0" y="317500"/>
                </a:lnTo>
                <a:lnTo>
                  <a:pt x="1494" y="324923"/>
                </a:lnTo>
                <a:lnTo>
                  <a:pt x="5572" y="330977"/>
                </a:lnTo>
                <a:lnTo>
                  <a:pt x="11626" y="335055"/>
                </a:lnTo>
                <a:lnTo>
                  <a:pt x="19050" y="336550"/>
                </a:lnTo>
                <a:lnTo>
                  <a:pt x="4796790" y="336550"/>
                </a:lnTo>
                <a:lnTo>
                  <a:pt x="4804213" y="335055"/>
                </a:lnTo>
                <a:lnTo>
                  <a:pt x="4810267" y="330977"/>
                </a:lnTo>
                <a:lnTo>
                  <a:pt x="4814345" y="324923"/>
                </a:lnTo>
                <a:lnTo>
                  <a:pt x="4815840" y="317500"/>
                </a:lnTo>
                <a:lnTo>
                  <a:pt x="4815840" y="19050"/>
                </a:lnTo>
                <a:lnTo>
                  <a:pt x="4814345" y="11626"/>
                </a:lnTo>
                <a:lnTo>
                  <a:pt x="4810267" y="5572"/>
                </a:lnTo>
                <a:lnTo>
                  <a:pt x="4804213" y="1494"/>
                </a:lnTo>
                <a:lnTo>
                  <a:pt x="4796790" y="0"/>
                </a:lnTo>
                <a:close/>
              </a:path>
            </a:pathLst>
          </a:custGeom>
          <a:solidFill>
            <a:srgbClr val="EDF3F7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86086" y="5165547"/>
            <a:ext cx="3998595" cy="669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1800" b="1" i="0" u="none" strike="noStrike" kern="0" cap="none" spc="3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organisation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8900" marR="0" lvl="0" indent="0" defTabSz="91440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DownloadPath/YYYY/MM/DD/&lt;filename&gt;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72625" y="7032243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4"/>
                </a:lnTo>
                <a:lnTo>
                  <a:pt x="7667625" y="9524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586086" y="6053256"/>
            <a:ext cx="3655060" cy="80327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Metrics</a:t>
            </a:r>
            <a:r>
              <a:rPr kumimoji="0" sz="1800" b="1" i="0" u="none" strike="noStrike" kern="0" cap="none" spc="6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&amp;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dashboards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Prometheus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+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Grafana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out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box.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586086" y="7059096"/>
            <a:ext cx="3931285" cy="80327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Horizontal</a:t>
            </a:r>
            <a:r>
              <a:rPr kumimoji="0" sz="1800" b="1" i="0" u="none" strike="noStrike" kern="0" cap="none" spc="7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scaling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Multiple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workers or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subscriber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instances.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28" name="object 28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6453" y="995320"/>
            <a:ext cx="7332980" cy="715581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1" i="0" u="none" strike="noStrike" kern="0" cap="none" spc="-4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Key</a:t>
            </a:r>
            <a:r>
              <a:rPr kumimoji="0" sz="4400" b="1" i="0" u="none" strike="noStrike" kern="0" cap="none" spc="-24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4400" b="1" i="0" u="none" strike="noStrike" kern="0" cap="none" spc="-8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software</a:t>
            </a:r>
            <a:r>
              <a:rPr kumimoji="0" sz="4400" b="1" i="0" u="none" strike="noStrike" kern="0" cap="none" spc="-20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4400" b="1" i="0" u="none" strike="noStrike" kern="0" cap="none" spc="-4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4400" b="1" i="0" u="none" strike="noStrike" kern="0" cap="none" spc="-24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4400" b="1" i="0" u="none" strike="noStrike" kern="0" cap="none" spc="-8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standards.</a:t>
            </a:r>
            <a:endParaRPr kumimoji="0" sz="4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3400" y="2145538"/>
            <a:ext cx="16225519" cy="7665720"/>
            <a:chOff x="533400" y="2145538"/>
            <a:chExt cx="16225519" cy="7665720"/>
          </a:xfrm>
        </p:grpSpPr>
        <p:sp>
          <p:nvSpPr>
            <p:cNvPr id="4" name="object 4"/>
            <p:cNvSpPr/>
            <p:nvPr/>
          </p:nvSpPr>
          <p:spPr>
            <a:xfrm>
              <a:off x="1333500" y="2361438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2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762000" y="381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1FB6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" name="object 5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8972550"/>
              <a:ext cx="2483485" cy="838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104243" y="2151888"/>
              <a:ext cx="4648200" cy="4965700"/>
            </a:xfrm>
            <a:custGeom>
              <a:avLst/>
              <a:gdLst/>
              <a:ahLst/>
              <a:cxnLst/>
              <a:rect l="l" t="t" r="r" b="b"/>
              <a:pathLst>
                <a:path w="4648200" h="4965700">
                  <a:moveTo>
                    <a:pt x="3873499" y="0"/>
                  </a:moveTo>
                  <a:lnTo>
                    <a:pt x="774700" y="0"/>
                  </a:lnTo>
                  <a:lnTo>
                    <a:pt x="727506" y="1413"/>
                  </a:lnTo>
                  <a:lnTo>
                    <a:pt x="681061" y="5601"/>
                  </a:lnTo>
                  <a:lnTo>
                    <a:pt x="635444" y="12481"/>
                  </a:lnTo>
                  <a:lnTo>
                    <a:pt x="590738" y="21972"/>
                  </a:lnTo>
                  <a:lnTo>
                    <a:pt x="547022" y="33994"/>
                  </a:lnTo>
                  <a:lnTo>
                    <a:pt x="504378" y="48466"/>
                  </a:lnTo>
                  <a:lnTo>
                    <a:pt x="462888" y="65306"/>
                  </a:lnTo>
                  <a:lnTo>
                    <a:pt x="422631" y="84433"/>
                  </a:lnTo>
                  <a:lnTo>
                    <a:pt x="383690" y="105767"/>
                  </a:lnTo>
                  <a:lnTo>
                    <a:pt x="346145" y="129226"/>
                  </a:lnTo>
                  <a:lnTo>
                    <a:pt x="310077" y="154730"/>
                  </a:lnTo>
                  <a:lnTo>
                    <a:pt x="275567" y="182197"/>
                  </a:lnTo>
                  <a:lnTo>
                    <a:pt x="242696" y="211546"/>
                  </a:lnTo>
                  <a:lnTo>
                    <a:pt x="211546" y="242696"/>
                  </a:lnTo>
                  <a:lnTo>
                    <a:pt x="182197" y="275567"/>
                  </a:lnTo>
                  <a:lnTo>
                    <a:pt x="154730" y="310077"/>
                  </a:lnTo>
                  <a:lnTo>
                    <a:pt x="129226" y="346145"/>
                  </a:lnTo>
                  <a:lnTo>
                    <a:pt x="105767" y="383690"/>
                  </a:lnTo>
                  <a:lnTo>
                    <a:pt x="84433" y="422631"/>
                  </a:lnTo>
                  <a:lnTo>
                    <a:pt x="65306" y="462888"/>
                  </a:lnTo>
                  <a:lnTo>
                    <a:pt x="48466" y="504378"/>
                  </a:lnTo>
                  <a:lnTo>
                    <a:pt x="33994" y="547022"/>
                  </a:lnTo>
                  <a:lnTo>
                    <a:pt x="21972" y="590738"/>
                  </a:lnTo>
                  <a:lnTo>
                    <a:pt x="12481" y="635444"/>
                  </a:lnTo>
                  <a:lnTo>
                    <a:pt x="5601" y="681061"/>
                  </a:lnTo>
                  <a:lnTo>
                    <a:pt x="1413" y="727506"/>
                  </a:lnTo>
                  <a:lnTo>
                    <a:pt x="0" y="774700"/>
                  </a:lnTo>
                  <a:lnTo>
                    <a:pt x="0" y="4190872"/>
                  </a:lnTo>
                  <a:lnTo>
                    <a:pt x="1413" y="4238066"/>
                  </a:lnTo>
                  <a:lnTo>
                    <a:pt x="5601" y="4284511"/>
                  </a:lnTo>
                  <a:lnTo>
                    <a:pt x="12481" y="4330128"/>
                  </a:lnTo>
                  <a:lnTo>
                    <a:pt x="21972" y="4374834"/>
                  </a:lnTo>
                  <a:lnTo>
                    <a:pt x="33994" y="4418550"/>
                  </a:lnTo>
                  <a:lnTo>
                    <a:pt x="48466" y="4461194"/>
                  </a:lnTo>
                  <a:lnTo>
                    <a:pt x="65306" y="4502684"/>
                  </a:lnTo>
                  <a:lnTo>
                    <a:pt x="84433" y="4542941"/>
                  </a:lnTo>
                  <a:lnTo>
                    <a:pt x="105767" y="4581882"/>
                  </a:lnTo>
                  <a:lnTo>
                    <a:pt x="129226" y="4619427"/>
                  </a:lnTo>
                  <a:lnTo>
                    <a:pt x="154730" y="4655495"/>
                  </a:lnTo>
                  <a:lnTo>
                    <a:pt x="182197" y="4690005"/>
                  </a:lnTo>
                  <a:lnTo>
                    <a:pt x="211546" y="4722876"/>
                  </a:lnTo>
                  <a:lnTo>
                    <a:pt x="242696" y="4754026"/>
                  </a:lnTo>
                  <a:lnTo>
                    <a:pt x="275567" y="4783375"/>
                  </a:lnTo>
                  <a:lnTo>
                    <a:pt x="310077" y="4810842"/>
                  </a:lnTo>
                  <a:lnTo>
                    <a:pt x="346145" y="4836346"/>
                  </a:lnTo>
                  <a:lnTo>
                    <a:pt x="383690" y="4859805"/>
                  </a:lnTo>
                  <a:lnTo>
                    <a:pt x="422631" y="4881139"/>
                  </a:lnTo>
                  <a:lnTo>
                    <a:pt x="462888" y="4900266"/>
                  </a:lnTo>
                  <a:lnTo>
                    <a:pt x="504378" y="4917106"/>
                  </a:lnTo>
                  <a:lnTo>
                    <a:pt x="547022" y="4931578"/>
                  </a:lnTo>
                  <a:lnTo>
                    <a:pt x="590738" y="4943600"/>
                  </a:lnTo>
                  <a:lnTo>
                    <a:pt x="635444" y="4953091"/>
                  </a:lnTo>
                  <a:lnTo>
                    <a:pt x="681061" y="4959971"/>
                  </a:lnTo>
                  <a:lnTo>
                    <a:pt x="727506" y="4964159"/>
                  </a:lnTo>
                  <a:lnTo>
                    <a:pt x="774700" y="4965572"/>
                  </a:lnTo>
                  <a:lnTo>
                    <a:pt x="3873499" y="4965572"/>
                  </a:lnTo>
                  <a:lnTo>
                    <a:pt x="3920693" y="4964159"/>
                  </a:lnTo>
                  <a:lnTo>
                    <a:pt x="3967138" y="4959971"/>
                  </a:lnTo>
                  <a:lnTo>
                    <a:pt x="4012755" y="4953091"/>
                  </a:lnTo>
                  <a:lnTo>
                    <a:pt x="4057461" y="4943600"/>
                  </a:lnTo>
                  <a:lnTo>
                    <a:pt x="4101177" y="4931578"/>
                  </a:lnTo>
                  <a:lnTo>
                    <a:pt x="4143821" y="4917106"/>
                  </a:lnTo>
                  <a:lnTo>
                    <a:pt x="4185311" y="4900266"/>
                  </a:lnTo>
                  <a:lnTo>
                    <a:pt x="4225568" y="4881139"/>
                  </a:lnTo>
                  <a:lnTo>
                    <a:pt x="4264509" y="4859805"/>
                  </a:lnTo>
                  <a:lnTo>
                    <a:pt x="4302054" y="4836346"/>
                  </a:lnTo>
                  <a:lnTo>
                    <a:pt x="4338122" y="4810842"/>
                  </a:lnTo>
                  <a:lnTo>
                    <a:pt x="4372632" y="4783375"/>
                  </a:lnTo>
                  <a:lnTo>
                    <a:pt x="4405503" y="4754026"/>
                  </a:lnTo>
                  <a:lnTo>
                    <a:pt x="4436653" y="4722876"/>
                  </a:lnTo>
                  <a:lnTo>
                    <a:pt x="4466002" y="4690005"/>
                  </a:lnTo>
                  <a:lnTo>
                    <a:pt x="4493469" y="4655495"/>
                  </a:lnTo>
                  <a:lnTo>
                    <a:pt x="4518973" y="4619427"/>
                  </a:lnTo>
                  <a:lnTo>
                    <a:pt x="4542432" y="4581882"/>
                  </a:lnTo>
                  <a:lnTo>
                    <a:pt x="4563766" y="4542941"/>
                  </a:lnTo>
                  <a:lnTo>
                    <a:pt x="4582893" y="4502684"/>
                  </a:lnTo>
                  <a:lnTo>
                    <a:pt x="4599733" y="4461194"/>
                  </a:lnTo>
                  <a:lnTo>
                    <a:pt x="4614205" y="4418550"/>
                  </a:lnTo>
                  <a:lnTo>
                    <a:pt x="4626227" y="4374834"/>
                  </a:lnTo>
                  <a:lnTo>
                    <a:pt x="4635718" y="4330128"/>
                  </a:lnTo>
                  <a:lnTo>
                    <a:pt x="4642598" y="4284511"/>
                  </a:lnTo>
                  <a:lnTo>
                    <a:pt x="4646786" y="4238066"/>
                  </a:lnTo>
                  <a:lnTo>
                    <a:pt x="4648199" y="4190872"/>
                  </a:lnTo>
                  <a:lnTo>
                    <a:pt x="4648199" y="774700"/>
                  </a:lnTo>
                  <a:lnTo>
                    <a:pt x="4646786" y="727506"/>
                  </a:lnTo>
                  <a:lnTo>
                    <a:pt x="4642598" y="681061"/>
                  </a:lnTo>
                  <a:lnTo>
                    <a:pt x="4635718" y="635444"/>
                  </a:lnTo>
                  <a:lnTo>
                    <a:pt x="4626227" y="590738"/>
                  </a:lnTo>
                  <a:lnTo>
                    <a:pt x="4614205" y="547022"/>
                  </a:lnTo>
                  <a:lnTo>
                    <a:pt x="4599733" y="504378"/>
                  </a:lnTo>
                  <a:lnTo>
                    <a:pt x="4582893" y="462888"/>
                  </a:lnTo>
                  <a:lnTo>
                    <a:pt x="4563766" y="422631"/>
                  </a:lnTo>
                  <a:lnTo>
                    <a:pt x="4542432" y="383690"/>
                  </a:lnTo>
                  <a:lnTo>
                    <a:pt x="4518973" y="346145"/>
                  </a:lnTo>
                  <a:lnTo>
                    <a:pt x="4493469" y="310077"/>
                  </a:lnTo>
                  <a:lnTo>
                    <a:pt x="4466002" y="275567"/>
                  </a:lnTo>
                  <a:lnTo>
                    <a:pt x="4436653" y="242696"/>
                  </a:lnTo>
                  <a:lnTo>
                    <a:pt x="4405503" y="211546"/>
                  </a:lnTo>
                  <a:lnTo>
                    <a:pt x="4372632" y="182197"/>
                  </a:lnTo>
                  <a:lnTo>
                    <a:pt x="4338122" y="154730"/>
                  </a:lnTo>
                  <a:lnTo>
                    <a:pt x="4302054" y="129226"/>
                  </a:lnTo>
                  <a:lnTo>
                    <a:pt x="4264509" y="105767"/>
                  </a:lnTo>
                  <a:lnTo>
                    <a:pt x="4225568" y="84433"/>
                  </a:lnTo>
                  <a:lnTo>
                    <a:pt x="4185311" y="65306"/>
                  </a:lnTo>
                  <a:lnTo>
                    <a:pt x="4143821" y="48466"/>
                  </a:lnTo>
                  <a:lnTo>
                    <a:pt x="4101177" y="33994"/>
                  </a:lnTo>
                  <a:lnTo>
                    <a:pt x="4057461" y="21972"/>
                  </a:lnTo>
                  <a:lnTo>
                    <a:pt x="4012755" y="12481"/>
                  </a:lnTo>
                  <a:lnTo>
                    <a:pt x="3967138" y="5601"/>
                  </a:lnTo>
                  <a:lnTo>
                    <a:pt x="3920693" y="1413"/>
                  </a:lnTo>
                  <a:lnTo>
                    <a:pt x="38734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2104243" y="2151888"/>
              <a:ext cx="4648200" cy="4965700"/>
            </a:xfrm>
            <a:custGeom>
              <a:avLst/>
              <a:gdLst/>
              <a:ahLst/>
              <a:cxnLst/>
              <a:rect l="l" t="t" r="r" b="b"/>
              <a:pathLst>
                <a:path w="4648200" h="4965700">
                  <a:moveTo>
                    <a:pt x="0" y="774700"/>
                  </a:moveTo>
                  <a:lnTo>
                    <a:pt x="1413" y="727506"/>
                  </a:lnTo>
                  <a:lnTo>
                    <a:pt x="5601" y="681061"/>
                  </a:lnTo>
                  <a:lnTo>
                    <a:pt x="12481" y="635444"/>
                  </a:lnTo>
                  <a:lnTo>
                    <a:pt x="21972" y="590738"/>
                  </a:lnTo>
                  <a:lnTo>
                    <a:pt x="33994" y="547022"/>
                  </a:lnTo>
                  <a:lnTo>
                    <a:pt x="48466" y="504378"/>
                  </a:lnTo>
                  <a:lnTo>
                    <a:pt x="65306" y="462888"/>
                  </a:lnTo>
                  <a:lnTo>
                    <a:pt x="84433" y="422631"/>
                  </a:lnTo>
                  <a:lnTo>
                    <a:pt x="105767" y="383690"/>
                  </a:lnTo>
                  <a:lnTo>
                    <a:pt x="129226" y="346145"/>
                  </a:lnTo>
                  <a:lnTo>
                    <a:pt x="154730" y="310077"/>
                  </a:lnTo>
                  <a:lnTo>
                    <a:pt x="182197" y="275567"/>
                  </a:lnTo>
                  <a:lnTo>
                    <a:pt x="211546" y="242696"/>
                  </a:lnTo>
                  <a:lnTo>
                    <a:pt x="242696" y="211546"/>
                  </a:lnTo>
                  <a:lnTo>
                    <a:pt x="275567" y="182197"/>
                  </a:lnTo>
                  <a:lnTo>
                    <a:pt x="310077" y="154730"/>
                  </a:lnTo>
                  <a:lnTo>
                    <a:pt x="346145" y="129226"/>
                  </a:lnTo>
                  <a:lnTo>
                    <a:pt x="383690" y="105767"/>
                  </a:lnTo>
                  <a:lnTo>
                    <a:pt x="422631" y="84433"/>
                  </a:lnTo>
                  <a:lnTo>
                    <a:pt x="462888" y="65306"/>
                  </a:lnTo>
                  <a:lnTo>
                    <a:pt x="504378" y="48466"/>
                  </a:lnTo>
                  <a:lnTo>
                    <a:pt x="547022" y="33994"/>
                  </a:lnTo>
                  <a:lnTo>
                    <a:pt x="590738" y="21972"/>
                  </a:lnTo>
                  <a:lnTo>
                    <a:pt x="635444" y="12481"/>
                  </a:lnTo>
                  <a:lnTo>
                    <a:pt x="681061" y="5601"/>
                  </a:lnTo>
                  <a:lnTo>
                    <a:pt x="727506" y="1413"/>
                  </a:lnTo>
                  <a:lnTo>
                    <a:pt x="774700" y="0"/>
                  </a:lnTo>
                  <a:lnTo>
                    <a:pt x="3873499" y="0"/>
                  </a:lnTo>
                  <a:lnTo>
                    <a:pt x="3920693" y="1413"/>
                  </a:lnTo>
                  <a:lnTo>
                    <a:pt x="3967138" y="5601"/>
                  </a:lnTo>
                  <a:lnTo>
                    <a:pt x="4012755" y="12481"/>
                  </a:lnTo>
                  <a:lnTo>
                    <a:pt x="4057461" y="21972"/>
                  </a:lnTo>
                  <a:lnTo>
                    <a:pt x="4101177" y="33994"/>
                  </a:lnTo>
                  <a:lnTo>
                    <a:pt x="4143821" y="48466"/>
                  </a:lnTo>
                  <a:lnTo>
                    <a:pt x="4185311" y="65306"/>
                  </a:lnTo>
                  <a:lnTo>
                    <a:pt x="4225568" y="84433"/>
                  </a:lnTo>
                  <a:lnTo>
                    <a:pt x="4264509" y="105767"/>
                  </a:lnTo>
                  <a:lnTo>
                    <a:pt x="4302054" y="129226"/>
                  </a:lnTo>
                  <a:lnTo>
                    <a:pt x="4338122" y="154730"/>
                  </a:lnTo>
                  <a:lnTo>
                    <a:pt x="4372632" y="182197"/>
                  </a:lnTo>
                  <a:lnTo>
                    <a:pt x="4405503" y="211546"/>
                  </a:lnTo>
                  <a:lnTo>
                    <a:pt x="4436653" y="242696"/>
                  </a:lnTo>
                  <a:lnTo>
                    <a:pt x="4466002" y="275567"/>
                  </a:lnTo>
                  <a:lnTo>
                    <a:pt x="4493469" y="310077"/>
                  </a:lnTo>
                  <a:lnTo>
                    <a:pt x="4518973" y="346145"/>
                  </a:lnTo>
                  <a:lnTo>
                    <a:pt x="4542432" y="383690"/>
                  </a:lnTo>
                  <a:lnTo>
                    <a:pt x="4563766" y="422631"/>
                  </a:lnTo>
                  <a:lnTo>
                    <a:pt x="4582893" y="462888"/>
                  </a:lnTo>
                  <a:lnTo>
                    <a:pt x="4599733" y="504378"/>
                  </a:lnTo>
                  <a:lnTo>
                    <a:pt x="4614205" y="547022"/>
                  </a:lnTo>
                  <a:lnTo>
                    <a:pt x="4626227" y="590738"/>
                  </a:lnTo>
                  <a:lnTo>
                    <a:pt x="4635718" y="635444"/>
                  </a:lnTo>
                  <a:lnTo>
                    <a:pt x="4642598" y="681061"/>
                  </a:lnTo>
                  <a:lnTo>
                    <a:pt x="4646786" y="727506"/>
                  </a:lnTo>
                  <a:lnTo>
                    <a:pt x="4648199" y="774700"/>
                  </a:lnTo>
                  <a:lnTo>
                    <a:pt x="4648199" y="4190872"/>
                  </a:lnTo>
                  <a:lnTo>
                    <a:pt x="4646786" y="4238066"/>
                  </a:lnTo>
                  <a:lnTo>
                    <a:pt x="4642598" y="4284511"/>
                  </a:lnTo>
                  <a:lnTo>
                    <a:pt x="4635718" y="4330128"/>
                  </a:lnTo>
                  <a:lnTo>
                    <a:pt x="4626227" y="4374834"/>
                  </a:lnTo>
                  <a:lnTo>
                    <a:pt x="4614205" y="4418550"/>
                  </a:lnTo>
                  <a:lnTo>
                    <a:pt x="4599733" y="4461194"/>
                  </a:lnTo>
                  <a:lnTo>
                    <a:pt x="4582893" y="4502684"/>
                  </a:lnTo>
                  <a:lnTo>
                    <a:pt x="4563766" y="4542941"/>
                  </a:lnTo>
                  <a:lnTo>
                    <a:pt x="4542432" y="4581882"/>
                  </a:lnTo>
                  <a:lnTo>
                    <a:pt x="4518973" y="4619427"/>
                  </a:lnTo>
                  <a:lnTo>
                    <a:pt x="4493469" y="4655495"/>
                  </a:lnTo>
                  <a:lnTo>
                    <a:pt x="4466002" y="4690005"/>
                  </a:lnTo>
                  <a:lnTo>
                    <a:pt x="4436653" y="4722876"/>
                  </a:lnTo>
                  <a:lnTo>
                    <a:pt x="4405503" y="4754026"/>
                  </a:lnTo>
                  <a:lnTo>
                    <a:pt x="4372632" y="4783375"/>
                  </a:lnTo>
                  <a:lnTo>
                    <a:pt x="4338122" y="4810842"/>
                  </a:lnTo>
                  <a:lnTo>
                    <a:pt x="4302054" y="4836346"/>
                  </a:lnTo>
                  <a:lnTo>
                    <a:pt x="4264509" y="4859805"/>
                  </a:lnTo>
                  <a:lnTo>
                    <a:pt x="4225568" y="4881139"/>
                  </a:lnTo>
                  <a:lnTo>
                    <a:pt x="4185311" y="4900266"/>
                  </a:lnTo>
                  <a:lnTo>
                    <a:pt x="4143821" y="4917106"/>
                  </a:lnTo>
                  <a:lnTo>
                    <a:pt x="4101177" y="4931578"/>
                  </a:lnTo>
                  <a:lnTo>
                    <a:pt x="4057461" y="4943600"/>
                  </a:lnTo>
                  <a:lnTo>
                    <a:pt x="4012755" y="4953091"/>
                  </a:lnTo>
                  <a:lnTo>
                    <a:pt x="3967138" y="4959971"/>
                  </a:lnTo>
                  <a:lnTo>
                    <a:pt x="3920693" y="4964159"/>
                  </a:lnTo>
                  <a:lnTo>
                    <a:pt x="3873499" y="4965572"/>
                  </a:lnTo>
                  <a:lnTo>
                    <a:pt x="774700" y="4965572"/>
                  </a:lnTo>
                  <a:lnTo>
                    <a:pt x="727506" y="4964159"/>
                  </a:lnTo>
                  <a:lnTo>
                    <a:pt x="681061" y="4959971"/>
                  </a:lnTo>
                  <a:lnTo>
                    <a:pt x="635444" y="4953091"/>
                  </a:lnTo>
                  <a:lnTo>
                    <a:pt x="590738" y="4943600"/>
                  </a:lnTo>
                  <a:lnTo>
                    <a:pt x="547022" y="4931578"/>
                  </a:lnTo>
                  <a:lnTo>
                    <a:pt x="504378" y="4917106"/>
                  </a:lnTo>
                  <a:lnTo>
                    <a:pt x="462888" y="4900266"/>
                  </a:lnTo>
                  <a:lnTo>
                    <a:pt x="422631" y="4881139"/>
                  </a:lnTo>
                  <a:lnTo>
                    <a:pt x="383690" y="4859805"/>
                  </a:lnTo>
                  <a:lnTo>
                    <a:pt x="346145" y="4836346"/>
                  </a:lnTo>
                  <a:lnTo>
                    <a:pt x="310077" y="4810842"/>
                  </a:lnTo>
                  <a:lnTo>
                    <a:pt x="275567" y="4783375"/>
                  </a:lnTo>
                  <a:lnTo>
                    <a:pt x="242696" y="4754026"/>
                  </a:lnTo>
                  <a:lnTo>
                    <a:pt x="211546" y="4722876"/>
                  </a:lnTo>
                  <a:lnTo>
                    <a:pt x="182197" y="4690005"/>
                  </a:lnTo>
                  <a:lnTo>
                    <a:pt x="154730" y="4655495"/>
                  </a:lnTo>
                  <a:lnTo>
                    <a:pt x="129226" y="4619427"/>
                  </a:lnTo>
                  <a:lnTo>
                    <a:pt x="105767" y="4581882"/>
                  </a:lnTo>
                  <a:lnTo>
                    <a:pt x="84433" y="4542941"/>
                  </a:lnTo>
                  <a:lnTo>
                    <a:pt x="65306" y="4502684"/>
                  </a:lnTo>
                  <a:lnTo>
                    <a:pt x="48466" y="4461194"/>
                  </a:lnTo>
                  <a:lnTo>
                    <a:pt x="33994" y="4418550"/>
                  </a:lnTo>
                  <a:lnTo>
                    <a:pt x="21972" y="4374834"/>
                  </a:lnTo>
                  <a:lnTo>
                    <a:pt x="12481" y="4330128"/>
                  </a:lnTo>
                  <a:lnTo>
                    <a:pt x="5601" y="4284511"/>
                  </a:lnTo>
                  <a:lnTo>
                    <a:pt x="1413" y="4238066"/>
                  </a:lnTo>
                  <a:lnTo>
                    <a:pt x="0" y="4190872"/>
                  </a:lnTo>
                  <a:lnTo>
                    <a:pt x="0" y="774700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944727" y="2473909"/>
            <a:ext cx="9486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API</a:t>
            </a:r>
            <a:endParaRPr kumimoji="0" sz="5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665082" y="2117217"/>
            <a:ext cx="7592695" cy="5481955"/>
            <a:chOff x="8665082" y="2117217"/>
            <a:chExt cx="7592695" cy="54819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99898" y="3741420"/>
              <a:ext cx="3857624" cy="3857625"/>
            </a:xfrm>
            <a:prstGeom prst="rect">
              <a:avLst/>
            </a:prstGeom>
          </p:spPr>
        </p:pic>
        <p:pic>
          <p:nvPicPr>
            <p:cNvPr id="11" name="object 11" descr="Bienvenido a Flask — Flask Documentation (3.1.x)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1158" y="3572383"/>
              <a:ext cx="3936364" cy="13572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71432" y="2123567"/>
              <a:ext cx="3037205" cy="2388235"/>
            </a:xfrm>
            <a:custGeom>
              <a:avLst/>
              <a:gdLst/>
              <a:ahLst/>
              <a:cxnLst/>
              <a:rect l="l" t="t" r="r" b="b"/>
              <a:pathLst>
                <a:path w="3037204" h="2388235">
                  <a:moveTo>
                    <a:pt x="2638679" y="0"/>
                  </a:moveTo>
                  <a:lnTo>
                    <a:pt x="398018" y="0"/>
                  </a:lnTo>
                  <a:lnTo>
                    <a:pt x="351620" y="2677"/>
                  </a:lnTo>
                  <a:lnTo>
                    <a:pt x="306790" y="10511"/>
                  </a:lnTo>
                  <a:lnTo>
                    <a:pt x="263826" y="23201"/>
                  </a:lnTo>
                  <a:lnTo>
                    <a:pt x="223027" y="40451"/>
                  </a:lnTo>
                  <a:lnTo>
                    <a:pt x="184693" y="61962"/>
                  </a:lnTo>
                  <a:lnTo>
                    <a:pt x="149123" y="87434"/>
                  </a:lnTo>
                  <a:lnTo>
                    <a:pt x="116617" y="116570"/>
                  </a:lnTo>
                  <a:lnTo>
                    <a:pt x="87474" y="149070"/>
                  </a:lnTo>
                  <a:lnTo>
                    <a:pt x="61993" y="184637"/>
                  </a:lnTo>
                  <a:lnTo>
                    <a:pt x="40474" y="222972"/>
                  </a:lnTo>
                  <a:lnTo>
                    <a:pt x="23215" y="263775"/>
                  </a:lnTo>
                  <a:lnTo>
                    <a:pt x="10517" y="306750"/>
                  </a:lnTo>
                  <a:lnTo>
                    <a:pt x="2679" y="351597"/>
                  </a:lnTo>
                  <a:lnTo>
                    <a:pt x="0" y="398017"/>
                  </a:lnTo>
                  <a:lnTo>
                    <a:pt x="0" y="1989962"/>
                  </a:lnTo>
                  <a:lnTo>
                    <a:pt x="2679" y="2036383"/>
                  </a:lnTo>
                  <a:lnTo>
                    <a:pt x="10517" y="2081230"/>
                  </a:lnTo>
                  <a:lnTo>
                    <a:pt x="23215" y="2124205"/>
                  </a:lnTo>
                  <a:lnTo>
                    <a:pt x="40474" y="2165008"/>
                  </a:lnTo>
                  <a:lnTo>
                    <a:pt x="61993" y="2203343"/>
                  </a:lnTo>
                  <a:lnTo>
                    <a:pt x="87474" y="2238910"/>
                  </a:lnTo>
                  <a:lnTo>
                    <a:pt x="116617" y="2271410"/>
                  </a:lnTo>
                  <a:lnTo>
                    <a:pt x="149123" y="2300546"/>
                  </a:lnTo>
                  <a:lnTo>
                    <a:pt x="184693" y="2326018"/>
                  </a:lnTo>
                  <a:lnTo>
                    <a:pt x="223027" y="2347529"/>
                  </a:lnTo>
                  <a:lnTo>
                    <a:pt x="263826" y="2364779"/>
                  </a:lnTo>
                  <a:lnTo>
                    <a:pt x="306790" y="2377469"/>
                  </a:lnTo>
                  <a:lnTo>
                    <a:pt x="351620" y="2385303"/>
                  </a:lnTo>
                  <a:lnTo>
                    <a:pt x="398018" y="2387980"/>
                  </a:lnTo>
                  <a:lnTo>
                    <a:pt x="2638679" y="2387980"/>
                  </a:lnTo>
                  <a:lnTo>
                    <a:pt x="2685076" y="2385303"/>
                  </a:lnTo>
                  <a:lnTo>
                    <a:pt x="2729906" y="2377469"/>
                  </a:lnTo>
                  <a:lnTo>
                    <a:pt x="2772870" y="2364779"/>
                  </a:lnTo>
                  <a:lnTo>
                    <a:pt x="2813669" y="2347529"/>
                  </a:lnTo>
                  <a:lnTo>
                    <a:pt x="2852003" y="2326018"/>
                  </a:lnTo>
                  <a:lnTo>
                    <a:pt x="2887573" y="2300546"/>
                  </a:lnTo>
                  <a:lnTo>
                    <a:pt x="2920079" y="2271410"/>
                  </a:lnTo>
                  <a:lnTo>
                    <a:pt x="2949222" y="2238910"/>
                  </a:lnTo>
                  <a:lnTo>
                    <a:pt x="2974703" y="2203343"/>
                  </a:lnTo>
                  <a:lnTo>
                    <a:pt x="2996222" y="2165008"/>
                  </a:lnTo>
                  <a:lnTo>
                    <a:pt x="3013481" y="2124205"/>
                  </a:lnTo>
                  <a:lnTo>
                    <a:pt x="3026179" y="2081230"/>
                  </a:lnTo>
                  <a:lnTo>
                    <a:pt x="3034017" y="2036383"/>
                  </a:lnTo>
                  <a:lnTo>
                    <a:pt x="3036697" y="1989962"/>
                  </a:lnTo>
                  <a:lnTo>
                    <a:pt x="3036697" y="398017"/>
                  </a:lnTo>
                  <a:lnTo>
                    <a:pt x="3034017" y="351597"/>
                  </a:lnTo>
                  <a:lnTo>
                    <a:pt x="3026179" y="306750"/>
                  </a:lnTo>
                  <a:lnTo>
                    <a:pt x="3013481" y="263775"/>
                  </a:lnTo>
                  <a:lnTo>
                    <a:pt x="2996222" y="222972"/>
                  </a:lnTo>
                  <a:lnTo>
                    <a:pt x="2974703" y="184637"/>
                  </a:lnTo>
                  <a:lnTo>
                    <a:pt x="2949222" y="149070"/>
                  </a:lnTo>
                  <a:lnTo>
                    <a:pt x="2920079" y="116570"/>
                  </a:lnTo>
                  <a:lnTo>
                    <a:pt x="2887573" y="87434"/>
                  </a:lnTo>
                  <a:lnTo>
                    <a:pt x="2852003" y="61962"/>
                  </a:lnTo>
                  <a:lnTo>
                    <a:pt x="2813669" y="40451"/>
                  </a:lnTo>
                  <a:lnTo>
                    <a:pt x="2772870" y="23201"/>
                  </a:lnTo>
                  <a:lnTo>
                    <a:pt x="2729906" y="10511"/>
                  </a:lnTo>
                  <a:lnTo>
                    <a:pt x="2685076" y="2677"/>
                  </a:lnTo>
                  <a:lnTo>
                    <a:pt x="26386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671432" y="2123567"/>
              <a:ext cx="3037205" cy="2388235"/>
            </a:xfrm>
            <a:custGeom>
              <a:avLst/>
              <a:gdLst/>
              <a:ahLst/>
              <a:cxnLst/>
              <a:rect l="l" t="t" r="r" b="b"/>
              <a:pathLst>
                <a:path w="3037204" h="2388235">
                  <a:moveTo>
                    <a:pt x="0" y="398017"/>
                  </a:moveTo>
                  <a:lnTo>
                    <a:pt x="2679" y="351597"/>
                  </a:lnTo>
                  <a:lnTo>
                    <a:pt x="10517" y="306750"/>
                  </a:lnTo>
                  <a:lnTo>
                    <a:pt x="23215" y="263775"/>
                  </a:lnTo>
                  <a:lnTo>
                    <a:pt x="40474" y="222972"/>
                  </a:lnTo>
                  <a:lnTo>
                    <a:pt x="61993" y="184637"/>
                  </a:lnTo>
                  <a:lnTo>
                    <a:pt x="87474" y="149070"/>
                  </a:lnTo>
                  <a:lnTo>
                    <a:pt x="116617" y="116570"/>
                  </a:lnTo>
                  <a:lnTo>
                    <a:pt x="149123" y="87434"/>
                  </a:lnTo>
                  <a:lnTo>
                    <a:pt x="184693" y="61962"/>
                  </a:lnTo>
                  <a:lnTo>
                    <a:pt x="223027" y="40451"/>
                  </a:lnTo>
                  <a:lnTo>
                    <a:pt x="263826" y="23201"/>
                  </a:lnTo>
                  <a:lnTo>
                    <a:pt x="306790" y="10511"/>
                  </a:lnTo>
                  <a:lnTo>
                    <a:pt x="351620" y="2677"/>
                  </a:lnTo>
                  <a:lnTo>
                    <a:pt x="398018" y="0"/>
                  </a:lnTo>
                  <a:lnTo>
                    <a:pt x="2638679" y="0"/>
                  </a:lnTo>
                  <a:lnTo>
                    <a:pt x="2685076" y="2677"/>
                  </a:lnTo>
                  <a:lnTo>
                    <a:pt x="2729906" y="10511"/>
                  </a:lnTo>
                  <a:lnTo>
                    <a:pt x="2772870" y="23201"/>
                  </a:lnTo>
                  <a:lnTo>
                    <a:pt x="2813669" y="40451"/>
                  </a:lnTo>
                  <a:lnTo>
                    <a:pt x="2852003" y="61962"/>
                  </a:lnTo>
                  <a:lnTo>
                    <a:pt x="2887573" y="87434"/>
                  </a:lnTo>
                  <a:lnTo>
                    <a:pt x="2920079" y="116570"/>
                  </a:lnTo>
                  <a:lnTo>
                    <a:pt x="2949222" y="149070"/>
                  </a:lnTo>
                  <a:lnTo>
                    <a:pt x="2974703" y="184637"/>
                  </a:lnTo>
                  <a:lnTo>
                    <a:pt x="2996222" y="222972"/>
                  </a:lnTo>
                  <a:lnTo>
                    <a:pt x="3013481" y="263775"/>
                  </a:lnTo>
                  <a:lnTo>
                    <a:pt x="3026179" y="306750"/>
                  </a:lnTo>
                  <a:lnTo>
                    <a:pt x="3034017" y="351597"/>
                  </a:lnTo>
                  <a:lnTo>
                    <a:pt x="3036697" y="398017"/>
                  </a:lnTo>
                  <a:lnTo>
                    <a:pt x="3036697" y="1989962"/>
                  </a:lnTo>
                  <a:lnTo>
                    <a:pt x="3034017" y="2036383"/>
                  </a:lnTo>
                  <a:lnTo>
                    <a:pt x="3026179" y="2081230"/>
                  </a:lnTo>
                  <a:lnTo>
                    <a:pt x="3013481" y="2124205"/>
                  </a:lnTo>
                  <a:lnTo>
                    <a:pt x="2996222" y="2165008"/>
                  </a:lnTo>
                  <a:lnTo>
                    <a:pt x="2974703" y="2203343"/>
                  </a:lnTo>
                  <a:lnTo>
                    <a:pt x="2949222" y="2238910"/>
                  </a:lnTo>
                  <a:lnTo>
                    <a:pt x="2920079" y="2271410"/>
                  </a:lnTo>
                  <a:lnTo>
                    <a:pt x="2887573" y="2300546"/>
                  </a:lnTo>
                  <a:lnTo>
                    <a:pt x="2852003" y="2326018"/>
                  </a:lnTo>
                  <a:lnTo>
                    <a:pt x="2813669" y="2347529"/>
                  </a:lnTo>
                  <a:lnTo>
                    <a:pt x="2772870" y="2364779"/>
                  </a:lnTo>
                  <a:lnTo>
                    <a:pt x="2729906" y="2377469"/>
                  </a:lnTo>
                  <a:lnTo>
                    <a:pt x="2685076" y="2385303"/>
                  </a:lnTo>
                  <a:lnTo>
                    <a:pt x="2638679" y="2387980"/>
                  </a:lnTo>
                  <a:lnTo>
                    <a:pt x="398018" y="2387980"/>
                  </a:lnTo>
                  <a:lnTo>
                    <a:pt x="351620" y="2385303"/>
                  </a:lnTo>
                  <a:lnTo>
                    <a:pt x="306790" y="2377469"/>
                  </a:lnTo>
                  <a:lnTo>
                    <a:pt x="263826" y="2364779"/>
                  </a:lnTo>
                  <a:lnTo>
                    <a:pt x="223027" y="2347529"/>
                  </a:lnTo>
                  <a:lnTo>
                    <a:pt x="184693" y="2326018"/>
                  </a:lnTo>
                  <a:lnTo>
                    <a:pt x="149123" y="2300546"/>
                  </a:lnTo>
                  <a:lnTo>
                    <a:pt x="116617" y="2271410"/>
                  </a:lnTo>
                  <a:lnTo>
                    <a:pt x="87474" y="2238910"/>
                  </a:lnTo>
                  <a:lnTo>
                    <a:pt x="61993" y="2203343"/>
                  </a:lnTo>
                  <a:lnTo>
                    <a:pt x="40474" y="2165008"/>
                  </a:lnTo>
                  <a:lnTo>
                    <a:pt x="23215" y="2124205"/>
                  </a:lnTo>
                  <a:lnTo>
                    <a:pt x="10517" y="2081230"/>
                  </a:lnTo>
                  <a:lnTo>
                    <a:pt x="2679" y="2036383"/>
                  </a:lnTo>
                  <a:lnTo>
                    <a:pt x="0" y="1989962"/>
                  </a:lnTo>
                  <a:lnTo>
                    <a:pt x="0" y="398017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088373" y="2216911"/>
            <a:ext cx="23355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Workers</a:t>
            </a:r>
            <a:endParaRPr kumimoji="0" sz="5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74030" y="3145789"/>
            <a:ext cx="5733415" cy="5356860"/>
            <a:chOff x="5074030" y="3145789"/>
            <a:chExt cx="5733415" cy="535686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2371" y="3145789"/>
              <a:ext cx="1234821" cy="123482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80380" y="5110479"/>
              <a:ext cx="2680970" cy="3385820"/>
            </a:xfrm>
            <a:custGeom>
              <a:avLst/>
              <a:gdLst/>
              <a:ahLst/>
              <a:cxnLst/>
              <a:rect l="l" t="t" r="r" b="b"/>
              <a:pathLst>
                <a:path w="2680970" h="3385820">
                  <a:moveTo>
                    <a:pt x="2233676" y="0"/>
                  </a:moveTo>
                  <a:lnTo>
                    <a:pt x="446659" y="0"/>
                  </a:lnTo>
                  <a:lnTo>
                    <a:pt x="397999" y="2621"/>
                  </a:lnTo>
                  <a:lnTo>
                    <a:pt x="350854" y="10304"/>
                  </a:lnTo>
                  <a:lnTo>
                    <a:pt x="305499" y="22776"/>
                  </a:lnTo>
                  <a:lnTo>
                    <a:pt x="262204" y="39765"/>
                  </a:lnTo>
                  <a:lnTo>
                    <a:pt x="221243" y="60997"/>
                  </a:lnTo>
                  <a:lnTo>
                    <a:pt x="182889" y="86201"/>
                  </a:lnTo>
                  <a:lnTo>
                    <a:pt x="147414" y="115104"/>
                  </a:lnTo>
                  <a:lnTo>
                    <a:pt x="115091" y="147433"/>
                  </a:lnTo>
                  <a:lnTo>
                    <a:pt x="86193" y="182916"/>
                  </a:lnTo>
                  <a:lnTo>
                    <a:pt x="60992" y="221281"/>
                  </a:lnTo>
                  <a:lnTo>
                    <a:pt x="39762" y="262254"/>
                  </a:lnTo>
                  <a:lnTo>
                    <a:pt x="22775" y="305564"/>
                  </a:lnTo>
                  <a:lnTo>
                    <a:pt x="10304" y="350937"/>
                  </a:lnTo>
                  <a:lnTo>
                    <a:pt x="2621" y="398102"/>
                  </a:lnTo>
                  <a:lnTo>
                    <a:pt x="0" y="446786"/>
                  </a:lnTo>
                  <a:lnTo>
                    <a:pt x="0" y="2939034"/>
                  </a:lnTo>
                  <a:lnTo>
                    <a:pt x="2621" y="2987717"/>
                  </a:lnTo>
                  <a:lnTo>
                    <a:pt x="10304" y="3034882"/>
                  </a:lnTo>
                  <a:lnTo>
                    <a:pt x="22775" y="3080255"/>
                  </a:lnTo>
                  <a:lnTo>
                    <a:pt x="39762" y="3123565"/>
                  </a:lnTo>
                  <a:lnTo>
                    <a:pt x="60992" y="3164538"/>
                  </a:lnTo>
                  <a:lnTo>
                    <a:pt x="86193" y="3202903"/>
                  </a:lnTo>
                  <a:lnTo>
                    <a:pt x="115091" y="3238386"/>
                  </a:lnTo>
                  <a:lnTo>
                    <a:pt x="147414" y="3270715"/>
                  </a:lnTo>
                  <a:lnTo>
                    <a:pt x="182889" y="3299618"/>
                  </a:lnTo>
                  <a:lnTo>
                    <a:pt x="221243" y="3324822"/>
                  </a:lnTo>
                  <a:lnTo>
                    <a:pt x="262204" y="3346054"/>
                  </a:lnTo>
                  <a:lnTo>
                    <a:pt x="305499" y="3363043"/>
                  </a:lnTo>
                  <a:lnTo>
                    <a:pt x="350854" y="3375515"/>
                  </a:lnTo>
                  <a:lnTo>
                    <a:pt x="397999" y="3383198"/>
                  </a:lnTo>
                  <a:lnTo>
                    <a:pt x="446659" y="3385820"/>
                  </a:lnTo>
                  <a:lnTo>
                    <a:pt x="2233676" y="3385820"/>
                  </a:lnTo>
                  <a:lnTo>
                    <a:pt x="2282359" y="3383198"/>
                  </a:lnTo>
                  <a:lnTo>
                    <a:pt x="2329524" y="3375515"/>
                  </a:lnTo>
                  <a:lnTo>
                    <a:pt x="2374897" y="3363043"/>
                  </a:lnTo>
                  <a:lnTo>
                    <a:pt x="2418207" y="3346054"/>
                  </a:lnTo>
                  <a:lnTo>
                    <a:pt x="2459180" y="3324822"/>
                  </a:lnTo>
                  <a:lnTo>
                    <a:pt x="2497545" y="3299618"/>
                  </a:lnTo>
                  <a:lnTo>
                    <a:pt x="2533028" y="3270715"/>
                  </a:lnTo>
                  <a:lnTo>
                    <a:pt x="2565357" y="3238386"/>
                  </a:lnTo>
                  <a:lnTo>
                    <a:pt x="2594260" y="3202903"/>
                  </a:lnTo>
                  <a:lnTo>
                    <a:pt x="2619464" y="3164538"/>
                  </a:lnTo>
                  <a:lnTo>
                    <a:pt x="2640696" y="3123565"/>
                  </a:lnTo>
                  <a:lnTo>
                    <a:pt x="2657685" y="3080255"/>
                  </a:lnTo>
                  <a:lnTo>
                    <a:pt x="2670157" y="3034882"/>
                  </a:lnTo>
                  <a:lnTo>
                    <a:pt x="2677840" y="2987717"/>
                  </a:lnTo>
                  <a:lnTo>
                    <a:pt x="2680462" y="2939034"/>
                  </a:lnTo>
                  <a:lnTo>
                    <a:pt x="2680462" y="446786"/>
                  </a:lnTo>
                  <a:lnTo>
                    <a:pt x="2677840" y="398102"/>
                  </a:lnTo>
                  <a:lnTo>
                    <a:pt x="2670157" y="350937"/>
                  </a:lnTo>
                  <a:lnTo>
                    <a:pt x="2657685" y="305564"/>
                  </a:lnTo>
                  <a:lnTo>
                    <a:pt x="2640696" y="262254"/>
                  </a:lnTo>
                  <a:lnTo>
                    <a:pt x="2619464" y="221281"/>
                  </a:lnTo>
                  <a:lnTo>
                    <a:pt x="2594260" y="182916"/>
                  </a:lnTo>
                  <a:lnTo>
                    <a:pt x="2565357" y="147433"/>
                  </a:lnTo>
                  <a:lnTo>
                    <a:pt x="2533028" y="115104"/>
                  </a:lnTo>
                  <a:lnTo>
                    <a:pt x="2497545" y="86201"/>
                  </a:lnTo>
                  <a:lnTo>
                    <a:pt x="2459180" y="60997"/>
                  </a:lnTo>
                  <a:lnTo>
                    <a:pt x="2418207" y="39765"/>
                  </a:lnTo>
                  <a:lnTo>
                    <a:pt x="2374897" y="22776"/>
                  </a:lnTo>
                  <a:lnTo>
                    <a:pt x="2329524" y="10304"/>
                  </a:lnTo>
                  <a:lnTo>
                    <a:pt x="2282359" y="2621"/>
                  </a:lnTo>
                  <a:lnTo>
                    <a:pt x="2233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080380" y="5110479"/>
              <a:ext cx="2680970" cy="3385820"/>
            </a:xfrm>
            <a:custGeom>
              <a:avLst/>
              <a:gdLst/>
              <a:ahLst/>
              <a:cxnLst/>
              <a:rect l="l" t="t" r="r" b="b"/>
              <a:pathLst>
                <a:path w="2680970" h="3385820">
                  <a:moveTo>
                    <a:pt x="0" y="446786"/>
                  </a:moveTo>
                  <a:lnTo>
                    <a:pt x="2621" y="398102"/>
                  </a:lnTo>
                  <a:lnTo>
                    <a:pt x="10304" y="350937"/>
                  </a:lnTo>
                  <a:lnTo>
                    <a:pt x="22775" y="305564"/>
                  </a:lnTo>
                  <a:lnTo>
                    <a:pt x="39762" y="262254"/>
                  </a:lnTo>
                  <a:lnTo>
                    <a:pt x="60992" y="221281"/>
                  </a:lnTo>
                  <a:lnTo>
                    <a:pt x="86193" y="182916"/>
                  </a:lnTo>
                  <a:lnTo>
                    <a:pt x="115091" y="147433"/>
                  </a:lnTo>
                  <a:lnTo>
                    <a:pt x="147414" y="115104"/>
                  </a:lnTo>
                  <a:lnTo>
                    <a:pt x="182889" y="86201"/>
                  </a:lnTo>
                  <a:lnTo>
                    <a:pt x="221243" y="60997"/>
                  </a:lnTo>
                  <a:lnTo>
                    <a:pt x="262204" y="39765"/>
                  </a:lnTo>
                  <a:lnTo>
                    <a:pt x="305499" y="22776"/>
                  </a:lnTo>
                  <a:lnTo>
                    <a:pt x="350854" y="10304"/>
                  </a:lnTo>
                  <a:lnTo>
                    <a:pt x="397999" y="2621"/>
                  </a:lnTo>
                  <a:lnTo>
                    <a:pt x="446659" y="0"/>
                  </a:lnTo>
                  <a:lnTo>
                    <a:pt x="2233676" y="0"/>
                  </a:lnTo>
                  <a:lnTo>
                    <a:pt x="2282359" y="2621"/>
                  </a:lnTo>
                  <a:lnTo>
                    <a:pt x="2329524" y="10304"/>
                  </a:lnTo>
                  <a:lnTo>
                    <a:pt x="2374897" y="22776"/>
                  </a:lnTo>
                  <a:lnTo>
                    <a:pt x="2418207" y="39765"/>
                  </a:lnTo>
                  <a:lnTo>
                    <a:pt x="2459180" y="60997"/>
                  </a:lnTo>
                  <a:lnTo>
                    <a:pt x="2497545" y="86201"/>
                  </a:lnTo>
                  <a:lnTo>
                    <a:pt x="2533028" y="115104"/>
                  </a:lnTo>
                  <a:lnTo>
                    <a:pt x="2565357" y="147433"/>
                  </a:lnTo>
                  <a:lnTo>
                    <a:pt x="2594260" y="182916"/>
                  </a:lnTo>
                  <a:lnTo>
                    <a:pt x="2619464" y="221281"/>
                  </a:lnTo>
                  <a:lnTo>
                    <a:pt x="2640696" y="262254"/>
                  </a:lnTo>
                  <a:lnTo>
                    <a:pt x="2657685" y="305564"/>
                  </a:lnTo>
                  <a:lnTo>
                    <a:pt x="2670157" y="350937"/>
                  </a:lnTo>
                  <a:lnTo>
                    <a:pt x="2677840" y="398102"/>
                  </a:lnTo>
                  <a:lnTo>
                    <a:pt x="2680462" y="446786"/>
                  </a:lnTo>
                  <a:lnTo>
                    <a:pt x="2680462" y="2939034"/>
                  </a:lnTo>
                  <a:lnTo>
                    <a:pt x="2677840" y="2987717"/>
                  </a:lnTo>
                  <a:lnTo>
                    <a:pt x="2670157" y="3034882"/>
                  </a:lnTo>
                  <a:lnTo>
                    <a:pt x="2657685" y="3080255"/>
                  </a:lnTo>
                  <a:lnTo>
                    <a:pt x="2640696" y="3123565"/>
                  </a:lnTo>
                  <a:lnTo>
                    <a:pt x="2619464" y="3164538"/>
                  </a:lnTo>
                  <a:lnTo>
                    <a:pt x="2594260" y="3202903"/>
                  </a:lnTo>
                  <a:lnTo>
                    <a:pt x="2565357" y="3238386"/>
                  </a:lnTo>
                  <a:lnTo>
                    <a:pt x="2533028" y="3270715"/>
                  </a:lnTo>
                  <a:lnTo>
                    <a:pt x="2497545" y="3299618"/>
                  </a:lnTo>
                  <a:lnTo>
                    <a:pt x="2459180" y="3324822"/>
                  </a:lnTo>
                  <a:lnTo>
                    <a:pt x="2418207" y="3346054"/>
                  </a:lnTo>
                  <a:lnTo>
                    <a:pt x="2374897" y="3363043"/>
                  </a:lnTo>
                  <a:lnTo>
                    <a:pt x="2329524" y="3375515"/>
                  </a:lnTo>
                  <a:lnTo>
                    <a:pt x="2282359" y="3383198"/>
                  </a:lnTo>
                  <a:lnTo>
                    <a:pt x="2233676" y="3385820"/>
                  </a:lnTo>
                  <a:lnTo>
                    <a:pt x="446659" y="3385820"/>
                  </a:lnTo>
                  <a:lnTo>
                    <a:pt x="397999" y="3383198"/>
                  </a:lnTo>
                  <a:lnTo>
                    <a:pt x="350854" y="3375515"/>
                  </a:lnTo>
                  <a:lnTo>
                    <a:pt x="305499" y="3363043"/>
                  </a:lnTo>
                  <a:lnTo>
                    <a:pt x="262204" y="3346054"/>
                  </a:lnTo>
                  <a:lnTo>
                    <a:pt x="221243" y="3324822"/>
                  </a:lnTo>
                  <a:lnTo>
                    <a:pt x="182889" y="3299618"/>
                  </a:lnTo>
                  <a:lnTo>
                    <a:pt x="147414" y="3270715"/>
                  </a:lnTo>
                  <a:lnTo>
                    <a:pt x="115091" y="3238386"/>
                  </a:lnTo>
                  <a:lnTo>
                    <a:pt x="86193" y="3202903"/>
                  </a:lnTo>
                  <a:lnTo>
                    <a:pt x="60992" y="3164538"/>
                  </a:lnTo>
                  <a:lnTo>
                    <a:pt x="39762" y="3123565"/>
                  </a:lnTo>
                  <a:lnTo>
                    <a:pt x="22775" y="3080255"/>
                  </a:lnTo>
                  <a:lnTo>
                    <a:pt x="10304" y="3034882"/>
                  </a:lnTo>
                  <a:lnTo>
                    <a:pt x="2621" y="2987717"/>
                  </a:lnTo>
                  <a:lnTo>
                    <a:pt x="0" y="2939034"/>
                  </a:lnTo>
                  <a:lnTo>
                    <a:pt x="0" y="446786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85459" y="5328284"/>
            <a:ext cx="6388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UI</a:t>
            </a:r>
            <a:endParaRPr kumimoji="0" sz="5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94560" y="5065014"/>
            <a:ext cx="5568315" cy="3557270"/>
            <a:chOff x="1694560" y="5065014"/>
            <a:chExt cx="5568315" cy="3557270"/>
          </a:xfrm>
        </p:grpSpPr>
        <p:pic>
          <p:nvPicPr>
            <p:cNvPr id="21" name="object 21" descr="Attribute error · Issue #793 · zauberzeug/nicegui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6089" y="6322441"/>
              <a:ext cx="1716532" cy="201320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700910" y="5071364"/>
              <a:ext cx="3036570" cy="3544570"/>
            </a:xfrm>
            <a:custGeom>
              <a:avLst/>
              <a:gdLst/>
              <a:ahLst/>
              <a:cxnLst/>
              <a:rect l="l" t="t" r="r" b="b"/>
              <a:pathLst>
                <a:path w="3036570" h="3544570">
                  <a:moveTo>
                    <a:pt x="2530475" y="0"/>
                  </a:moveTo>
                  <a:lnTo>
                    <a:pt x="506094" y="0"/>
                  </a:lnTo>
                  <a:lnTo>
                    <a:pt x="457351" y="2317"/>
                  </a:lnTo>
                  <a:lnTo>
                    <a:pt x="409920" y="9129"/>
                  </a:lnTo>
                  <a:lnTo>
                    <a:pt x="364011" y="20222"/>
                  </a:lnTo>
                  <a:lnTo>
                    <a:pt x="319839" y="35385"/>
                  </a:lnTo>
                  <a:lnTo>
                    <a:pt x="277614" y="54404"/>
                  </a:lnTo>
                  <a:lnTo>
                    <a:pt x="237548" y="77067"/>
                  </a:lnTo>
                  <a:lnTo>
                    <a:pt x="199855" y="103161"/>
                  </a:lnTo>
                  <a:lnTo>
                    <a:pt x="164744" y="132474"/>
                  </a:lnTo>
                  <a:lnTo>
                    <a:pt x="132430" y="164795"/>
                  </a:lnTo>
                  <a:lnTo>
                    <a:pt x="103123" y="199909"/>
                  </a:lnTo>
                  <a:lnTo>
                    <a:pt x="77036" y="237605"/>
                  </a:lnTo>
                  <a:lnTo>
                    <a:pt x="54380" y="277670"/>
                  </a:lnTo>
                  <a:lnTo>
                    <a:pt x="35369" y="319891"/>
                  </a:lnTo>
                  <a:lnTo>
                    <a:pt x="20213" y="364057"/>
                  </a:lnTo>
                  <a:lnTo>
                    <a:pt x="9124" y="409954"/>
                  </a:lnTo>
                  <a:lnTo>
                    <a:pt x="2316" y="457371"/>
                  </a:lnTo>
                  <a:lnTo>
                    <a:pt x="0" y="506095"/>
                  </a:lnTo>
                  <a:lnTo>
                    <a:pt x="0" y="3037967"/>
                  </a:lnTo>
                  <a:lnTo>
                    <a:pt x="2316" y="3086710"/>
                  </a:lnTo>
                  <a:lnTo>
                    <a:pt x="9124" y="3134141"/>
                  </a:lnTo>
                  <a:lnTo>
                    <a:pt x="20213" y="3180050"/>
                  </a:lnTo>
                  <a:lnTo>
                    <a:pt x="35369" y="3224222"/>
                  </a:lnTo>
                  <a:lnTo>
                    <a:pt x="54380" y="3266447"/>
                  </a:lnTo>
                  <a:lnTo>
                    <a:pt x="77036" y="3306513"/>
                  </a:lnTo>
                  <a:lnTo>
                    <a:pt x="103123" y="3344206"/>
                  </a:lnTo>
                  <a:lnTo>
                    <a:pt x="132430" y="3379317"/>
                  </a:lnTo>
                  <a:lnTo>
                    <a:pt x="164744" y="3411631"/>
                  </a:lnTo>
                  <a:lnTo>
                    <a:pt x="199855" y="3440938"/>
                  </a:lnTo>
                  <a:lnTo>
                    <a:pt x="237548" y="3467025"/>
                  </a:lnTo>
                  <a:lnTo>
                    <a:pt x="277614" y="3489681"/>
                  </a:lnTo>
                  <a:lnTo>
                    <a:pt x="319839" y="3508692"/>
                  </a:lnTo>
                  <a:lnTo>
                    <a:pt x="364011" y="3523848"/>
                  </a:lnTo>
                  <a:lnTo>
                    <a:pt x="409920" y="3534937"/>
                  </a:lnTo>
                  <a:lnTo>
                    <a:pt x="457351" y="3541745"/>
                  </a:lnTo>
                  <a:lnTo>
                    <a:pt x="506094" y="3544062"/>
                  </a:lnTo>
                  <a:lnTo>
                    <a:pt x="2530475" y="3544062"/>
                  </a:lnTo>
                  <a:lnTo>
                    <a:pt x="2579218" y="3541745"/>
                  </a:lnTo>
                  <a:lnTo>
                    <a:pt x="2626649" y="3534937"/>
                  </a:lnTo>
                  <a:lnTo>
                    <a:pt x="2672558" y="3523848"/>
                  </a:lnTo>
                  <a:lnTo>
                    <a:pt x="2716730" y="3508692"/>
                  </a:lnTo>
                  <a:lnTo>
                    <a:pt x="2758955" y="3489681"/>
                  </a:lnTo>
                  <a:lnTo>
                    <a:pt x="2799021" y="3467025"/>
                  </a:lnTo>
                  <a:lnTo>
                    <a:pt x="2836714" y="3440938"/>
                  </a:lnTo>
                  <a:lnTo>
                    <a:pt x="2871825" y="3411631"/>
                  </a:lnTo>
                  <a:lnTo>
                    <a:pt x="2904139" y="3379317"/>
                  </a:lnTo>
                  <a:lnTo>
                    <a:pt x="2933446" y="3344206"/>
                  </a:lnTo>
                  <a:lnTo>
                    <a:pt x="2959533" y="3306513"/>
                  </a:lnTo>
                  <a:lnTo>
                    <a:pt x="2982189" y="3266447"/>
                  </a:lnTo>
                  <a:lnTo>
                    <a:pt x="3001200" y="3224222"/>
                  </a:lnTo>
                  <a:lnTo>
                    <a:pt x="3016356" y="3180050"/>
                  </a:lnTo>
                  <a:lnTo>
                    <a:pt x="3027445" y="3134141"/>
                  </a:lnTo>
                  <a:lnTo>
                    <a:pt x="3034253" y="3086710"/>
                  </a:lnTo>
                  <a:lnTo>
                    <a:pt x="3036569" y="3037967"/>
                  </a:lnTo>
                  <a:lnTo>
                    <a:pt x="3036569" y="506095"/>
                  </a:lnTo>
                  <a:lnTo>
                    <a:pt x="3034253" y="457371"/>
                  </a:lnTo>
                  <a:lnTo>
                    <a:pt x="3027445" y="409954"/>
                  </a:lnTo>
                  <a:lnTo>
                    <a:pt x="3016356" y="364057"/>
                  </a:lnTo>
                  <a:lnTo>
                    <a:pt x="3001200" y="319891"/>
                  </a:lnTo>
                  <a:lnTo>
                    <a:pt x="2982189" y="277670"/>
                  </a:lnTo>
                  <a:lnTo>
                    <a:pt x="2959533" y="237605"/>
                  </a:lnTo>
                  <a:lnTo>
                    <a:pt x="2933446" y="199909"/>
                  </a:lnTo>
                  <a:lnTo>
                    <a:pt x="2904139" y="164795"/>
                  </a:lnTo>
                  <a:lnTo>
                    <a:pt x="2871825" y="132474"/>
                  </a:lnTo>
                  <a:lnTo>
                    <a:pt x="2836714" y="103161"/>
                  </a:lnTo>
                  <a:lnTo>
                    <a:pt x="2799021" y="77067"/>
                  </a:lnTo>
                  <a:lnTo>
                    <a:pt x="2758955" y="54404"/>
                  </a:lnTo>
                  <a:lnTo>
                    <a:pt x="2716730" y="35385"/>
                  </a:lnTo>
                  <a:lnTo>
                    <a:pt x="2672558" y="20222"/>
                  </a:lnTo>
                  <a:lnTo>
                    <a:pt x="2626649" y="9129"/>
                  </a:lnTo>
                  <a:lnTo>
                    <a:pt x="2579218" y="2317"/>
                  </a:lnTo>
                  <a:lnTo>
                    <a:pt x="2530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700910" y="5071364"/>
              <a:ext cx="3036570" cy="3544570"/>
            </a:xfrm>
            <a:custGeom>
              <a:avLst/>
              <a:gdLst/>
              <a:ahLst/>
              <a:cxnLst/>
              <a:rect l="l" t="t" r="r" b="b"/>
              <a:pathLst>
                <a:path w="3036570" h="3544570">
                  <a:moveTo>
                    <a:pt x="0" y="506095"/>
                  </a:moveTo>
                  <a:lnTo>
                    <a:pt x="2316" y="457371"/>
                  </a:lnTo>
                  <a:lnTo>
                    <a:pt x="9124" y="409954"/>
                  </a:lnTo>
                  <a:lnTo>
                    <a:pt x="20213" y="364057"/>
                  </a:lnTo>
                  <a:lnTo>
                    <a:pt x="35369" y="319891"/>
                  </a:lnTo>
                  <a:lnTo>
                    <a:pt x="54380" y="277670"/>
                  </a:lnTo>
                  <a:lnTo>
                    <a:pt x="77036" y="237605"/>
                  </a:lnTo>
                  <a:lnTo>
                    <a:pt x="103123" y="199909"/>
                  </a:lnTo>
                  <a:lnTo>
                    <a:pt x="132430" y="164795"/>
                  </a:lnTo>
                  <a:lnTo>
                    <a:pt x="164744" y="132474"/>
                  </a:lnTo>
                  <a:lnTo>
                    <a:pt x="199855" y="103161"/>
                  </a:lnTo>
                  <a:lnTo>
                    <a:pt x="237548" y="77067"/>
                  </a:lnTo>
                  <a:lnTo>
                    <a:pt x="277614" y="54404"/>
                  </a:lnTo>
                  <a:lnTo>
                    <a:pt x="319839" y="35385"/>
                  </a:lnTo>
                  <a:lnTo>
                    <a:pt x="364011" y="20222"/>
                  </a:lnTo>
                  <a:lnTo>
                    <a:pt x="409920" y="9129"/>
                  </a:lnTo>
                  <a:lnTo>
                    <a:pt x="457351" y="2317"/>
                  </a:lnTo>
                  <a:lnTo>
                    <a:pt x="506094" y="0"/>
                  </a:lnTo>
                  <a:lnTo>
                    <a:pt x="2530475" y="0"/>
                  </a:lnTo>
                  <a:lnTo>
                    <a:pt x="2579218" y="2317"/>
                  </a:lnTo>
                  <a:lnTo>
                    <a:pt x="2626649" y="9129"/>
                  </a:lnTo>
                  <a:lnTo>
                    <a:pt x="2672558" y="20222"/>
                  </a:lnTo>
                  <a:lnTo>
                    <a:pt x="2716730" y="35385"/>
                  </a:lnTo>
                  <a:lnTo>
                    <a:pt x="2758955" y="54404"/>
                  </a:lnTo>
                  <a:lnTo>
                    <a:pt x="2799021" y="77067"/>
                  </a:lnTo>
                  <a:lnTo>
                    <a:pt x="2836714" y="103161"/>
                  </a:lnTo>
                  <a:lnTo>
                    <a:pt x="2871825" y="132474"/>
                  </a:lnTo>
                  <a:lnTo>
                    <a:pt x="2904139" y="164795"/>
                  </a:lnTo>
                  <a:lnTo>
                    <a:pt x="2933446" y="199909"/>
                  </a:lnTo>
                  <a:lnTo>
                    <a:pt x="2959533" y="237605"/>
                  </a:lnTo>
                  <a:lnTo>
                    <a:pt x="2982189" y="277670"/>
                  </a:lnTo>
                  <a:lnTo>
                    <a:pt x="3001200" y="319891"/>
                  </a:lnTo>
                  <a:lnTo>
                    <a:pt x="3016356" y="364057"/>
                  </a:lnTo>
                  <a:lnTo>
                    <a:pt x="3027445" y="409954"/>
                  </a:lnTo>
                  <a:lnTo>
                    <a:pt x="3034253" y="457371"/>
                  </a:lnTo>
                  <a:lnTo>
                    <a:pt x="3036569" y="506095"/>
                  </a:lnTo>
                  <a:lnTo>
                    <a:pt x="3036569" y="3037967"/>
                  </a:lnTo>
                  <a:lnTo>
                    <a:pt x="3034253" y="3086710"/>
                  </a:lnTo>
                  <a:lnTo>
                    <a:pt x="3027445" y="3134141"/>
                  </a:lnTo>
                  <a:lnTo>
                    <a:pt x="3016356" y="3180050"/>
                  </a:lnTo>
                  <a:lnTo>
                    <a:pt x="3001200" y="3224222"/>
                  </a:lnTo>
                  <a:lnTo>
                    <a:pt x="2982189" y="3266447"/>
                  </a:lnTo>
                  <a:lnTo>
                    <a:pt x="2959533" y="3306513"/>
                  </a:lnTo>
                  <a:lnTo>
                    <a:pt x="2933446" y="3344206"/>
                  </a:lnTo>
                  <a:lnTo>
                    <a:pt x="2904139" y="3379317"/>
                  </a:lnTo>
                  <a:lnTo>
                    <a:pt x="2871825" y="3411631"/>
                  </a:lnTo>
                  <a:lnTo>
                    <a:pt x="2836714" y="3440938"/>
                  </a:lnTo>
                  <a:lnTo>
                    <a:pt x="2799021" y="3467025"/>
                  </a:lnTo>
                  <a:lnTo>
                    <a:pt x="2758955" y="3489681"/>
                  </a:lnTo>
                  <a:lnTo>
                    <a:pt x="2716730" y="3508692"/>
                  </a:lnTo>
                  <a:lnTo>
                    <a:pt x="2672558" y="3523848"/>
                  </a:lnTo>
                  <a:lnTo>
                    <a:pt x="2626649" y="3534937"/>
                  </a:lnTo>
                  <a:lnTo>
                    <a:pt x="2579218" y="3541745"/>
                  </a:lnTo>
                  <a:lnTo>
                    <a:pt x="2530475" y="3544062"/>
                  </a:lnTo>
                  <a:lnTo>
                    <a:pt x="506094" y="3544062"/>
                  </a:lnTo>
                  <a:lnTo>
                    <a:pt x="457351" y="3541745"/>
                  </a:lnTo>
                  <a:lnTo>
                    <a:pt x="409920" y="3534937"/>
                  </a:lnTo>
                  <a:lnTo>
                    <a:pt x="364011" y="3523848"/>
                  </a:lnTo>
                  <a:lnTo>
                    <a:pt x="319839" y="3508692"/>
                  </a:lnTo>
                  <a:lnTo>
                    <a:pt x="277614" y="3489681"/>
                  </a:lnTo>
                  <a:lnTo>
                    <a:pt x="237548" y="3467025"/>
                  </a:lnTo>
                  <a:lnTo>
                    <a:pt x="199855" y="3440938"/>
                  </a:lnTo>
                  <a:lnTo>
                    <a:pt x="164744" y="3411631"/>
                  </a:lnTo>
                  <a:lnTo>
                    <a:pt x="132430" y="3379317"/>
                  </a:lnTo>
                  <a:lnTo>
                    <a:pt x="103123" y="3344206"/>
                  </a:lnTo>
                  <a:lnTo>
                    <a:pt x="77036" y="3306513"/>
                  </a:lnTo>
                  <a:lnTo>
                    <a:pt x="54380" y="3266447"/>
                  </a:lnTo>
                  <a:lnTo>
                    <a:pt x="35369" y="3224222"/>
                  </a:lnTo>
                  <a:lnTo>
                    <a:pt x="20213" y="3180050"/>
                  </a:lnTo>
                  <a:lnTo>
                    <a:pt x="9124" y="3134141"/>
                  </a:lnTo>
                  <a:lnTo>
                    <a:pt x="2316" y="3086710"/>
                  </a:lnTo>
                  <a:lnTo>
                    <a:pt x="0" y="3037967"/>
                  </a:lnTo>
                  <a:lnTo>
                    <a:pt x="0" y="506095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19780" y="5365750"/>
            <a:ext cx="8216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DB</a:t>
            </a:r>
            <a:endParaRPr kumimoji="0" sz="5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53007" y="2409570"/>
            <a:ext cx="6452870" cy="5763895"/>
            <a:chOff x="1453007" y="2409570"/>
            <a:chExt cx="6452870" cy="5763895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34590" y="6604126"/>
              <a:ext cx="1569085" cy="156908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459357" y="2415920"/>
              <a:ext cx="6440170" cy="2585085"/>
            </a:xfrm>
            <a:custGeom>
              <a:avLst/>
              <a:gdLst/>
              <a:ahLst/>
              <a:cxnLst/>
              <a:rect l="l" t="t" r="r" b="b"/>
              <a:pathLst>
                <a:path w="6440170" h="2585085">
                  <a:moveTo>
                    <a:pt x="6009386" y="0"/>
                  </a:moveTo>
                  <a:lnTo>
                    <a:pt x="430911" y="0"/>
                  </a:lnTo>
                  <a:lnTo>
                    <a:pt x="383956" y="2528"/>
                  </a:lnTo>
                  <a:lnTo>
                    <a:pt x="338466" y="9937"/>
                  </a:lnTo>
                  <a:lnTo>
                    <a:pt x="294705" y="21965"/>
                  </a:lnTo>
                  <a:lnTo>
                    <a:pt x="252933" y="38349"/>
                  </a:lnTo>
                  <a:lnTo>
                    <a:pt x="213416" y="58824"/>
                  </a:lnTo>
                  <a:lnTo>
                    <a:pt x="176415" y="83129"/>
                  </a:lnTo>
                  <a:lnTo>
                    <a:pt x="142193" y="110999"/>
                  </a:lnTo>
                  <a:lnTo>
                    <a:pt x="111012" y="142173"/>
                  </a:lnTo>
                  <a:lnTo>
                    <a:pt x="83137" y="176387"/>
                  </a:lnTo>
                  <a:lnTo>
                    <a:pt x="58829" y="213378"/>
                  </a:lnTo>
                  <a:lnTo>
                    <a:pt x="38351" y="252883"/>
                  </a:lnTo>
                  <a:lnTo>
                    <a:pt x="21966" y="294640"/>
                  </a:lnTo>
                  <a:lnTo>
                    <a:pt x="9938" y="338384"/>
                  </a:lnTo>
                  <a:lnTo>
                    <a:pt x="2528" y="383853"/>
                  </a:lnTo>
                  <a:lnTo>
                    <a:pt x="0" y="430783"/>
                  </a:lnTo>
                  <a:lnTo>
                    <a:pt x="0" y="2154174"/>
                  </a:lnTo>
                  <a:lnTo>
                    <a:pt x="2528" y="2201128"/>
                  </a:lnTo>
                  <a:lnTo>
                    <a:pt x="9938" y="2246618"/>
                  </a:lnTo>
                  <a:lnTo>
                    <a:pt x="21966" y="2290379"/>
                  </a:lnTo>
                  <a:lnTo>
                    <a:pt x="38351" y="2332151"/>
                  </a:lnTo>
                  <a:lnTo>
                    <a:pt x="58829" y="2371668"/>
                  </a:lnTo>
                  <a:lnTo>
                    <a:pt x="83137" y="2408669"/>
                  </a:lnTo>
                  <a:lnTo>
                    <a:pt x="111012" y="2442891"/>
                  </a:lnTo>
                  <a:lnTo>
                    <a:pt x="142193" y="2474072"/>
                  </a:lnTo>
                  <a:lnTo>
                    <a:pt x="176415" y="2501947"/>
                  </a:lnTo>
                  <a:lnTo>
                    <a:pt x="213416" y="2526255"/>
                  </a:lnTo>
                  <a:lnTo>
                    <a:pt x="252933" y="2546733"/>
                  </a:lnTo>
                  <a:lnTo>
                    <a:pt x="294705" y="2563118"/>
                  </a:lnTo>
                  <a:lnTo>
                    <a:pt x="338466" y="2575146"/>
                  </a:lnTo>
                  <a:lnTo>
                    <a:pt x="383956" y="2582556"/>
                  </a:lnTo>
                  <a:lnTo>
                    <a:pt x="430911" y="2585084"/>
                  </a:lnTo>
                  <a:lnTo>
                    <a:pt x="6009386" y="2585084"/>
                  </a:lnTo>
                  <a:lnTo>
                    <a:pt x="6056316" y="2582556"/>
                  </a:lnTo>
                  <a:lnTo>
                    <a:pt x="6101785" y="2575146"/>
                  </a:lnTo>
                  <a:lnTo>
                    <a:pt x="6145530" y="2563118"/>
                  </a:lnTo>
                  <a:lnTo>
                    <a:pt x="6187286" y="2546733"/>
                  </a:lnTo>
                  <a:lnTo>
                    <a:pt x="6226791" y="2526255"/>
                  </a:lnTo>
                  <a:lnTo>
                    <a:pt x="6263782" y="2501947"/>
                  </a:lnTo>
                  <a:lnTo>
                    <a:pt x="6297996" y="2474072"/>
                  </a:lnTo>
                  <a:lnTo>
                    <a:pt x="6329170" y="2442891"/>
                  </a:lnTo>
                  <a:lnTo>
                    <a:pt x="6357040" y="2408669"/>
                  </a:lnTo>
                  <a:lnTo>
                    <a:pt x="6381345" y="2371668"/>
                  </a:lnTo>
                  <a:lnTo>
                    <a:pt x="6401820" y="2332151"/>
                  </a:lnTo>
                  <a:lnTo>
                    <a:pt x="6418204" y="2290379"/>
                  </a:lnTo>
                  <a:lnTo>
                    <a:pt x="6430232" y="2246618"/>
                  </a:lnTo>
                  <a:lnTo>
                    <a:pt x="6437641" y="2201128"/>
                  </a:lnTo>
                  <a:lnTo>
                    <a:pt x="6440170" y="2154174"/>
                  </a:lnTo>
                  <a:lnTo>
                    <a:pt x="6440170" y="430783"/>
                  </a:lnTo>
                  <a:lnTo>
                    <a:pt x="6437641" y="383853"/>
                  </a:lnTo>
                  <a:lnTo>
                    <a:pt x="6430232" y="338384"/>
                  </a:lnTo>
                  <a:lnTo>
                    <a:pt x="6418204" y="294640"/>
                  </a:lnTo>
                  <a:lnTo>
                    <a:pt x="6401820" y="252883"/>
                  </a:lnTo>
                  <a:lnTo>
                    <a:pt x="6381345" y="213378"/>
                  </a:lnTo>
                  <a:lnTo>
                    <a:pt x="6357040" y="176387"/>
                  </a:lnTo>
                  <a:lnTo>
                    <a:pt x="6329170" y="142173"/>
                  </a:lnTo>
                  <a:lnTo>
                    <a:pt x="6297996" y="110999"/>
                  </a:lnTo>
                  <a:lnTo>
                    <a:pt x="6263782" y="83129"/>
                  </a:lnTo>
                  <a:lnTo>
                    <a:pt x="6226791" y="58824"/>
                  </a:lnTo>
                  <a:lnTo>
                    <a:pt x="6187286" y="38349"/>
                  </a:lnTo>
                  <a:lnTo>
                    <a:pt x="6145530" y="21965"/>
                  </a:lnTo>
                  <a:lnTo>
                    <a:pt x="6101785" y="9937"/>
                  </a:lnTo>
                  <a:lnTo>
                    <a:pt x="6056316" y="2528"/>
                  </a:lnTo>
                  <a:lnTo>
                    <a:pt x="60093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459357" y="2415920"/>
              <a:ext cx="6440170" cy="2585085"/>
            </a:xfrm>
            <a:custGeom>
              <a:avLst/>
              <a:gdLst/>
              <a:ahLst/>
              <a:cxnLst/>
              <a:rect l="l" t="t" r="r" b="b"/>
              <a:pathLst>
                <a:path w="6440170" h="2585085">
                  <a:moveTo>
                    <a:pt x="0" y="430783"/>
                  </a:moveTo>
                  <a:lnTo>
                    <a:pt x="2528" y="383853"/>
                  </a:lnTo>
                  <a:lnTo>
                    <a:pt x="9938" y="338384"/>
                  </a:lnTo>
                  <a:lnTo>
                    <a:pt x="21966" y="294640"/>
                  </a:lnTo>
                  <a:lnTo>
                    <a:pt x="38351" y="252883"/>
                  </a:lnTo>
                  <a:lnTo>
                    <a:pt x="58829" y="213378"/>
                  </a:lnTo>
                  <a:lnTo>
                    <a:pt x="83137" y="176387"/>
                  </a:lnTo>
                  <a:lnTo>
                    <a:pt x="111012" y="142173"/>
                  </a:lnTo>
                  <a:lnTo>
                    <a:pt x="142193" y="110999"/>
                  </a:lnTo>
                  <a:lnTo>
                    <a:pt x="176415" y="83129"/>
                  </a:lnTo>
                  <a:lnTo>
                    <a:pt x="213416" y="58824"/>
                  </a:lnTo>
                  <a:lnTo>
                    <a:pt x="252933" y="38349"/>
                  </a:lnTo>
                  <a:lnTo>
                    <a:pt x="294705" y="21965"/>
                  </a:lnTo>
                  <a:lnTo>
                    <a:pt x="338466" y="9937"/>
                  </a:lnTo>
                  <a:lnTo>
                    <a:pt x="383956" y="2528"/>
                  </a:lnTo>
                  <a:lnTo>
                    <a:pt x="430911" y="0"/>
                  </a:lnTo>
                  <a:lnTo>
                    <a:pt x="6009386" y="0"/>
                  </a:lnTo>
                  <a:lnTo>
                    <a:pt x="6056316" y="2528"/>
                  </a:lnTo>
                  <a:lnTo>
                    <a:pt x="6101785" y="9937"/>
                  </a:lnTo>
                  <a:lnTo>
                    <a:pt x="6145530" y="21965"/>
                  </a:lnTo>
                  <a:lnTo>
                    <a:pt x="6187286" y="38349"/>
                  </a:lnTo>
                  <a:lnTo>
                    <a:pt x="6226791" y="58824"/>
                  </a:lnTo>
                  <a:lnTo>
                    <a:pt x="6263782" y="83129"/>
                  </a:lnTo>
                  <a:lnTo>
                    <a:pt x="6297996" y="110999"/>
                  </a:lnTo>
                  <a:lnTo>
                    <a:pt x="6329170" y="142173"/>
                  </a:lnTo>
                  <a:lnTo>
                    <a:pt x="6357040" y="176387"/>
                  </a:lnTo>
                  <a:lnTo>
                    <a:pt x="6381345" y="213378"/>
                  </a:lnTo>
                  <a:lnTo>
                    <a:pt x="6401820" y="252883"/>
                  </a:lnTo>
                  <a:lnTo>
                    <a:pt x="6418204" y="294640"/>
                  </a:lnTo>
                  <a:lnTo>
                    <a:pt x="6430232" y="338384"/>
                  </a:lnTo>
                  <a:lnTo>
                    <a:pt x="6437641" y="383853"/>
                  </a:lnTo>
                  <a:lnTo>
                    <a:pt x="6440170" y="430783"/>
                  </a:lnTo>
                  <a:lnTo>
                    <a:pt x="6440170" y="2154174"/>
                  </a:lnTo>
                  <a:lnTo>
                    <a:pt x="6437641" y="2201128"/>
                  </a:lnTo>
                  <a:lnTo>
                    <a:pt x="6430232" y="2246618"/>
                  </a:lnTo>
                  <a:lnTo>
                    <a:pt x="6418204" y="2290379"/>
                  </a:lnTo>
                  <a:lnTo>
                    <a:pt x="6401820" y="2332151"/>
                  </a:lnTo>
                  <a:lnTo>
                    <a:pt x="6381345" y="2371668"/>
                  </a:lnTo>
                  <a:lnTo>
                    <a:pt x="6357040" y="2408669"/>
                  </a:lnTo>
                  <a:lnTo>
                    <a:pt x="6329170" y="2442891"/>
                  </a:lnTo>
                  <a:lnTo>
                    <a:pt x="6297996" y="2474072"/>
                  </a:lnTo>
                  <a:lnTo>
                    <a:pt x="6263782" y="2501947"/>
                  </a:lnTo>
                  <a:lnTo>
                    <a:pt x="6226791" y="2526255"/>
                  </a:lnTo>
                  <a:lnTo>
                    <a:pt x="6187286" y="2546733"/>
                  </a:lnTo>
                  <a:lnTo>
                    <a:pt x="6145530" y="2563118"/>
                  </a:lnTo>
                  <a:lnTo>
                    <a:pt x="6101785" y="2575146"/>
                  </a:lnTo>
                  <a:lnTo>
                    <a:pt x="6056316" y="2582556"/>
                  </a:lnTo>
                  <a:lnTo>
                    <a:pt x="6009386" y="2585084"/>
                  </a:lnTo>
                  <a:lnTo>
                    <a:pt x="430911" y="2585084"/>
                  </a:lnTo>
                  <a:lnTo>
                    <a:pt x="383956" y="2582556"/>
                  </a:lnTo>
                  <a:lnTo>
                    <a:pt x="338466" y="2575146"/>
                  </a:lnTo>
                  <a:lnTo>
                    <a:pt x="294705" y="2563118"/>
                  </a:lnTo>
                  <a:lnTo>
                    <a:pt x="252933" y="2546733"/>
                  </a:lnTo>
                  <a:lnTo>
                    <a:pt x="213416" y="2526255"/>
                  </a:lnTo>
                  <a:lnTo>
                    <a:pt x="176415" y="2501947"/>
                  </a:lnTo>
                  <a:lnTo>
                    <a:pt x="142193" y="2474072"/>
                  </a:lnTo>
                  <a:lnTo>
                    <a:pt x="111012" y="2442891"/>
                  </a:lnTo>
                  <a:lnTo>
                    <a:pt x="83137" y="2408669"/>
                  </a:lnTo>
                  <a:lnTo>
                    <a:pt x="58829" y="2371668"/>
                  </a:lnTo>
                  <a:lnTo>
                    <a:pt x="38351" y="2332151"/>
                  </a:lnTo>
                  <a:lnTo>
                    <a:pt x="21966" y="2290379"/>
                  </a:lnTo>
                  <a:lnTo>
                    <a:pt x="9938" y="2246618"/>
                  </a:lnTo>
                  <a:lnTo>
                    <a:pt x="2528" y="2201128"/>
                  </a:lnTo>
                  <a:lnTo>
                    <a:pt x="0" y="2154174"/>
                  </a:lnTo>
                  <a:lnTo>
                    <a:pt x="0" y="430783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9" name="object 29" descr="File:Python-logo.png - Wikipedia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69839" y="2571749"/>
              <a:ext cx="2015743" cy="220878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739010" y="2664663"/>
            <a:ext cx="267462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60769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Main </a:t>
            </a:r>
            <a:r>
              <a:rPr kumimoji="0" sz="5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endParaRPr kumimoji="0" sz="5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179561" y="4774184"/>
            <a:ext cx="3665220" cy="4494530"/>
            <a:chOff x="8179561" y="4774184"/>
            <a:chExt cx="3665220" cy="4494530"/>
          </a:xfrm>
        </p:grpSpPr>
        <p:sp>
          <p:nvSpPr>
            <p:cNvPr id="32" name="object 32"/>
            <p:cNvSpPr/>
            <p:nvPr/>
          </p:nvSpPr>
          <p:spPr>
            <a:xfrm>
              <a:off x="8185911" y="4780534"/>
              <a:ext cx="3652520" cy="4481830"/>
            </a:xfrm>
            <a:custGeom>
              <a:avLst/>
              <a:gdLst/>
              <a:ahLst/>
              <a:cxnLst/>
              <a:rect l="l" t="t" r="r" b="b"/>
              <a:pathLst>
                <a:path w="3652520" h="4481830">
                  <a:moveTo>
                    <a:pt x="3043428" y="0"/>
                  </a:moveTo>
                  <a:lnTo>
                    <a:pt x="608711" y="0"/>
                  </a:lnTo>
                  <a:lnTo>
                    <a:pt x="561125" y="1831"/>
                  </a:lnTo>
                  <a:lnTo>
                    <a:pt x="514544" y="7235"/>
                  </a:lnTo>
                  <a:lnTo>
                    <a:pt x="469103" y="16077"/>
                  </a:lnTo>
                  <a:lnTo>
                    <a:pt x="424936" y="28220"/>
                  </a:lnTo>
                  <a:lnTo>
                    <a:pt x="382178" y="43530"/>
                  </a:lnTo>
                  <a:lnTo>
                    <a:pt x="340965" y="61872"/>
                  </a:lnTo>
                  <a:lnTo>
                    <a:pt x="301432" y="83109"/>
                  </a:lnTo>
                  <a:lnTo>
                    <a:pt x="263713" y="107107"/>
                  </a:lnTo>
                  <a:lnTo>
                    <a:pt x="227945" y="133731"/>
                  </a:lnTo>
                  <a:lnTo>
                    <a:pt x="194262" y="162844"/>
                  </a:lnTo>
                  <a:lnTo>
                    <a:pt x="162798" y="194311"/>
                  </a:lnTo>
                  <a:lnTo>
                    <a:pt x="133691" y="227998"/>
                  </a:lnTo>
                  <a:lnTo>
                    <a:pt x="107073" y="263769"/>
                  </a:lnTo>
                  <a:lnTo>
                    <a:pt x="83081" y="301488"/>
                  </a:lnTo>
                  <a:lnTo>
                    <a:pt x="61850" y="341020"/>
                  </a:lnTo>
                  <a:lnTo>
                    <a:pt x="43514" y="382231"/>
                  </a:lnTo>
                  <a:lnTo>
                    <a:pt x="28209" y="424983"/>
                  </a:lnTo>
                  <a:lnTo>
                    <a:pt x="16070" y="469143"/>
                  </a:lnTo>
                  <a:lnTo>
                    <a:pt x="7232" y="514574"/>
                  </a:lnTo>
                  <a:lnTo>
                    <a:pt x="1830" y="561142"/>
                  </a:lnTo>
                  <a:lnTo>
                    <a:pt x="0" y="608711"/>
                  </a:lnTo>
                  <a:lnTo>
                    <a:pt x="0" y="3872865"/>
                  </a:lnTo>
                  <a:lnTo>
                    <a:pt x="1830" y="3920433"/>
                  </a:lnTo>
                  <a:lnTo>
                    <a:pt x="7232" y="3967002"/>
                  </a:lnTo>
                  <a:lnTo>
                    <a:pt x="16070" y="4012434"/>
                  </a:lnTo>
                  <a:lnTo>
                    <a:pt x="28209" y="4056596"/>
                  </a:lnTo>
                  <a:lnTo>
                    <a:pt x="43514" y="4099350"/>
                  </a:lnTo>
                  <a:lnTo>
                    <a:pt x="61850" y="4140562"/>
                  </a:lnTo>
                  <a:lnTo>
                    <a:pt x="83081" y="4180097"/>
                  </a:lnTo>
                  <a:lnTo>
                    <a:pt x="107073" y="4217818"/>
                  </a:lnTo>
                  <a:lnTo>
                    <a:pt x="133691" y="4253592"/>
                  </a:lnTo>
                  <a:lnTo>
                    <a:pt x="162798" y="4287281"/>
                  </a:lnTo>
                  <a:lnTo>
                    <a:pt x="194262" y="4318752"/>
                  </a:lnTo>
                  <a:lnTo>
                    <a:pt x="227945" y="4347868"/>
                  </a:lnTo>
                  <a:lnTo>
                    <a:pt x="263713" y="4374493"/>
                  </a:lnTo>
                  <a:lnTo>
                    <a:pt x="301432" y="4398494"/>
                  </a:lnTo>
                  <a:lnTo>
                    <a:pt x="340965" y="4419734"/>
                  </a:lnTo>
                  <a:lnTo>
                    <a:pt x="382178" y="4438077"/>
                  </a:lnTo>
                  <a:lnTo>
                    <a:pt x="424936" y="4453389"/>
                  </a:lnTo>
                  <a:lnTo>
                    <a:pt x="469103" y="4465534"/>
                  </a:lnTo>
                  <a:lnTo>
                    <a:pt x="514544" y="4474377"/>
                  </a:lnTo>
                  <a:lnTo>
                    <a:pt x="561125" y="4479782"/>
                  </a:lnTo>
                  <a:lnTo>
                    <a:pt x="608711" y="4481614"/>
                  </a:lnTo>
                  <a:lnTo>
                    <a:pt x="3043428" y="4481614"/>
                  </a:lnTo>
                  <a:lnTo>
                    <a:pt x="3090996" y="4479782"/>
                  </a:lnTo>
                  <a:lnTo>
                    <a:pt x="3137564" y="4474377"/>
                  </a:lnTo>
                  <a:lnTo>
                    <a:pt x="3182995" y="4465534"/>
                  </a:lnTo>
                  <a:lnTo>
                    <a:pt x="3227155" y="4453389"/>
                  </a:lnTo>
                  <a:lnTo>
                    <a:pt x="3269907" y="4438077"/>
                  </a:lnTo>
                  <a:lnTo>
                    <a:pt x="3311118" y="4419734"/>
                  </a:lnTo>
                  <a:lnTo>
                    <a:pt x="3350650" y="4398494"/>
                  </a:lnTo>
                  <a:lnTo>
                    <a:pt x="3388369" y="4374493"/>
                  </a:lnTo>
                  <a:lnTo>
                    <a:pt x="3424140" y="4347868"/>
                  </a:lnTo>
                  <a:lnTo>
                    <a:pt x="3457827" y="4318752"/>
                  </a:lnTo>
                  <a:lnTo>
                    <a:pt x="3489294" y="4287281"/>
                  </a:lnTo>
                  <a:lnTo>
                    <a:pt x="3518407" y="4253592"/>
                  </a:lnTo>
                  <a:lnTo>
                    <a:pt x="3545031" y="4217818"/>
                  </a:lnTo>
                  <a:lnTo>
                    <a:pt x="3569029" y="4180097"/>
                  </a:lnTo>
                  <a:lnTo>
                    <a:pt x="3590266" y="4140562"/>
                  </a:lnTo>
                  <a:lnTo>
                    <a:pt x="3608608" y="4099350"/>
                  </a:lnTo>
                  <a:lnTo>
                    <a:pt x="3623918" y="4056596"/>
                  </a:lnTo>
                  <a:lnTo>
                    <a:pt x="3636061" y="4012434"/>
                  </a:lnTo>
                  <a:lnTo>
                    <a:pt x="3644903" y="3967002"/>
                  </a:lnTo>
                  <a:lnTo>
                    <a:pt x="3650307" y="3920433"/>
                  </a:lnTo>
                  <a:lnTo>
                    <a:pt x="3652139" y="3872865"/>
                  </a:lnTo>
                  <a:lnTo>
                    <a:pt x="3652139" y="608711"/>
                  </a:lnTo>
                  <a:lnTo>
                    <a:pt x="3650307" y="561142"/>
                  </a:lnTo>
                  <a:lnTo>
                    <a:pt x="3644903" y="514574"/>
                  </a:lnTo>
                  <a:lnTo>
                    <a:pt x="3636061" y="469143"/>
                  </a:lnTo>
                  <a:lnTo>
                    <a:pt x="3623918" y="424983"/>
                  </a:lnTo>
                  <a:lnTo>
                    <a:pt x="3608608" y="382231"/>
                  </a:lnTo>
                  <a:lnTo>
                    <a:pt x="3590266" y="341020"/>
                  </a:lnTo>
                  <a:lnTo>
                    <a:pt x="3569029" y="301488"/>
                  </a:lnTo>
                  <a:lnTo>
                    <a:pt x="3545031" y="263769"/>
                  </a:lnTo>
                  <a:lnTo>
                    <a:pt x="3518408" y="227998"/>
                  </a:lnTo>
                  <a:lnTo>
                    <a:pt x="3489294" y="194311"/>
                  </a:lnTo>
                  <a:lnTo>
                    <a:pt x="3457827" y="162844"/>
                  </a:lnTo>
                  <a:lnTo>
                    <a:pt x="3424140" y="133731"/>
                  </a:lnTo>
                  <a:lnTo>
                    <a:pt x="3388369" y="107107"/>
                  </a:lnTo>
                  <a:lnTo>
                    <a:pt x="3350650" y="83109"/>
                  </a:lnTo>
                  <a:lnTo>
                    <a:pt x="3311118" y="61872"/>
                  </a:lnTo>
                  <a:lnTo>
                    <a:pt x="3269907" y="43530"/>
                  </a:lnTo>
                  <a:lnTo>
                    <a:pt x="3227155" y="28220"/>
                  </a:lnTo>
                  <a:lnTo>
                    <a:pt x="3182995" y="16077"/>
                  </a:lnTo>
                  <a:lnTo>
                    <a:pt x="3137564" y="7235"/>
                  </a:lnTo>
                  <a:lnTo>
                    <a:pt x="3090996" y="1831"/>
                  </a:lnTo>
                  <a:lnTo>
                    <a:pt x="30434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8185911" y="4780534"/>
              <a:ext cx="3652520" cy="4481830"/>
            </a:xfrm>
            <a:custGeom>
              <a:avLst/>
              <a:gdLst/>
              <a:ahLst/>
              <a:cxnLst/>
              <a:rect l="l" t="t" r="r" b="b"/>
              <a:pathLst>
                <a:path w="3652520" h="4481830">
                  <a:moveTo>
                    <a:pt x="0" y="608711"/>
                  </a:moveTo>
                  <a:lnTo>
                    <a:pt x="1830" y="561142"/>
                  </a:lnTo>
                  <a:lnTo>
                    <a:pt x="7232" y="514574"/>
                  </a:lnTo>
                  <a:lnTo>
                    <a:pt x="16070" y="469143"/>
                  </a:lnTo>
                  <a:lnTo>
                    <a:pt x="28209" y="424983"/>
                  </a:lnTo>
                  <a:lnTo>
                    <a:pt x="43514" y="382231"/>
                  </a:lnTo>
                  <a:lnTo>
                    <a:pt x="61850" y="341020"/>
                  </a:lnTo>
                  <a:lnTo>
                    <a:pt x="83081" y="301488"/>
                  </a:lnTo>
                  <a:lnTo>
                    <a:pt x="107073" y="263769"/>
                  </a:lnTo>
                  <a:lnTo>
                    <a:pt x="133691" y="227998"/>
                  </a:lnTo>
                  <a:lnTo>
                    <a:pt x="162798" y="194311"/>
                  </a:lnTo>
                  <a:lnTo>
                    <a:pt x="194262" y="162844"/>
                  </a:lnTo>
                  <a:lnTo>
                    <a:pt x="227945" y="133731"/>
                  </a:lnTo>
                  <a:lnTo>
                    <a:pt x="263713" y="107107"/>
                  </a:lnTo>
                  <a:lnTo>
                    <a:pt x="301432" y="83109"/>
                  </a:lnTo>
                  <a:lnTo>
                    <a:pt x="340965" y="61872"/>
                  </a:lnTo>
                  <a:lnTo>
                    <a:pt x="382178" y="43530"/>
                  </a:lnTo>
                  <a:lnTo>
                    <a:pt x="424936" y="28220"/>
                  </a:lnTo>
                  <a:lnTo>
                    <a:pt x="469103" y="16077"/>
                  </a:lnTo>
                  <a:lnTo>
                    <a:pt x="514544" y="7235"/>
                  </a:lnTo>
                  <a:lnTo>
                    <a:pt x="561125" y="1831"/>
                  </a:lnTo>
                  <a:lnTo>
                    <a:pt x="608711" y="0"/>
                  </a:lnTo>
                  <a:lnTo>
                    <a:pt x="3043428" y="0"/>
                  </a:lnTo>
                  <a:lnTo>
                    <a:pt x="3090996" y="1831"/>
                  </a:lnTo>
                  <a:lnTo>
                    <a:pt x="3137564" y="7235"/>
                  </a:lnTo>
                  <a:lnTo>
                    <a:pt x="3182995" y="16077"/>
                  </a:lnTo>
                  <a:lnTo>
                    <a:pt x="3227155" y="28220"/>
                  </a:lnTo>
                  <a:lnTo>
                    <a:pt x="3269907" y="43530"/>
                  </a:lnTo>
                  <a:lnTo>
                    <a:pt x="3311118" y="61872"/>
                  </a:lnTo>
                  <a:lnTo>
                    <a:pt x="3350650" y="83109"/>
                  </a:lnTo>
                  <a:lnTo>
                    <a:pt x="3388369" y="107107"/>
                  </a:lnTo>
                  <a:lnTo>
                    <a:pt x="3424140" y="133731"/>
                  </a:lnTo>
                  <a:lnTo>
                    <a:pt x="3457827" y="162844"/>
                  </a:lnTo>
                  <a:lnTo>
                    <a:pt x="3489294" y="194311"/>
                  </a:lnTo>
                  <a:lnTo>
                    <a:pt x="3518408" y="227998"/>
                  </a:lnTo>
                  <a:lnTo>
                    <a:pt x="3545031" y="263769"/>
                  </a:lnTo>
                  <a:lnTo>
                    <a:pt x="3569029" y="301488"/>
                  </a:lnTo>
                  <a:lnTo>
                    <a:pt x="3590266" y="341020"/>
                  </a:lnTo>
                  <a:lnTo>
                    <a:pt x="3608608" y="382231"/>
                  </a:lnTo>
                  <a:lnTo>
                    <a:pt x="3623918" y="424983"/>
                  </a:lnTo>
                  <a:lnTo>
                    <a:pt x="3636061" y="469143"/>
                  </a:lnTo>
                  <a:lnTo>
                    <a:pt x="3644903" y="514574"/>
                  </a:lnTo>
                  <a:lnTo>
                    <a:pt x="3650307" y="561142"/>
                  </a:lnTo>
                  <a:lnTo>
                    <a:pt x="3652139" y="608711"/>
                  </a:lnTo>
                  <a:lnTo>
                    <a:pt x="3652139" y="3872865"/>
                  </a:lnTo>
                  <a:lnTo>
                    <a:pt x="3650307" y="3920433"/>
                  </a:lnTo>
                  <a:lnTo>
                    <a:pt x="3644903" y="3967002"/>
                  </a:lnTo>
                  <a:lnTo>
                    <a:pt x="3636061" y="4012434"/>
                  </a:lnTo>
                  <a:lnTo>
                    <a:pt x="3623918" y="4056596"/>
                  </a:lnTo>
                  <a:lnTo>
                    <a:pt x="3608608" y="4099350"/>
                  </a:lnTo>
                  <a:lnTo>
                    <a:pt x="3590266" y="4140562"/>
                  </a:lnTo>
                  <a:lnTo>
                    <a:pt x="3569029" y="4180097"/>
                  </a:lnTo>
                  <a:lnTo>
                    <a:pt x="3545031" y="4217818"/>
                  </a:lnTo>
                  <a:lnTo>
                    <a:pt x="3518407" y="4253592"/>
                  </a:lnTo>
                  <a:lnTo>
                    <a:pt x="3489294" y="4287281"/>
                  </a:lnTo>
                  <a:lnTo>
                    <a:pt x="3457827" y="4318752"/>
                  </a:lnTo>
                  <a:lnTo>
                    <a:pt x="3424140" y="4347868"/>
                  </a:lnTo>
                  <a:lnTo>
                    <a:pt x="3388369" y="4374493"/>
                  </a:lnTo>
                  <a:lnTo>
                    <a:pt x="3350650" y="4398494"/>
                  </a:lnTo>
                  <a:lnTo>
                    <a:pt x="3311118" y="4419734"/>
                  </a:lnTo>
                  <a:lnTo>
                    <a:pt x="3269907" y="4438077"/>
                  </a:lnTo>
                  <a:lnTo>
                    <a:pt x="3227155" y="4453389"/>
                  </a:lnTo>
                  <a:lnTo>
                    <a:pt x="3182995" y="4465534"/>
                  </a:lnTo>
                  <a:lnTo>
                    <a:pt x="3137564" y="4474377"/>
                  </a:lnTo>
                  <a:lnTo>
                    <a:pt x="3090996" y="4479782"/>
                  </a:lnTo>
                  <a:lnTo>
                    <a:pt x="3043428" y="4481614"/>
                  </a:lnTo>
                  <a:lnTo>
                    <a:pt x="608711" y="4481614"/>
                  </a:lnTo>
                  <a:lnTo>
                    <a:pt x="561125" y="4479782"/>
                  </a:lnTo>
                  <a:lnTo>
                    <a:pt x="514544" y="4474377"/>
                  </a:lnTo>
                  <a:lnTo>
                    <a:pt x="469103" y="4465534"/>
                  </a:lnTo>
                  <a:lnTo>
                    <a:pt x="424936" y="4453389"/>
                  </a:lnTo>
                  <a:lnTo>
                    <a:pt x="382178" y="4438077"/>
                  </a:lnTo>
                  <a:lnTo>
                    <a:pt x="340965" y="4419734"/>
                  </a:lnTo>
                  <a:lnTo>
                    <a:pt x="301432" y="4398494"/>
                  </a:lnTo>
                  <a:lnTo>
                    <a:pt x="263713" y="4374493"/>
                  </a:lnTo>
                  <a:lnTo>
                    <a:pt x="227945" y="4347868"/>
                  </a:lnTo>
                  <a:lnTo>
                    <a:pt x="194262" y="4318752"/>
                  </a:lnTo>
                  <a:lnTo>
                    <a:pt x="162798" y="4287281"/>
                  </a:lnTo>
                  <a:lnTo>
                    <a:pt x="133691" y="4253592"/>
                  </a:lnTo>
                  <a:lnTo>
                    <a:pt x="107073" y="4217818"/>
                  </a:lnTo>
                  <a:lnTo>
                    <a:pt x="83081" y="4180097"/>
                  </a:lnTo>
                  <a:lnTo>
                    <a:pt x="61850" y="4140562"/>
                  </a:lnTo>
                  <a:lnTo>
                    <a:pt x="43514" y="4099350"/>
                  </a:lnTo>
                  <a:lnTo>
                    <a:pt x="28209" y="4056596"/>
                  </a:lnTo>
                  <a:lnTo>
                    <a:pt x="16070" y="4012434"/>
                  </a:lnTo>
                  <a:lnTo>
                    <a:pt x="7232" y="3967002"/>
                  </a:lnTo>
                  <a:lnTo>
                    <a:pt x="1830" y="3920433"/>
                  </a:lnTo>
                  <a:lnTo>
                    <a:pt x="0" y="3872865"/>
                  </a:lnTo>
                  <a:lnTo>
                    <a:pt x="0" y="608711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929878" y="4858639"/>
            <a:ext cx="21685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Logging</a:t>
            </a:r>
            <a:endParaRPr kumimoji="0" sz="5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507348" y="5506084"/>
            <a:ext cx="3119120" cy="3832860"/>
            <a:chOff x="8507348" y="5506084"/>
            <a:chExt cx="3119120" cy="3832860"/>
          </a:xfrm>
        </p:grpSpPr>
        <p:pic>
          <p:nvPicPr>
            <p:cNvPr id="36" name="object 36" descr="Grafana logo - free Icon PNG, SV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27744" y="5506084"/>
              <a:ext cx="2878074" cy="1439037"/>
            </a:xfrm>
            <a:prstGeom prst="rect">
              <a:avLst/>
            </a:prstGeom>
          </p:spPr>
        </p:pic>
        <p:pic>
          <p:nvPicPr>
            <p:cNvPr id="37" name="object 37" descr="Effective Log Monitoring | Grafana Loki Installati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1432" y="6725856"/>
              <a:ext cx="2496947" cy="1206182"/>
            </a:xfrm>
            <a:prstGeom prst="rect">
              <a:avLst/>
            </a:prstGeom>
          </p:spPr>
        </p:pic>
        <p:pic>
          <p:nvPicPr>
            <p:cNvPr id="38" name="object 38" descr="Derdack | Prometheus Alert Manager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07348" y="7706143"/>
              <a:ext cx="3118993" cy="16322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46453" y="1356817"/>
            <a:ext cx="61620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WIS2</a:t>
            </a:r>
            <a:r>
              <a:rPr spc="-245" dirty="0"/>
              <a:t> </a:t>
            </a:r>
            <a:r>
              <a:rPr spc="-85" dirty="0"/>
              <a:t>Downloader</a:t>
            </a:r>
            <a:r>
              <a:rPr spc="-195" dirty="0"/>
              <a:t> </a:t>
            </a:r>
            <a:r>
              <a:rPr spc="-55" dirty="0"/>
              <a:t>Stack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33400" y="2361438"/>
            <a:ext cx="2483485" cy="7449820"/>
            <a:chOff x="533400" y="2361438"/>
            <a:chExt cx="2483485" cy="7449820"/>
          </a:xfrm>
        </p:grpSpPr>
        <p:sp>
          <p:nvSpPr>
            <p:cNvPr id="5" name="object 5"/>
            <p:cNvSpPr/>
            <p:nvPr/>
          </p:nvSpPr>
          <p:spPr>
            <a:xfrm>
              <a:off x="1333500" y="2361438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2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762000" y="381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1FB6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object 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8972550"/>
              <a:ext cx="2483485" cy="838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System</a:t>
            </a:r>
            <a:r>
              <a:rPr spc="-204" dirty="0"/>
              <a:t> </a:t>
            </a:r>
            <a:r>
              <a:rPr spc="-90" dirty="0"/>
              <a:t>requirements.</a:t>
            </a:r>
          </a:p>
        </p:txBody>
      </p:sp>
      <p:sp>
        <p:nvSpPr>
          <p:cNvPr id="4" name="object 4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6453" y="2982594"/>
            <a:ext cx="5524500" cy="272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140" normalizeH="0" baseline="0" noProof="0" dirty="0">
                <a:ln>
                  <a:noFill/>
                </a:ln>
                <a:solidFill>
                  <a:srgbClr val="1FB6D5"/>
                </a:solidFill>
                <a:effectLst/>
                <a:uLnTx/>
                <a:uFillTx/>
                <a:latin typeface="Arial"/>
                <a:cs typeface="Arial"/>
              </a:rPr>
              <a:t>SOFTWARE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2738120" lvl="0" indent="0" defTabSz="914400" eaLnBrk="1" fontAlgn="auto" latinLnBrk="0" hangingPunct="1">
              <a:lnSpc>
                <a:spcPct val="150000"/>
              </a:lnSpc>
              <a:spcBef>
                <a:spcPts val="13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Docker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20.10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later</a:t>
            </a:r>
            <a:r>
              <a:rPr kumimoji="0" sz="1700" b="0" i="0" u="none" strike="noStrike" kern="0" cap="none" spc="50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Docker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Compose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2.0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later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140" normalizeH="0" baseline="0" noProof="0" dirty="0">
                <a:ln>
                  <a:noFill/>
                </a:ln>
                <a:solidFill>
                  <a:srgbClr val="F39C2E"/>
                </a:solidFill>
                <a:effectLst/>
                <a:uLnTx/>
                <a:uFillTx/>
                <a:latin typeface="Arial"/>
                <a:cs typeface="Arial"/>
              </a:rPr>
              <a:t>HARDWARE</a:t>
            </a:r>
            <a:r>
              <a:rPr kumimoji="0" sz="1800" b="1" i="0" u="none" strike="noStrike" kern="0" cap="none" spc="434" normalizeH="0" baseline="0" noProof="0" dirty="0">
                <a:ln>
                  <a:noFill/>
                </a:ln>
                <a:solidFill>
                  <a:srgbClr val="F39C2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39C2E"/>
                </a:solidFill>
                <a:effectLst/>
                <a:uLnTx/>
                <a:uFillTx/>
                <a:latin typeface="Arial"/>
                <a:cs typeface="Arial"/>
              </a:rPr>
              <a:t>·</a:t>
            </a:r>
            <a:r>
              <a:rPr kumimoji="0" sz="1800" b="1" i="0" u="none" strike="noStrike" kern="0" cap="none" spc="380" normalizeH="0" baseline="0" noProof="0" dirty="0">
                <a:ln>
                  <a:noFill/>
                </a:ln>
                <a:solidFill>
                  <a:srgbClr val="F39C2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150" normalizeH="0" baseline="0" noProof="0" dirty="0">
                <a:ln>
                  <a:noFill/>
                </a:ln>
                <a:solidFill>
                  <a:srgbClr val="F39C2E"/>
                </a:solidFill>
                <a:effectLst/>
                <a:uLnTx/>
                <a:uFillTx/>
                <a:latin typeface="Arial"/>
                <a:cs typeface="Arial"/>
              </a:rPr>
              <a:t>MINIMUM</a:t>
            </a:r>
            <a:r>
              <a:rPr kumimoji="0" sz="1800" b="1" i="0" u="none" strike="noStrike" kern="0" cap="none" spc="350" normalizeH="0" baseline="0" noProof="0" dirty="0">
                <a:ln>
                  <a:noFill/>
                </a:ln>
                <a:solidFill>
                  <a:srgbClr val="F39C2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114" normalizeH="0" baseline="0" noProof="0" dirty="0">
                <a:ln>
                  <a:noFill/>
                </a:ln>
                <a:solidFill>
                  <a:srgbClr val="F39C2E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800" b="1" i="0" u="none" strike="noStrike" kern="0" cap="none" spc="350" normalizeH="0" baseline="0" noProof="0" dirty="0">
                <a:ln>
                  <a:noFill/>
                </a:ln>
                <a:solidFill>
                  <a:srgbClr val="F39C2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150" normalizeH="0" baseline="0" noProof="0" dirty="0">
                <a:ln>
                  <a:noFill/>
                </a:ln>
                <a:solidFill>
                  <a:srgbClr val="F39C2E"/>
                </a:solidFill>
                <a:effectLst/>
                <a:uLnTx/>
                <a:uFillTx/>
                <a:latin typeface="Arial"/>
                <a:cs typeface="Arial"/>
              </a:rPr>
              <a:t>PRODUCTION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1513205" lvl="0" indent="0" defTabSz="914400" eaLnBrk="1" fontAlgn="auto" latinLnBrk="0" hangingPunct="1">
              <a:lnSpc>
                <a:spcPct val="141200"/>
              </a:lnSpc>
              <a:spcBef>
                <a:spcPts val="13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4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GB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RAM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(8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GB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recommended)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Sufficient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disk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space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downloaded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data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6086" y="2982594"/>
            <a:ext cx="1352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140" normalizeH="0" baseline="0" noProof="0" dirty="0">
                <a:ln>
                  <a:noFill/>
                </a:ln>
                <a:solidFill>
                  <a:srgbClr val="5CB85C"/>
                </a:solidFill>
                <a:effectLst/>
                <a:uLnTx/>
                <a:uFillTx/>
                <a:latin typeface="Arial"/>
                <a:cs typeface="Arial"/>
              </a:rPr>
              <a:t>NETWORK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86086" y="3419957"/>
            <a:ext cx="6210300" cy="2343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73430" lvl="0" indent="0" defTabSz="914400" eaLnBrk="1" fontAlgn="auto" latinLnBrk="0" hangingPunct="1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Outbound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access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WIS2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Global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Broker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port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443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(MQTT</a:t>
            </a:r>
            <a:r>
              <a:rPr kumimoji="0" sz="1700" b="0" i="0" u="none" strike="noStrike" kern="0" cap="none" spc="-6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over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TLS).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Internal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ports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8080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(UI),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5002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(API)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3000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(Grafana)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155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cs typeface="Arial"/>
              </a:rPr>
              <a:t>PERMISSIONS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Linux</a:t>
            </a:r>
            <a:r>
              <a:rPr kumimoji="0" sz="1700" b="1" i="0" u="none" strike="noStrike" kern="0" cap="none" spc="-3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—</a:t>
            </a:r>
            <a:r>
              <a:rPr kumimoji="0" sz="1700" b="1" i="0" u="none" strike="noStrike" kern="0" cap="none" spc="-3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downloads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dir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owned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group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configured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Windows</a:t>
            </a:r>
            <a:r>
              <a:rPr kumimoji="0" sz="1700" b="1" i="0" u="none" strike="noStrike" kern="0" cap="none" spc="-6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/</a:t>
            </a:r>
            <a:r>
              <a:rPr kumimoji="0" sz="1700" b="1" i="0" u="none" strike="noStrike" kern="0" cap="none" spc="-3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macOS</a:t>
            </a:r>
            <a:r>
              <a:rPr kumimoji="0" sz="1700" b="1" i="0" u="none" strike="noStrike" kern="0" cap="none" spc="-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—</a:t>
            </a:r>
            <a:r>
              <a:rPr kumimoji="0" sz="1700" b="1" i="0" u="none" strike="noStrike" kern="0" cap="none" spc="-3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Docker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handles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volume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permissions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Installation.</a:t>
            </a:r>
          </a:p>
        </p:txBody>
      </p:sp>
      <p:sp>
        <p:nvSpPr>
          <p:cNvPr id="4" name="object 4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6453" y="3070606"/>
            <a:ext cx="391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-25" normalizeH="0" baseline="0" noProof="0" dirty="0">
                <a:ln>
                  <a:noFill/>
                </a:ln>
                <a:solidFill>
                  <a:srgbClr val="1FB6D5"/>
                </a:solidFill>
                <a:effectLst/>
                <a:uLnTx/>
                <a:uFillTx/>
                <a:latin typeface="Courier New"/>
                <a:cs typeface="Courier New"/>
              </a:rPr>
              <a:t>01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1050" y="3106673"/>
            <a:ext cx="2631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Download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latest</a:t>
            </a:r>
            <a:r>
              <a:rPr kumimoji="0" sz="1800" b="1" i="0" u="none" strike="noStrike" kern="0" cap="none" spc="-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release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33950" y="3009138"/>
            <a:ext cx="12306300" cy="841375"/>
          </a:xfrm>
          <a:custGeom>
            <a:avLst/>
            <a:gdLst/>
            <a:ahLst/>
            <a:cxnLst/>
            <a:rect l="l" t="t" r="r" b="b"/>
            <a:pathLst>
              <a:path w="12306300" h="841375">
                <a:moveTo>
                  <a:pt x="12260707" y="0"/>
                </a:moveTo>
                <a:lnTo>
                  <a:pt x="45592" y="0"/>
                </a:lnTo>
                <a:lnTo>
                  <a:pt x="27860" y="3587"/>
                </a:lnTo>
                <a:lnTo>
                  <a:pt x="13366" y="13366"/>
                </a:lnTo>
                <a:lnTo>
                  <a:pt x="3587" y="27860"/>
                </a:lnTo>
                <a:lnTo>
                  <a:pt x="0" y="45592"/>
                </a:lnTo>
                <a:lnTo>
                  <a:pt x="0" y="795654"/>
                </a:lnTo>
                <a:lnTo>
                  <a:pt x="3587" y="813460"/>
                </a:lnTo>
                <a:lnTo>
                  <a:pt x="13366" y="827992"/>
                </a:lnTo>
                <a:lnTo>
                  <a:pt x="27860" y="837785"/>
                </a:lnTo>
                <a:lnTo>
                  <a:pt x="45592" y="841374"/>
                </a:lnTo>
                <a:lnTo>
                  <a:pt x="12260707" y="841374"/>
                </a:lnTo>
                <a:lnTo>
                  <a:pt x="12278439" y="837785"/>
                </a:lnTo>
                <a:lnTo>
                  <a:pt x="12292933" y="827992"/>
                </a:lnTo>
                <a:lnTo>
                  <a:pt x="12302712" y="813460"/>
                </a:lnTo>
                <a:lnTo>
                  <a:pt x="12306300" y="795654"/>
                </a:lnTo>
                <a:lnTo>
                  <a:pt x="12306300" y="45592"/>
                </a:lnTo>
                <a:lnTo>
                  <a:pt x="12302712" y="27860"/>
                </a:lnTo>
                <a:lnTo>
                  <a:pt x="12292933" y="13366"/>
                </a:lnTo>
                <a:lnTo>
                  <a:pt x="12278439" y="3587"/>
                </a:lnTo>
                <a:lnTo>
                  <a:pt x="12260707" y="0"/>
                </a:lnTo>
                <a:close/>
              </a:path>
            </a:pathLst>
          </a:custGeom>
          <a:solidFill>
            <a:srgbClr val="F5F7F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6453" y="4022852"/>
            <a:ext cx="391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-25" normalizeH="0" baseline="0" noProof="0" dirty="0">
                <a:ln>
                  <a:noFill/>
                </a:ln>
                <a:solidFill>
                  <a:srgbClr val="1FB6D5"/>
                </a:solidFill>
                <a:effectLst/>
                <a:uLnTx/>
                <a:uFillTx/>
                <a:latin typeface="Courier New"/>
                <a:cs typeface="Courier New"/>
              </a:rPr>
              <a:t>02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1050" y="4058792"/>
            <a:ext cx="2238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Run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setup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script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33950" y="3961257"/>
            <a:ext cx="12306300" cy="527050"/>
          </a:xfrm>
          <a:custGeom>
            <a:avLst/>
            <a:gdLst/>
            <a:ahLst/>
            <a:cxnLst/>
            <a:rect l="l" t="t" r="r" b="b"/>
            <a:pathLst>
              <a:path w="12306300" h="527050">
                <a:moveTo>
                  <a:pt x="12277725" y="0"/>
                </a:moveTo>
                <a:lnTo>
                  <a:pt x="28575" y="0"/>
                </a:lnTo>
                <a:lnTo>
                  <a:pt x="17466" y="2250"/>
                </a:lnTo>
                <a:lnTo>
                  <a:pt x="8382" y="8382"/>
                </a:lnTo>
                <a:lnTo>
                  <a:pt x="2250" y="17466"/>
                </a:lnTo>
                <a:lnTo>
                  <a:pt x="0" y="28575"/>
                </a:lnTo>
                <a:lnTo>
                  <a:pt x="0" y="498475"/>
                </a:lnTo>
                <a:lnTo>
                  <a:pt x="2250" y="509583"/>
                </a:lnTo>
                <a:lnTo>
                  <a:pt x="8382" y="518667"/>
                </a:lnTo>
                <a:lnTo>
                  <a:pt x="17466" y="524799"/>
                </a:lnTo>
                <a:lnTo>
                  <a:pt x="28575" y="527050"/>
                </a:lnTo>
                <a:lnTo>
                  <a:pt x="12277725" y="527050"/>
                </a:lnTo>
                <a:lnTo>
                  <a:pt x="12288833" y="524799"/>
                </a:lnTo>
                <a:lnTo>
                  <a:pt x="12297918" y="518667"/>
                </a:lnTo>
                <a:lnTo>
                  <a:pt x="12304049" y="509583"/>
                </a:lnTo>
                <a:lnTo>
                  <a:pt x="12306300" y="498475"/>
                </a:lnTo>
                <a:lnTo>
                  <a:pt x="12306300" y="28575"/>
                </a:lnTo>
                <a:lnTo>
                  <a:pt x="12304049" y="17466"/>
                </a:lnTo>
                <a:lnTo>
                  <a:pt x="12297917" y="8382"/>
                </a:lnTo>
                <a:lnTo>
                  <a:pt x="12288833" y="2250"/>
                </a:lnTo>
                <a:lnTo>
                  <a:pt x="12277725" y="0"/>
                </a:lnTo>
                <a:close/>
              </a:path>
            </a:pathLst>
          </a:custGeom>
          <a:solidFill>
            <a:srgbClr val="F5F7F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26533" y="3040760"/>
            <a:ext cx="10805160" cy="1334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wget</a:t>
            </a:r>
            <a:r>
              <a:rPr kumimoji="0" sz="1800" b="0" i="0" u="none" strike="noStrike" kern="0" cap="none" spc="2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2"/>
              </a:rPr>
              <a:t>https://github.com/World-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2"/>
              </a:rPr>
              <a:t>Meteorological-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  <a:hlinkClick r:id="rId2"/>
              </a:rPr>
              <a:t>Organization/wis2downloader/archive/refs/tags/v1.0.0b1+rc4.tar.gz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-xzf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v1.0.0b1+rc4.tar.gz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cd</a:t>
            </a:r>
            <a:r>
              <a:rPr kumimoji="0" sz="180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wis2downloader-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*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3189" marR="0" lvl="0" indent="0" defTabSz="914400" eaLnBrk="1" fontAlgn="auto" latinLnBrk="0" hangingPunct="1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bash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setup.sh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6453" y="4769611"/>
            <a:ext cx="391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-25" normalizeH="0" baseline="0" noProof="0" dirty="0">
                <a:ln>
                  <a:noFill/>
                </a:ln>
                <a:solidFill>
                  <a:srgbClr val="1FB6D5"/>
                </a:solidFill>
                <a:effectLst/>
                <a:uLnTx/>
                <a:uFillTx/>
                <a:latin typeface="Courier New"/>
                <a:cs typeface="Courier New"/>
              </a:rPr>
              <a:t>03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51050" y="4805298"/>
            <a:ext cx="18376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Start all</a:t>
            </a:r>
            <a:r>
              <a:rPr kumimoji="0" sz="1800" b="1" i="0" u="none" strike="noStrike" kern="0" cap="none" spc="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33950" y="4707763"/>
            <a:ext cx="12306300" cy="527050"/>
          </a:xfrm>
          <a:custGeom>
            <a:avLst/>
            <a:gdLst/>
            <a:ahLst/>
            <a:cxnLst/>
            <a:rect l="l" t="t" r="r" b="b"/>
            <a:pathLst>
              <a:path w="12306300" h="527050">
                <a:moveTo>
                  <a:pt x="12277725" y="0"/>
                </a:moveTo>
                <a:lnTo>
                  <a:pt x="28575" y="0"/>
                </a:lnTo>
                <a:lnTo>
                  <a:pt x="17466" y="2232"/>
                </a:lnTo>
                <a:lnTo>
                  <a:pt x="8382" y="8334"/>
                </a:lnTo>
                <a:lnTo>
                  <a:pt x="2250" y="17412"/>
                </a:lnTo>
                <a:lnTo>
                  <a:pt x="0" y="28575"/>
                </a:lnTo>
                <a:lnTo>
                  <a:pt x="0" y="498475"/>
                </a:lnTo>
                <a:lnTo>
                  <a:pt x="2250" y="509583"/>
                </a:lnTo>
                <a:lnTo>
                  <a:pt x="8382" y="518667"/>
                </a:lnTo>
                <a:lnTo>
                  <a:pt x="17466" y="524799"/>
                </a:lnTo>
                <a:lnTo>
                  <a:pt x="28575" y="527050"/>
                </a:lnTo>
                <a:lnTo>
                  <a:pt x="12277725" y="527050"/>
                </a:lnTo>
                <a:lnTo>
                  <a:pt x="12288833" y="524799"/>
                </a:lnTo>
                <a:lnTo>
                  <a:pt x="12297918" y="518667"/>
                </a:lnTo>
                <a:lnTo>
                  <a:pt x="12304049" y="509583"/>
                </a:lnTo>
                <a:lnTo>
                  <a:pt x="12306300" y="498475"/>
                </a:lnTo>
                <a:lnTo>
                  <a:pt x="12306300" y="28575"/>
                </a:lnTo>
                <a:lnTo>
                  <a:pt x="12304049" y="17412"/>
                </a:lnTo>
                <a:lnTo>
                  <a:pt x="12297917" y="8334"/>
                </a:lnTo>
                <a:lnTo>
                  <a:pt x="12288833" y="2232"/>
                </a:lnTo>
                <a:lnTo>
                  <a:pt x="12277725" y="0"/>
                </a:lnTo>
                <a:close/>
              </a:path>
            </a:pathLst>
          </a:custGeom>
          <a:solidFill>
            <a:srgbClr val="F5F7F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37530" y="4821682"/>
            <a:ext cx="2757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docker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compose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up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-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d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25943" y="5550408"/>
            <a:ext cx="1600200" cy="248920"/>
          </a:xfrm>
          <a:custGeom>
            <a:avLst/>
            <a:gdLst/>
            <a:ahLst/>
            <a:cxnLst/>
            <a:rect l="l" t="t" r="r" b="b"/>
            <a:pathLst>
              <a:path w="1600200" h="248920">
                <a:moveTo>
                  <a:pt x="1600200" y="0"/>
                </a:moveTo>
                <a:lnTo>
                  <a:pt x="0" y="0"/>
                </a:lnTo>
                <a:lnTo>
                  <a:pt x="0" y="248412"/>
                </a:lnTo>
                <a:lnTo>
                  <a:pt x="1600200" y="248412"/>
                </a:lnTo>
                <a:lnTo>
                  <a:pt x="1600200" y="0"/>
                </a:lnTo>
                <a:close/>
              </a:path>
            </a:pathLst>
          </a:custGeom>
          <a:solidFill>
            <a:srgbClr val="EDF3F7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8900" y="5550408"/>
            <a:ext cx="1028700" cy="248920"/>
          </a:xfrm>
          <a:prstGeom prst="rect">
            <a:avLst/>
          </a:prstGeom>
          <a:solidFill>
            <a:srgbClr val="EDF3F7"/>
          </a:solidFill>
        </p:spPr>
        <p:txBody>
          <a:bodyPr vert="horz" wrap="square" lIns="0" tIns="952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setup.sh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75154" y="5547740"/>
            <a:ext cx="8769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 MT"/>
                <a:cs typeface="Arial MT"/>
              </a:rPr>
              <a:t>generates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89808" y="5550408"/>
            <a:ext cx="571500" cy="248920"/>
          </a:xfrm>
          <a:prstGeom prst="rect">
            <a:avLst/>
          </a:prstGeom>
          <a:solidFill>
            <a:srgbClr val="EDF3F7"/>
          </a:solidFill>
        </p:spPr>
        <p:txBody>
          <a:bodyPr vert="horz" wrap="square" lIns="0" tIns="952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.env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48861" y="5547740"/>
            <a:ext cx="12242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 MT"/>
                <a:cs typeface="Arial MT"/>
              </a:rPr>
              <a:t>random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12511" y="5550408"/>
            <a:ext cx="1943100" cy="248920"/>
          </a:xfrm>
          <a:prstGeom prst="rect">
            <a:avLst/>
          </a:prstGeom>
          <a:solidFill>
            <a:srgbClr val="EDF3F7"/>
          </a:solidFill>
        </p:spPr>
        <p:txBody>
          <a:bodyPr vert="horz" wrap="square" lIns="0" tIns="952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FLASK_SECRET_KEY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43419" y="5547740"/>
            <a:ext cx="20491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REDIS_PASSWORD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23" name="object 23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First</a:t>
            </a:r>
            <a:r>
              <a:rPr spc="-229" dirty="0"/>
              <a:t> </a:t>
            </a:r>
            <a:r>
              <a:rPr spc="-70" dirty="0"/>
              <a:t>steps</a:t>
            </a:r>
            <a:r>
              <a:rPr spc="-220" dirty="0"/>
              <a:t> </a:t>
            </a:r>
            <a:r>
              <a:rPr spc="-70" dirty="0"/>
              <a:t>after</a:t>
            </a:r>
            <a:r>
              <a:rPr spc="-215" dirty="0"/>
              <a:t> </a:t>
            </a:r>
            <a:r>
              <a:rPr spc="-70" dirty="0"/>
              <a:t>launch.</a:t>
            </a:r>
          </a:p>
        </p:txBody>
      </p:sp>
      <p:sp>
        <p:nvSpPr>
          <p:cNvPr id="4" name="object 4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3500" y="4027551"/>
            <a:ext cx="15906750" cy="9525"/>
          </a:xfrm>
          <a:custGeom>
            <a:avLst/>
            <a:gdLst/>
            <a:ahLst/>
            <a:cxnLst/>
            <a:rect l="l" t="t" r="r" b="b"/>
            <a:pathLst>
              <a:path w="15906750" h="9525">
                <a:moveTo>
                  <a:pt x="15906750" y="0"/>
                </a:moveTo>
                <a:lnTo>
                  <a:pt x="0" y="0"/>
                </a:lnTo>
                <a:lnTo>
                  <a:pt x="0" y="9525"/>
                </a:lnTo>
                <a:lnTo>
                  <a:pt x="15906750" y="9525"/>
                </a:lnTo>
                <a:lnTo>
                  <a:pt x="15906750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6453" y="3020015"/>
            <a:ext cx="6856730" cy="148145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Web</a:t>
            </a:r>
            <a:r>
              <a:rPr kumimoji="0" sz="1950" b="1" i="0" u="none" strike="noStrike" kern="0" cap="none" spc="3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95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interface</a:t>
            </a:r>
            <a:r>
              <a:rPr kumimoji="0" sz="1950" b="1" i="0" u="none" strike="noStrike" kern="0" cap="none" spc="10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ourier New"/>
                <a:cs typeface="Courier New"/>
              </a:rPr>
              <a:t>http://BASE_URL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Browse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WIS2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catalogue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topic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tree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create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first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subscription.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REST</a:t>
            </a:r>
            <a:r>
              <a:rPr kumimoji="0" sz="1950" b="1" i="0" u="none" strike="noStrike" kern="0" cap="none" spc="2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95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API</a:t>
            </a:r>
            <a:r>
              <a:rPr kumimoji="0" sz="1950" b="1" i="0" u="none" strike="noStrike" kern="0" cap="none" spc="5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ourier New"/>
                <a:cs typeface="Courier New"/>
              </a:rPr>
              <a:t>http://BASE_URL:5002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33500" y="5058790"/>
            <a:ext cx="15906750" cy="9525"/>
          </a:xfrm>
          <a:custGeom>
            <a:avLst/>
            <a:gdLst/>
            <a:ahLst/>
            <a:cxnLst/>
            <a:rect l="l" t="t" r="r" b="b"/>
            <a:pathLst>
              <a:path w="15906750" h="9525">
                <a:moveTo>
                  <a:pt x="15906750" y="0"/>
                </a:moveTo>
                <a:lnTo>
                  <a:pt x="0" y="0"/>
                </a:lnTo>
                <a:lnTo>
                  <a:pt x="0" y="9525"/>
                </a:lnTo>
                <a:lnTo>
                  <a:pt x="15906750" y="9525"/>
                </a:lnTo>
                <a:lnTo>
                  <a:pt x="15906750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0" y="4612259"/>
            <a:ext cx="2603500" cy="283845"/>
          </a:xfrm>
          <a:prstGeom prst="rect">
            <a:avLst/>
          </a:prstGeom>
          <a:solidFill>
            <a:srgbClr val="EDF3F7"/>
          </a:solidFill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POST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/subscriptions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49700" y="4611115"/>
            <a:ext cx="401320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create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subscription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programmatically.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33500" y="6083553"/>
            <a:ext cx="15906750" cy="9525"/>
          </a:xfrm>
          <a:custGeom>
            <a:avLst/>
            <a:gdLst/>
            <a:ahLst/>
            <a:cxnLst/>
            <a:rect l="l" t="t" r="r" b="b"/>
            <a:pathLst>
              <a:path w="15906750" h="9525">
                <a:moveTo>
                  <a:pt x="15906750" y="0"/>
                </a:moveTo>
                <a:lnTo>
                  <a:pt x="0" y="0"/>
                </a:lnTo>
                <a:lnTo>
                  <a:pt x="0" y="9525"/>
                </a:lnTo>
                <a:lnTo>
                  <a:pt x="15906750" y="9525"/>
                </a:lnTo>
                <a:lnTo>
                  <a:pt x="15906750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6453" y="5076145"/>
            <a:ext cx="5984240" cy="145923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Grafana</a:t>
            </a:r>
            <a:r>
              <a:rPr kumimoji="0" sz="1950" b="1" i="0" u="none" strike="noStrike" kern="0" cap="none" spc="7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95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dashboard</a:t>
            </a:r>
            <a:r>
              <a:rPr kumimoji="0" sz="1950" b="1" i="0" u="none" strike="noStrike" kern="0" cap="none" spc="8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ourier New"/>
                <a:cs typeface="Courier New"/>
              </a:rPr>
              <a:t>http://BASE_URL:3000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Monitor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download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counts,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bytes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queue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length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real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time.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Verify</a:t>
            </a:r>
            <a:r>
              <a:rPr kumimoji="0" sz="1800" b="1" i="0" u="none" strike="noStrike" kern="0" cap="none" spc="7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downloads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6453" y="6647763"/>
            <a:ext cx="144526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Files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appear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38704" y="6649211"/>
            <a:ext cx="2863850" cy="283845"/>
          </a:xfrm>
          <a:prstGeom prst="rect">
            <a:avLst/>
          </a:prstGeom>
          <a:solidFill>
            <a:srgbClr val="EDF3F7"/>
          </a:solidFill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downloads/YYYY/MM/DD/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0108" y="6647763"/>
            <a:ext cx="12230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immediately.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5" name="object 1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9090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56885" cy="10287000"/>
            <a:chOff x="0" y="0"/>
            <a:chExt cx="18256885" cy="10287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8256885" cy="10287000"/>
            </a:xfrm>
            <a:custGeom>
              <a:avLst/>
              <a:gdLst/>
              <a:ahLst/>
              <a:cxnLst/>
              <a:rect l="l" t="t" r="r" b="b"/>
              <a:pathLst>
                <a:path w="18256885" h="10287000">
                  <a:moveTo>
                    <a:pt x="0" y="10286999"/>
                  </a:moveTo>
                  <a:lnTo>
                    <a:pt x="18256711" y="10287000"/>
                  </a:lnTo>
                  <a:lnTo>
                    <a:pt x="18256711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209550" cy="2571750"/>
            </a:xfrm>
            <a:custGeom>
              <a:avLst/>
              <a:gdLst/>
              <a:ahLst/>
              <a:cxnLst/>
              <a:rect l="l" t="t" r="r" b="b"/>
              <a:pathLst>
                <a:path w="209550" h="2571750">
                  <a:moveTo>
                    <a:pt x="209550" y="0"/>
                  </a:moveTo>
                  <a:lnTo>
                    <a:pt x="0" y="0"/>
                  </a:lnTo>
                  <a:lnTo>
                    <a:pt x="0" y="2571750"/>
                  </a:lnTo>
                  <a:lnTo>
                    <a:pt x="209550" y="2571750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1FB6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571750"/>
              <a:ext cx="209550" cy="2571750"/>
            </a:xfrm>
            <a:custGeom>
              <a:avLst/>
              <a:gdLst/>
              <a:ahLst/>
              <a:cxnLst/>
              <a:rect l="l" t="t" r="r" b="b"/>
              <a:pathLst>
                <a:path w="209550" h="2571750">
                  <a:moveTo>
                    <a:pt x="209550" y="0"/>
                  </a:moveTo>
                  <a:lnTo>
                    <a:pt x="0" y="0"/>
                  </a:lnTo>
                  <a:lnTo>
                    <a:pt x="0" y="2571750"/>
                  </a:lnTo>
                  <a:lnTo>
                    <a:pt x="209550" y="2571750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5CB85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143500"/>
              <a:ext cx="209550" cy="2571750"/>
            </a:xfrm>
            <a:custGeom>
              <a:avLst/>
              <a:gdLst/>
              <a:ahLst/>
              <a:cxnLst/>
              <a:rect l="l" t="t" r="r" b="b"/>
              <a:pathLst>
                <a:path w="209550" h="2571750">
                  <a:moveTo>
                    <a:pt x="209550" y="0"/>
                  </a:moveTo>
                  <a:lnTo>
                    <a:pt x="0" y="0"/>
                  </a:lnTo>
                  <a:lnTo>
                    <a:pt x="0" y="2571750"/>
                  </a:lnTo>
                  <a:lnTo>
                    <a:pt x="209550" y="2571750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F39C2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715249"/>
              <a:ext cx="209550" cy="2571750"/>
            </a:xfrm>
            <a:custGeom>
              <a:avLst/>
              <a:gdLst/>
              <a:ahLst/>
              <a:cxnLst/>
              <a:rect l="l" t="t" r="r" b="b"/>
              <a:pathLst>
                <a:path w="209550" h="2571750">
                  <a:moveTo>
                    <a:pt x="209550" y="0"/>
                  </a:moveTo>
                  <a:lnTo>
                    <a:pt x="0" y="0"/>
                  </a:lnTo>
                  <a:lnTo>
                    <a:pt x="0" y="2571750"/>
                  </a:lnTo>
                  <a:lnTo>
                    <a:pt x="209550" y="2571750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Web</a:t>
            </a:r>
            <a:r>
              <a:rPr spc="-250" dirty="0"/>
              <a:t> </a:t>
            </a:r>
            <a:r>
              <a:rPr spc="-85" dirty="0"/>
              <a:t>interface.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333500" y="2361438"/>
            <a:ext cx="3608704" cy="1469390"/>
            <a:chOff x="1333500" y="2361438"/>
            <a:chExt cx="3608704" cy="1469390"/>
          </a:xfrm>
        </p:grpSpPr>
        <p:sp>
          <p:nvSpPr>
            <p:cNvPr id="12" name="object 12"/>
            <p:cNvSpPr/>
            <p:nvPr/>
          </p:nvSpPr>
          <p:spPr>
            <a:xfrm>
              <a:off x="1333500" y="2361438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2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762000" y="381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1FB6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294123" y="3547363"/>
              <a:ext cx="647700" cy="283845"/>
            </a:xfrm>
            <a:custGeom>
              <a:avLst/>
              <a:gdLst/>
              <a:ahLst/>
              <a:cxnLst/>
              <a:rect l="l" t="t" r="r" b="b"/>
              <a:pathLst>
                <a:path w="647700" h="283845">
                  <a:moveTo>
                    <a:pt x="647700" y="0"/>
                  </a:moveTo>
                  <a:lnTo>
                    <a:pt x="0" y="0"/>
                  </a:lnTo>
                  <a:lnTo>
                    <a:pt x="0" y="283464"/>
                  </a:lnTo>
                  <a:lnTo>
                    <a:pt x="647700" y="283464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EDF3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46453" y="2982594"/>
            <a:ext cx="2151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12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SIX</a:t>
            </a:r>
            <a:r>
              <a:rPr kumimoji="0" sz="1800" b="1" i="0" u="none" strike="noStrike" kern="0" cap="none" spc="36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114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MAIN</a:t>
            </a:r>
            <a:r>
              <a:rPr kumimoji="0" sz="1800" b="1" i="0" u="none" strike="noStrike" kern="0" cap="none" spc="39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12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VIEWS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8307" y="3547364"/>
            <a:ext cx="780415" cy="283845"/>
          </a:xfrm>
          <a:prstGeom prst="rect">
            <a:avLst/>
          </a:prstGeom>
          <a:solidFill>
            <a:srgbClr val="EDF3F7"/>
          </a:solidFill>
        </p:spPr>
        <p:txBody>
          <a:bodyPr vert="horz" wrap="square" lIns="0" tIns="1143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Alt+1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86150" y="3545839"/>
            <a:ext cx="15290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through</a:t>
            </a:r>
            <a:r>
              <a:rPr kumimoji="0" sz="1700" b="0" i="0" u="none" strike="noStrike" kern="0" cap="none" spc="-7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Alt+7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46453" y="3545839"/>
            <a:ext cx="1321435" cy="107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Navigate</a:t>
            </a:r>
            <a:r>
              <a:rPr kumimoji="0" sz="1700" b="0" i="0" u="none" strike="noStrike" kern="0" cap="none" spc="-7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186055" lvl="0" indent="0" defTabSz="914400" eaLnBrk="1" fontAlgn="auto" latinLnBrk="0" hangingPunct="1">
              <a:lnSpc>
                <a:spcPct val="125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Dashboard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Tree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94757" y="3907282"/>
            <a:ext cx="2092960" cy="1054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Catalogue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508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Manual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Subscription Settings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46453" y="4593082"/>
            <a:ext cx="228346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Manage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Subscriptions Documentation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572625" y="4328540"/>
            <a:ext cx="7667625" cy="1015365"/>
          </a:xfrm>
          <a:custGeom>
            <a:avLst/>
            <a:gdLst/>
            <a:ahLst/>
            <a:cxnLst/>
            <a:rect l="l" t="t" r="r" b="b"/>
            <a:pathLst>
              <a:path w="7667625" h="1015364">
                <a:moveTo>
                  <a:pt x="7667625" y="1005713"/>
                </a:moveTo>
                <a:lnTo>
                  <a:pt x="0" y="1005713"/>
                </a:lnTo>
                <a:lnTo>
                  <a:pt x="0" y="1015238"/>
                </a:lnTo>
                <a:lnTo>
                  <a:pt x="7667625" y="1015238"/>
                </a:lnTo>
                <a:lnTo>
                  <a:pt x="7667625" y="1005713"/>
                </a:lnTo>
                <a:close/>
              </a:path>
              <a:path w="7667625" h="1015364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86086" y="3028870"/>
            <a:ext cx="7843520" cy="111442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Catalogue</a:t>
            </a:r>
            <a:r>
              <a:rPr kumimoji="0" sz="1800" b="1" i="0" u="none" strike="noStrike" kern="0" cap="none" spc="5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search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2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Queries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three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GDC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(Global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Discovery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Catalogue)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endpoints.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Full-text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faceted search.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86086" y="4355249"/>
            <a:ext cx="4362450" cy="80327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Topic</a:t>
            </a:r>
            <a:r>
              <a:rPr kumimoji="0" sz="1800" b="1" i="0" u="none" strike="noStrike" kern="0" cap="none" spc="2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tree</a:t>
            </a:r>
            <a:r>
              <a:rPr kumimoji="0" sz="1800" b="1" i="0" u="none" strike="noStrike" kern="0" cap="none" spc="5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browser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Hierarchical</a:t>
            </a:r>
            <a:r>
              <a:rPr kumimoji="0" sz="1700" b="0" i="0" u="none" strike="noStrike" kern="0" cap="none" spc="-7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view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available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WIS2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topics.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86086" y="5360322"/>
            <a:ext cx="5386705" cy="80391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Language</a:t>
            </a:r>
            <a:r>
              <a:rPr kumimoji="0" sz="1800" b="1" i="0" u="none" strike="noStrike" kern="0" cap="none" spc="3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switcher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English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French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Spanish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r>
              <a:rPr kumimoji="0" sz="1700" b="0" i="0" u="none" strike="noStrike" kern="0" cap="none" spc="-1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Arabic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Chinese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·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Russian.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24" name="object 24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Understanding</a:t>
            </a:r>
            <a:r>
              <a:rPr spc="-185" dirty="0"/>
              <a:t> </a:t>
            </a:r>
            <a:r>
              <a:rPr spc="-65" dirty="0"/>
              <a:t>WIS2</a:t>
            </a:r>
            <a:r>
              <a:rPr spc="-225" dirty="0"/>
              <a:t> </a:t>
            </a:r>
            <a:r>
              <a:rPr spc="-65" dirty="0"/>
              <a:t>topics.</a:t>
            </a:r>
          </a:p>
        </p:txBody>
      </p:sp>
      <p:sp>
        <p:nvSpPr>
          <p:cNvPr id="4" name="object 4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3500" y="3352038"/>
            <a:ext cx="15906750" cy="636270"/>
          </a:xfrm>
          <a:custGeom>
            <a:avLst/>
            <a:gdLst/>
            <a:ahLst/>
            <a:cxnLst/>
            <a:rect l="l" t="t" r="r" b="b"/>
            <a:pathLst>
              <a:path w="15906750" h="636270">
                <a:moveTo>
                  <a:pt x="15878175" y="0"/>
                </a:moveTo>
                <a:lnTo>
                  <a:pt x="28575" y="0"/>
                </a:lnTo>
                <a:lnTo>
                  <a:pt x="17466" y="2250"/>
                </a:lnTo>
                <a:lnTo>
                  <a:pt x="8381" y="8381"/>
                </a:lnTo>
                <a:lnTo>
                  <a:pt x="2250" y="17466"/>
                </a:lnTo>
                <a:lnTo>
                  <a:pt x="0" y="28575"/>
                </a:lnTo>
                <a:lnTo>
                  <a:pt x="0" y="607567"/>
                </a:lnTo>
                <a:lnTo>
                  <a:pt x="2250" y="618676"/>
                </a:lnTo>
                <a:lnTo>
                  <a:pt x="8382" y="627760"/>
                </a:lnTo>
                <a:lnTo>
                  <a:pt x="17466" y="633892"/>
                </a:lnTo>
                <a:lnTo>
                  <a:pt x="28575" y="636142"/>
                </a:lnTo>
                <a:lnTo>
                  <a:pt x="15878175" y="636142"/>
                </a:lnTo>
                <a:lnTo>
                  <a:pt x="15889283" y="633892"/>
                </a:lnTo>
                <a:lnTo>
                  <a:pt x="15898368" y="627760"/>
                </a:lnTo>
                <a:lnTo>
                  <a:pt x="15904499" y="618676"/>
                </a:lnTo>
                <a:lnTo>
                  <a:pt x="15906750" y="607567"/>
                </a:lnTo>
                <a:lnTo>
                  <a:pt x="15906750" y="28575"/>
                </a:lnTo>
                <a:lnTo>
                  <a:pt x="15904499" y="17466"/>
                </a:lnTo>
                <a:lnTo>
                  <a:pt x="15898367" y="8381"/>
                </a:lnTo>
                <a:lnTo>
                  <a:pt x="15889283" y="2250"/>
                </a:lnTo>
                <a:lnTo>
                  <a:pt x="15878175" y="0"/>
                </a:lnTo>
                <a:close/>
              </a:path>
            </a:pathLst>
          </a:custGeom>
          <a:solidFill>
            <a:srgbClr val="F5F7F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6453" y="2982594"/>
            <a:ext cx="10224135" cy="1470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13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MQTT</a:t>
            </a:r>
            <a:r>
              <a:rPr kumimoji="0" sz="1800" b="1" i="0" u="none" strike="noStrike" kern="0" cap="none" spc="35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14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TOPIC</a:t>
            </a:r>
            <a:r>
              <a:rPr kumimoji="0" sz="1800" b="1" i="0" u="none" strike="noStrike" kern="0" cap="none" spc="34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14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HIERARCHY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{origin|cache}/a/wis2/{centre-id}/data/{data-policy}/{domain}/...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56575" algn="l"/>
              </a:tabLst>
              <a:defRPr/>
            </a:pPr>
            <a:r>
              <a:rPr kumimoji="0" sz="1800" b="1" i="0" u="none" strike="noStrike" kern="0" cap="none" spc="14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WILDCARDS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1800" b="1" i="0" u="none" strike="noStrike" kern="0" cap="none" spc="12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sz="1800" b="1" i="0" u="none" strike="noStrike" kern="0" cap="none" spc="39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15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POLICIES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4668901"/>
            <a:ext cx="260985" cy="283845"/>
          </a:xfrm>
          <a:prstGeom prst="rect">
            <a:avLst/>
          </a:prstGeom>
          <a:solidFill>
            <a:srgbClr val="EDF3F7"/>
          </a:solidFill>
        </p:spPr>
        <p:txBody>
          <a:bodyPr vert="horz" wrap="square" lIns="0" tIns="1143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+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0" y="5063871"/>
            <a:ext cx="260985" cy="283845"/>
          </a:xfrm>
          <a:prstGeom prst="rect">
            <a:avLst/>
          </a:prstGeom>
          <a:solidFill>
            <a:srgbClr val="EDF3F7"/>
          </a:solidFill>
        </p:spPr>
        <p:txBody>
          <a:bodyPr vert="horz" wrap="square" lIns="0" tIns="1143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Courier New"/>
                <a:cs typeface="Courier New"/>
              </a:rPr>
              <a:t>#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7058" y="4532223"/>
            <a:ext cx="4110990" cy="815340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matches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single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topic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level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matches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remaining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levels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(must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last)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0964" y="4538573"/>
            <a:ext cx="4171950" cy="80264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core</a:t>
            </a:r>
            <a:r>
              <a:rPr kumimoji="0" sz="1700" b="1" i="0" u="none" strike="noStrike" kern="0" cap="none" spc="-25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—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freely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available,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no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restrictions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recommended</a:t>
            </a:r>
            <a:r>
              <a:rPr kumimoji="0" sz="1700" b="1" i="0" u="none" strike="noStrike" kern="0" cap="none" spc="-40" normalizeH="0" baseline="0" noProof="0" dirty="0">
                <a:ln>
                  <a:noFill/>
                </a:ln>
                <a:solidFill>
                  <a:srgbClr val="0D28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—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available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MT"/>
                <a:cs typeface="Arial MT"/>
              </a:rPr>
              <a:t>conditions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33500" y="5882893"/>
            <a:ext cx="15906750" cy="636270"/>
          </a:xfrm>
          <a:custGeom>
            <a:avLst/>
            <a:gdLst/>
            <a:ahLst/>
            <a:cxnLst/>
            <a:rect l="l" t="t" r="r" b="b"/>
            <a:pathLst>
              <a:path w="15906750" h="636270">
                <a:moveTo>
                  <a:pt x="15906750" y="28575"/>
                </a:moveTo>
                <a:lnTo>
                  <a:pt x="15904490" y="17475"/>
                </a:lnTo>
                <a:lnTo>
                  <a:pt x="15898368" y="8394"/>
                </a:lnTo>
                <a:lnTo>
                  <a:pt x="15889275" y="2260"/>
                </a:lnTo>
                <a:lnTo>
                  <a:pt x="15878175" y="0"/>
                </a:lnTo>
                <a:lnTo>
                  <a:pt x="28575" y="0"/>
                </a:lnTo>
                <a:lnTo>
                  <a:pt x="17462" y="2260"/>
                </a:lnTo>
                <a:lnTo>
                  <a:pt x="8382" y="8394"/>
                </a:lnTo>
                <a:lnTo>
                  <a:pt x="2247" y="17475"/>
                </a:lnTo>
                <a:lnTo>
                  <a:pt x="0" y="28575"/>
                </a:lnTo>
                <a:lnTo>
                  <a:pt x="0" y="607568"/>
                </a:lnTo>
                <a:lnTo>
                  <a:pt x="2247" y="618680"/>
                </a:lnTo>
                <a:lnTo>
                  <a:pt x="8382" y="627761"/>
                </a:lnTo>
                <a:lnTo>
                  <a:pt x="17462" y="633895"/>
                </a:lnTo>
                <a:lnTo>
                  <a:pt x="28575" y="636143"/>
                </a:lnTo>
                <a:lnTo>
                  <a:pt x="15878175" y="636143"/>
                </a:lnTo>
                <a:lnTo>
                  <a:pt x="15889275" y="633895"/>
                </a:lnTo>
                <a:lnTo>
                  <a:pt x="15898368" y="627761"/>
                </a:lnTo>
                <a:lnTo>
                  <a:pt x="15904490" y="618680"/>
                </a:lnTo>
                <a:lnTo>
                  <a:pt x="15906750" y="607568"/>
                </a:lnTo>
                <a:lnTo>
                  <a:pt x="15906750" y="28575"/>
                </a:lnTo>
                <a:close/>
              </a:path>
            </a:pathLst>
          </a:custGeom>
          <a:solidFill>
            <a:srgbClr val="F5F7F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3500" y="6614286"/>
            <a:ext cx="15906750" cy="636270"/>
          </a:xfrm>
          <a:custGeom>
            <a:avLst/>
            <a:gdLst/>
            <a:ahLst/>
            <a:cxnLst/>
            <a:rect l="l" t="t" r="r" b="b"/>
            <a:pathLst>
              <a:path w="15906750" h="636270">
                <a:moveTo>
                  <a:pt x="15878175" y="0"/>
                </a:moveTo>
                <a:lnTo>
                  <a:pt x="28575" y="0"/>
                </a:lnTo>
                <a:lnTo>
                  <a:pt x="17466" y="2250"/>
                </a:lnTo>
                <a:lnTo>
                  <a:pt x="8381" y="8382"/>
                </a:lnTo>
                <a:lnTo>
                  <a:pt x="2250" y="17466"/>
                </a:lnTo>
                <a:lnTo>
                  <a:pt x="0" y="28575"/>
                </a:lnTo>
                <a:lnTo>
                  <a:pt x="0" y="607695"/>
                </a:lnTo>
                <a:lnTo>
                  <a:pt x="2250" y="618803"/>
                </a:lnTo>
                <a:lnTo>
                  <a:pt x="8382" y="627888"/>
                </a:lnTo>
                <a:lnTo>
                  <a:pt x="17466" y="634019"/>
                </a:lnTo>
                <a:lnTo>
                  <a:pt x="28575" y="636270"/>
                </a:lnTo>
                <a:lnTo>
                  <a:pt x="15878175" y="636270"/>
                </a:lnTo>
                <a:lnTo>
                  <a:pt x="15889283" y="634019"/>
                </a:lnTo>
                <a:lnTo>
                  <a:pt x="15898368" y="627888"/>
                </a:lnTo>
                <a:lnTo>
                  <a:pt x="15904499" y="618803"/>
                </a:lnTo>
                <a:lnTo>
                  <a:pt x="15906750" y="607695"/>
                </a:lnTo>
                <a:lnTo>
                  <a:pt x="15906750" y="28575"/>
                </a:lnTo>
                <a:lnTo>
                  <a:pt x="15904499" y="17466"/>
                </a:lnTo>
                <a:lnTo>
                  <a:pt x="15898367" y="8382"/>
                </a:lnTo>
                <a:lnTo>
                  <a:pt x="15889283" y="2250"/>
                </a:lnTo>
                <a:lnTo>
                  <a:pt x="15878175" y="0"/>
                </a:lnTo>
                <a:close/>
              </a:path>
            </a:pathLst>
          </a:custGeom>
          <a:solidFill>
            <a:srgbClr val="F5F7F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6453" y="5513959"/>
            <a:ext cx="10019665" cy="157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14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EXAMPLE</a:t>
            </a:r>
            <a:r>
              <a:rPr kumimoji="0" sz="1800" b="1" i="0" u="none" strike="noStrike" kern="0" cap="none" spc="40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15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Arial"/>
                <a:cs typeface="Arial"/>
              </a:rPr>
              <a:t>SUBSCRIPTIONS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origin/a/wis2/+/data/core/#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#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all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core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data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from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any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5B676F"/>
                </a:solidFill>
                <a:effectLst/>
                <a:uLnTx/>
                <a:uFillTx/>
                <a:latin typeface="Courier New"/>
                <a:cs typeface="Courier New"/>
              </a:rPr>
              <a:t>centre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7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24130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ourier New"/>
                <a:cs typeface="Courier New"/>
              </a:rPr>
              <a:t>origin/a/wis2/ro-roshydromet/data/core/weather/surface-based-observations/#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pic>
        <p:nvPicPr>
          <p:cNvPr id="14" name="object 14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How</a:t>
            </a:r>
            <a:r>
              <a:rPr spc="-250" dirty="0"/>
              <a:t> </a:t>
            </a:r>
            <a:r>
              <a:rPr spc="-60" dirty="0"/>
              <a:t>does</a:t>
            </a:r>
            <a:r>
              <a:rPr spc="-225" dirty="0"/>
              <a:t> </a:t>
            </a:r>
            <a:r>
              <a:rPr spc="-65" dirty="0"/>
              <a:t>WIS2</a:t>
            </a:r>
            <a:r>
              <a:rPr spc="-235" dirty="0"/>
              <a:t> </a:t>
            </a:r>
            <a:r>
              <a:rPr spc="-85" dirty="0"/>
              <a:t>Downloader</a:t>
            </a:r>
            <a:r>
              <a:rPr spc="-190" dirty="0"/>
              <a:t> </a:t>
            </a:r>
            <a:r>
              <a:rPr spc="-80" dirty="0"/>
              <a:t>handle</a:t>
            </a:r>
            <a:r>
              <a:rPr spc="-215" dirty="0"/>
              <a:t> </a:t>
            </a:r>
            <a:r>
              <a:rPr spc="-65" dirty="0"/>
              <a:t>metadata?</a:t>
            </a:r>
          </a:p>
        </p:txBody>
      </p:sp>
      <p:sp>
        <p:nvSpPr>
          <p:cNvPr id="4" name="object 4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46453" y="2648623"/>
            <a:ext cx="7524750" cy="376809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0D2841"/>
                </a:solidFill>
                <a:latin typeface="Arial"/>
                <a:cs typeface="Arial"/>
              </a:rPr>
              <a:t>GDC</a:t>
            </a:r>
            <a:r>
              <a:rPr sz="1800" b="1" spc="10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connection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Fetches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WCMP2</a:t>
            </a:r>
            <a:r>
              <a:rPr sz="1700" spc="-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records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from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WIS2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Global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Discovery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Catalogue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startup.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0D2841"/>
                </a:solidFill>
                <a:latin typeface="Arial"/>
                <a:cs typeface="Arial"/>
              </a:rPr>
              <a:t>Local</a:t>
            </a:r>
            <a:r>
              <a:rPr sz="1800" b="1" spc="4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D2841"/>
                </a:solidFill>
                <a:latin typeface="Arial"/>
                <a:cs typeface="Arial"/>
              </a:rPr>
              <a:t>cache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Records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stored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locally</a:t>
            </a:r>
            <a:r>
              <a:rPr sz="1700" spc="-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·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used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resolve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topic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paths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dataset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names.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Refresh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Metadata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reloaded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at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any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time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from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Settings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tab.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Explore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Records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explored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used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subscriptions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some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views.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/>
          <p:nvPr/>
        </p:nvSpPr>
        <p:spPr>
          <a:xfrm>
            <a:off x="1346453" y="3780231"/>
            <a:ext cx="10182225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dirty="0">
                <a:solidFill>
                  <a:srgbClr val="0D2841"/>
                </a:solidFill>
                <a:latin typeface="Arial MT"/>
                <a:cs typeface="Arial MT"/>
              </a:rPr>
              <a:t>Finding</a:t>
            </a:r>
            <a:r>
              <a:rPr sz="8100" spc="-30" dirty="0">
                <a:solidFill>
                  <a:srgbClr val="0D2841"/>
                </a:solidFill>
                <a:latin typeface="Arial MT"/>
                <a:cs typeface="Arial MT"/>
              </a:rPr>
              <a:t> </a:t>
            </a:r>
            <a:r>
              <a:rPr sz="8100" dirty="0">
                <a:solidFill>
                  <a:srgbClr val="0D2841"/>
                </a:solidFill>
                <a:latin typeface="Arial MT"/>
                <a:cs typeface="Arial MT"/>
              </a:rPr>
              <a:t>data</a:t>
            </a:r>
            <a:r>
              <a:rPr sz="8100" spc="-25" dirty="0">
                <a:solidFill>
                  <a:srgbClr val="0D2841"/>
                </a:solidFill>
                <a:latin typeface="Arial MT"/>
                <a:cs typeface="Arial MT"/>
              </a:rPr>
              <a:t> </a:t>
            </a:r>
            <a:r>
              <a:rPr sz="8100" dirty="0">
                <a:solidFill>
                  <a:srgbClr val="0D2841"/>
                </a:solidFill>
                <a:latin typeface="Arial MT"/>
                <a:cs typeface="Arial MT"/>
              </a:rPr>
              <a:t>on</a:t>
            </a:r>
            <a:r>
              <a:rPr sz="8100" spc="-45" dirty="0">
                <a:solidFill>
                  <a:srgbClr val="0D2841"/>
                </a:solidFill>
                <a:latin typeface="Arial MT"/>
                <a:cs typeface="Arial MT"/>
              </a:rPr>
              <a:t> </a:t>
            </a:r>
            <a:r>
              <a:rPr sz="8100" spc="-10" dirty="0">
                <a:solidFill>
                  <a:srgbClr val="0D2841"/>
                </a:solidFill>
                <a:latin typeface="Arial MT"/>
                <a:cs typeface="Arial MT"/>
              </a:rPr>
              <a:t>WIS2</a:t>
            </a:r>
            <a:r>
              <a:rPr sz="7600" b="1" spc="-10" dirty="0">
                <a:solidFill>
                  <a:srgbClr val="0D2841"/>
                </a:solidFill>
                <a:latin typeface="Arial"/>
                <a:cs typeface="Arial"/>
              </a:rPr>
              <a:t>.</a:t>
            </a:r>
            <a:endParaRPr sz="7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33500" y="5347842"/>
            <a:ext cx="1333500" cy="47625"/>
          </a:xfrm>
          <a:custGeom>
            <a:avLst/>
            <a:gdLst/>
            <a:ahLst/>
            <a:cxnLst/>
            <a:rect l="l" t="t" r="r" b="b"/>
            <a:pathLst>
              <a:path w="1333500" h="47625">
                <a:moveTo>
                  <a:pt x="1333500" y="0"/>
                </a:moveTo>
                <a:lnTo>
                  <a:pt x="0" y="0"/>
                </a:lnTo>
                <a:lnTo>
                  <a:pt x="0" y="47625"/>
                </a:lnTo>
                <a:lnTo>
                  <a:pt x="1333500" y="47625"/>
                </a:lnTo>
                <a:lnTo>
                  <a:pt x="13335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46453" y="5964682"/>
            <a:ext cx="7144384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Searching</a:t>
            </a:r>
            <a:r>
              <a:rPr sz="1900" spc="-5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metadata</a:t>
            </a:r>
            <a:r>
              <a:rPr sz="1900" spc="-4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records</a:t>
            </a:r>
            <a:r>
              <a:rPr sz="1900" spc="-5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and</a:t>
            </a:r>
            <a:r>
              <a:rPr sz="1900" spc="-6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subscribing</a:t>
            </a:r>
            <a:r>
              <a:rPr sz="1900" spc="-3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in</a:t>
            </a:r>
            <a:r>
              <a:rPr sz="1900" spc="-6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WIS2</a:t>
            </a:r>
            <a:r>
              <a:rPr sz="1900" spc="-7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5B676F"/>
                </a:solidFill>
                <a:latin typeface="Arial MT"/>
                <a:cs typeface="Arial MT"/>
              </a:rPr>
              <a:t>Downloader.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6453" y="1020521"/>
            <a:ext cx="281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4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4E79"/>
                </a:solidFill>
                <a:latin typeface="Arial"/>
                <a:cs typeface="Arial"/>
              </a:rPr>
              <a:t>F</a:t>
            </a:r>
            <a:r>
              <a:rPr sz="1800" b="1" spc="-27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4E79"/>
                </a:solidFill>
                <a:latin typeface="Arial"/>
                <a:cs typeface="Arial"/>
              </a:rPr>
              <a:t>I</a:t>
            </a:r>
            <a:r>
              <a:rPr sz="1800" b="1" spc="-27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145" dirty="0">
                <a:solidFill>
                  <a:srgbClr val="1F4E79"/>
                </a:solidFill>
                <a:latin typeface="Arial"/>
                <a:cs typeface="Arial"/>
              </a:rPr>
              <a:t>NDI</a:t>
            </a:r>
            <a:r>
              <a:rPr sz="1800" b="1" spc="-27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1F4E79"/>
                </a:solidFill>
                <a:latin typeface="Arial"/>
                <a:cs typeface="Arial"/>
              </a:rPr>
              <a:t>NG</a:t>
            </a:r>
            <a:r>
              <a:rPr sz="1800" b="1" spc="43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130" dirty="0">
                <a:solidFill>
                  <a:srgbClr val="1F4E79"/>
                </a:solidFill>
                <a:latin typeface="Arial"/>
                <a:cs typeface="Arial"/>
              </a:rPr>
              <a:t>DAT</a:t>
            </a:r>
            <a:r>
              <a:rPr sz="1800" b="1" spc="-254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1F4E79"/>
                </a:solidFill>
                <a:latin typeface="Arial"/>
                <a:cs typeface="Arial"/>
              </a:rPr>
              <a:t>A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46453" y="1356817"/>
            <a:ext cx="5252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The</a:t>
            </a:r>
            <a:r>
              <a:rPr spc="-229" dirty="0"/>
              <a:t> </a:t>
            </a:r>
            <a:r>
              <a:rPr spc="-90" dirty="0"/>
              <a:t>Catalogue</a:t>
            </a:r>
            <a:r>
              <a:rPr spc="-190" dirty="0"/>
              <a:t> </a:t>
            </a:r>
            <a:r>
              <a:rPr spc="-60" dirty="0"/>
              <a:t>View.</a:t>
            </a:r>
          </a:p>
        </p:txBody>
      </p:sp>
      <p:pic>
        <p:nvPicPr>
          <p:cNvPr id="4" name="object 4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46453" y="2648623"/>
            <a:ext cx="7438390" cy="483425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Search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Filter</a:t>
            </a:r>
            <a:r>
              <a:rPr sz="1700" spc="-6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datasets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by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keyword,</a:t>
            </a:r>
            <a:r>
              <a:rPr sz="17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centre,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type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and/or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geographical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information.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Browse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Each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entry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shows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dataset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title,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WTH</a:t>
            </a:r>
            <a:r>
              <a:rPr sz="1700" spc="-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location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map.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Check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Check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metadata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record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and/or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License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agreement.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Subscribe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Select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dataset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expand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its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details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activate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subscription.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33500" y="3756152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33500" y="5088509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33500" y="6469507"/>
            <a:ext cx="7667625" cy="9525"/>
          </a:xfrm>
          <a:custGeom>
            <a:avLst/>
            <a:gdLst/>
            <a:ahLst/>
            <a:cxnLst/>
            <a:rect l="l" t="t" r="r" b="b"/>
            <a:pathLst>
              <a:path w="7667625" h="9525">
                <a:moveTo>
                  <a:pt x="7667625" y="0"/>
                </a:moveTo>
                <a:lnTo>
                  <a:pt x="0" y="0"/>
                </a:lnTo>
                <a:lnTo>
                  <a:pt x="0" y="9525"/>
                </a:lnTo>
                <a:lnTo>
                  <a:pt x="7667625" y="9525"/>
                </a:lnTo>
                <a:lnTo>
                  <a:pt x="7667625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572625" y="2438907"/>
            <a:ext cx="7689850" cy="1518920"/>
            <a:chOff x="9572625" y="2438907"/>
            <a:chExt cx="7689850" cy="1518920"/>
          </a:xfrm>
        </p:grpSpPr>
        <p:sp>
          <p:nvSpPr>
            <p:cNvPr id="11" name="object 11"/>
            <p:cNvSpPr/>
            <p:nvPr/>
          </p:nvSpPr>
          <p:spPr>
            <a:xfrm>
              <a:off x="9594850" y="2438907"/>
              <a:ext cx="7667625" cy="1489075"/>
            </a:xfrm>
            <a:custGeom>
              <a:avLst/>
              <a:gdLst/>
              <a:ahLst/>
              <a:cxnLst/>
              <a:rect l="l" t="t" r="r" b="b"/>
              <a:pathLst>
                <a:path w="7667625" h="1489075">
                  <a:moveTo>
                    <a:pt x="7667625" y="0"/>
                  </a:moveTo>
                  <a:lnTo>
                    <a:pt x="0" y="0"/>
                  </a:lnTo>
                  <a:lnTo>
                    <a:pt x="0" y="1488694"/>
                  </a:lnTo>
                  <a:lnTo>
                    <a:pt x="7667625" y="1488694"/>
                  </a:lnTo>
                  <a:lnTo>
                    <a:pt x="7667625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72625" y="2469006"/>
              <a:ext cx="44450" cy="1489075"/>
            </a:xfrm>
            <a:custGeom>
              <a:avLst/>
              <a:gdLst/>
              <a:ahLst/>
              <a:cxnLst/>
              <a:rect l="l" t="t" r="r" b="b"/>
              <a:pathLst>
                <a:path w="44450" h="1489075">
                  <a:moveTo>
                    <a:pt x="44450" y="0"/>
                  </a:moveTo>
                  <a:lnTo>
                    <a:pt x="0" y="0"/>
                  </a:lnTo>
                  <a:lnTo>
                    <a:pt x="0" y="1488694"/>
                  </a:lnTo>
                  <a:lnTo>
                    <a:pt x="44450" y="1488694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1FB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617075" y="2747264"/>
            <a:ext cx="7645400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>
              <a:lnSpc>
                <a:spcPct val="100000"/>
              </a:lnSpc>
              <a:spcBef>
                <a:spcPts val="100"/>
              </a:spcBef>
            </a:pPr>
            <a:r>
              <a:rPr sz="1800" b="1" spc="114" dirty="0">
                <a:solidFill>
                  <a:srgbClr val="5B676F"/>
                </a:solidFill>
                <a:latin typeface="Arial"/>
                <a:cs typeface="Arial"/>
              </a:rPr>
              <a:t>Use</a:t>
            </a:r>
            <a:r>
              <a:rPr sz="1800" b="1" spc="375" dirty="0">
                <a:solidFill>
                  <a:srgbClr val="5B676F"/>
                </a:solidFill>
                <a:latin typeface="Arial"/>
                <a:cs typeface="Arial"/>
              </a:rPr>
              <a:t> </a:t>
            </a:r>
            <a:r>
              <a:rPr sz="1800" b="1" spc="114" dirty="0">
                <a:solidFill>
                  <a:srgbClr val="5B676F"/>
                </a:solidFill>
                <a:latin typeface="Arial"/>
                <a:cs typeface="Arial"/>
              </a:rPr>
              <a:t>case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8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</a:pP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Finding</a:t>
            </a:r>
            <a:r>
              <a:rPr sz="18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datasets</a:t>
            </a:r>
            <a:r>
              <a:rPr sz="18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directly</a:t>
            </a:r>
            <a:r>
              <a:rPr sz="18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by</a:t>
            </a:r>
            <a:r>
              <a:rPr sz="18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using</a:t>
            </a:r>
            <a:r>
              <a:rPr sz="18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filters</a:t>
            </a:r>
            <a:r>
              <a:rPr sz="18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find</a:t>
            </a:r>
            <a:r>
              <a:rPr sz="18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8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specific</a:t>
            </a:r>
            <a:r>
              <a:rPr sz="18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1A1A1A"/>
                </a:solidFill>
                <a:latin typeface="Arial MT"/>
                <a:cs typeface="Arial MT"/>
              </a:rPr>
              <a:t>one.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46453" y="1356817"/>
            <a:ext cx="5252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The</a:t>
            </a:r>
            <a:r>
              <a:rPr spc="-229" dirty="0"/>
              <a:t> </a:t>
            </a:r>
            <a:r>
              <a:rPr spc="-90" dirty="0"/>
              <a:t>Catalogue</a:t>
            </a:r>
            <a:r>
              <a:rPr spc="-190" dirty="0"/>
              <a:t> </a:t>
            </a:r>
            <a:r>
              <a:rPr spc="-60" dirty="0"/>
              <a:t>View.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33400" y="2044445"/>
            <a:ext cx="15528925" cy="7766684"/>
            <a:chOff x="533400" y="2044445"/>
            <a:chExt cx="15528925" cy="7766684"/>
          </a:xfrm>
        </p:grpSpPr>
        <p:pic>
          <p:nvPicPr>
            <p:cNvPr id="5" name="object 5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8972550"/>
              <a:ext cx="2483485" cy="838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33500" y="2361437"/>
              <a:ext cx="762000" cy="38100"/>
            </a:xfrm>
            <a:custGeom>
              <a:avLst/>
              <a:gdLst/>
              <a:ahLst/>
              <a:cxnLst/>
              <a:rect l="l" t="t" r="r" b="b"/>
              <a:pathLst>
                <a:path w="762000" h="38100">
                  <a:moveTo>
                    <a:pt x="762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762000" y="381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1FB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3500" y="2044445"/>
              <a:ext cx="14728317" cy="75567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46453" y="1356817"/>
            <a:ext cx="37896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The</a:t>
            </a:r>
            <a:r>
              <a:rPr spc="-254" dirty="0"/>
              <a:t> </a:t>
            </a:r>
            <a:r>
              <a:rPr spc="-55" dirty="0"/>
              <a:t>Tree</a:t>
            </a:r>
            <a:r>
              <a:rPr spc="-245" dirty="0"/>
              <a:t> </a:t>
            </a:r>
            <a:r>
              <a:rPr spc="-70" dirty="0"/>
              <a:t>View.</a:t>
            </a:r>
          </a:p>
        </p:txBody>
      </p:sp>
      <p:pic>
        <p:nvPicPr>
          <p:cNvPr id="4" name="object 4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46453" y="2648623"/>
            <a:ext cx="6751320" cy="335280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Navigate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Expand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topic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hierarchy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drill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down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specific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dataset or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centre.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0D2841"/>
                </a:solidFill>
                <a:latin typeface="Arial"/>
                <a:cs typeface="Arial"/>
              </a:rPr>
              <a:t>Wildcard</a:t>
            </a:r>
            <a:r>
              <a:rPr sz="1800" b="1" spc="55" dirty="0">
                <a:solidFill>
                  <a:srgbClr val="0D284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support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Subscribe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parent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node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capture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all</a:t>
            </a:r>
            <a:r>
              <a:rPr sz="1700" spc="-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child</a:t>
            </a:r>
            <a:r>
              <a:rPr sz="1700" spc="-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topics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beneath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it.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Subscribe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Click</a:t>
            </a:r>
            <a:r>
              <a:rPr sz="1700" spc="-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any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node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view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full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topic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path</a:t>
            </a:r>
            <a:r>
              <a:rPr sz="17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activate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subscription.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572625" y="2676905"/>
            <a:ext cx="7689850" cy="2037714"/>
            <a:chOff x="9572625" y="2676905"/>
            <a:chExt cx="7689850" cy="2037714"/>
          </a:xfrm>
        </p:grpSpPr>
        <p:sp>
          <p:nvSpPr>
            <p:cNvPr id="8" name="object 8"/>
            <p:cNvSpPr/>
            <p:nvPr/>
          </p:nvSpPr>
          <p:spPr>
            <a:xfrm>
              <a:off x="9594850" y="2676905"/>
              <a:ext cx="7667625" cy="2007235"/>
            </a:xfrm>
            <a:custGeom>
              <a:avLst/>
              <a:gdLst/>
              <a:ahLst/>
              <a:cxnLst/>
              <a:rect l="l" t="t" r="r" b="b"/>
              <a:pathLst>
                <a:path w="7667625" h="2007235">
                  <a:moveTo>
                    <a:pt x="7667625" y="0"/>
                  </a:moveTo>
                  <a:lnTo>
                    <a:pt x="0" y="0"/>
                  </a:lnTo>
                  <a:lnTo>
                    <a:pt x="0" y="2007235"/>
                  </a:lnTo>
                  <a:lnTo>
                    <a:pt x="7667625" y="2007235"/>
                  </a:lnTo>
                  <a:lnTo>
                    <a:pt x="7667625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572625" y="2707004"/>
              <a:ext cx="44450" cy="2007235"/>
            </a:xfrm>
            <a:custGeom>
              <a:avLst/>
              <a:gdLst/>
              <a:ahLst/>
              <a:cxnLst/>
              <a:rect l="l" t="t" r="r" b="b"/>
              <a:pathLst>
                <a:path w="44450" h="2007235">
                  <a:moveTo>
                    <a:pt x="44450" y="0"/>
                  </a:moveTo>
                  <a:lnTo>
                    <a:pt x="0" y="0"/>
                  </a:lnTo>
                  <a:lnTo>
                    <a:pt x="0" y="2007235"/>
                  </a:lnTo>
                  <a:lnTo>
                    <a:pt x="44450" y="2007235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1FB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17075" y="2985261"/>
            <a:ext cx="7645400" cy="1627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>
              <a:lnSpc>
                <a:spcPct val="100000"/>
              </a:lnSpc>
              <a:spcBef>
                <a:spcPts val="100"/>
              </a:spcBef>
            </a:pPr>
            <a:r>
              <a:rPr sz="1800" b="1" spc="114" dirty="0">
                <a:solidFill>
                  <a:srgbClr val="5B676F"/>
                </a:solidFill>
                <a:latin typeface="Arial"/>
                <a:cs typeface="Arial"/>
              </a:rPr>
              <a:t>Use</a:t>
            </a:r>
            <a:r>
              <a:rPr sz="1800" b="1" spc="375" dirty="0">
                <a:solidFill>
                  <a:srgbClr val="5B676F"/>
                </a:solidFill>
                <a:latin typeface="Arial"/>
                <a:cs typeface="Arial"/>
              </a:rPr>
              <a:t> </a:t>
            </a:r>
            <a:r>
              <a:rPr sz="1800" b="1" spc="114" dirty="0">
                <a:solidFill>
                  <a:srgbClr val="5B676F"/>
                </a:solidFill>
                <a:latin typeface="Arial"/>
                <a:cs typeface="Arial"/>
              </a:rPr>
              <a:t>case</a:t>
            </a:r>
            <a:endParaRPr sz="1800">
              <a:latin typeface="Arial"/>
              <a:cs typeface="Arial"/>
            </a:endParaRPr>
          </a:p>
          <a:p>
            <a:pPr marL="252095" marR="1022985">
              <a:lnSpc>
                <a:spcPct val="140000"/>
              </a:lnSpc>
              <a:spcBef>
                <a:spcPts val="1380"/>
              </a:spcBef>
            </a:pP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Find</a:t>
            </a:r>
            <a:r>
              <a:rPr sz="18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topic</a:t>
            </a:r>
            <a:r>
              <a:rPr sz="18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from</a:t>
            </a:r>
            <a:r>
              <a:rPr sz="18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A1A1A"/>
                </a:solidFill>
                <a:latin typeface="Arial MT"/>
                <a:cs typeface="Arial MT"/>
              </a:rPr>
              <a:t>top-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down</a:t>
            </a:r>
            <a:r>
              <a:rPr sz="1800" spc="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approach,</a:t>
            </a:r>
            <a:r>
              <a:rPr sz="18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easier</a:t>
            </a:r>
            <a:r>
              <a:rPr sz="18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A1A1A"/>
                </a:solidFill>
                <a:latin typeface="Arial MT"/>
                <a:cs typeface="Arial MT"/>
              </a:rPr>
              <a:t>making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subscriptions</a:t>
            </a:r>
            <a:r>
              <a:rPr sz="18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sz="18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broad</a:t>
            </a:r>
            <a:r>
              <a:rPr sz="18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range,</a:t>
            </a:r>
            <a:r>
              <a:rPr sz="18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e.g.:</a:t>
            </a:r>
            <a:r>
              <a:rPr sz="18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all</a:t>
            </a:r>
            <a:r>
              <a:rPr sz="18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surface</a:t>
            </a:r>
            <a:r>
              <a:rPr sz="18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observations</a:t>
            </a:r>
            <a:r>
              <a:rPr sz="18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sz="18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1A1A1A"/>
                </a:solidFill>
                <a:latin typeface="Arial MT"/>
                <a:cs typeface="Arial MT"/>
              </a:rPr>
              <a:t>a </a:t>
            </a:r>
            <a:r>
              <a:rPr sz="1800" spc="-10" dirty="0">
                <a:solidFill>
                  <a:srgbClr val="1A1A1A"/>
                </a:solidFill>
                <a:latin typeface="Arial MT"/>
                <a:cs typeface="Arial MT"/>
              </a:rPr>
              <a:t>country.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46453" y="1356817"/>
            <a:ext cx="37896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The</a:t>
            </a:r>
            <a:r>
              <a:rPr spc="-254" dirty="0"/>
              <a:t> </a:t>
            </a:r>
            <a:r>
              <a:rPr spc="-55" dirty="0"/>
              <a:t>Tree</a:t>
            </a:r>
            <a:r>
              <a:rPr spc="-245" dirty="0"/>
              <a:t> </a:t>
            </a:r>
            <a:r>
              <a:rPr spc="-70" dirty="0"/>
              <a:t>View.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33400" y="2009775"/>
            <a:ext cx="15813405" cy="7800975"/>
            <a:chOff x="533400" y="2009775"/>
            <a:chExt cx="15813405" cy="7800975"/>
          </a:xfrm>
        </p:grpSpPr>
        <p:pic>
          <p:nvPicPr>
            <p:cNvPr id="5" name="object 5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8972550"/>
              <a:ext cx="2483485" cy="838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3225" y="2009775"/>
              <a:ext cx="14673580" cy="75914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/>
          <p:nvPr/>
        </p:nvSpPr>
        <p:spPr>
          <a:xfrm>
            <a:off x="1346453" y="3800043"/>
            <a:ext cx="6003925" cy="1183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600" b="1" spc="-135" dirty="0">
                <a:solidFill>
                  <a:srgbClr val="0D2841"/>
                </a:solidFill>
                <a:latin typeface="Arial"/>
                <a:cs typeface="Arial"/>
              </a:rPr>
              <a:t>Management.</a:t>
            </a:r>
            <a:endParaRPr sz="7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33500" y="5347842"/>
            <a:ext cx="1333500" cy="47625"/>
          </a:xfrm>
          <a:custGeom>
            <a:avLst/>
            <a:gdLst/>
            <a:ahLst/>
            <a:cxnLst/>
            <a:rect l="l" t="t" r="r" b="b"/>
            <a:pathLst>
              <a:path w="1333500" h="47625">
                <a:moveTo>
                  <a:pt x="1333500" y="0"/>
                </a:moveTo>
                <a:lnTo>
                  <a:pt x="0" y="0"/>
                </a:lnTo>
                <a:lnTo>
                  <a:pt x="0" y="47625"/>
                </a:lnTo>
                <a:lnTo>
                  <a:pt x="1333500" y="47625"/>
                </a:lnTo>
                <a:lnTo>
                  <a:pt x="13335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46453" y="5964682"/>
            <a:ext cx="67741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Editing</a:t>
            </a:r>
            <a:r>
              <a:rPr sz="1900" spc="-7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and</a:t>
            </a:r>
            <a:r>
              <a:rPr sz="1900" spc="-6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deleting</a:t>
            </a:r>
            <a:r>
              <a:rPr sz="1900" spc="-6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subscriptions,</a:t>
            </a:r>
            <a:r>
              <a:rPr sz="1900" spc="-5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reloading</a:t>
            </a:r>
            <a:r>
              <a:rPr sz="1900" spc="-45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5B676F"/>
                </a:solidFill>
                <a:latin typeface="Arial MT"/>
                <a:cs typeface="Arial MT"/>
              </a:rPr>
              <a:t>metadata</a:t>
            </a:r>
            <a:r>
              <a:rPr sz="1900" spc="-70" dirty="0">
                <a:solidFill>
                  <a:srgbClr val="5B676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5B676F"/>
                </a:solidFill>
                <a:latin typeface="Arial MT"/>
                <a:cs typeface="Arial MT"/>
              </a:rPr>
              <a:t>records.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6453" y="1020521"/>
            <a:ext cx="49441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85" dirty="0">
                <a:solidFill>
                  <a:srgbClr val="1F4E79"/>
                </a:solidFill>
                <a:latin typeface="Arial"/>
                <a:cs typeface="Arial"/>
              </a:rPr>
              <a:t>SUBSCRI</a:t>
            </a:r>
            <a:r>
              <a:rPr sz="1800" b="1" spc="-27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1F4E79"/>
                </a:solidFill>
                <a:latin typeface="Arial"/>
                <a:cs typeface="Arial"/>
              </a:rPr>
              <a:t>PT</a:t>
            </a:r>
            <a:r>
              <a:rPr sz="1800" b="1" spc="-27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4E79"/>
                </a:solidFill>
                <a:latin typeface="Arial"/>
                <a:cs typeface="Arial"/>
              </a:rPr>
              <a:t>I</a:t>
            </a:r>
            <a:r>
              <a:rPr sz="1800" b="1" spc="-27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4E79"/>
                </a:solidFill>
                <a:latin typeface="Arial"/>
                <a:cs typeface="Arial"/>
              </a:rPr>
              <a:t>O</a:t>
            </a:r>
            <a:r>
              <a:rPr sz="1800" b="1" spc="-27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4E79"/>
                </a:solidFill>
                <a:latin typeface="Arial"/>
                <a:cs typeface="Arial"/>
              </a:rPr>
              <a:t>N</a:t>
            </a:r>
            <a:r>
              <a:rPr sz="1800" b="1" spc="42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4E79"/>
                </a:solidFill>
                <a:latin typeface="Arial"/>
                <a:cs typeface="Arial"/>
              </a:rPr>
              <a:t>M</a:t>
            </a:r>
            <a:r>
              <a:rPr sz="1800" b="1" spc="-27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1F4E79"/>
                </a:solidFill>
                <a:latin typeface="Arial"/>
                <a:cs typeface="Arial"/>
              </a:rPr>
              <a:t>AN</a:t>
            </a:r>
            <a:r>
              <a:rPr sz="1800" b="1" spc="-27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95" dirty="0">
                <a:solidFill>
                  <a:srgbClr val="1F4E79"/>
                </a:solidFill>
                <a:latin typeface="Arial"/>
                <a:cs typeface="Arial"/>
              </a:rPr>
              <a:t>AG</a:t>
            </a:r>
            <a:r>
              <a:rPr sz="1800" b="1" spc="-27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1F4E79"/>
                </a:solidFill>
                <a:latin typeface="Arial"/>
                <a:cs typeface="Arial"/>
              </a:rPr>
              <a:t>EM</a:t>
            </a:r>
            <a:r>
              <a:rPr sz="1800" b="1" spc="-27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120" dirty="0">
                <a:solidFill>
                  <a:srgbClr val="1F4E79"/>
                </a:solidFill>
                <a:latin typeface="Arial"/>
                <a:cs typeface="Arial"/>
              </a:rPr>
              <a:t>ENT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Editing</a:t>
            </a:r>
            <a:r>
              <a:rPr spc="-195" dirty="0"/>
              <a:t> </a:t>
            </a:r>
            <a:r>
              <a:rPr spc="-85" dirty="0"/>
              <a:t>subscriptions.</a:t>
            </a:r>
          </a:p>
        </p:txBody>
      </p:sp>
      <p:sp>
        <p:nvSpPr>
          <p:cNvPr id="4" name="object 4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46453" y="2648623"/>
            <a:ext cx="6931025" cy="335280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Select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Click</a:t>
            </a:r>
            <a:r>
              <a:rPr sz="1700" spc="-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Edit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icon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next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an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active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subscription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Management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tab.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Modify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Update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filter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rules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·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target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directory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·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additional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download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options.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Apply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Changes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take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effect immediately</a:t>
            </a:r>
            <a:r>
              <a:rPr sz="1700" spc="-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·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no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restart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required.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6997" y="742950"/>
            <a:ext cx="6273546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Deleting</a:t>
            </a:r>
            <a:r>
              <a:rPr spc="-165" dirty="0"/>
              <a:t> </a:t>
            </a:r>
            <a:r>
              <a:rPr spc="-85" dirty="0"/>
              <a:t>subscriptions.</a:t>
            </a:r>
          </a:p>
        </p:txBody>
      </p:sp>
      <p:sp>
        <p:nvSpPr>
          <p:cNvPr id="4" name="object 4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46453" y="2648623"/>
            <a:ext cx="7511415" cy="201993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Select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Click</a:t>
            </a:r>
            <a:r>
              <a:rPr sz="1700" spc="-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Unsubscribe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subscription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 remove.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Result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Downloader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stops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consuming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topic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·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downloaded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retained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disk.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3808" y="1557655"/>
            <a:ext cx="7678166" cy="349615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00401" y="7138796"/>
            <a:ext cx="136118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Always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consider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cleaning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up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downloads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folder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after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removing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subscription.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6453" y="1020521"/>
            <a:ext cx="4385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4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4E79"/>
                </a:solidFill>
                <a:latin typeface="Arial"/>
                <a:cs typeface="Arial"/>
              </a:rPr>
              <a:t>M</a:t>
            </a:r>
            <a:r>
              <a:rPr sz="1800" b="1" spc="-27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1F4E79"/>
                </a:solidFill>
                <a:latin typeface="Arial"/>
                <a:cs typeface="Arial"/>
              </a:rPr>
              <a:t>ET</a:t>
            </a:r>
            <a:r>
              <a:rPr sz="1800" b="1" spc="-27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1F4E79"/>
                </a:solidFill>
                <a:latin typeface="Arial"/>
                <a:cs typeface="Arial"/>
              </a:rPr>
              <a:t>AD</a:t>
            </a:r>
            <a:r>
              <a:rPr sz="1800" b="1" spc="-27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90" dirty="0">
                <a:solidFill>
                  <a:srgbClr val="1F4E79"/>
                </a:solidFill>
                <a:latin typeface="Arial"/>
                <a:cs typeface="Arial"/>
              </a:rPr>
              <a:t>AT</a:t>
            </a:r>
            <a:r>
              <a:rPr sz="1800" b="1" spc="-26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4E79"/>
                </a:solidFill>
                <a:latin typeface="Arial"/>
                <a:cs typeface="Arial"/>
              </a:rPr>
              <a:t>A</a:t>
            </a:r>
            <a:r>
              <a:rPr sz="1800" b="1" spc="49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4E79"/>
                </a:solidFill>
                <a:latin typeface="Arial"/>
                <a:cs typeface="Arial"/>
              </a:rPr>
              <a:t>M</a:t>
            </a:r>
            <a:r>
              <a:rPr sz="1800" b="1" spc="-27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1F4E79"/>
                </a:solidFill>
                <a:latin typeface="Arial"/>
                <a:cs typeface="Arial"/>
              </a:rPr>
              <a:t>AN</a:t>
            </a:r>
            <a:r>
              <a:rPr sz="1800" b="1" spc="-27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95" dirty="0">
                <a:solidFill>
                  <a:srgbClr val="1F4E79"/>
                </a:solidFill>
                <a:latin typeface="Arial"/>
                <a:cs typeface="Arial"/>
              </a:rPr>
              <a:t>AG</a:t>
            </a:r>
            <a:r>
              <a:rPr sz="1800" b="1" spc="-27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1F4E79"/>
                </a:solidFill>
                <a:latin typeface="Arial"/>
                <a:cs typeface="Arial"/>
              </a:rPr>
              <a:t>EM</a:t>
            </a:r>
            <a:r>
              <a:rPr sz="1800" b="1" spc="-27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1800" b="1" spc="120" dirty="0">
                <a:solidFill>
                  <a:srgbClr val="1F4E79"/>
                </a:solidFill>
                <a:latin typeface="Arial"/>
                <a:cs typeface="Arial"/>
              </a:rPr>
              <a:t>ENT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Reloading</a:t>
            </a:r>
            <a:r>
              <a:rPr spc="-170" dirty="0"/>
              <a:t> </a:t>
            </a:r>
            <a:r>
              <a:rPr spc="-85" dirty="0"/>
              <a:t>metadata</a:t>
            </a:r>
            <a:r>
              <a:rPr spc="-170" dirty="0"/>
              <a:t> </a:t>
            </a:r>
            <a:r>
              <a:rPr spc="-70" dirty="0"/>
              <a:t>records.</a:t>
            </a:r>
          </a:p>
        </p:txBody>
      </p:sp>
      <p:sp>
        <p:nvSpPr>
          <p:cNvPr id="4" name="object 4"/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46453" y="2648623"/>
            <a:ext cx="7731125" cy="335280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Trigger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Click</a:t>
            </a:r>
            <a:r>
              <a:rPr sz="1700" spc="-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Refresh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GDC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Settings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 tab.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Effect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Re-fetches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all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WCMP2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records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from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 configured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GDCs.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0D2841"/>
                </a:solidFill>
                <a:latin typeface="Arial"/>
                <a:cs typeface="Arial"/>
              </a:rPr>
              <a:t>Result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Catalogue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Tree</a:t>
            </a:r>
            <a:r>
              <a:rPr sz="1700" spc="-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views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refresh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·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new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datasets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become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available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immediately.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9443" y="2456697"/>
            <a:ext cx="10498072" cy="30864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2705C-2074-BF4D-D64B-62095C00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A3F6C47-A2B3-43A3-1C74-70C79A80A9E7}"/>
              </a:ext>
            </a:extLst>
          </p:cNvPr>
          <p:cNvSpPr txBox="1"/>
          <p:nvPr/>
        </p:nvSpPr>
        <p:spPr>
          <a:xfrm>
            <a:off x="1346453" y="1020521"/>
            <a:ext cx="4385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1F4E79"/>
                </a:solidFill>
                <a:latin typeface="Arial"/>
                <a:cs typeface="Arial"/>
              </a:rPr>
              <a:t>Installing wis2dowloader</a:t>
            </a:r>
            <a:r>
              <a:rPr sz="1800" b="1" spc="44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7FF7B3D0-8A2B-110F-9A9D-32A8C1E00C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90" dirty="0"/>
              <a:t>DEMO</a:t>
            </a:r>
            <a:r>
              <a:rPr spc="-70" dirty="0"/>
              <a:t>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B45A319-0ACC-E43E-2EC8-6E2C668230B8}"/>
              </a:ext>
            </a:extLst>
          </p:cNvPr>
          <p:cNvSpPr/>
          <p:nvPr/>
        </p:nvSpPr>
        <p:spPr>
          <a:xfrm>
            <a:off x="1333500" y="2361438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2000" y="0"/>
                </a:moveTo>
                <a:lnTo>
                  <a:pt x="0" y="0"/>
                </a:lnTo>
                <a:lnTo>
                  <a:pt x="0" y="38100"/>
                </a:lnTo>
                <a:lnTo>
                  <a:pt x="762000" y="38100"/>
                </a:lnTo>
                <a:lnTo>
                  <a:pt x="762000" y="0"/>
                </a:lnTo>
                <a:close/>
              </a:path>
            </a:pathLst>
          </a:custGeom>
          <a:solidFill>
            <a:srgbClr val="1FB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 descr="preencoded.png">
            <a:extLst>
              <a:ext uri="{FF2B5EF4-FFF2-40B4-BE49-F238E27FC236}">
                <a16:creationId xmlns:a16="http://schemas.microsoft.com/office/drawing/2014/main" id="{A479126D-D0DE-20B9-8C46-92BF0D7A75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8972550"/>
            <a:ext cx="2483485" cy="838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170CF2-BAB5-4A4A-C6A5-A4EC22C5563B}"/>
              </a:ext>
            </a:extLst>
          </p:cNvPr>
          <p:cNvSpPr txBox="1"/>
          <p:nvPr/>
        </p:nvSpPr>
        <p:spPr>
          <a:xfrm>
            <a:off x="1809750" y="4191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AFCED2-1051-9BF8-4635-2CC857DD1E2E}"/>
              </a:ext>
            </a:extLst>
          </p:cNvPr>
          <p:cNvSpPr txBox="1"/>
          <p:nvPr/>
        </p:nvSpPr>
        <p:spPr>
          <a:xfrm>
            <a:off x="2095500" y="3619500"/>
            <a:ext cx="13677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https://training.wis2box.wis.wmo.int/practical-sessions/setting-up-wis2-downloader</a:t>
            </a:r>
            <a:r>
              <a:rPr lang="en-US" dirty="0">
                <a:hlinkClick r:id="rId3"/>
              </a:rPr>
              <a:t>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255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40540-4FBE-582C-EE0C-19BE57BD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enter for Geospatial Solutions Home">
            <a:extLst>
              <a:ext uri="{FF2B5EF4-FFF2-40B4-BE49-F238E27FC236}">
                <a16:creationId xmlns:a16="http://schemas.microsoft.com/office/drawing/2014/main" id="{324039AB-39CE-417A-2799-0940F9F96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109" y="7917417"/>
            <a:ext cx="3185435" cy="112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C4D6130-ECB5-3B0B-B46D-0678B7647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1" y="7692389"/>
            <a:ext cx="1577816" cy="1577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A4F7F84-0D00-3B3A-D7DB-DD6999AB2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9314" y="7940464"/>
            <a:ext cx="1631156" cy="163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9">
            <a:extLst>
              <a:ext uri="{FF2B5EF4-FFF2-40B4-BE49-F238E27FC236}">
                <a16:creationId xmlns:a16="http://schemas.microsoft.com/office/drawing/2014/main" id="{0571C086-065D-49D0-5AA9-BA9F3DFBD0C3}"/>
              </a:ext>
            </a:extLst>
          </p:cNvPr>
          <p:cNvSpPr txBox="1"/>
          <p:nvPr/>
        </p:nvSpPr>
        <p:spPr>
          <a:xfrm>
            <a:off x="1234440" y="3977640"/>
            <a:ext cx="1508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685800" rtl="0">
              <a:defRPr/>
            </a:pPr>
            <a:r>
              <a:rPr lang="en-US" sz="7200" dirty="0">
                <a:solidFill>
                  <a:prstClr val="black"/>
                </a:solidFill>
                <a:latin typeface="Calibri"/>
                <a:cs typeface="Calibri"/>
              </a:rPr>
              <a:t>Thank You</a:t>
            </a:r>
            <a:endParaRPr lang="en-US" sz="6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406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806</TotalTime>
  <Words>1014</Words>
  <Application>Microsoft Office PowerPoint</Application>
  <PresentationFormat>Custom</PresentationFormat>
  <Paragraphs>218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Aptos Display</vt:lpstr>
      <vt:lpstr>Arial</vt:lpstr>
      <vt:lpstr>Arial MT</vt:lpstr>
      <vt:lpstr>Calibri</vt:lpstr>
      <vt:lpstr>Courier New</vt:lpstr>
      <vt:lpstr>Office Theme</vt:lpstr>
      <vt:lpstr>1_Office Theme</vt:lpstr>
      <vt:lpstr>2_Office Theme</vt:lpstr>
      <vt:lpstr>PowerPoint Presentation</vt:lpstr>
      <vt:lpstr>What is WIS2 Downloader?</vt:lpstr>
      <vt:lpstr>Key features.</vt:lpstr>
      <vt:lpstr>PowerPoint Presentation</vt:lpstr>
      <vt:lpstr>WIS2 Downloader Stack</vt:lpstr>
      <vt:lpstr>System requirements.</vt:lpstr>
      <vt:lpstr>Installation.</vt:lpstr>
      <vt:lpstr>First steps after launch.</vt:lpstr>
      <vt:lpstr>Web interface.</vt:lpstr>
      <vt:lpstr>Understanding WIS2 topics.</vt:lpstr>
      <vt:lpstr>How does WIS2 Downloader handle metadata?</vt:lpstr>
      <vt:lpstr>PowerPoint Presentation</vt:lpstr>
      <vt:lpstr>The Catalogue View.</vt:lpstr>
      <vt:lpstr>The Catalogue View.</vt:lpstr>
      <vt:lpstr>The Tree View.</vt:lpstr>
      <vt:lpstr>The Tree View.</vt:lpstr>
      <vt:lpstr>PowerPoint Presentation</vt:lpstr>
      <vt:lpstr>Editing subscriptions.</vt:lpstr>
      <vt:lpstr>Deleting subscriptions.</vt:lpstr>
      <vt:lpstr>Reloading metadata records.</vt:lpstr>
      <vt:lpstr>DEMO.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</dc:title>
  <dc:subject>PptxGenJS Presentation</dc:subject>
  <dc:creator>PM</dc:creator>
  <cp:lastModifiedBy>Peter Mutai</cp:lastModifiedBy>
  <cp:revision>1</cp:revision>
  <dcterms:created xsi:type="dcterms:W3CDTF">2026-09-08T15:49:45Z</dcterms:created>
  <dcterms:modified xsi:type="dcterms:W3CDTF">2026-09-14T13:09:18Z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2026-06-11T00:00:00Z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2026-09-08T00:00:00Z</vt:filetime>
  </property>
  <property fmtid="{D5CDD505-2E9C-101B-9397-08002B2CF9AE}" pid="6" name="MSIP_Label_e962d134-526b-49fe-8fc7-dd80537250d0_ContentBits">
    <vt:lpwstr>0</vt:lpwstr>
  </property>
  <property fmtid="{D5CDD505-2E9C-101B-9397-08002B2CF9AE}" pid="7" name="MSIP_Label_e962d134-526b-49fe-8fc7-dd80537250d0_Enabled">
    <vt:lpwstr>true</vt:lpwstr>
  </property>
  <property fmtid="{D5CDD505-2E9C-101B-9397-08002B2CF9AE}" pid="8" name="MSIP_Label_e962d134-526b-49fe-8fc7-dd80537250d0_Method">
    <vt:lpwstr>Standard</vt:lpwstr>
  </property>
  <property fmtid="{D5CDD505-2E9C-101B-9397-08002B2CF9AE}" pid="9" name="MSIP_Label_e962d134-526b-49fe-8fc7-dd80537250d0_SiteId">
    <vt:lpwstr>eaa6be54-4687-40c4-9827-c044bd8e8d3c</vt:lpwstr>
  </property>
  <property fmtid="{D5CDD505-2E9C-101B-9397-08002B2CF9AE}" pid="10" name="Producer">
    <vt:lpwstr>Microsoft® PowerPoint® for Microsoft 365</vt:lpwstr>
  </property>
</Properties>
</file>