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5" r:id="rId3"/>
  </p:sldMasterIdLst>
  <p:notesMasterIdLst>
    <p:notesMasterId r:id="rId21"/>
  </p:notesMasterIdLst>
  <p:sldIdLst>
    <p:sldId id="256" r:id="rId4"/>
    <p:sldId id="281" r:id="rId5"/>
    <p:sldId id="279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82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BE9B91-4E5F-4CF4-8C21-06C9E86B9926}" v="12" dt="2026-09-14T12:55:39.3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Mutai" userId="ad2e6ff7-8086-4442-9194-db39a11ea8a2" providerId="ADAL" clId="{97293C7A-97E0-4791-9794-18C6E9E639C5}"/>
    <pc:docChg chg="custSel addSld delSld modSld delMainMaster">
      <pc:chgData name="Peter Mutai" userId="ad2e6ff7-8086-4442-9194-db39a11ea8a2" providerId="ADAL" clId="{97293C7A-97E0-4791-9794-18C6E9E639C5}" dt="2026-09-14T12:58:42.773" v="46" actId="2696"/>
      <pc:docMkLst>
        <pc:docMk/>
      </pc:docMkLst>
      <pc:sldChg chg="addSp modSp add mod">
        <pc:chgData name="Peter Mutai" userId="ad2e6ff7-8086-4442-9194-db39a11ea8a2" providerId="ADAL" clId="{97293C7A-97E0-4791-9794-18C6E9E639C5}" dt="2026-09-14T12:55:05.565" v="32" actId="20577"/>
        <pc:sldMkLst>
          <pc:docMk/>
          <pc:sldMk cId="1639419396" sldId="256"/>
        </pc:sldMkLst>
        <pc:spChg chg="add mod">
          <ac:chgData name="Peter Mutai" userId="ad2e6ff7-8086-4442-9194-db39a11ea8a2" providerId="ADAL" clId="{97293C7A-97E0-4791-9794-18C6E9E639C5}" dt="2026-09-14T12:53:54.567" v="9" actId="207"/>
          <ac:spMkLst>
            <pc:docMk/>
            <pc:sldMk cId="1639419396" sldId="256"/>
            <ac:spMk id="2" creationId="{F3421A7C-DEF0-1E3A-4A69-39A8EE66A8B2}"/>
          </ac:spMkLst>
        </pc:spChg>
        <pc:spChg chg="add mod">
          <ac:chgData name="Peter Mutai" userId="ad2e6ff7-8086-4442-9194-db39a11ea8a2" providerId="ADAL" clId="{97293C7A-97E0-4791-9794-18C6E9E639C5}" dt="2026-09-14T12:54:18.292" v="11" actId="207"/>
          <ac:spMkLst>
            <pc:docMk/>
            <pc:sldMk cId="1639419396" sldId="256"/>
            <ac:spMk id="3" creationId="{F32655D0-FE85-C341-280E-4E42BAB2D242}"/>
          </ac:spMkLst>
        </pc:spChg>
        <pc:spChg chg="add mod">
          <ac:chgData name="Peter Mutai" userId="ad2e6ff7-8086-4442-9194-db39a11ea8a2" providerId="ADAL" clId="{97293C7A-97E0-4791-9794-18C6E9E639C5}" dt="2026-09-14T12:55:05.565" v="32" actId="20577"/>
          <ac:spMkLst>
            <pc:docMk/>
            <pc:sldMk cId="1639419396" sldId="256"/>
            <ac:spMk id="4" creationId="{021F5AF2-C935-D4DB-AE7D-364F4146B14D}"/>
          </ac:spMkLst>
        </pc:spChg>
        <pc:picChg chg="mod">
          <ac:chgData name="Peter Mutai" userId="ad2e6ff7-8086-4442-9194-db39a11ea8a2" providerId="ADAL" clId="{97293C7A-97E0-4791-9794-18C6E9E639C5}" dt="2026-09-14T12:53:19.584" v="3" actId="1076"/>
          <ac:picMkLst>
            <pc:docMk/>
            <pc:sldMk cId="1639419396" sldId="256"/>
            <ac:picMk id="1026" creationId="{A13028E5-D617-340D-D89A-76F63740DEB4}"/>
          </ac:picMkLst>
        </pc:picChg>
        <pc:picChg chg="mod">
          <ac:chgData name="Peter Mutai" userId="ad2e6ff7-8086-4442-9194-db39a11ea8a2" providerId="ADAL" clId="{97293C7A-97E0-4791-9794-18C6E9E639C5}" dt="2026-09-14T12:53:26.876" v="6" actId="1076"/>
          <ac:picMkLst>
            <pc:docMk/>
            <pc:sldMk cId="1639419396" sldId="256"/>
            <ac:picMk id="1028" creationId="{70CD01A1-9F7A-8794-A742-84A17B760DAC}"/>
          </ac:picMkLst>
        </pc:picChg>
        <pc:picChg chg="mod">
          <ac:chgData name="Peter Mutai" userId="ad2e6ff7-8086-4442-9194-db39a11ea8a2" providerId="ADAL" clId="{97293C7A-97E0-4791-9794-18C6E9E639C5}" dt="2026-09-14T12:53:30.877" v="7" actId="1076"/>
          <ac:picMkLst>
            <pc:docMk/>
            <pc:sldMk cId="1639419396" sldId="256"/>
            <ac:picMk id="1030" creationId="{43615567-1D62-07C5-D17D-078BEA6944BB}"/>
          </ac:picMkLst>
        </pc:picChg>
      </pc:sldChg>
      <pc:sldChg chg="del">
        <pc:chgData name="Peter Mutai" userId="ad2e6ff7-8086-4442-9194-db39a11ea8a2" providerId="ADAL" clId="{97293C7A-97E0-4791-9794-18C6E9E639C5}" dt="2026-09-14T12:58:42.773" v="46" actId="2696"/>
        <pc:sldMkLst>
          <pc:docMk/>
          <pc:sldMk cId="0" sldId="278"/>
        </pc:sldMkLst>
      </pc:sldChg>
      <pc:sldChg chg="delSp modSp add mod">
        <pc:chgData name="Peter Mutai" userId="ad2e6ff7-8086-4442-9194-db39a11ea8a2" providerId="ADAL" clId="{97293C7A-97E0-4791-9794-18C6E9E639C5}" dt="2026-09-14T12:55:59.366" v="45" actId="20577"/>
        <pc:sldMkLst>
          <pc:docMk/>
          <pc:sldMk cId="726406961" sldId="282"/>
        </pc:sldMkLst>
        <pc:spChg chg="mod">
          <ac:chgData name="Peter Mutai" userId="ad2e6ff7-8086-4442-9194-db39a11ea8a2" providerId="ADAL" clId="{97293C7A-97E0-4791-9794-18C6E9E639C5}" dt="2026-09-14T12:55:59.366" v="45" actId="20577"/>
          <ac:spMkLst>
            <pc:docMk/>
            <pc:sldMk cId="726406961" sldId="282"/>
            <ac:spMk id="2" creationId="{0571C086-065D-49D0-5AA9-BA9F3DFBD0C3}"/>
          </ac:spMkLst>
        </pc:spChg>
        <pc:spChg chg="del">
          <ac:chgData name="Peter Mutai" userId="ad2e6ff7-8086-4442-9194-db39a11ea8a2" providerId="ADAL" clId="{97293C7A-97E0-4791-9794-18C6E9E639C5}" dt="2026-09-14T12:55:45.254" v="35" actId="478"/>
          <ac:spMkLst>
            <pc:docMk/>
            <pc:sldMk cId="726406961" sldId="282"/>
            <ac:spMk id="3" creationId="{AFE40031-3F81-AD3D-09AC-4725606008F5}"/>
          </ac:spMkLst>
        </pc:spChg>
        <pc:spChg chg="del">
          <ac:chgData name="Peter Mutai" userId="ad2e6ff7-8086-4442-9194-db39a11ea8a2" providerId="ADAL" clId="{97293C7A-97E0-4791-9794-18C6E9E639C5}" dt="2026-09-14T12:55:49.880" v="36" actId="478"/>
          <ac:spMkLst>
            <pc:docMk/>
            <pc:sldMk cId="726406961" sldId="282"/>
            <ac:spMk id="4" creationId="{20C566E7-967C-10F1-50F6-D66FCDA59E2B}"/>
          </ac:spMkLst>
        </pc:spChg>
      </pc:sldChg>
      <pc:sldChg chg="del">
        <pc:chgData name="Peter Mutai" userId="ad2e6ff7-8086-4442-9194-db39a11ea8a2" providerId="ADAL" clId="{97293C7A-97E0-4791-9794-18C6E9E639C5}" dt="2026-09-14T12:55:17.905" v="33" actId="2696"/>
        <pc:sldMkLst>
          <pc:docMk/>
          <pc:sldMk cId="0" sldId="305"/>
        </pc:sldMkLst>
      </pc:sldChg>
      <pc:sldMasterChg chg="del delSldLayout">
        <pc:chgData name="Peter Mutai" userId="ad2e6ff7-8086-4442-9194-db39a11ea8a2" providerId="ADAL" clId="{97293C7A-97E0-4791-9794-18C6E9E639C5}" dt="2026-09-14T12:55:17.905" v="33" actId="2696"/>
        <pc:sldMasterMkLst>
          <pc:docMk/>
          <pc:sldMasterMk cId="1095753370" sldId="2147483672"/>
        </pc:sldMasterMkLst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3400693850" sldId="2147483673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3354754005" sldId="2147483674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673222716" sldId="2147483675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3348440742" sldId="2147483676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3794317983" sldId="2147483677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1493436615" sldId="2147483678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3217053049" sldId="2147483679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2918254470" sldId="2147483680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996370784" sldId="2147483681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2137425201" sldId="2147483682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843134917" sldId="2147483683"/>
          </pc:sldLayoutMkLst>
        </pc:sldLayoutChg>
        <pc:sldLayoutChg chg="del">
          <pc:chgData name="Peter Mutai" userId="ad2e6ff7-8086-4442-9194-db39a11ea8a2" providerId="ADAL" clId="{97293C7A-97E0-4791-9794-18C6E9E639C5}" dt="2026-09-14T12:55:17.905" v="33" actId="2696"/>
          <pc:sldLayoutMkLst>
            <pc:docMk/>
            <pc:sldMasterMk cId="1095753370" sldId="2147483672"/>
            <pc:sldLayoutMk cId="2678427120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8AE1B-B136-48D5-9679-0189BBF6104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846AF-6DB7-4467-B059-E475759E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7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173" y="-62"/>
            <a:ext cx="12188825" cy="90170"/>
          </a:xfrm>
          <a:custGeom>
            <a:avLst/>
            <a:gdLst/>
            <a:ahLst/>
            <a:cxnLst/>
            <a:rect l="l" t="t" r="r" b="b"/>
            <a:pathLst>
              <a:path w="12188825" h="90170">
                <a:moveTo>
                  <a:pt x="12188825" y="0"/>
                </a:moveTo>
                <a:lnTo>
                  <a:pt x="0" y="0"/>
                </a:lnTo>
                <a:lnTo>
                  <a:pt x="0" y="90105"/>
                </a:lnTo>
                <a:lnTo>
                  <a:pt x="12188825" y="90105"/>
                </a:lnTo>
                <a:lnTo>
                  <a:pt x="12188825" y="0"/>
                </a:lnTo>
                <a:close/>
              </a:path>
            </a:pathLst>
          </a:custGeom>
          <a:solidFill>
            <a:srgbClr val="45AB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729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07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995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375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794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192E-05BC-7370-5007-0781D8458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DEADD-FC41-678E-8BB7-B27BEF9CD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078D4-2AF8-DB81-9A05-66ED6E9B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37675-1730-9F57-C23B-DD9C2DFC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2C966-C56A-64C1-5F87-7CFFDFE5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78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17F9-452A-6F30-5137-ABEDF921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5D0C-868C-1248-4AAB-81836FAF8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1BC18-CB10-E262-9E48-FAAFE700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F3B2-DAA5-4E0A-F7A5-D71FDA49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92A2F-E8ED-A2F0-A6C3-69924DC8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25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D2E2-4BA0-E0B2-4DBB-16D74775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070D1-695A-8E67-FD18-DFC0F2102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CD334-A273-E1FA-1F16-36FF2379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A4A5-6E88-125C-93D7-127F08FA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4D1FA-4BDF-8461-0F1A-E776445D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10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67045-EB64-8B55-AF30-34BF9591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1541-5251-A7CC-83E9-A918DF69E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E532C-FFFC-8037-60EC-BDB36E68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D95A0-B8BE-A5B0-72BA-3502E4C8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5A6CF-75E9-91D8-823A-4DF130E6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A375D-DCF8-DB20-A4BC-4BF5586E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98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494B-7FC8-8E00-5BAF-36FEC7F7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5B24-DCD9-5A92-6875-494E205A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DA670-A2D2-B572-0A54-2C0BBAA8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91D31-FEE0-E055-47B9-21DC523CE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B44F0-F566-DE7F-E395-4B137036C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1CA54-9951-0F01-5D52-F86994FF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7B389-31F3-86D7-06B4-A83EFCCC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E879F-06BE-2F0B-BA03-9A828D5D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5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E0F6-8C94-09A4-41E4-439EFBDC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B8CB-1C90-03FE-D613-EEC14E5A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1D98B-2F57-579F-28BD-1D818A25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6A11F-E6E8-68B3-6F10-E32DD979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30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724FA-B941-2095-D6C9-29461079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494CF-23B4-7DB1-8857-3FC32817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1FA21-0F09-ACBF-2EB9-002E0678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30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CD965-8EC3-F5ED-4A7E-5A05F0A0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9908A-D4A2-3594-52FE-395FA3957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12EF6-4E92-9B6B-6F42-936BED604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C0AD1-CC87-4ADB-46E5-D27BCC90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AF333-001D-7458-E817-B270BDD6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A31AC-7546-0BEC-B4E2-73A50DA8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69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8692-FA58-702A-87D9-F5BF4FCB3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24496-0737-2B66-9463-82C3C0C45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DCCDF-2D7A-57D3-1110-63D75355E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C0E5E-AC76-86C8-C68C-3A193465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AC532-9444-5198-FB06-158D1924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388F-8BBE-5C33-0C42-766494B6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91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5AC5-6EF1-9C86-6FED-26995196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76280-6CFF-2D23-D642-609BF86BA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BF3B6-354C-89D4-945C-08001C33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0B76-C963-7905-C5E1-5549F0C8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7028-666C-002F-3C8A-908AE8C0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44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A7FE0-3B4B-B239-86A2-8C8F9675E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95A38-C32E-6949-49BB-D30CE4E6C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D8A45-D7E4-0ACB-CD0F-60355F94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1E59-49F8-C1BB-2F7F-360206942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135D5-ACF9-A064-223F-C169A332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1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387472"/>
            <a:ext cx="2089926" cy="24705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8372" y="78739"/>
            <a:ext cx="10539095" cy="521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6072" y="3424554"/>
            <a:ext cx="9499600" cy="222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387472"/>
            <a:ext cx="2089926" cy="24705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65019" y="71374"/>
            <a:ext cx="7005320" cy="527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9948" y="1268983"/>
            <a:ext cx="10741025" cy="401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5050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CC063-C55E-1F7D-DA40-1FF5FEFD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23345-AC0C-D6CF-076F-ECE24F505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6B052-F785-0606-AD5C-DAC73BCC6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52771-CA95-0C56-C6E2-03E682A5C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8F742-9D99-2BE2-4AFB-9A6321F29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1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s.wmo.int/wis/topic-hierarchy/_centre-id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wis2box.wis.wmo.int/en/latest/user/setup.html" TargetMode="External"/><Relationship Id="rId2" Type="http://schemas.openxmlformats.org/officeDocument/2006/relationships/hyperlink" Target="https://docs.wis2box.wis.wmo.int/en/latest/user/getting-started.html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s.wmo.int/wis/topic-hierarchy/_centre-id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hyperlink" Target="https://community.wmo.int/site/knowledge-hub/programmes-and-initiatives/wmo-information-system-wis/wis2-operational-newsletter-full-issue-list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unity.wmo.int/site/knowledge-hub/programmes-and-initiatives/wmo-information-system-wis/wis2box-newsletter-full-issue-list" TargetMode="External"/><Relationship Id="rId5" Type="http://schemas.openxmlformats.org/officeDocument/2006/relationships/hyperlink" Target="https://github.com/World-Meteorological-Organization/wis2box/issues" TargetMode="Externa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wmo-im/wis2box/tree/main/wis2box-management/wis2box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enter for Geospatial Solutions Home">
            <a:extLst>
              <a:ext uri="{FF2B5EF4-FFF2-40B4-BE49-F238E27FC236}">
                <a16:creationId xmlns:a16="http://schemas.microsoft.com/office/drawing/2014/main" id="{A13028E5-D617-340D-D89A-76F63740D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72" y="5278278"/>
            <a:ext cx="2123623" cy="75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CD01A1-9F7A-8794-A742-84A17B76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128259"/>
            <a:ext cx="1051877" cy="105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3615567-1D62-07C5-D17D-078BEA694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209" y="5293642"/>
            <a:ext cx="1087437" cy="108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F3421A7C-DEF0-1E3A-4A69-39A8EE66A8B2}"/>
              </a:ext>
            </a:extLst>
          </p:cNvPr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457200" rtl="0">
              <a:defRPr/>
            </a:pPr>
            <a:r>
              <a:rPr lang="en-US" sz="4800" dirty="0">
                <a:solidFill>
                  <a:schemeClr val="tx1"/>
                </a:solidFill>
                <a:latin typeface="Calibri"/>
                <a:cs typeface="Calibri"/>
              </a:rPr>
              <a:t>Installing</a:t>
            </a:r>
            <a:r>
              <a:rPr lang="en-US" sz="4800" spc="-1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48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z="4800" spc="-1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4800" spc="-10" dirty="0">
                <a:solidFill>
                  <a:schemeClr val="tx1"/>
                </a:solidFill>
                <a:latin typeface="Calibri"/>
                <a:cs typeface="Calibri"/>
              </a:rPr>
              <a:t>configuring</a:t>
            </a:r>
            <a:r>
              <a:rPr lang="en-US" sz="4800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4800" spc="-10" dirty="0">
                <a:solidFill>
                  <a:schemeClr val="tx1"/>
                </a:solidFill>
                <a:latin typeface="Calibri"/>
                <a:cs typeface="Calibri"/>
              </a:rPr>
              <a:t>wis2box</a:t>
            </a:r>
            <a:endParaRPr lang="en-US" sz="460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F32655D0-FE85-C341-280E-4E42BAB2D242}"/>
              </a:ext>
            </a:extLst>
          </p:cNvPr>
          <p:cNvSpPr txBox="1"/>
          <p:nvPr/>
        </p:nvSpPr>
        <p:spPr>
          <a:xfrm>
            <a:off x="822960" y="36118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457200" rtl="0">
              <a:lnSpc>
                <a:spcPct val="125000"/>
              </a:lnSpc>
              <a:defRPr/>
            </a:pPr>
            <a:r>
              <a:rPr lang="en-US" sz="165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Mutai</a:t>
            </a:r>
          </a:p>
          <a:p>
            <a:pPr algn="l" defTabSz="457200" rtl="0">
              <a:lnSpc>
                <a:spcPct val="125000"/>
              </a:lnSpc>
              <a:defRPr/>
            </a:pPr>
            <a:r>
              <a:rPr lang="en-US" sz="165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Meteorological Service Authority</a:t>
            </a:r>
            <a:endParaRPr lang="en-US" sz="16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021F5AF2-C935-D4DB-AE7D-364F4146B14D}"/>
              </a:ext>
            </a:extLst>
          </p:cNvPr>
          <p:cNvSpPr txBox="1"/>
          <p:nvPr/>
        </p:nvSpPr>
        <p:spPr>
          <a:xfrm>
            <a:off x="813816" y="4605099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457200" rtl="0">
              <a:defRPr/>
            </a:pPr>
            <a:r>
              <a:rPr lang="en-US" sz="1250" spc="200" dirty="0">
                <a:solidFill>
                  <a:srgbClr val="8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</a:t>
            </a:r>
            <a:r>
              <a:rPr lang="en-US" sz="1250" spc="200" baseline="30000" dirty="0">
                <a:solidFill>
                  <a:srgbClr val="8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50" spc="200" dirty="0">
                <a:solidFill>
                  <a:srgbClr val="8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SEPTEMBER 2026</a:t>
            </a:r>
          </a:p>
          <a:p>
            <a:pPr algn="l" defTabSz="457200" rtl="0">
              <a:defRPr/>
            </a:pP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41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200"/>
            <a:ext cx="12198350" cy="741045"/>
            <a:chOff x="-3175" y="-3200"/>
            <a:chExt cx="12198350" cy="74104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setup</a:t>
            </a:r>
            <a:r>
              <a:rPr spc="-5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WIS2</a:t>
            </a:r>
            <a:r>
              <a:rPr spc="-4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spc="-10" dirty="0"/>
              <a:t>wis2box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6944" y="846175"/>
            <a:ext cx="11584305" cy="3709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marR="881380" lvl="0" indent="0" defTabSz="914400" eaLnBrk="1" fontAlgn="auto" latinLnBrk="0" hangingPunct="1">
              <a:lnSpc>
                <a:spcPct val="1315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fresh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installation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of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wis2box</a:t>
            </a:r>
            <a:r>
              <a:rPr kumimoji="0" sz="20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will</a:t>
            </a:r>
            <a:r>
              <a:rPr kumimoji="0" sz="20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have</a:t>
            </a:r>
            <a:r>
              <a:rPr kumimoji="0" sz="2000" b="0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all</a:t>
            </a:r>
            <a:r>
              <a:rPr kumimoji="0" sz="20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required</a:t>
            </a:r>
            <a:r>
              <a:rPr kumimoji="0" sz="2000" b="0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services</a:t>
            </a:r>
            <a:r>
              <a:rPr kumimoji="0" sz="2000" b="0" i="0" u="none" strike="noStrike" kern="0" cap="none" spc="-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running</a:t>
            </a:r>
            <a:r>
              <a:rPr kumimoji="0" sz="2000" b="0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start</a:t>
            </a:r>
            <a:r>
              <a:rPr kumimoji="0" sz="20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function</a:t>
            </a:r>
            <a:r>
              <a:rPr kumimoji="0" sz="20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as</a:t>
            </a:r>
            <a:r>
              <a:rPr kumimoji="0" sz="2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wis2box 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Before</a:t>
            </a:r>
            <a:r>
              <a:rPr kumimoji="0" sz="2000" b="0" i="0" u="none" strike="noStrike" kern="0" cap="none" spc="-14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your</a:t>
            </a:r>
            <a:r>
              <a:rPr kumimoji="0" sz="2000" b="0" i="0" u="none" strike="noStrike" kern="0" cap="none" spc="-13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wis2box</a:t>
            </a:r>
            <a:r>
              <a:rPr kumimoji="0" sz="2000" b="0" i="0" u="none" strike="noStrike" kern="0" cap="none" spc="-12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can</a:t>
            </a:r>
            <a:r>
              <a:rPr kumimoji="0" sz="2000" b="0" i="0" u="none" strike="noStrike" kern="0" cap="none" spc="-14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publish</a:t>
            </a:r>
            <a:r>
              <a:rPr kumimoji="0" sz="2000" b="0" i="0" u="none" strike="noStrike" kern="0" cap="none" spc="-114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anything</a:t>
            </a:r>
            <a:r>
              <a:rPr kumimoji="0" sz="2000" b="0" i="0" u="none" strike="noStrike" kern="0" cap="none" spc="-14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you</a:t>
            </a:r>
            <a:r>
              <a:rPr kumimoji="0" sz="2000" b="0" i="0" u="none" strike="noStrike" kern="0" cap="none" spc="-1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must</a:t>
            </a:r>
            <a:r>
              <a:rPr kumimoji="0" sz="2000" b="0" i="0" u="none" strike="noStrike" kern="0" cap="none" spc="-12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-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define</a:t>
            </a:r>
            <a:r>
              <a:rPr kumimoji="0" sz="2000" b="1" i="0" u="sng" strike="noStrike" kern="0" cap="none" spc="-12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some</a:t>
            </a:r>
            <a:r>
              <a:rPr kumimoji="0" sz="2000" b="1" i="0" u="sng" strike="noStrike" kern="0" cap="none" spc="-13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datasets</a:t>
            </a:r>
            <a:r>
              <a:rPr kumimoji="0" sz="2000" b="1" i="0" u="sng" strike="noStrike" kern="0" cap="none" spc="-12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 </a:t>
            </a:r>
            <a:r>
              <a:rPr kumimoji="0" sz="2000" b="1" i="0" u="sng" strike="noStrike" kern="0" cap="none" spc="-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474980" marR="0" lvl="0" indent="-226695" defTabSz="914400" eaLnBrk="1" fontAlgn="auto" latinLnBrk="0" hangingPunct="1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47498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Using</a:t>
            </a:r>
            <a:r>
              <a:rPr kumimoji="0" sz="2000" b="0" i="0" u="none" strike="noStrike" kern="0" cap="none" spc="3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0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dataset-</a:t>
            </a:r>
            <a:r>
              <a:rPr kumimoji="0" sz="2000" b="1" i="0" u="none" strike="noStrike" kern="0" cap="none" spc="-6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editor</a:t>
            </a:r>
            <a:r>
              <a:rPr kumimoji="0" sz="2000" b="1" i="0" u="none" strike="noStrike" kern="0" cap="none" spc="-16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0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wis2box-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webapp,</a:t>
            </a:r>
            <a:r>
              <a:rPr kumimoji="0" sz="2000" b="0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or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474980" marR="0" lvl="0" indent="-226695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47498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Using</a:t>
            </a:r>
            <a:r>
              <a:rPr kumimoji="0" sz="20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MCF</a:t>
            </a:r>
            <a:r>
              <a:rPr kumimoji="0" sz="20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file</a:t>
            </a:r>
            <a:r>
              <a:rPr kumimoji="0" sz="20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(YAML)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with</a:t>
            </a:r>
            <a:r>
              <a:rPr kumimoji="0" sz="20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CLI</a:t>
            </a:r>
            <a:r>
              <a:rPr kumimoji="0" sz="20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main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container:</a:t>
            </a:r>
            <a:r>
              <a:rPr kumimoji="0" sz="20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wis2box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dataset</a:t>
            </a:r>
            <a:r>
              <a:rPr kumimoji="0" sz="20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publish</a:t>
            </a:r>
            <a:r>
              <a:rPr kumimoji="0" sz="2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&lt;mcf-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file&gt;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1" i="0" u="none" strike="noStrike" kern="0" cap="none" spc="-1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wis2box-instance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becomes</a:t>
            </a:r>
            <a:r>
              <a:rPr kumimoji="0" sz="2000" b="1" i="0" u="none" strike="noStrike" kern="0" cap="none" spc="-1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1" i="0" u="none" strike="noStrike" kern="0" cap="none" spc="-1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WIS2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Node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completing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1" i="0" u="none" strike="noStrike" kern="0" cap="none" spc="-7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sng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WIS2</a:t>
            </a:r>
            <a:r>
              <a:rPr kumimoji="0" sz="2000" b="1" i="0" u="sng" strike="noStrike" kern="0" cap="none" spc="-3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0" u="sng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Node</a:t>
            </a:r>
            <a:r>
              <a:rPr kumimoji="0" sz="2000" b="1" i="0" u="sng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 Registration</a:t>
            </a:r>
            <a:r>
              <a:rPr kumimoji="0" sz="2000" b="1" i="0" u="sng" strike="noStrike" kern="0" cap="none" spc="-4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0" u="sng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process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5600" marR="127635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56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WMO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Member’s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“National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Focal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Matters”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register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Node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providing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centre-id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MQTT-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endpoint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6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wis2box-instance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host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multiple</a:t>
            </a: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Nodes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wis2box-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instance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centre-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ids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Global</a:t>
            </a:r>
            <a:r>
              <a:rPr kumimoji="0" sz="1600" b="0" i="0" u="none" strike="noStrike" kern="0" cap="none" spc="-10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Brokers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subscribe</a:t>
            </a:r>
            <a:r>
              <a:rPr kumimoji="0" sz="1600" b="0" i="0" u="none" strike="noStrike" kern="0" cap="none" spc="-9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1600" b="0" i="0" u="none" strike="noStrike" kern="0" cap="none" spc="-9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registered</a:t>
            </a:r>
            <a:r>
              <a:rPr kumimoji="0" sz="1600" b="0" i="0" u="none" strike="noStrike" kern="0" cap="none" spc="-7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MQTT-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endpoints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7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at</a:t>
            </a:r>
            <a:r>
              <a:rPr kumimoji="0" sz="1600" b="0" i="0" u="none" strike="noStrike" kern="0" cap="none" spc="-12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8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origin/a/wis2/&lt;centre-</a:t>
            </a: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id&gt;/#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and</a:t>
            </a:r>
            <a:r>
              <a:rPr kumimoji="0" sz="1600" b="0" i="0" u="none" strike="noStrike" kern="0" cap="none" spc="-9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re-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publish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all</a:t>
            </a:r>
            <a:r>
              <a:rPr kumimoji="0" sz="1600" b="0" i="0" u="none" strike="noStrike" kern="0" cap="none" spc="-10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valid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MQTT</a:t>
            </a: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0F42D2"/>
                </a:solidFill>
                <a:effectLst/>
                <a:uLnTx/>
                <a:uFillTx/>
                <a:latin typeface="Trebuchet MS"/>
                <a:cs typeface="Trebuchet MS"/>
              </a:rPr>
              <a:t>notifications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64766" y="4612385"/>
            <a:ext cx="10127615" cy="2235835"/>
            <a:chOff x="2064766" y="4612385"/>
            <a:chExt cx="10127615" cy="2235835"/>
          </a:xfrm>
        </p:grpSpPr>
        <p:pic>
          <p:nvPicPr>
            <p:cNvPr id="8" name="object 8" descr="A screenshot of a computer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0960" y="4612385"/>
              <a:ext cx="7575620" cy="16720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64766" y="6263290"/>
              <a:ext cx="10127615" cy="584835"/>
            </a:xfrm>
            <a:custGeom>
              <a:avLst/>
              <a:gdLst/>
              <a:ahLst/>
              <a:cxnLst/>
              <a:rect l="l" t="t" r="r" b="b"/>
              <a:pathLst>
                <a:path w="10127615" h="584834">
                  <a:moveTo>
                    <a:pt x="10127234" y="0"/>
                  </a:moveTo>
                  <a:lnTo>
                    <a:pt x="0" y="0"/>
                  </a:lnTo>
                  <a:lnTo>
                    <a:pt x="0" y="584771"/>
                  </a:lnTo>
                  <a:lnTo>
                    <a:pt x="10127234" y="584771"/>
                  </a:lnTo>
                  <a:lnTo>
                    <a:pt x="10127234" y="0"/>
                  </a:lnTo>
                  <a:close/>
                </a:path>
              </a:pathLst>
            </a:custGeom>
            <a:solidFill>
              <a:srgbClr val="DCEA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43760" y="6282334"/>
            <a:ext cx="99244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centre-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id</a:t>
            </a:r>
            <a:r>
              <a:rPr kumimoji="0" sz="16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along</a:t>
            </a:r>
            <a:r>
              <a:rPr kumimoji="0" sz="16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with</a:t>
            </a:r>
            <a:r>
              <a:rPr kumimoji="0" sz="16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16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centre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description</a:t>
            </a:r>
            <a:r>
              <a:rPr kumimoji="0" sz="16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16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recorded</a:t>
            </a:r>
            <a:r>
              <a:rPr kumimoji="0" sz="16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16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6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WMO</a:t>
            </a:r>
            <a:r>
              <a:rPr kumimoji="0" sz="16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Codes</a:t>
            </a:r>
            <a:r>
              <a:rPr kumimoji="0" sz="16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Registry</a:t>
            </a:r>
            <a:r>
              <a:rPr kumimoji="0" sz="16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16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</a:t>
            </a:r>
            <a:r>
              <a:rPr kumimoji="0" sz="16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Topic</a:t>
            </a:r>
            <a:r>
              <a:rPr kumimoji="0" sz="16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Hierarchy: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1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https://codes.wmo.int/wis/topic-</a:t>
            </a:r>
            <a:r>
              <a:rPr kumimoji="0" sz="1600" b="1" i="1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hierarchy/_centre-</a:t>
            </a:r>
            <a:r>
              <a:rPr kumimoji="0" sz="1600" b="1" i="1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id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pic>
        <p:nvPicPr>
          <p:cNvPr id="11" name="object 11" descr="Validation - Free files and folders icon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86074" y="2587997"/>
            <a:ext cx="725034" cy="7250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200"/>
            <a:ext cx="12198350" cy="741045"/>
            <a:chOff x="-3175" y="-3200"/>
            <a:chExt cx="12198350" cy="74104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setup</a:t>
            </a:r>
            <a:r>
              <a:rPr spc="-5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WIS2</a:t>
            </a:r>
            <a:r>
              <a:rPr spc="-4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spc="-10" dirty="0"/>
              <a:t>wis2box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0221" y="1071448"/>
            <a:ext cx="73228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Step</a:t>
            </a:r>
            <a:r>
              <a:rPr kumimoji="0" sz="2200" b="1" i="1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1:</a:t>
            </a:r>
            <a:r>
              <a:rPr kumimoji="0" sz="2200" b="1" i="1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Find</a:t>
            </a:r>
            <a:r>
              <a:rPr kumimoji="0" sz="2200" b="1" i="0" u="none" strike="noStrike" kern="0" cap="none" spc="-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200" b="1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host</a:t>
            </a:r>
            <a:r>
              <a:rPr kumimoji="0" sz="2200" b="1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that</a:t>
            </a:r>
            <a:r>
              <a:rPr kumimoji="0" sz="2200" b="1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can</a:t>
            </a:r>
            <a:r>
              <a:rPr kumimoji="0" sz="2200" b="1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be</a:t>
            </a:r>
            <a:r>
              <a:rPr kumimoji="0" sz="2200" b="1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routed</a:t>
            </a:r>
            <a:r>
              <a:rPr kumimoji="0" sz="2200" b="1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200" b="1" i="0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be</a:t>
            </a:r>
            <a:r>
              <a:rPr kumimoji="0" sz="2200" b="1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public</a:t>
            </a:r>
            <a:r>
              <a:rPr kumimoji="0" sz="2200" b="1" i="0" u="none" strike="noStrike" kern="0" cap="none" spc="-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internet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4821" y="1279277"/>
            <a:ext cx="9380855" cy="111061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Recommended</a:t>
            </a:r>
            <a:r>
              <a:rPr kumimoji="0" sz="22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options: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89230" marR="0" lvl="0" indent="-15113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189230" algn="l"/>
              </a:tabLst>
              <a:defRPr/>
            </a:pPr>
            <a:r>
              <a:rPr kumimoji="0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Virtual</a:t>
            </a:r>
            <a:r>
              <a:rPr kumimoji="0" sz="22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Machine</a:t>
            </a:r>
            <a:r>
              <a:rPr kumimoji="0" sz="22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</a:t>
            </a:r>
            <a:r>
              <a:rPr kumimoji="0" sz="2200" b="0" i="0" u="none" strike="noStrike" kern="0" cap="none" spc="-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your</a:t>
            </a:r>
            <a:r>
              <a:rPr kumimoji="0" sz="22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local</a:t>
            </a:r>
            <a:r>
              <a:rPr kumimoji="0" sz="2200" b="0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data-centre</a:t>
            </a:r>
            <a:r>
              <a:rPr kumimoji="0" sz="22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(same</a:t>
            </a:r>
            <a:r>
              <a:rPr kumimoji="0" sz="22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place</a:t>
            </a:r>
            <a:r>
              <a:rPr kumimoji="0" sz="2200" b="0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as</a:t>
            </a:r>
            <a:r>
              <a:rPr kumimoji="0" sz="22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other</a:t>
            </a:r>
            <a:r>
              <a:rPr kumimoji="0" sz="22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web</a:t>
            </a:r>
            <a:r>
              <a:rPr kumimoji="0" sz="22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services)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89230" marR="0" lvl="0" indent="-15113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189230" algn="l"/>
              </a:tabLst>
              <a:defRPr/>
            </a:pPr>
            <a:r>
              <a:rPr kumimoji="0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Virtual</a:t>
            </a:r>
            <a:r>
              <a:rPr kumimoji="0" sz="22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Machine</a:t>
            </a:r>
            <a:r>
              <a:rPr kumimoji="0" sz="22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provided</a:t>
            </a:r>
            <a:r>
              <a:rPr kumimoji="0" sz="22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by</a:t>
            </a:r>
            <a:r>
              <a:rPr kumimoji="0" sz="2200" b="0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2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3</a:t>
            </a:r>
            <a:r>
              <a:rPr kumimoji="0" sz="2175" b="0" i="0" u="none" strike="noStrike" kern="0" cap="none" spc="0" normalizeH="0" baseline="2490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rd</a:t>
            </a:r>
            <a:r>
              <a:rPr kumimoji="0" sz="2175" b="0" i="0" u="none" strike="noStrike" kern="0" cap="none" spc="60" normalizeH="0" baseline="24904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party</a:t>
            </a:r>
            <a:r>
              <a:rPr kumimoji="0" sz="22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(a.k.a.</a:t>
            </a:r>
            <a:r>
              <a:rPr kumimoji="0" sz="2200" b="0" i="0" u="none" strike="noStrike" kern="0" cap="none" spc="-2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“Cloud”)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0221" y="2626309"/>
            <a:ext cx="8302625" cy="5956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70000"/>
              </a:lnSpc>
              <a:spcBef>
                <a:spcPts val="8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Step</a:t>
            </a:r>
            <a:r>
              <a:rPr kumimoji="0" sz="2200" b="1" i="1" u="none" strike="noStrike" kern="0" cap="none" spc="-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2:</a:t>
            </a:r>
            <a:r>
              <a:rPr kumimoji="0" sz="2200" b="1" i="1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Setup</a:t>
            </a:r>
            <a:r>
              <a:rPr kumimoji="0" sz="2200" b="1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your</a:t>
            </a:r>
            <a:r>
              <a:rPr kumimoji="0" sz="2200" b="1" i="0" u="none" strike="noStrike" kern="0" cap="none" spc="-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host</a:t>
            </a:r>
            <a:r>
              <a:rPr kumimoji="0" sz="2200" b="1" i="0" u="none" strike="noStrike" kern="0" cap="none" spc="-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according</a:t>
            </a:r>
            <a:r>
              <a:rPr kumimoji="0" sz="2200" b="1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200" b="1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wis2box</a:t>
            </a:r>
            <a:r>
              <a:rPr kumimoji="0" sz="2200" b="1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requirements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: </a:t>
            </a:r>
            <a:r>
              <a:rPr kumimoji="0" sz="2200" b="0" i="0" u="sng" strike="noStrike" kern="0" cap="none" spc="-1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2"/>
              </a:rPr>
              <a:t>https://docs.wis2box.wis.wmo.int/en/latest/user/getting-</a:t>
            </a:r>
            <a:r>
              <a:rPr kumimoji="0" sz="22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2"/>
              </a:rPr>
              <a:t>started.html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0221" y="5266690"/>
            <a:ext cx="7208520" cy="594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24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Step</a:t>
            </a:r>
            <a:r>
              <a:rPr kumimoji="0" sz="2200" b="1" i="1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1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3:</a:t>
            </a:r>
            <a:r>
              <a:rPr kumimoji="0" sz="2200" b="1" i="1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Install</a:t>
            </a:r>
            <a:r>
              <a:rPr kumimoji="0" sz="2200" b="1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and</a:t>
            </a:r>
            <a:r>
              <a:rPr kumimoji="0" sz="2200" b="1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setup</a:t>
            </a:r>
            <a:r>
              <a:rPr kumimoji="0" sz="2200" b="1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wis2box</a:t>
            </a:r>
            <a:r>
              <a:rPr kumimoji="0" sz="2200" b="1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on</a:t>
            </a:r>
            <a:r>
              <a:rPr kumimoji="0" sz="2200" b="1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your</a:t>
            </a:r>
            <a:r>
              <a:rPr kumimoji="0" sz="2200" b="1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host: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12700" marR="0" lvl="0" indent="0" defTabSz="91440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https://docs.wis2box.wis.wmo.int/en/latest/user/setup.html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164" y="3232657"/>
            <a:ext cx="8571230" cy="205727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3832" y="1635077"/>
            <a:ext cx="1603739" cy="10943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32945" y="6558915"/>
            <a:ext cx="5841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5"/>
              </a:lnSpc>
            </a:pPr>
            <a:r>
              <a:rPr sz="900" spc="-50" dirty="0"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927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setup</a:t>
            </a:r>
            <a:r>
              <a:rPr spc="-5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WIS2</a:t>
            </a:r>
            <a:r>
              <a:rPr spc="-4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spc="-10" dirty="0"/>
              <a:t>wis2box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6944" y="800455"/>
            <a:ext cx="11584305" cy="375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 marR="977900">
              <a:lnSpc>
                <a:spcPct val="131500"/>
              </a:lnSpc>
              <a:spcBef>
                <a:spcPts val="100"/>
              </a:spcBef>
            </a:pPr>
            <a:r>
              <a:rPr sz="2000" dirty="0">
                <a:solidFill>
                  <a:srgbClr val="6FAC46"/>
                </a:solidFill>
                <a:latin typeface="Trebuchet MS"/>
                <a:cs typeface="Trebuchet MS"/>
              </a:rPr>
              <a:t>A</a:t>
            </a:r>
            <a:r>
              <a:rPr sz="2000" spc="-17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6FAC46"/>
                </a:solidFill>
                <a:latin typeface="Trebuchet MS"/>
                <a:cs typeface="Trebuchet MS"/>
              </a:rPr>
              <a:t>fresh</a:t>
            </a:r>
            <a:r>
              <a:rPr sz="2000" spc="-17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6FAC46"/>
                </a:solidFill>
                <a:latin typeface="Trebuchet MS"/>
                <a:cs typeface="Trebuchet MS"/>
              </a:rPr>
              <a:t>installation</a:t>
            </a:r>
            <a:r>
              <a:rPr sz="2000" spc="-17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6FAC46"/>
                </a:solidFill>
                <a:latin typeface="Trebuchet MS"/>
                <a:cs typeface="Trebuchet MS"/>
              </a:rPr>
              <a:t>of</a:t>
            </a:r>
            <a:r>
              <a:rPr sz="2000" spc="-17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6FAC46"/>
                </a:solidFill>
                <a:latin typeface="Trebuchet MS"/>
                <a:cs typeface="Trebuchet MS"/>
              </a:rPr>
              <a:t>wis2box</a:t>
            </a:r>
            <a:r>
              <a:rPr sz="2000" spc="-17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6FAC46"/>
                </a:solidFill>
                <a:latin typeface="Trebuchet MS"/>
                <a:cs typeface="Trebuchet MS"/>
              </a:rPr>
              <a:t>will</a:t>
            </a:r>
            <a:r>
              <a:rPr sz="2000" spc="-16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6FAC46"/>
                </a:solidFill>
                <a:latin typeface="Trebuchet MS"/>
                <a:cs typeface="Trebuchet MS"/>
              </a:rPr>
              <a:t>have</a:t>
            </a:r>
            <a:r>
              <a:rPr sz="2000" spc="-18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6FAC46"/>
                </a:solidFill>
                <a:latin typeface="Trebuchet MS"/>
                <a:cs typeface="Trebuchet MS"/>
              </a:rPr>
              <a:t>all</a:t>
            </a:r>
            <a:r>
              <a:rPr sz="2000" spc="-16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6FAC46"/>
                </a:solidFill>
                <a:latin typeface="Trebuchet MS"/>
                <a:cs typeface="Trebuchet MS"/>
              </a:rPr>
              <a:t>required</a:t>
            </a:r>
            <a:r>
              <a:rPr sz="2000" spc="-18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FAC46"/>
                </a:solidFill>
                <a:latin typeface="Trebuchet MS"/>
                <a:cs typeface="Trebuchet MS"/>
              </a:rPr>
              <a:t>services</a:t>
            </a:r>
            <a:r>
              <a:rPr sz="2000" spc="-19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6FAC46"/>
                </a:solidFill>
                <a:latin typeface="Trebuchet MS"/>
                <a:cs typeface="Trebuchet MS"/>
              </a:rPr>
              <a:t>running</a:t>
            </a:r>
            <a:r>
              <a:rPr sz="2000" spc="-18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6FAC46"/>
                </a:solidFill>
                <a:latin typeface="Trebuchet MS"/>
                <a:cs typeface="Trebuchet MS"/>
              </a:rPr>
              <a:t>to</a:t>
            </a:r>
            <a:r>
              <a:rPr sz="2000" spc="-17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6FAC46"/>
                </a:solidFill>
                <a:latin typeface="Trebuchet MS"/>
                <a:cs typeface="Trebuchet MS"/>
              </a:rPr>
              <a:t>start</a:t>
            </a:r>
            <a:r>
              <a:rPr sz="2000" spc="-15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6FAC46"/>
                </a:solidFill>
                <a:latin typeface="Trebuchet MS"/>
                <a:cs typeface="Trebuchet MS"/>
              </a:rPr>
              <a:t>function</a:t>
            </a:r>
            <a:r>
              <a:rPr sz="2000" spc="-17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6FAC46"/>
                </a:solidFill>
                <a:latin typeface="Trebuchet MS"/>
                <a:cs typeface="Trebuchet MS"/>
              </a:rPr>
              <a:t>as</a:t>
            </a:r>
            <a:r>
              <a:rPr sz="2000" spc="-16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FAC46"/>
                </a:solidFill>
                <a:latin typeface="Trebuchet MS"/>
                <a:cs typeface="Trebuchet MS"/>
              </a:rPr>
              <a:t>wis2box </a:t>
            </a:r>
            <a:r>
              <a:rPr sz="2000" spc="-55" dirty="0">
                <a:solidFill>
                  <a:srgbClr val="0033CC"/>
                </a:solidFill>
                <a:latin typeface="Trebuchet MS"/>
                <a:cs typeface="Trebuchet MS"/>
              </a:rPr>
              <a:t>Before</a:t>
            </a:r>
            <a:r>
              <a:rPr sz="2000" spc="-14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0033CC"/>
                </a:solidFill>
                <a:latin typeface="Trebuchet MS"/>
                <a:cs typeface="Trebuchet MS"/>
              </a:rPr>
              <a:t>your</a:t>
            </a:r>
            <a:r>
              <a:rPr sz="2000" spc="-13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Trebuchet MS"/>
                <a:cs typeface="Trebuchet MS"/>
              </a:rPr>
              <a:t>wis2box</a:t>
            </a:r>
            <a:r>
              <a:rPr sz="2000" spc="-13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33CC"/>
                </a:solidFill>
                <a:latin typeface="Trebuchet MS"/>
                <a:cs typeface="Trebuchet MS"/>
              </a:rPr>
              <a:t>can</a:t>
            </a:r>
            <a:r>
              <a:rPr sz="2000" spc="-14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33CC"/>
                </a:solidFill>
                <a:latin typeface="Trebuchet MS"/>
                <a:cs typeface="Trebuchet MS"/>
              </a:rPr>
              <a:t>publish</a:t>
            </a:r>
            <a:r>
              <a:rPr sz="2000" spc="-13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0033CC"/>
                </a:solidFill>
                <a:latin typeface="Trebuchet MS"/>
                <a:cs typeface="Trebuchet MS"/>
              </a:rPr>
              <a:t>anything</a:t>
            </a:r>
            <a:r>
              <a:rPr sz="2000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0033CC"/>
                </a:solidFill>
                <a:latin typeface="Trebuchet MS"/>
                <a:cs typeface="Trebuchet MS"/>
              </a:rPr>
              <a:t>you</a:t>
            </a:r>
            <a:r>
              <a:rPr sz="2000" spc="-14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33CC"/>
                </a:solidFill>
                <a:latin typeface="Trebuchet MS"/>
                <a:cs typeface="Trebuchet MS"/>
              </a:rPr>
              <a:t>must</a:t>
            </a:r>
            <a:r>
              <a:rPr sz="2000" spc="-10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u="sng" spc="-5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define</a:t>
            </a:r>
            <a:r>
              <a:rPr sz="2000" b="1" u="sng" spc="-12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some</a:t>
            </a:r>
            <a:r>
              <a:rPr sz="2000" b="1" u="sng" spc="-13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datasets</a:t>
            </a:r>
            <a:r>
              <a:rPr sz="2000" b="1" u="sng" spc="-12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spc="-5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156845">
              <a:lnSpc>
                <a:spcPct val="100000"/>
              </a:lnSpc>
              <a:spcBef>
                <a:spcPts val="765"/>
              </a:spcBef>
            </a:pPr>
            <a:r>
              <a:rPr sz="2000" dirty="0">
                <a:solidFill>
                  <a:srgbClr val="6FAC46"/>
                </a:solidFill>
                <a:latin typeface="Trebuchet MS"/>
                <a:cs typeface="Trebuchet MS"/>
              </a:rPr>
              <a:t>Using</a:t>
            </a:r>
            <a:r>
              <a:rPr sz="2000" spc="32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6FAC46"/>
                </a:solidFill>
                <a:latin typeface="Trebuchet MS"/>
                <a:cs typeface="Trebuchet MS"/>
              </a:rPr>
              <a:t>the</a:t>
            </a:r>
            <a:r>
              <a:rPr sz="2000" spc="-14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rebuchet MS"/>
                <a:cs typeface="Trebuchet MS"/>
              </a:rPr>
              <a:t>dataset-</a:t>
            </a:r>
            <a:r>
              <a:rPr sz="2000" b="1" spc="-60" dirty="0">
                <a:solidFill>
                  <a:srgbClr val="0033CC"/>
                </a:solidFill>
                <a:latin typeface="Trebuchet MS"/>
                <a:cs typeface="Trebuchet MS"/>
              </a:rPr>
              <a:t>editor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6FAC46"/>
                </a:solidFill>
                <a:latin typeface="Trebuchet MS"/>
                <a:cs typeface="Trebuchet MS"/>
              </a:rPr>
              <a:t>in</a:t>
            </a:r>
            <a:r>
              <a:rPr sz="2000" spc="-16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6FAC46"/>
                </a:solidFill>
                <a:latin typeface="Trebuchet MS"/>
                <a:cs typeface="Trebuchet MS"/>
              </a:rPr>
              <a:t>the</a:t>
            </a:r>
            <a:r>
              <a:rPr sz="2000" spc="-14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6FAC46"/>
                </a:solidFill>
                <a:latin typeface="Trebuchet MS"/>
                <a:cs typeface="Trebuchet MS"/>
              </a:rPr>
              <a:t>wis2box-</a:t>
            </a:r>
            <a:r>
              <a:rPr sz="2000" spc="-55" dirty="0">
                <a:solidFill>
                  <a:srgbClr val="6FAC46"/>
                </a:solidFill>
                <a:latin typeface="Trebuchet MS"/>
                <a:cs typeface="Trebuchet MS"/>
              </a:rPr>
              <a:t>webapp,</a:t>
            </a:r>
            <a:r>
              <a:rPr sz="2000" spc="-18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6FAC46"/>
                </a:solidFill>
                <a:latin typeface="Trebuchet MS"/>
                <a:cs typeface="Trebuchet MS"/>
              </a:rPr>
              <a:t>or</a:t>
            </a:r>
            <a:endParaRPr sz="2000">
              <a:latin typeface="Trebuchet MS"/>
              <a:cs typeface="Trebuchet MS"/>
            </a:endParaRPr>
          </a:p>
          <a:p>
            <a:pPr marL="156845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6FAC46"/>
                </a:solidFill>
                <a:latin typeface="Trebuchet MS"/>
                <a:cs typeface="Trebuchet MS"/>
              </a:rPr>
              <a:t>Using</a:t>
            </a:r>
            <a:r>
              <a:rPr sz="2000" spc="-17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6FAC46"/>
                </a:solidFill>
                <a:latin typeface="Trebuchet MS"/>
                <a:cs typeface="Trebuchet MS"/>
              </a:rPr>
              <a:t>MCF</a:t>
            </a:r>
            <a:r>
              <a:rPr sz="2000" spc="-16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6FAC46"/>
                </a:solidFill>
                <a:latin typeface="Trebuchet MS"/>
                <a:cs typeface="Trebuchet MS"/>
              </a:rPr>
              <a:t>file</a:t>
            </a:r>
            <a:r>
              <a:rPr sz="2000" spc="-15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6FAC46"/>
                </a:solidFill>
                <a:latin typeface="Trebuchet MS"/>
                <a:cs typeface="Trebuchet MS"/>
              </a:rPr>
              <a:t>(YAML)</a:t>
            </a:r>
            <a:r>
              <a:rPr sz="2000" spc="-16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6FAC46"/>
                </a:solidFill>
                <a:latin typeface="Trebuchet MS"/>
                <a:cs typeface="Trebuchet MS"/>
              </a:rPr>
              <a:t>with</a:t>
            </a:r>
            <a:r>
              <a:rPr sz="2000" spc="-16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FAC46"/>
                </a:solidFill>
                <a:latin typeface="Trebuchet MS"/>
                <a:cs typeface="Trebuchet MS"/>
              </a:rPr>
              <a:t>CLI</a:t>
            </a:r>
            <a:r>
              <a:rPr sz="2000" spc="29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6FAC46"/>
                </a:solidFill>
                <a:latin typeface="Trebuchet MS"/>
                <a:cs typeface="Trebuchet MS"/>
              </a:rPr>
              <a:t>in</a:t>
            </a:r>
            <a:r>
              <a:rPr sz="2000" spc="-16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6FAC46"/>
                </a:solidFill>
                <a:latin typeface="Trebuchet MS"/>
                <a:cs typeface="Trebuchet MS"/>
              </a:rPr>
              <a:t>the</a:t>
            </a:r>
            <a:r>
              <a:rPr sz="2000" spc="-17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6FAC46"/>
                </a:solidFill>
                <a:latin typeface="Trebuchet MS"/>
                <a:cs typeface="Trebuchet MS"/>
              </a:rPr>
              <a:t>main</a:t>
            </a:r>
            <a:r>
              <a:rPr sz="2000" spc="-17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6FAC46"/>
                </a:solidFill>
                <a:latin typeface="Trebuchet MS"/>
                <a:cs typeface="Trebuchet MS"/>
              </a:rPr>
              <a:t>container:</a:t>
            </a:r>
            <a:r>
              <a:rPr sz="2000" spc="-175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6FAC46"/>
                </a:solidFill>
                <a:latin typeface="Trebuchet MS"/>
                <a:cs typeface="Trebuchet MS"/>
              </a:rPr>
              <a:t>wis2box</a:t>
            </a:r>
            <a:r>
              <a:rPr sz="2000" spc="-16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6FAC46"/>
                </a:solidFill>
                <a:latin typeface="Trebuchet MS"/>
                <a:cs typeface="Trebuchet MS"/>
              </a:rPr>
              <a:t>dataset</a:t>
            </a:r>
            <a:r>
              <a:rPr sz="2000" spc="-17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FAC46"/>
                </a:solidFill>
                <a:latin typeface="Trebuchet MS"/>
                <a:cs typeface="Trebuchet MS"/>
              </a:rPr>
              <a:t>publish</a:t>
            </a:r>
            <a:r>
              <a:rPr sz="2000" spc="-160" dirty="0">
                <a:solidFill>
                  <a:srgbClr val="6FAC4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6FAC46"/>
                </a:solidFill>
                <a:latin typeface="Trebuchet MS"/>
                <a:cs typeface="Trebuchet MS"/>
              </a:rPr>
              <a:t>&lt;mcf-</a:t>
            </a:r>
            <a:r>
              <a:rPr sz="2000" spc="-10" dirty="0">
                <a:solidFill>
                  <a:srgbClr val="6FAC46"/>
                </a:solidFill>
                <a:latin typeface="Trebuchet MS"/>
                <a:cs typeface="Trebuchet MS"/>
              </a:rPr>
              <a:t>file&gt;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F42D2"/>
                </a:solidFill>
                <a:latin typeface="Calibri"/>
                <a:cs typeface="Calibri"/>
              </a:rPr>
              <a:t>A</a:t>
            </a:r>
            <a:r>
              <a:rPr sz="2000" b="1" spc="-15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F42D2"/>
                </a:solidFill>
                <a:latin typeface="Calibri"/>
                <a:cs typeface="Calibri"/>
              </a:rPr>
              <a:t>wis2box-instance</a:t>
            </a:r>
            <a:r>
              <a:rPr sz="2000" b="1" spc="-55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F42D2"/>
                </a:solidFill>
                <a:latin typeface="Calibri"/>
                <a:cs typeface="Calibri"/>
              </a:rPr>
              <a:t>becomes</a:t>
            </a:r>
            <a:r>
              <a:rPr sz="2000" b="1" spc="-15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F42D2"/>
                </a:solidFill>
                <a:latin typeface="Calibri"/>
                <a:cs typeface="Calibri"/>
              </a:rPr>
              <a:t>a</a:t>
            </a:r>
            <a:r>
              <a:rPr sz="2000" b="1" spc="-15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F42D2"/>
                </a:solidFill>
                <a:latin typeface="Calibri"/>
                <a:cs typeface="Calibri"/>
              </a:rPr>
              <a:t>WIS2</a:t>
            </a:r>
            <a:r>
              <a:rPr sz="2000" b="1" spc="-25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F42D2"/>
                </a:solidFill>
                <a:latin typeface="Calibri"/>
                <a:cs typeface="Calibri"/>
              </a:rPr>
              <a:t>Node</a:t>
            </a:r>
            <a:r>
              <a:rPr sz="2000" b="1" spc="-20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F42D2"/>
                </a:solidFill>
                <a:latin typeface="Calibri"/>
                <a:cs typeface="Calibri"/>
              </a:rPr>
              <a:t>by</a:t>
            </a:r>
            <a:r>
              <a:rPr sz="2000" b="1" spc="-30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F42D2"/>
                </a:solidFill>
                <a:latin typeface="Calibri"/>
                <a:cs typeface="Calibri"/>
              </a:rPr>
              <a:t>completing</a:t>
            </a:r>
            <a:r>
              <a:rPr sz="2000" b="1" spc="-50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F42D2"/>
                </a:solidFill>
                <a:latin typeface="Calibri"/>
                <a:cs typeface="Calibri"/>
              </a:rPr>
              <a:t>the</a:t>
            </a:r>
            <a:r>
              <a:rPr sz="2000" b="1" spc="-70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WIS2</a:t>
            </a:r>
            <a:r>
              <a:rPr sz="2000" b="1" u="sng" spc="-2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Node</a:t>
            </a:r>
            <a:r>
              <a:rPr sz="2000" b="1" u="sng" spc="-2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Registration</a:t>
            </a:r>
            <a:r>
              <a:rPr sz="2000" b="1" u="sng" spc="-45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F42D2"/>
                </a:solidFill>
                <a:uFill>
                  <a:solidFill>
                    <a:srgbClr val="0F42D2"/>
                  </a:solidFill>
                </a:uFill>
                <a:latin typeface="Calibri"/>
                <a:cs typeface="Calibri"/>
              </a:rPr>
              <a:t>process</a:t>
            </a:r>
            <a:r>
              <a:rPr sz="2000" b="1" spc="-10" dirty="0">
                <a:solidFill>
                  <a:srgbClr val="0F42D2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55600" marR="12763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WMO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Member’s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“National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Matters”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register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WIS2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centre-id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MQTT-</a:t>
            </a:r>
            <a:r>
              <a:rPr sz="2000" spc="-10" dirty="0">
                <a:latin typeface="Calibri"/>
                <a:cs typeface="Calibri"/>
              </a:rPr>
              <a:t>endpoint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10"/>
              </a:spcBef>
            </a:pPr>
            <a:r>
              <a:rPr sz="1800" b="1" dirty="0">
                <a:latin typeface="Calibri"/>
                <a:cs typeface="Calibri"/>
              </a:rPr>
              <a:t>One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wis2box-instance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host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multiple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WIS2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Nodes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wis2box-</a:t>
            </a:r>
            <a:r>
              <a:rPr sz="1800" dirty="0">
                <a:latin typeface="Calibri"/>
                <a:cs typeface="Calibri"/>
              </a:rPr>
              <a:t>instance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publish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centre-</a:t>
            </a:r>
            <a:r>
              <a:rPr sz="1800" spc="-25" dirty="0">
                <a:latin typeface="Calibri"/>
                <a:cs typeface="Calibri"/>
              </a:rPr>
              <a:t>ids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1920"/>
              </a:lnSpc>
              <a:buFont typeface="Arial MT"/>
              <a:buChar char="•"/>
              <a:tabLst>
                <a:tab pos="354965" algn="l"/>
              </a:tabLst>
            </a:pPr>
            <a:r>
              <a:rPr sz="1600" spc="-10" dirty="0">
                <a:solidFill>
                  <a:srgbClr val="0F42D2"/>
                </a:solidFill>
                <a:latin typeface="Trebuchet MS"/>
                <a:cs typeface="Trebuchet MS"/>
              </a:rPr>
              <a:t>Global</a:t>
            </a:r>
            <a:r>
              <a:rPr sz="1600" spc="-10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0F42D2"/>
                </a:solidFill>
                <a:latin typeface="Trebuchet MS"/>
                <a:cs typeface="Trebuchet MS"/>
              </a:rPr>
              <a:t>Brokers</a:t>
            </a:r>
            <a:r>
              <a:rPr sz="1600" spc="-7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F42D2"/>
                </a:solidFill>
                <a:latin typeface="Trebuchet MS"/>
                <a:cs typeface="Trebuchet MS"/>
              </a:rPr>
              <a:t>subscribe</a:t>
            </a:r>
            <a:r>
              <a:rPr sz="1600" spc="-9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0F42D2"/>
                </a:solidFill>
                <a:latin typeface="Trebuchet MS"/>
                <a:cs typeface="Trebuchet MS"/>
              </a:rPr>
              <a:t>to</a:t>
            </a:r>
            <a:r>
              <a:rPr sz="1600" spc="-10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60" dirty="0">
                <a:solidFill>
                  <a:srgbClr val="0F42D2"/>
                </a:solidFill>
                <a:latin typeface="Trebuchet MS"/>
                <a:cs typeface="Trebuchet MS"/>
              </a:rPr>
              <a:t>registered</a:t>
            </a:r>
            <a:r>
              <a:rPr sz="1600" spc="-7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0F42D2"/>
                </a:solidFill>
                <a:latin typeface="Trebuchet MS"/>
                <a:cs typeface="Trebuchet MS"/>
              </a:rPr>
              <a:t>MQTT-</a:t>
            </a:r>
            <a:r>
              <a:rPr sz="1600" spc="-25" dirty="0">
                <a:solidFill>
                  <a:srgbClr val="0F42D2"/>
                </a:solidFill>
                <a:latin typeface="Trebuchet MS"/>
                <a:cs typeface="Trebuchet MS"/>
              </a:rPr>
              <a:t>endpoints</a:t>
            </a:r>
            <a:r>
              <a:rPr sz="1600" spc="-4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0F42D2"/>
                </a:solidFill>
                <a:latin typeface="Trebuchet MS"/>
                <a:cs typeface="Trebuchet MS"/>
              </a:rPr>
              <a:t>at</a:t>
            </a:r>
            <a:r>
              <a:rPr sz="1600" spc="-12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85" dirty="0">
                <a:solidFill>
                  <a:srgbClr val="0F42D2"/>
                </a:solidFill>
                <a:latin typeface="Trebuchet MS"/>
                <a:cs typeface="Trebuchet MS"/>
              </a:rPr>
              <a:t>origin/a/wis2/&lt;centre-</a:t>
            </a:r>
            <a:r>
              <a:rPr sz="1600" spc="-80" dirty="0">
                <a:solidFill>
                  <a:srgbClr val="0F42D2"/>
                </a:solidFill>
                <a:latin typeface="Trebuchet MS"/>
                <a:cs typeface="Trebuchet MS"/>
              </a:rPr>
              <a:t>id&gt;/#</a:t>
            </a:r>
            <a:r>
              <a:rPr sz="1600" spc="-4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F42D2"/>
                </a:solidFill>
                <a:latin typeface="Trebuchet MS"/>
                <a:cs typeface="Trebuchet MS"/>
              </a:rPr>
              <a:t>and</a:t>
            </a:r>
            <a:r>
              <a:rPr sz="1600" spc="-9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80" dirty="0">
                <a:solidFill>
                  <a:srgbClr val="0F42D2"/>
                </a:solidFill>
                <a:latin typeface="Trebuchet MS"/>
                <a:cs typeface="Trebuchet MS"/>
              </a:rPr>
              <a:t>re-</a:t>
            </a:r>
            <a:r>
              <a:rPr sz="1600" spc="-10" dirty="0">
                <a:solidFill>
                  <a:srgbClr val="0F42D2"/>
                </a:solidFill>
                <a:latin typeface="Trebuchet MS"/>
                <a:cs typeface="Trebuchet MS"/>
              </a:rPr>
              <a:t>publish</a:t>
            </a:r>
            <a:r>
              <a:rPr sz="1600" spc="-70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0F42D2"/>
                </a:solidFill>
                <a:latin typeface="Trebuchet MS"/>
                <a:cs typeface="Trebuchet MS"/>
              </a:rPr>
              <a:t>all</a:t>
            </a:r>
            <a:r>
              <a:rPr sz="1600" spc="-114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0F42D2"/>
                </a:solidFill>
                <a:latin typeface="Trebuchet MS"/>
                <a:cs typeface="Trebuchet MS"/>
              </a:rPr>
              <a:t>valid</a:t>
            </a:r>
            <a:r>
              <a:rPr sz="1600" spc="-114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0F42D2"/>
                </a:solidFill>
                <a:latin typeface="Trebuchet MS"/>
                <a:cs typeface="Trebuchet MS"/>
              </a:rPr>
              <a:t>MQTT</a:t>
            </a:r>
            <a:r>
              <a:rPr sz="1600" spc="-85" dirty="0">
                <a:solidFill>
                  <a:srgbClr val="0F42D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0F42D2"/>
                </a:solidFill>
                <a:latin typeface="Trebuchet MS"/>
                <a:cs typeface="Trebuchet MS"/>
              </a:rPr>
              <a:t>notifications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64766" y="4612385"/>
            <a:ext cx="10127615" cy="2235835"/>
            <a:chOff x="2064766" y="4612385"/>
            <a:chExt cx="10127615" cy="2235835"/>
          </a:xfrm>
        </p:grpSpPr>
        <p:pic>
          <p:nvPicPr>
            <p:cNvPr id="9" name="object 9" descr="A screenshot of a computer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0960" y="4612385"/>
              <a:ext cx="7575620" cy="16720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64766" y="6263290"/>
              <a:ext cx="10127615" cy="584835"/>
            </a:xfrm>
            <a:custGeom>
              <a:avLst/>
              <a:gdLst/>
              <a:ahLst/>
              <a:cxnLst/>
              <a:rect l="l" t="t" r="r" b="b"/>
              <a:pathLst>
                <a:path w="10127615" h="584834">
                  <a:moveTo>
                    <a:pt x="10127234" y="0"/>
                  </a:moveTo>
                  <a:lnTo>
                    <a:pt x="0" y="0"/>
                  </a:lnTo>
                  <a:lnTo>
                    <a:pt x="0" y="584771"/>
                  </a:lnTo>
                  <a:lnTo>
                    <a:pt x="10127234" y="584771"/>
                  </a:lnTo>
                  <a:lnTo>
                    <a:pt x="10127234" y="0"/>
                  </a:lnTo>
                  <a:close/>
                </a:path>
              </a:pathLst>
            </a:custGeom>
            <a:solidFill>
              <a:srgbClr val="DC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43760" y="6282334"/>
            <a:ext cx="99218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latin typeface="Trebuchet MS"/>
                <a:cs typeface="Trebuchet MS"/>
              </a:rPr>
              <a:t>The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centre-</a:t>
            </a:r>
            <a:r>
              <a:rPr sz="1600" spc="-50" dirty="0">
                <a:latin typeface="Trebuchet MS"/>
                <a:cs typeface="Trebuchet MS"/>
              </a:rPr>
              <a:t>id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along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with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centre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description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is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recorded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in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80" dirty="0">
                <a:latin typeface="Trebuchet MS"/>
                <a:cs typeface="Trebuchet MS"/>
              </a:rPr>
              <a:t>WMO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Codes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Registry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for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WIS2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Topic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Hierarchy: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b="1" i="1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https://codes.wmo.int/wis/topic-</a:t>
            </a:r>
            <a:r>
              <a:rPr sz="1600" b="1" i="1" u="sng" spc="-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hierarchy/_centre-</a:t>
            </a:r>
            <a:r>
              <a:rPr sz="1600" b="1" i="1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3"/>
              </a:rPr>
              <a:t>id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12" name="object 12" descr="Validation - Free files and folders icon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86074" y="2587997"/>
            <a:ext cx="725034" cy="7250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0470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180" dirty="0"/>
              <a:t> </a:t>
            </a:r>
            <a:r>
              <a:rPr spc="-10" dirty="0"/>
              <a:t>isolation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7741" y="1203972"/>
            <a:ext cx="8663305" cy="708025"/>
          </a:xfrm>
          <a:prstGeom prst="rect">
            <a:avLst/>
          </a:prstGeom>
          <a:solidFill>
            <a:srgbClr val="EDEBE0"/>
          </a:solidFill>
        </p:spPr>
        <p:txBody>
          <a:bodyPr vert="horz" wrap="square" lIns="0" tIns="26669" rIns="0" bIns="0" rtlCol="0">
            <a:spAutoFit/>
          </a:bodyPr>
          <a:lstStyle/>
          <a:p>
            <a:pPr marL="91440" marR="168910">
              <a:lnSpc>
                <a:spcPct val="100000"/>
              </a:lnSpc>
              <a:spcBef>
                <a:spcPts val="209"/>
              </a:spcBef>
            </a:pPr>
            <a:r>
              <a:rPr sz="2000" b="1" spc="-35" dirty="0">
                <a:latin typeface="Trebuchet MS"/>
                <a:cs typeface="Trebuchet MS"/>
              </a:rPr>
              <a:t>A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WIS2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Node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50" dirty="0">
                <a:latin typeface="Trebuchet MS"/>
                <a:cs typeface="Trebuchet MS"/>
              </a:rPr>
              <a:t>is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ideally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hosted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in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70" dirty="0">
                <a:latin typeface="Trebuchet MS"/>
                <a:cs typeface="Trebuchet MS"/>
              </a:rPr>
              <a:t>DMZ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(DeMilitarized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Zone)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to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isolate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the </a:t>
            </a:r>
            <a:r>
              <a:rPr sz="2000" b="1" dirty="0">
                <a:latin typeface="Trebuchet MS"/>
                <a:cs typeface="Trebuchet MS"/>
              </a:rPr>
              <a:t>WIS2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external-</a:t>
            </a:r>
            <a:r>
              <a:rPr sz="2000" b="1" spc="-10" dirty="0">
                <a:latin typeface="Trebuchet MS"/>
                <a:cs typeface="Trebuchet MS"/>
              </a:rPr>
              <a:t>facing</a:t>
            </a:r>
            <a:r>
              <a:rPr sz="2000" b="1" spc="-1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services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from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the</a:t>
            </a:r>
            <a:r>
              <a:rPr sz="2000" b="1" spc="-11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internal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network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0651" y="2084514"/>
            <a:ext cx="4828540" cy="3225165"/>
            <a:chOff x="3180651" y="2084514"/>
            <a:chExt cx="4828540" cy="322516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0113" y="2093975"/>
              <a:ext cx="4809236" cy="320611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85414" y="2089276"/>
              <a:ext cx="4819015" cy="3215640"/>
            </a:xfrm>
            <a:custGeom>
              <a:avLst/>
              <a:gdLst/>
              <a:ahLst/>
              <a:cxnLst/>
              <a:rect l="l" t="t" r="r" b="b"/>
              <a:pathLst>
                <a:path w="4819015" h="3215640">
                  <a:moveTo>
                    <a:pt x="0" y="3215640"/>
                  </a:moveTo>
                  <a:lnTo>
                    <a:pt x="4818761" y="3215640"/>
                  </a:lnTo>
                  <a:lnTo>
                    <a:pt x="4818761" y="0"/>
                  </a:lnTo>
                  <a:lnTo>
                    <a:pt x="0" y="0"/>
                  </a:lnTo>
                  <a:lnTo>
                    <a:pt x="0" y="3215640"/>
                  </a:lnTo>
                  <a:close/>
                </a:path>
              </a:pathLst>
            </a:custGeom>
            <a:ln w="952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57623" y="4145305"/>
              <a:ext cx="1752600" cy="527050"/>
            </a:xfrm>
            <a:custGeom>
              <a:avLst/>
              <a:gdLst/>
              <a:ahLst/>
              <a:cxnLst/>
              <a:rect l="l" t="t" r="r" b="b"/>
              <a:pathLst>
                <a:path w="1752600" h="527050">
                  <a:moveTo>
                    <a:pt x="1752600" y="0"/>
                  </a:moveTo>
                  <a:lnTo>
                    <a:pt x="0" y="0"/>
                  </a:lnTo>
                  <a:lnTo>
                    <a:pt x="0" y="526643"/>
                  </a:lnTo>
                  <a:lnTo>
                    <a:pt x="1752600" y="526643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57622" y="4145305"/>
            <a:ext cx="1752600" cy="527050"/>
          </a:xfrm>
          <a:prstGeom prst="rect">
            <a:avLst/>
          </a:prstGeom>
          <a:ln w="25400">
            <a:solidFill>
              <a:srgbClr val="0F42D2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601980">
              <a:lnSpc>
                <a:spcPct val="100000"/>
              </a:lnSpc>
              <a:spcBef>
                <a:spcPts val="880"/>
              </a:spcBef>
            </a:pPr>
            <a:r>
              <a:rPr sz="1800" b="1" dirty="0">
                <a:solidFill>
                  <a:srgbClr val="0F42D2"/>
                </a:solidFill>
                <a:latin typeface="Calibri"/>
                <a:cs typeface="Calibri"/>
              </a:rPr>
              <a:t>WIS2</a:t>
            </a:r>
            <a:r>
              <a:rPr sz="1800" b="1" spc="-40" dirty="0">
                <a:solidFill>
                  <a:srgbClr val="0F42D2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F42D2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05478" y="3295053"/>
            <a:ext cx="2649220" cy="1292225"/>
            <a:chOff x="4205478" y="3295053"/>
            <a:chExt cx="2649220" cy="129222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6462" y="4230458"/>
              <a:ext cx="389559" cy="356400"/>
            </a:xfrm>
            <a:prstGeom prst="rect">
              <a:avLst/>
            </a:prstGeom>
          </p:spPr>
        </p:pic>
        <p:pic>
          <p:nvPicPr>
            <p:cNvPr id="15" name="object 15" descr="Firewall Generic color lineal-color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199" y="3394671"/>
              <a:ext cx="435902" cy="435902"/>
            </a:xfrm>
            <a:prstGeom prst="rect">
              <a:avLst/>
            </a:prstGeom>
          </p:spPr>
        </p:pic>
        <p:pic>
          <p:nvPicPr>
            <p:cNvPr id="16" name="object 16" descr="Firewall Generic color lineal-color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5478" y="3295053"/>
              <a:ext cx="635215" cy="6352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2365">
              <a:lnSpc>
                <a:spcPct val="100000"/>
              </a:lnSpc>
              <a:spcBef>
                <a:spcPts val="100"/>
              </a:spcBef>
            </a:pPr>
            <a:r>
              <a:rPr dirty="0"/>
              <a:t>Keeping</a:t>
            </a:r>
            <a:r>
              <a:rPr spc="-70" dirty="0"/>
              <a:t> </a:t>
            </a:r>
            <a:r>
              <a:rPr dirty="0"/>
              <a:t>up</a:t>
            </a:r>
            <a:r>
              <a:rPr spc="-6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20" dirty="0"/>
              <a:t>date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4095" y="1138682"/>
            <a:ext cx="11130280" cy="3111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sz="2000" spc="-8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wis2box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team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reviews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address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issues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prepares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new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wis2box-</a:t>
            </a:r>
            <a:r>
              <a:rPr sz="2000" b="1" dirty="0">
                <a:latin typeface="Trebuchet MS"/>
                <a:cs typeface="Trebuchet MS"/>
              </a:rPr>
              <a:t>releases</a:t>
            </a:r>
            <a:r>
              <a:rPr sz="2000" b="1" spc="-175" dirty="0">
                <a:latin typeface="Trebuchet MS"/>
                <a:cs typeface="Trebuchet MS"/>
              </a:rPr>
              <a:t> </a:t>
            </a:r>
            <a:r>
              <a:rPr sz="2000" b="1" spc="-120" dirty="0">
                <a:latin typeface="Trebuchet MS"/>
                <a:cs typeface="Trebuchet MS"/>
              </a:rPr>
              <a:t>(3-</a:t>
            </a:r>
            <a:r>
              <a:rPr sz="2000" b="1" spc="-114" dirty="0">
                <a:latin typeface="Trebuchet MS"/>
                <a:cs typeface="Trebuchet MS"/>
              </a:rPr>
              <a:t>4</a:t>
            </a:r>
            <a:r>
              <a:rPr sz="2000" b="1" spc="-1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times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year)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02" y="1708073"/>
            <a:ext cx="1573510" cy="9024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9843" y="5114480"/>
            <a:ext cx="2158746" cy="1325626"/>
          </a:xfrm>
          <a:prstGeom prst="rect">
            <a:avLst/>
          </a:prstGeom>
        </p:spPr>
      </p:pic>
      <p:pic>
        <p:nvPicPr>
          <p:cNvPr id="10" name="object 10" descr="Report issue - Free commerce and shopping icon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8418" y="2895450"/>
            <a:ext cx="647515" cy="74395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51459" y="1830070"/>
            <a:ext cx="10181590" cy="3881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8360" marR="393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rebuchet MS"/>
                <a:cs typeface="Trebuchet MS"/>
              </a:rPr>
              <a:t>Daily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vulnerability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scans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automatically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run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against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all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wis2box-</a:t>
            </a:r>
            <a:r>
              <a:rPr sz="1800" dirty="0">
                <a:latin typeface="Trebuchet MS"/>
                <a:cs typeface="Trebuchet MS"/>
              </a:rPr>
              <a:t>code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repository </a:t>
            </a:r>
            <a:r>
              <a:rPr sz="1800" spc="-65" dirty="0">
                <a:latin typeface="Trebuchet MS"/>
                <a:cs typeface="Trebuchet MS"/>
              </a:rPr>
              <a:t>alerting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wis2box-</a:t>
            </a:r>
            <a:r>
              <a:rPr sz="1800" spc="-45" dirty="0">
                <a:latin typeface="Trebuchet MS"/>
                <a:cs typeface="Trebuchet MS"/>
              </a:rPr>
              <a:t>team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possible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security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concerns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address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them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800">
              <a:latin typeface="Trebuchet MS"/>
              <a:cs typeface="Trebuchet MS"/>
            </a:endParaRPr>
          </a:p>
          <a:p>
            <a:pPr marL="2164080" marR="265430" indent="-45720">
              <a:lnSpc>
                <a:spcPct val="100000"/>
              </a:lnSpc>
            </a:pPr>
            <a:r>
              <a:rPr sz="1800" spc="-160" dirty="0">
                <a:latin typeface="Trebuchet MS"/>
                <a:cs typeface="Trebuchet MS"/>
              </a:rPr>
              <a:t>To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report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an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issue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with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wis2box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please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wis2box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issue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tracker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GitHub: </a:t>
            </a:r>
            <a:r>
              <a:rPr sz="1800" u="sng" spc="-9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5"/>
              </a:rPr>
              <a:t>https://github.com/World-</a:t>
            </a:r>
            <a:r>
              <a:rPr sz="18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5"/>
              </a:rPr>
              <a:t>Meteorological-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5"/>
              </a:rPr>
              <a:t>Organization/wis2box/issues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rebuchet MS"/>
                <a:cs typeface="Trebuchet MS"/>
              </a:rPr>
              <a:t>Subscribe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wis2box-</a:t>
            </a:r>
            <a:r>
              <a:rPr sz="2000" spc="-60" dirty="0">
                <a:latin typeface="Trebuchet MS"/>
                <a:cs typeface="Trebuchet MS"/>
              </a:rPr>
              <a:t>newsletter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informed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when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new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wis2box-</a:t>
            </a:r>
            <a:r>
              <a:rPr sz="2000" spc="-25" dirty="0">
                <a:latin typeface="Trebuchet MS"/>
                <a:cs typeface="Trebuchet MS"/>
              </a:rPr>
              <a:t>release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available: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WIS2</a:t>
            </a:r>
            <a:r>
              <a:rPr sz="2000" u="sng" spc="-1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spc="-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in</a:t>
            </a:r>
            <a:r>
              <a:rPr sz="2000" u="sng" spc="-1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a</a:t>
            </a:r>
            <a:r>
              <a:rPr sz="2000" u="sng" spc="-1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box</a:t>
            </a:r>
            <a:r>
              <a:rPr sz="2000" u="sng" spc="-1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Newsletter</a:t>
            </a:r>
            <a:r>
              <a:rPr sz="2000" u="sng" spc="-1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on</a:t>
            </a:r>
            <a:r>
              <a:rPr sz="2000" u="sng" spc="-1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the</a:t>
            </a:r>
            <a:r>
              <a:rPr sz="2000" u="sng" spc="-1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spc="10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WMO</a:t>
            </a:r>
            <a:r>
              <a:rPr sz="2000" u="sng" spc="-1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Knowledge</a:t>
            </a:r>
            <a:r>
              <a:rPr sz="2000" u="sng" spc="-1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6"/>
              </a:rPr>
              <a:t>Hub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40" dirty="0">
                <a:latin typeface="Trebuchet MS"/>
                <a:cs typeface="Trebuchet MS"/>
              </a:rPr>
              <a:t>For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updates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related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WIS2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Operations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subscribe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to: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WIS2</a:t>
            </a:r>
            <a:r>
              <a:rPr sz="2000" u="sng" spc="-1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20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Operational</a:t>
            </a:r>
            <a:r>
              <a:rPr sz="2000" u="sng" spc="-1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20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Newsletter</a:t>
            </a:r>
            <a:r>
              <a:rPr sz="2000" u="sng" spc="-1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on</a:t>
            </a:r>
            <a:r>
              <a:rPr sz="2000" u="sng" spc="-1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20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the</a:t>
            </a:r>
            <a:r>
              <a:rPr sz="2000" u="sng" spc="-1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2000" u="sng" spc="10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WMO</a:t>
            </a:r>
            <a:r>
              <a:rPr sz="2000" u="sng" spc="-1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20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Knowledge</a:t>
            </a:r>
            <a:r>
              <a:rPr sz="2000" u="sng" spc="-1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20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7"/>
              </a:rPr>
              <a:t>Hub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13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709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8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configure</a:t>
            </a:r>
            <a:r>
              <a:rPr spc="-100" dirty="0"/>
              <a:t> </a:t>
            </a:r>
            <a:r>
              <a:rPr dirty="0"/>
              <a:t>datasets</a:t>
            </a:r>
            <a:r>
              <a:rPr spc="-10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wis2box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64232" y="946911"/>
            <a:ext cx="7546975" cy="1323975"/>
          </a:xfrm>
          <a:prstGeom prst="rect">
            <a:avLst/>
          </a:prstGeom>
          <a:solidFill>
            <a:srgbClr val="EDEBE0"/>
          </a:solidFill>
        </p:spPr>
        <p:txBody>
          <a:bodyPr vert="horz" wrap="square" lIns="0" tIns="266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0"/>
              </a:spcBef>
            </a:pPr>
            <a:r>
              <a:rPr sz="2000" b="1" spc="-100" dirty="0">
                <a:latin typeface="Trebuchet MS"/>
                <a:cs typeface="Trebuchet MS"/>
              </a:rPr>
              <a:t>Two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ways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to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spc="-35" dirty="0">
                <a:latin typeface="Trebuchet MS"/>
                <a:cs typeface="Trebuchet MS"/>
              </a:rPr>
              <a:t>configure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new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dataset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in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the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wis2box:</a:t>
            </a:r>
            <a:endParaRPr sz="2000">
              <a:latin typeface="Trebuchet MS"/>
              <a:cs typeface="Trebuchet MS"/>
            </a:endParaRPr>
          </a:p>
          <a:p>
            <a:pPr marL="377825" indent="-286385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sz="2000" spc="60" dirty="0">
                <a:latin typeface="Trebuchet MS"/>
                <a:cs typeface="Trebuchet MS"/>
              </a:rPr>
              <a:t>Use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rebuchet MS"/>
                <a:cs typeface="Trebuchet MS"/>
              </a:rPr>
              <a:t>dataset-</a:t>
            </a:r>
            <a:r>
              <a:rPr sz="2000" b="1" spc="-60" dirty="0">
                <a:solidFill>
                  <a:srgbClr val="0033CC"/>
                </a:solidFill>
                <a:latin typeface="Trebuchet MS"/>
                <a:cs typeface="Trebuchet MS"/>
              </a:rPr>
              <a:t>editor</a:t>
            </a:r>
            <a:r>
              <a:rPr sz="2000" b="1" spc="-1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wis2box-</a:t>
            </a:r>
            <a:r>
              <a:rPr sz="2000" spc="-10" dirty="0">
                <a:latin typeface="Trebuchet MS"/>
                <a:cs typeface="Trebuchet MS"/>
              </a:rPr>
              <a:t>webapp</a:t>
            </a:r>
            <a:endParaRPr sz="2000">
              <a:latin typeface="Trebuchet MS"/>
              <a:cs typeface="Trebuchet MS"/>
            </a:endParaRPr>
          </a:p>
          <a:p>
            <a:pPr marL="377825" marR="207010" indent="-287020">
              <a:lnSpc>
                <a:spcPts val="2410"/>
              </a:lnSpc>
              <a:spcBef>
                <a:spcPts val="70"/>
              </a:spcBef>
              <a:buFont typeface="Arial MT"/>
              <a:buChar char="•"/>
              <a:tabLst>
                <a:tab pos="377825" algn="l"/>
              </a:tabLst>
            </a:pPr>
            <a:r>
              <a:rPr sz="2000" spc="160" dirty="0">
                <a:latin typeface="Trebuchet MS"/>
                <a:cs typeface="Trebuchet MS"/>
              </a:rPr>
              <a:t>…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or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share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110" dirty="0">
                <a:latin typeface="Trebuchet MS"/>
                <a:cs typeface="Trebuchet MS"/>
              </a:rPr>
              <a:t>MCF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file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with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wis2box-management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container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execute</a:t>
            </a:r>
            <a:r>
              <a:rPr sz="2000" spc="-204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‘</a:t>
            </a:r>
            <a:r>
              <a:rPr sz="2000" b="1" dirty="0">
                <a:solidFill>
                  <a:srgbClr val="375F92"/>
                </a:solidFill>
                <a:latin typeface="Consolas"/>
                <a:cs typeface="Consolas"/>
              </a:rPr>
              <a:t>wis2box</a:t>
            </a:r>
            <a:r>
              <a:rPr sz="2000" b="1" spc="-80" dirty="0">
                <a:solidFill>
                  <a:srgbClr val="375F92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75F92"/>
                </a:solidFill>
                <a:latin typeface="Consolas"/>
                <a:cs typeface="Consolas"/>
              </a:rPr>
              <a:t>dataset</a:t>
            </a:r>
            <a:r>
              <a:rPr sz="2000" b="1" spc="-60" dirty="0">
                <a:solidFill>
                  <a:srgbClr val="375F92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75F92"/>
                </a:solidFill>
                <a:latin typeface="Consolas"/>
                <a:cs typeface="Consolas"/>
              </a:rPr>
              <a:t>publish</a:t>
            </a:r>
            <a:r>
              <a:rPr sz="2000" b="1" spc="-60" dirty="0">
                <a:solidFill>
                  <a:srgbClr val="375F92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75F92"/>
                </a:solidFill>
                <a:latin typeface="Consolas"/>
                <a:cs typeface="Consolas"/>
              </a:rPr>
              <a:t>&lt;file-</a:t>
            </a:r>
            <a:r>
              <a:rPr sz="2000" b="1" spc="-10" dirty="0">
                <a:solidFill>
                  <a:srgbClr val="375F92"/>
                </a:solidFill>
                <a:latin typeface="Consolas"/>
                <a:cs typeface="Consolas"/>
              </a:rPr>
              <a:t>path&gt;’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3398" y="2623565"/>
            <a:ext cx="661797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8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new</a:t>
            </a:r>
            <a:r>
              <a:rPr sz="1800" b="1" i="1" spc="-114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WCMP2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notification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origin/a/wis2/&lt;centre-</a:t>
            </a:r>
            <a:r>
              <a:rPr sz="1800" spc="-35" dirty="0">
                <a:latin typeface="Trebuchet MS"/>
                <a:cs typeface="Trebuchet MS"/>
              </a:rPr>
              <a:t>id&gt;/metadata </a:t>
            </a:r>
            <a:r>
              <a:rPr sz="1800" b="1" spc="-70" dirty="0">
                <a:latin typeface="Trebuchet MS"/>
                <a:cs typeface="Trebuchet MS"/>
              </a:rPr>
              <a:t>for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75" dirty="0">
                <a:latin typeface="Trebuchet MS"/>
                <a:cs typeface="Trebuchet MS"/>
              </a:rPr>
              <a:t>every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new</a:t>
            </a:r>
            <a:r>
              <a:rPr sz="1800" b="1" spc="-1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dataset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published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800" b="1" i="1" spc="-45" dirty="0">
                <a:latin typeface="Trebuchet MS"/>
                <a:cs typeface="Trebuchet MS"/>
              </a:rPr>
              <a:t>update</a:t>
            </a:r>
            <a:r>
              <a:rPr sz="1800" b="1" i="1" spc="-10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WCMP2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notification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origin/a/wis2/&lt;centre-</a:t>
            </a:r>
            <a:r>
              <a:rPr sz="1800" spc="-35" dirty="0">
                <a:latin typeface="Trebuchet MS"/>
                <a:cs typeface="Trebuchet MS"/>
              </a:rPr>
              <a:t>id&gt;/metadata </a:t>
            </a:r>
            <a:r>
              <a:rPr sz="1800" b="1" spc="-70" dirty="0">
                <a:latin typeface="Trebuchet MS"/>
                <a:cs typeface="Trebuchet MS"/>
              </a:rPr>
              <a:t>for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75" dirty="0">
                <a:latin typeface="Trebuchet MS"/>
                <a:cs typeface="Trebuchet MS"/>
              </a:rPr>
              <a:t>every</a:t>
            </a:r>
            <a:r>
              <a:rPr sz="1800" b="1" spc="-150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updated</a:t>
            </a:r>
            <a:r>
              <a:rPr sz="1800" b="1" spc="-1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dataset</a:t>
            </a:r>
            <a:r>
              <a:rPr sz="1800" b="1" spc="-16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published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i="1" spc="-40" dirty="0">
                <a:latin typeface="Trebuchet MS"/>
                <a:cs typeface="Trebuchet MS"/>
              </a:rPr>
              <a:t>delete</a:t>
            </a:r>
            <a:r>
              <a:rPr sz="1800" b="1" i="1" spc="-6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WCMP2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notification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origin/a/wis2/&lt;centre-</a:t>
            </a:r>
            <a:r>
              <a:rPr sz="1800" spc="-10" dirty="0">
                <a:latin typeface="Trebuchet MS"/>
                <a:cs typeface="Trebuchet MS"/>
              </a:rPr>
              <a:t>id&gt;/metadata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65" dirty="0">
                <a:latin typeface="Trebuchet MS"/>
                <a:cs typeface="Trebuchet MS"/>
              </a:rPr>
              <a:t>whenever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dataset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is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unpublished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26883" y="5900318"/>
            <a:ext cx="1244600" cy="847725"/>
          </a:xfrm>
          <a:custGeom>
            <a:avLst/>
            <a:gdLst/>
            <a:ahLst/>
            <a:cxnLst/>
            <a:rect l="l" t="t" r="r" b="b"/>
            <a:pathLst>
              <a:path w="1244600" h="847725">
                <a:moveTo>
                  <a:pt x="1103502" y="0"/>
                </a:moveTo>
                <a:lnTo>
                  <a:pt x="141224" y="0"/>
                </a:lnTo>
                <a:lnTo>
                  <a:pt x="96593" y="7198"/>
                </a:lnTo>
                <a:lnTo>
                  <a:pt x="57826" y="27245"/>
                </a:lnTo>
                <a:lnTo>
                  <a:pt x="27253" y="57812"/>
                </a:lnTo>
                <a:lnTo>
                  <a:pt x="7201" y="96576"/>
                </a:lnTo>
                <a:lnTo>
                  <a:pt x="0" y="141211"/>
                </a:lnTo>
                <a:lnTo>
                  <a:pt x="0" y="706031"/>
                </a:lnTo>
                <a:lnTo>
                  <a:pt x="7201" y="750666"/>
                </a:lnTo>
                <a:lnTo>
                  <a:pt x="27253" y="789431"/>
                </a:lnTo>
                <a:lnTo>
                  <a:pt x="57826" y="820000"/>
                </a:lnTo>
                <a:lnTo>
                  <a:pt x="96593" y="840048"/>
                </a:lnTo>
                <a:lnTo>
                  <a:pt x="141224" y="847247"/>
                </a:lnTo>
                <a:lnTo>
                  <a:pt x="1103502" y="847247"/>
                </a:lnTo>
                <a:lnTo>
                  <a:pt x="1148120" y="840048"/>
                </a:lnTo>
                <a:lnTo>
                  <a:pt x="1186855" y="820000"/>
                </a:lnTo>
                <a:lnTo>
                  <a:pt x="1217391" y="789431"/>
                </a:lnTo>
                <a:lnTo>
                  <a:pt x="1237411" y="750666"/>
                </a:lnTo>
                <a:lnTo>
                  <a:pt x="1244600" y="706031"/>
                </a:lnTo>
                <a:lnTo>
                  <a:pt x="1244600" y="141211"/>
                </a:lnTo>
                <a:lnTo>
                  <a:pt x="1237411" y="96576"/>
                </a:lnTo>
                <a:lnTo>
                  <a:pt x="1217391" y="57812"/>
                </a:lnTo>
                <a:lnTo>
                  <a:pt x="1186855" y="27245"/>
                </a:lnTo>
                <a:lnTo>
                  <a:pt x="1148120" y="7198"/>
                </a:lnTo>
                <a:lnTo>
                  <a:pt x="1103502" y="0"/>
                </a:lnTo>
                <a:close/>
              </a:path>
            </a:pathLst>
          </a:custGeom>
          <a:solidFill>
            <a:srgbClr val="D6E3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15606" y="5946749"/>
            <a:ext cx="86995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14732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solidFill>
                  <a:srgbClr val="0F243E"/>
                </a:solidFill>
                <a:latin typeface="Calibri"/>
                <a:cs typeface="Calibri"/>
              </a:rPr>
              <a:t>Global Discovery Catalogue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31409" y="5041176"/>
            <a:ext cx="781050" cy="1085850"/>
            <a:chOff x="4931409" y="5041176"/>
            <a:chExt cx="781050" cy="1085850"/>
          </a:xfrm>
        </p:grpSpPr>
        <p:sp>
          <p:nvSpPr>
            <p:cNvPr id="12" name="object 12"/>
            <p:cNvSpPr/>
            <p:nvPr/>
          </p:nvSpPr>
          <p:spPr>
            <a:xfrm>
              <a:off x="4937759" y="5047614"/>
              <a:ext cx="768350" cy="1073150"/>
            </a:xfrm>
            <a:custGeom>
              <a:avLst/>
              <a:gdLst/>
              <a:ahLst/>
              <a:cxnLst/>
              <a:rect l="l" t="t" r="r" b="b"/>
              <a:pathLst>
                <a:path w="768350" h="1073150">
                  <a:moveTo>
                    <a:pt x="710184" y="0"/>
                  </a:moveTo>
                  <a:lnTo>
                    <a:pt x="57912" y="0"/>
                  </a:lnTo>
                  <a:lnTo>
                    <a:pt x="35361" y="4548"/>
                  </a:lnTo>
                  <a:lnTo>
                    <a:pt x="16954" y="16954"/>
                  </a:lnTo>
                  <a:lnTo>
                    <a:pt x="4548" y="35361"/>
                  </a:lnTo>
                  <a:lnTo>
                    <a:pt x="0" y="57912"/>
                  </a:lnTo>
                  <a:lnTo>
                    <a:pt x="0" y="1014895"/>
                  </a:lnTo>
                  <a:lnTo>
                    <a:pt x="4548" y="1037458"/>
                  </a:lnTo>
                  <a:lnTo>
                    <a:pt x="16954" y="1055882"/>
                  </a:lnTo>
                  <a:lnTo>
                    <a:pt x="35361" y="1068303"/>
                  </a:lnTo>
                  <a:lnTo>
                    <a:pt x="57912" y="1072857"/>
                  </a:lnTo>
                  <a:lnTo>
                    <a:pt x="710184" y="1072857"/>
                  </a:lnTo>
                  <a:lnTo>
                    <a:pt x="732734" y="1068303"/>
                  </a:lnTo>
                  <a:lnTo>
                    <a:pt x="751141" y="1055882"/>
                  </a:lnTo>
                  <a:lnTo>
                    <a:pt x="763547" y="1037458"/>
                  </a:lnTo>
                  <a:lnTo>
                    <a:pt x="768095" y="1014895"/>
                  </a:lnTo>
                  <a:lnTo>
                    <a:pt x="768095" y="57912"/>
                  </a:lnTo>
                  <a:lnTo>
                    <a:pt x="763547" y="35361"/>
                  </a:lnTo>
                  <a:lnTo>
                    <a:pt x="751141" y="16954"/>
                  </a:lnTo>
                  <a:lnTo>
                    <a:pt x="732734" y="4548"/>
                  </a:lnTo>
                  <a:lnTo>
                    <a:pt x="710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37759" y="5047614"/>
              <a:ext cx="768350" cy="1073150"/>
            </a:xfrm>
            <a:custGeom>
              <a:avLst/>
              <a:gdLst/>
              <a:ahLst/>
              <a:cxnLst/>
              <a:rect l="l" t="t" r="r" b="b"/>
              <a:pathLst>
                <a:path w="768350" h="1073150">
                  <a:moveTo>
                    <a:pt x="0" y="57912"/>
                  </a:moveTo>
                  <a:lnTo>
                    <a:pt x="4548" y="35361"/>
                  </a:lnTo>
                  <a:lnTo>
                    <a:pt x="16954" y="16954"/>
                  </a:lnTo>
                  <a:lnTo>
                    <a:pt x="35361" y="4548"/>
                  </a:lnTo>
                  <a:lnTo>
                    <a:pt x="57912" y="0"/>
                  </a:lnTo>
                  <a:lnTo>
                    <a:pt x="710184" y="0"/>
                  </a:lnTo>
                  <a:lnTo>
                    <a:pt x="732734" y="4548"/>
                  </a:lnTo>
                  <a:lnTo>
                    <a:pt x="751141" y="16954"/>
                  </a:lnTo>
                  <a:lnTo>
                    <a:pt x="763547" y="35361"/>
                  </a:lnTo>
                  <a:lnTo>
                    <a:pt x="768095" y="57912"/>
                  </a:lnTo>
                  <a:lnTo>
                    <a:pt x="768095" y="1014895"/>
                  </a:lnTo>
                  <a:lnTo>
                    <a:pt x="763547" y="1037458"/>
                  </a:lnTo>
                  <a:lnTo>
                    <a:pt x="751141" y="1055882"/>
                  </a:lnTo>
                  <a:lnTo>
                    <a:pt x="732734" y="1068303"/>
                  </a:lnTo>
                  <a:lnTo>
                    <a:pt x="710184" y="1072857"/>
                  </a:lnTo>
                  <a:lnTo>
                    <a:pt x="57912" y="1072857"/>
                  </a:lnTo>
                  <a:lnTo>
                    <a:pt x="35361" y="1068303"/>
                  </a:lnTo>
                  <a:lnTo>
                    <a:pt x="16954" y="1055882"/>
                  </a:lnTo>
                  <a:lnTo>
                    <a:pt x="4548" y="1037458"/>
                  </a:lnTo>
                  <a:lnTo>
                    <a:pt x="0" y="1014895"/>
                  </a:lnTo>
                  <a:lnTo>
                    <a:pt x="0" y="579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32551" y="5047526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273265" y="0"/>
                  </a:moveTo>
                  <a:lnTo>
                    <a:pt x="0" y="0"/>
                  </a:lnTo>
                  <a:lnTo>
                    <a:pt x="0" y="273265"/>
                  </a:lnTo>
                  <a:lnTo>
                    <a:pt x="273265" y="273265"/>
                  </a:lnTo>
                  <a:lnTo>
                    <a:pt x="2732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32551" y="5047526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0" y="273265"/>
                  </a:moveTo>
                  <a:lnTo>
                    <a:pt x="273265" y="273265"/>
                  </a:lnTo>
                  <a:lnTo>
                    <a:pt x="273265" y="0"/>
                  </a:lnTo>
                  <a:lnTo>
                    <a:pt x="0" y="0"/>
                  </a:lnTo>
                  <a:lnTo>
                    <a:pt x="0" y="27326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26836" y="5053329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0" y="0"/>
                  </a:moveTo>
                  <a:lnTo>
                    <a:pt x="0" y="273304"/>
                  </a:lnTo>
                  <a:lnTo>
                    <a:pt x="273303" y="273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6836" y="5053329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0" y="0"/>
                  </a:moveTo>
                  <a:lnTo>
                    <a:pt x="273303" y="273304"/>
                  </a:lnTo>
                  <a:lnTo>
                    <a:pt x="0" y="27330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37759" y="5902096"/>
              <a:ext cx="762635" cy="0"/>
            </a:xfrm>
            <a:custGeom>
              <a:avLst/>
              <a:gdLst/>
              <a:ahLst/>
              <a:cxnLst/>
              <a:rect l="l" t="t" r="r" b="b"/>
              <a:pathLst>
                <a:path w="762635">
                  <a:moveTo>
                    <a:pt x="0" y="0"/>
                  </a:moveTo>
                  <a:lnTo>
                    <a:pt x="7623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17719" y="5910783"/>
            <a:ext cx="3994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Arial MT"/>
                <a:cs typeface="Arial MT"/>
              </a:rPr>
              <a:t>JSON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76621" y="5411825"/>
            <a:ext cx="6902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WCMP2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18835" y="5014340"/>
            <a:ext cx="1828800" cy="617855"/>
            <a:chOff x="5418835" y="5014340"/>
            <a:chExt cx="1828800" cy="617855"/>
          </a:xfrm>
        </p:grpSpPr>
        <p:sp>
          <p:nvSpPr>
            <p:cNvPr id="22" name="object 22"/>
            <p:cNvSpPr/>
            <p:nvPr/>
          </p:nvSpPr>
          <p:spPr>
            <a:xfrm>
              <a:off x="5431535" y="5027040"/>
              <a:ext cx="320675" cy="316230"/>
            </a:xfrm>
            <a:custGeom>
              <a:avLst/>
              <a:gdLst/>
              <a:ahLst/>
              <a:cxnLst/>
              <a:rect l="l" t="t" r="r" b="b"/>
              <a:pathLst>
                <a:path w="320675" h="316229">
                  <a:moveTo>
                    <a:pt x="320421" y="0"/>
                  </a:moveTo>
                  <a:lnTo>
                    <a:pt x="0" y="0"/>
                  </a:lnTo>
                  <a:lnTo>
                    <a:pt x="320421" y="315975"/>
                  </a:lnTo>
                  <a:lnTo>
                    <a:pt x="320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31535" y="5027040"/>
              <a:ext cx="320675" cy="316230"/>
            </a:xfrm>
            <a:custGeom>
              <a:avLst/>
              <a:gdLst/>
              <a:ahLst/>
              <a:cxnLst/>
              <a:rect l="l" t="t" r="r" b="b"/>
              <a:pathLst>
                <a:path w="320675" h="316229">
                  <a:moveTo>
                    <a:pt x="320421" y="0"/>
                  </a:moveTo>
                  <a:lnTo>
                    <a:pt x="320421" y="315975"/>
                  </a:lnTo>
                  <a:lnTo>
                    <a:pt x="0" y="0"/>
                  </a:lnTo>
                  <a:lnTo>
                    <a:pt x="320421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0299" y="5496358"/>
              <a:ext cx="1446769" cy="13538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34125" y="5503417"/>
              <a:ext cx="1389380" cy="76200"/>
            </a:xfrm>
            <a:custGeom>
              <a:avLst/>
              <a:gdLst/>
              <a:ahLst/>
              <a:cxnLst/>
              <a:rect l="l" t="t" r="r" b="b"/>
              <a:pathLst>
                <a:path w="1389379" h="76200">
                  <a:moveTo>
                    <a:pt x="1313179" y="0"/>
                  </a:moveTo>
                  <a:lnTo>
                    <a:pt x="1313179" y="76199"/>
                  </a:lnTo>
                  <a:lnTo>
                    <a:pt x="1363979" y="50799"/>
                  </a:lnTo>
                  <a:lnTo>
                    <a:pt x="1325879" y="50799"/>
                  </a:lnTo>
                  <a:lnTo>
                    <a:pt x="1325879" y="25399"/>
                  </a:lnTo>
                  <a:lnTo>
                    <a:pt x="1363979" y="25399"/>
                  </a:lnTo>
                  <a:lnTo>
                    <a:pt x="1313179" y="0"/>
                  </a:lnTo>
                  <a:close/>
                </a:path>
                <a:path w="1389379" h="76200">
                  <a:moveTo>
                    <a:pt x="1313179" y="25399"/>
                  </a:moveTo>
                  <a:lnTo>
                    <a:pt x="0" y="25399"/>
                  </a:lnTo>
                  <a:lnTo>
                    <a:pt x="0" y="50799"/>
                  </a:lnTo>
                  <a:lnTo>
                    <a:pt x="1313179" y="50799"/>
                  </a:lnTo>
                  <a:lnTo>
                    <a:pt x="1313179" y="25399"/>
                  </a:lnTo>
                  <a:close/>
                </a:path>
                <a:path w="1389379" h="76200">
                  <a:moveTo>
                    <a:pt x="1363979" y="25399"/>
                  </a:moveTo>
                  <a:lnTo>
                    <a:pt x="1325879" y="25399"/>
                  </a:lnTo>
                  <a:lnTo>
                    <a:pt x="1325879" y="50799"/>
                  </a:lnTo>
                  <a:lnTo>
                    <a:pt x="1363979" y="50799"/>
                  </a:lnTo>
                  <a:lnTo>
                    <a:pt x="1389379" y="38099"/>
                  </a:lnTo>
                  <a:lnTo>
                    <a:pt x="1363979" y="25399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408164" y="5007864"/>
            <a:ext cx="1007744" cy="995680"/>
            <a:chOff x="7408164" y="5007864"/>
            <a:chExt cx="1007744" cy="99568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8164" y="5007864"/>
              <a:ext cx="1007376" cy="99515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451217" y="5027041"/>
              <a:ext cx="926465" cy="914400"/>
            </a:xfrm>
            <a:custGeom>
              <a:avLst/>
              <a:gdLst/>
              <a:ahLst/>
              <a:cxnLst/>
              <a:rect l="l" t="t" r="r" b="b"/>
              <a:pathLst>
                <a:path w="926465" h="914400">
                  <a:moveTo>
                    <a:pt x="463041" y="0"/>
                  </a:moveTo>
                  <a:lnTo>
                    <a:pt x="415690" y="2359"/>
                  </a:lnTo>
                  <a:lnTo>
                    <a:pt x="369709" y="9284"/>
                  </a:lnTo>
                  <a:lnTo>
                    <a:pt x="325330" y="20546"/>
                  </a:lnTo>
                  <a:lnTo>
                    <a:pt x="282785" y="35915"/>
                  </a:lnTo>
                  <a:lnTo>
                    <a:pt x="242307" y="55161"/>
                  </a:lnTo>
                  <a:lnTo>
                    <a:pt x="204130" y="78056"/>
                  </a:lnTo>
                  <a:lnTo>
                    <a:pt x="168484" y="104370"/>
                  </a:lnTo>
                  <a:lnTo>
                    <a:pt x="135604" y="133873"/>
                  </a:lnTo>
                  <a:lnTo>
                    <a:pt x="105721" y="166337"/>
                  </a:lnTo>
                  <a:lnTo>
                    <a:pt x="79067" y="201531"/>
                  </a:lnTo>
                  <a:lnTo>
                    <a:pt x="55877" y="239227"/>
                  </a:lnTo>
                  <a:lnTo>
                    <a:pt x="36381" y="279195"/>
                  </a:lnTo>
                  <a:lnTo>
                    <a:pt x="20813" y="321206"/>
                  </a:lnTo>
                  <a:lnTo>
                    <a:pt x="9405" y="365029"/>
                  </a:lnTo>
                  <a:lnTo>
                    <a:pt x="2390" y="410437"/>
                  </a:lnTo>
                  <a:lnTo>
                    <a:pt x="0" y="457199"/>
                  </a:lnTo>
                  <a:lnTo>
                    <a:pt x="2390" y="503938"/>
                  </a:lnTo>
                  <a:lnTo>
                    <a:pt x="9405" y="549327"/>
                  </a:lnTo>
                  <a:lnTo>
                    <a:pt x="20813" y="593137"/>
                  </a:lnTo>
                  <a:lnTo>
                    <a:pt x="36381" y="635137"/>
                  </a:lnTo>
                  <a:lnTo>
                    <a:pt x="55877" y="675098"/>
                  </a:lnTo>
                  <a:lnTo>
                    <a:pt x="79067" y="712790"/>
                  </a:lnTo>
                  <a:lnTo>
                    <a:pt x="105721" y="747983"/>
                  </a:lnTo>
                  <a:lnTo>
                    <a:pt x="135604" y="780448"/>
                  </a:lnTo>
                  <a:lnTo>
                    <a:pt x="168484" y="809954"/>
                  </a:lnTo>
                  <a:lnTo>
                    <a:pt x="204130" y="836271"/>
                  </a:lnTo>
                  <a:lnTo>
                    <a:pt x="242307" y="859171"/>
                  </a:lnTo>
                  <a:lnTo>
                    <a:pt x="282785" y="878422"/>
                  </a:lnTo>
                  <a:lnTo>
                    <a:pt x="325330" y="893795"/>
                  </a:lnTo>
                  <a:lnTo>
                    <a:pt x="369709" y="905061"/>
                  </a:lnTo>
                  <a:lnTo>
                    <a:pt x="415690" y="911988"/>
                  </a:lnTo>
                  <a:lnTo>
                    <a:pt x="463041" y="914349"/>
                  </a:lnTo>
                  <a:lnTo>
                    <a:pt x="510394" y="911988"/>
                  </a:lnTo>
                  <a:lnTo>
                    <a:pt x="556380" y="905061"/>
                  </a:lnTo>
                  <a:lnTo>
                    <a:pt x="600765" y="893795"/>
                  </a:lnTo>
                  <a:lnTo>
                    <a:pt x="643318" y="878422"/>
                  </a:lnTo>
                  <a:lnTo>
                    <a:pt x="683805" y="859171"/>
                  </a:lnTo>
                  <a:lnTo>
                    <a:pt x="721994" y="836271"/>
                  </a:lnTo>
                  <a:lnTo>
                    <a:pt x="757650" y="809954"/>
                  </a:lnTo>
                  <a:lnTo>
                    <a:pt x="790543" y="780448"/>
                  </a:lnTo>
                  <a:lnTo>
                    <a:pt x="820438" y="747983"/>
                  </a:lnTo>
                  <a:lnTo>
                    <a:pt x="847102" y="712790"/>
                  </a:lnTo>
                  <a:lnTo>
                    <a:pt x="870304" y="675098"/>
                  </a:lnTo>
                  <a:lnTo>
                    <a:pt x="889809" y="635137"/>
                  </a:lnTo>
                  <a:lnTo>
                    <a:pt x="905385" y="593137"/>
                  </a:lnTo>
                  <a:lnTo>
                    <a:pt x="916800" y="549327"/>
                  </a:lnTo>
                  <a:lnTo>
                    <a:pt x="923819" y="503938"/>
                  </a:lnTo>
                  <a:lnTo>
                    <a:pt x="926210" y="457199"/>
                  </a:lnTo>
                  <a:lnTo>
                    <a:pt x="923819" y="410437"/>
                  </a:lnTo>
                  <a:lnTo>
                    <a:pt x="916800" y="365029"/>
                  </a:lnTo>
                  <a:lnTo>
                    <a:pt x="905385" y="321206"/>
                  </a:lnTo>
                  <a:lnTo>
                    <a:pt x="889809" y="279195"/>
                  </a:lnTo>
                  <a:lnTo>
                    <a:pt x="870304" y="239227"/>
                  </a:lnTo>
                  <a:lnTo>
                    <a:pt x="847102" y="201531"/>
                  </a:lnTo>
                  <a:lnTo>
                    <a:pt x="820438" y="166337"/>
                  </a:lnTo>
                  <a:lnTo>
                    <a:pt x="790543" y="133873"/>
                  </a:lnTo>
                  <a:lnTo>
                    <a:pt x="757650" y="104370"/>
                  </a:lnTo>
                  <a:lnTo>
                    <a:pt x="721994" y="78056"/>
                  </a:lnTo>
                  <a:lnTo>
                    <a:pt x="683805" y="55161"/>
                  </a:lnTo>
                  <a:lnTo>
                    <a:pt x="643318" y="35915"/>
                  </a:lnTo>
                  <a:lnTo>
                    <a:pt x="600765" y="20546"/>
                  </a:lnTo>
                  <a:lnTo>
                    <a:pt x="556380" y="9284"/>
                  </a:lnTo>
                  <a:lnTo>
                    <a:pt x="510394" y="2359"/>
                  </a:lnTo>
                  <a:lnTo>
                    <a:pt x="463041" y="0"/>
                  </a:lnTo>
                  <a:close/>
                </a:path>
              </a:pathLst>
            </a:custGeom>
            <a:solidFill>
              <a:srgbClr val="D6E3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04304" y="5157852"/>
              <a:ext cx="680085" cy="607060"/>
            </a:xfrm>
            <a:custGeom>
              <a:avLst/>
              <a:gdLst/>
              <a:ahLst/>
              <a:cxnLst/>
              <a:rect l="l" t="t" r="r" b="b"/>
              <a:pathLst>
                <a:path w="680084" h="607060">
                  <a:moveTo>
                    <a:pt x="403841" y="0"/>
                  </a:moveTo>
                  <a:lnTo>
                    <a:pt x="49030" y="123157"/>
                  </a:lnTo>
                  <a:lnTo>
                    <a:pt x="26903" y="163012"/>
                  </a:lnTo>
                  <a:lnTo>
                    <a:pt x="23215" y="197586"/>
                  </a:lnTo>
                  <a:lnTo>
                    <a:pt x="23431" y="206963"/>
                  </a:lnTo>
                  <a:lnTo>
                    <a:pt x="24216" y="216299"/>
                  </a:lnTo>
                  <a:lnTo>
                    <a:pt x="25570" y="225571"/>
                  </a:lnTo>
                  <a:lnTo>
                    <a:pt x="27487" y="234752"/>
                  </a:lnTo>
                  <a:lnTo>
                    <a:pt x="19343" y="243160"/>
                  </a:lnTo>
                  <a:lnTo>
                    <a:pt x="10404" y="257174"/>
                  </a:lnTo>
                  <a:lnTo>
                    <a:pt x="10322" y="257303"/>
                  </a:lnTo>
                  <a:lnTo>
                    <a:pt x="3011" y="277979"/>
                  </a:lnTo>
                  <a:lnTo>
                    <a:pt x="0" y="305987"/>
                  </a:lnTo>
                  <a:lnTo>
                    <a:pt x="1727" y="328757"/>
                  </a:lnTo>
                  <a:lnTo>
                    <a:pt x="7052" y="350811"/>
                  </a:lnTo>
                  <a:lnTo>
                    <a:pt x="15837" y="371727"/>
                  </a:lnTo>
                  <a:lnTo>
                    <a:pt x="27944" y="391081"/>
                  </a:lnTo>
                  <a:lnTo>
                    <a:pt x="25792" y="400643"/>
                  </a:lnTo>
                  <a:lnTo>
                    <a:pt x="24284" y="410318"/>
                  </a:lnTo>
                  <a:lnTo>
                    <a:pt x="23422" y="420191"/>
                  </a:lnTo>
                  <a:lnTo>
                    <a:pt x="23328" y="424582"/>
                  </a:lnTo>
                  <a:lnTo>
                    <a:pt x="23216" y="429873"/>
                  </a:lnTo>
                  <a:lnTo>
                    <a:pt x="26948" y="464626"/>
                  </a:lnTo>
                  <a:lnTo>
                    <a:pt x="43849" y="502596"/>
                  </a:lnTo>
                  <a:lnTo>
                    <a:pt x="299041" y="606734"/>
                  </a:lnTo>
                  <a:lnTo>
                    <a:pt x="301969" y="606915"/>
                  </a:lnTo>
                  <a:lnTo>
                    <a:pt x="302915" y="606734"/>
                  </a:lnTo>
                  <a:lnTo>
                    <a:pt x="342260" y="590836"/>
                  </a:lnTo>
                  <a:lnTo>
                    <a:pt x="300982" y="590836"/>
                  </a:lnTo>
                  <a:lnTo>
                    <a:pt x="57756" y="495082"/>
                  </a:lnTo>
                  <a:lnTo>
                    <a:pt x="53185" y="488940"/>
                  </a:lnTo>
                  <a:lnTo>
                    <a:pt x="46814" y="476424"/>
                  </a:lnTo>
                  <a:lnTo>
                    <a:pt x="41151" y="456936"/>
                  </a:lnTo>
                  <a:lnTo>
                    <a:pt x="38706" y="429873"/>
                  </a:lnTo>
                  <a:lnTo>
                    <a:pt x="38818" y="424582"/>
                  </a:lnTo>
                  <a:lnTo>
                    <a:pt x="44755" y="389029"/>
                  </a:lnTo>
                  <a:lnTo>
                    <a:pt x="44123" y="386152"/>
                  </a:lnTo>
                  <a:lnTo>
                    <a:pt x="22193" y="347324"/>
                  </a:lnTo>
                  <a:lnTo>
                    <a:pt x="15495" y="305987"/>
                  </a:lnTo>
                  <a:lnTo>
                    <a:pt x="19001" y="278732"/>
                  </a:lnTo>
                  <a:lnTo>
                    <a:pt x="19098" y="277979"/>
                  </a:lnTo>
                  <a:lnTo>
                    <a:pt x="19223" y="277004"/>
                  </a:lnTo>
                  <a:lnTo>
                    <a:pt x="27505" y="258152"/>
                  </a:lnTo>
                  <a:lnTo>
                    <a:pt x="35971" y="247821"/>
                  </a:lnTo>
                  <a:lnTo>
                    <a:pt x="40253" y="244437"/>
                  </a:lnTo>
                  <a:lnTo>
                    <a:pt x="43355" y="242643"/>
                  </a:lnTo>
                  <a:lnTo>
                    <a:pt x="44813" y="238959"/>
                  </a:lnTo>
                  <a:lnTo>
                    <a:pt x="38731" y="197586"/>
                  </a:lnTo>
                  <a:lnTo>
                    <a:pt x="40989" y="171557"/>
                  </a:lnTo>
                  <a:lnTo>
                    <a:pt x="41020" y="171200"/>
                  </a:lnTo>
                  <a:lnTo>
                    <a:pt x="46198" y="153393"/>
                  </a:lnTo>
                  <a:lnTo>
                    <a:pt x="46298" y="153052"/>
                  </a:lnTo>
                  <a:lnTo>
                    <a:pt x="52182" y="142034"/>
                  </a:lnTo>
                  <a:lnTo>
                    <a:pt x="56292" y="137036"/>
                  </a:lnTo>
                  <a:lnTo>
                    <a:pt x="402751" y="16131"/>
                  </a:lnTo>
                  <a:lnTo>
                    <a:pt x="447433" y="16131"/>
                  </a:lnTo>
                  <a:lnTo>
                    <a:pt x="405511" y="645"/>
                  </a:lnTo>
                  <a:lnTo>
                    <a:pt x="403841" y="0"/>
                  </a:lnTo>
                  <a:close/>
                </a:path>
                <a:path w="680084" h="607060">
                  <a:moveTo>
                    <a:pt x="666353" y="439597"/>
                  </a:moveTo>
                  <a:lnTo>
                    <a:pt x="620614" y="439597"/>
                  </a:lnTo>
                  <a:lnTo>
                    <a:pt x="649183" y="449921"/>
                  </a:lnTo>
                  <a:lnTo>
                    <a:pt x="649183" y="450069"/>
                  </a:lnTo>
                  <a:lnTo>
                    <a:pt x="300982" y="590836"/>
                  </a:lnTo>
                  <a:lnTo>
                    <a:pt x="342260" y="590836"/>
                  </a:lnTo>
                  <a:lnTo>
                    <a:pt x="678009" y="455102"/>
                  </a:lnTo>
                  <a:lnTo>
                    <a:pt x="679944" y="450592"/>
                  </a:lnTo>
                  <a:lnTo>
                    <a:pt x="677493" y="444566"/>
                  </a:lnTo>
                  <a:lnTo>
                    <a:pt x="675881" y="442965"/>
                  </a:lnTo>
                  <a:lnTo>
                    <a:pt x="666353" y="439597"/>
                  </a:lnTo>
                  <a:close/>
                </a:path>
                <a:path w="680084" h="607060">
                  <a:moveTo>
                    <a:pt x="70009" y="383726"/>
                  </a:moveTo>
                  <a:lnTo>
                    <a:pt x="65520" y="385681"/>
                  </a:lnTo>
                  <a:lnTo>
                    <a:pt x="63598" y="390565"/>
                  </a:lnTo>
                  <a:lnTo>
                    <a:pt x="63502" y="391081"/>
                  </a:lnTo>
                  <a:lnTo>
                    <a:pt x="63418" y="473105"/>
                  </a:lnTo>
                  <a:lnTo>
                    <a:pt x="65359" y="475963"/>
                  </a:lnTo>
                  <a:lnTo>
                    <a:pt x="300008" y="568401"/>
                  </a:lnTo>
                  <a:lnTo>
                    <a:pt x="302065" y="568401"/>
                  </a:lnTo>
                  <a:lnTo>
                    <a:pt x="342327" y="552121"/>
                  </a:lnTo>
                  <a:lnTo>
                    <a:pt x="300982" y="552121"/>
                  </a:lnTo>
                  <a:lnTo>
                    <a:pt x="78882" y="464626"/>
                  </a:lnTo>
                  <a:lnTo>
                    <a:pt x="78882" y="403844"/>
                  </a:lnTo>
                  <a:lnTo>
                    <a:pt x="121092" y="403844"/>
                  </a:lnTo>
                  <a:lnTo>
                    <a:pt x="70009" y="383726"/>
                  </a:lnTo>
                  <a:close/>
                </a:path>
                <a:path w="680084" h="607060">
                  <a:moveTo>
                    <a:pt x="631900" y="363859"/>
                  </a:moveTo>
                  <a:lnTo>
                    <a:pt x="616422" y="363859"/>
                  </a:lnTo>
                  <a:lnTo>
                    <a:pt x="616423" y="424582"/>
                  </a:lnTo>
                  <a:lnTo>
                    <a:pt x="300982" y="552121"/>
                  </a:lnTo>
                  <a:lnTo>
                    <a:pt x="342327" y="552121"/>
                  </a:lnTo>
                  <a:lnTo>
                    <a:pt x="620614" y="439597"/>
                  </a:lnTo>
                  <a:lnTo>
                    <a:pt x="666353" y="439597"/>
                  </a:lnTo>
                  <a:lnTo>
                    <a:pt x="631900" y="427370"/>
                  </a:lnTo>
                  <a:lnTo>
                    <a:pt x="631900" y="363859"/>
                  </a:lnTo>
                  <a:close/>
                </a:path>
                <a:path w="680084" h="607060">
                  <a:moveTo>
                    <a:pt x="121092" y="403844"/>
                  </a:moveTo>
                  <a:lnTo>
                    <a:pt x="78882" y="403844"/>
                  </a:lnTo>
                  <a:lnTo>
                    <a:pt x="300008" y="490971"/>
                  </a:lnTo>
                  <a:lnTo>
                    <a:pt x="302065" y="490971"/>
                  </a:lnTo>
                  <a:lnTo>
                    <a:pt x="342325" y="474692"/>
                  </a:lnTo>
                  <a:lnTo>
                    <a:pt x="300982" y="474692"/>
                  </a:lnTo>
                  <a:lnTo>
                    <a:pt x="121092" y="403844"/>
                  </a:lnTo>
                  <a:close/>
                </a:path>
                <a:path w="680084" h="607060">
                  <a:moveTo>
                    <a:pt x="670040" y="333932"/>
                  </a:moveTo>
                  <a:lnTo>
                    <a:pt x="601693" y="333932"/>
                  </a:lnTo>
                  <a:lnTo>
                    <a:pt x="634673" y="339352"/>
                  </a:lnTo>
                  <a:lnTo>
                    <a:pt x="634802" y="339352"/>
                  </a:lnTo>
                  <a:lnTo>
                    <a:pt x="634673" y="339501"/>
                  </a:lnTo>
                  <a:lnTo>
                    <a:pt x="300982" y="474692"/>
                  </a:lnTo>
                  <a:lnTo>
                    <a:pt x="342325" y="474692"/>
                  </a:lnTo>
                  <a:lnTo>
                    <a:pt x="616422" y="363859"/>
                  </a:lnTo>
                  <a:lnTo>
                    <a:pt x="631900" y="363859"/>
                  </a:lnTo>
                  <a:lnTo>
                    <a:pt x="631900" y="357509"/>
                  </a:lnTo>
                  <a:lnTo>
                    <a:pt x="669497" y="341604"/>
                  </a:lnTo>
                  <a:lnTo>
                    <a:pt x="671367" y="337062"/>
                  </a:lnTo>
                  <a:lnTo>
                    <a:pt x="670040" y="333932"/>
                  </a:lnTo>
                  <a:close/>
                </a:path>
                <a:path w="680084" h="607060">
                  <a:moveTo>
                    <a:pt x="47006" y="258684"/>
                  </a:moveTo>
                  <a:lnTo>
                    <a:pt x="46600" y="258684"/>
                  </a:lnTo>
                  <a:lnTo>
                    <a:pt x="42304" y="260555"/>
                  </a:lnTo>
                  <a:lnTo>
                    <a:pt x="40382" y="265440"/>
                  </a:lnTo>
                  <a:lnTo>
                    <a:pt x="40202" y="266401"/>
                  </a:lnTo>
                  <a:lnTo>
                    <a:pt x="40202" y="349218"/>
                  </a:lnTo>
                  <a:lnTo>
                    <a:pt x="42143" y="352076"/>
                  </a:lnTo>
                  <a:lnTo>
                    <a:pt x="299666" y="453509"/>
                  </a:lnTo>
                  <a:lnTo>
                    <a:pt x="301704" y="453509"/>
                  </a:lnTo>
                  <a:lnTo>
                    <a:pt x="342481" y="437255"/>
                  </a:lnTo>
                  <a:lnTo>
                    <a:pt x="300653" y="437255"/>
                  </a:lnTo>
                  <a:lnTo>
                    <a:pt x="55679" y="340759"/>
                  </a:lnTo>
                  <a:lnTo>
                    <a:pt x="55679" y="278732"/>
                  </a:lnTo>
                  <a:lnTo>
                    <a:pt x="97991" y="278732"/>
                  </a:lnTo>
                  <a:lnTo>
                    <a:pt x="47006" y="258684"/>
                  </a:lnTo>
                  <a:close/>
                </a:path>
                <a:path w="680084" h="607060">
                  <a:moveTo>
                    <a:pt x="608574" y="257174"/>
                  </a:moveTo>
                  <a:lnTo>
                    <a:pt x="593084" y="257174"/>
                  </a:lnTo>
                  <a:lnTo>
                    <a:pt x="593097" y="320660"/>
                  </a:lnTo>
                  <a:lnTo>
                    <a:pt x="300653" y="437255"/>
                  </a:lnTo>
                  <a:lnTo>
                    <a:pt x="342481" y="437255"/>
                  </a:lnTo>
                  <a:lnTo>
                    <a:pt x="601693" y="333932"/>
                  </a:lnTo>
                  <a:lnTo>
                    <a:pt x="670040" y="333932"/>
                  </a:lnTo>
                  <a:lnTo>
                    <a:pt x="668658" y="330674"/>
                  </a:lnTo>
                  <a:lnTo>
                    <a:pt x="666401" y="328932"/>
                  </a:lnTo>
                  <a:lnTo>
                    <a:pt x="608574" y="319369"/>
                  </a:lnTo>
                  <a:lnTo>
                    <a:pt x="608574" y="257174"/>
                  </a:lnTo>
                  <a:close/>
                </a:path>
                <a:path w="680084" h="607060">
                  <a:moveTo>
                    <a:pt x="97991" y="278732"/>
                  </a:moveTo>
                  <a:lnTo>
                    <a:pt x="55679" y="278732"/>
                  </a:lnTo>
                  <a:lnTo>
                    <a:pt x="300008" y="374828"/>
                  </a:lnTo>
                  <a:lnTo>
                    <a:pt x="302065" y="374828"/>
                  </a:lnTo>
                  <a:lnTo>
                    <a:pt x="342333" y="358548"/>
                  </a:lnTo>
                  <a:lnTo>
                    <a:pt x="300982" y="358548"/>
                  </a:lnTo>
                  <a:lnTo>
                    <a:pt x="97991" y="278732"/>
                  </a:lnTo>
                  <a:close/>
                </a:path>
                <a:path w="680084" h="607060">
                  <a:moveTo>
                    <a:pt x="666382" y="207310"/>
                  </a:moveTo>
                  <a:lnTo>
                    <a:pt x="620614" y="207310"/>
                  </a:lnTo>
                  <a:lnTo>
                    <a:pt x="649183" y="217634"/>
                  </a:lnTo>
                  <a:lnTo>
                    <a:pt x="649183" y="217782"/>
                  </a:lnTo>
                  <a:lnTo>
                    <a:pt x="300982" y="358548"/>
                  </a:lnTo>
                  <a:lnTo>
                    <a:pt x="342333" y="358548"/>
                  </a:lnTo>
                  <a:lnTo>
                    <a:pt x="593084" y="257174"/>
                  </a:lnTo>
                  <a:lnTo>
                    <a:pt x="608574" y="257174"/>
                  </a:lnTo>
                  <a:lnTo>
                    <a:pt x="608574" y="250896"/>
                  </a:lnTo>
                  <a:lnTo>
                    <a:pt x="678009" y="222815"/>
                  </a:lnTo>
                  <a:lnTo>
                    <a:pt x="679944" y="218305"/>
                  </a:lnTo>
                  <a:lnTo>
                    <a:pt x="677493" y="212278"/>
                  </a:lnTo>
                  <a:lnTo>
                    <a:pt x="675881" y="210678"/>
                  </a:lnTo>
                  <a:lnTo>
                    <a:pt x="666382" y="207310"/>
                  </a:lnTo>
                  <a:close/>
                </a:path>
                <a:path w="680084" h="607060">
                  <a:moveTo>
                    <a:pt x="70008" y="151438"/>
                  </a:moveTo>
                  <a:lnTo>
                    <a:pt x="65520" y="153393"/>
                  </a:lnTo>
                  <a:lnTo>
                    <a:pt x="63598" y="158278"/>
                  </a:lnTo>
                  <a:lnTo>
                    <a:pt x="63418" y="159239"/>
                  </a:lnTo>
                  <a:lnTo>
                    <a:pt x="63418" y="240817"/>
                  </a:lnTo>
                  <a:lnTo>
                    <a:pt x="65359" y="243676"/>
                  </a:lnTo>
                  <a:lnTo>
                    <a:pt x="300008" y="336113"/>
                  </a:lnTo>
                  <a:lnTo>
                    <a:pt x="302065" y="336113"/>
                  </a:lnTo>
                  <a:lnTo>
                    <a:pt x="342327" y="319834"/>
                  </a:lnTo>
                  <a:lnTo>
                    <a:pt x="300982" y="319834"/>
                  </a:lnTo>
                  <a:lnTo>
                    <a:pt x="78882" y="232339"/>
                  </a:lnTo>
                  <a:lnTo>
                    <a:pt x="78882" y="171557"/>
                  </a:lnTo>
                  <a:lnTo>
                    <a:pt x="121092" y="171557"/>
                  </a:lnTo>
                  <a:lnTo>
                    <a:pt x="70008" y="151438"/>
                  </a:lnTo>
                  <a:close/>
                </a:path>
                <a:path w="680084" h="607060">
                  <a:moveTo>
                    <a:pt x="631900" y="131571"/>
                  </a:moveTo>
                  <a:lnTo>
                    <a:pt x="616422" y="131571"/>
                  </a:lnTo>
                  <a:lnTo>
                    <a:pt x="616422" y="192295"/>
                  </a:lnTo>
                  <a:lnTo>
                    <a:pt x="300982" y="319834"/>
                  </a:lnTo>
                  <a:lnTo>
                    <a:pt x="342327" y="319834"/>
                  </a:lnTo>
                  <a:lnTo>
                    <a:pt x="620614" y="207310"/>
                  </a:lnTo>
                  <a:lnTo>
                    <a:pt x="666382" y="207310"/>
                  </a:lnTo>
                  <a:lnTo>
                    <a:pt x="631900" y="195082"/>
                  </a:lnTo>
                  <a:lnTo>
                    <a:pt x="631900" y="131571"/>
                  </a:lnTo>
                  <a:close/>
                </a:path>
                <a:path w="680084" h="607060">
                  <a:moveTo>
                    <a:pt x="121092" y="171557"/>
                  </a:moveTo>
                  <a:lnTo>
                    <a:pt x="78882" y="171557"/>
                  </a:lnTo>
                  <a:lnTo>
                    <a:pt x="300008" y="258684"/>
                  </a:lnTo>
                  <a:lnTo>
                    <a:pt x="302065" y="258684"/>
                  </a:lnTo>
                  <a:lnTo>
                    <a:pt x="342325" y="242404"/>
                  </a:lnTo>
                  <a:lnTo>
                    <a:pt x="300982" y="242404"/>
                  </a:lnTo>
                  <a:lnTo>
                    <a:pt x="121092" y="171557"/>
                  </a:lnTo>
                  <a:close/>
                </a:path>
                <a:path w="680084" h="607060">
                  <a:moveTo>
                    <a:pt x="447433" y="16131"/>
                  </a:moveTo>
                  <a:lnTo>
                    <a:pt x="402751" y="16131"/>
                  </a:lnTo>
                  <a:lnTo>
                    <a:pt x="641315" y="104277"/>
                  </a:lnTo>
                  <a:lnTo>
                    <a:pt x="641444" y="104277"/>
                  </a:lnTo>
                  <a:lnTo>
                    <a:pt x="641315" y="104426"/>
                  </a:lnTo>
                  <a:lnTo>
                    <a:pt x="300982" y="242404"/>
                  </a:lnTo>
                  <a:lnTo>
                    <a:pt x="342325" y="242404"/>
                  </a:lnTo>
                  <a:lnTo>
                    <a:pt x="616422" y="131571"/>
                  </a:lnTo>
                  <a:lnTo>
                    <a:pt x="631900" y="131571"/>
                  </a:lnTo>
                  <a:lnTo>
                    <a:pt x="631900" y="125222"/>
                  </a:lnTo>
                  <a:lnTo>
                    <a:pt x="669497" y="109317"/>
                  </a:lnTo>
                  <a:lnTo>
                    <a:pt x="671302" y="104774"/>
                  </a:lnTo>
                  <a:lnTo>
                    <a:pt x="669690" y="100832"/>
                  </a:lnTo>
                  <a:lnTo>
                    <a:pt x="668852" y="98864"/>
                  </a:lnTo>
                  <a:lnTo>
                    <a:pt x="667239" y="97328"/>
                  </a:lnTo>
                  <a:lnTo>
                    <a:pt x="447433" y="161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059551" y="5347208"/>
            <a:ext cx="10718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C0504D"/>
                </a:solidFill>
                <a:latin typeface="Calibri"/>
                <a:cs typeface="Calibri"/>
              </a:rPr>
              <a:t>new/update/delete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75033" y="6558915"/>
            <a:ext cx="11620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5"/>
              </a:lnSpc>
            </a:pPr>
            <a:r>
              <a:rPr sz="900" spc="-25" dirty="0">
                <a:latin typeface="Calibri"/>
                <a:cs typeface="Calibri"/>
              </a:rPr>
              <a:t>14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7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configure</a:t>
            </a:r>
            <a:r>
              <a:rPr spc="-100" dirty="0"/>
              <a:t> </a:t>
            </a:r>
            <a:r>
              <a:rPr dirty="0"/>
              <a:t>datasets</a:t>
            </a:r>
            <a:r>
              <a:rPr spc="-9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wis2box:</a:t>
            </a:r>
            <a:r>
              <a:rPr spc="-65" dirty="0"/>
              <a:t> </a:t>
            </a:r>
            <a:r>
              <a:rPr dirty="0"/>
              <a:t>using</a:t>
            </a:r>
            <a:r>
              <a:rPr spc="-9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dataset</a:t>
            </a:r>
            <a:r>
              <a:rPr spc="-95" dirty="0"/>
              <a:t> </a:t>
            </a:r>
            <a:r>
              <a:rPr spc="-10" dirty="0"/>
              <a:t>editor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962078" y="1955050"/>
            <a:ext cx="5824855" cy="4873625"/>
            <a:chOff x="5962078" y="1955050"/>
            <a:chExt cx="5824855" cy="48736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2736" y="1964574"/>
              <a:ext cx="5663666" cy="48108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66840" y="1959813"/>
              <a:ext cx="5815330" cy="4864100"/>
            </a:xfrm>
            <a:custGeom>
              <a:avLst/>
              <a:gdLst/>
              <a:ahLst/>
              <a:cxnLst/>
              <a:rect l="l" t="t" r="r" b="b"/>
              <a:pathLst>
                <a:path w="5815330" h="4864100">
                  <a:moveTo>
                    <a:pt x="0" y="4864100"/>
                  </a:moveTo>
                  <a:lnTo>
                    <a:pt x="5815330" y="4864100"/>
                  </a:lnTo>
                  <a:lnTo>
                    <a:pt x="5815330" y="0"/>
                  </a:lnTo>
                  <a:lnTo>
                    <a:pt x="0" y="0"/>
                  </a:lnTo>
                  <a:lnTo>
                    <a:pt x="0" y="486410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6193535" y="802640"/>
            <a:ext cx="5998845" cy="1077595"/>
          </a:xfrm>
          <a:custGeom>
            <a:avLst/>
            <a:gdLst/>
            <a:ahLst/>
            <a:cxnLst/>
            <a:rect l="l" t="t" r="r" b="b"/>
            <a:pathLst>
              <a:path w="5998845" h="1077595">
                <a:moveTo>
                  <a:pt x="5998464" y="0"/>
                </a:moveTo>
                <a:lnTo>
                  <a:pt x="0" y="0"/>
                </a:lnTo>
                <a:lnTo>
                  <a:pt x="0" y="1077214"/>
                </a:lnTo>
                <a:lnTo>
                  <a:pt x="5998464" y="1077214"/>
                </a:lnTo>
                <a:lnTo>
                  <a:pt x="59984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72910" y="823722"/>
            <a:ext cx="548068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8785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Step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1.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Define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metadata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validate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form </a:t>
            </a:r>
            <a:r>
              <a:rPr sz="1600" b="1" dirty="0">
                <a:latin typeface="Calibri"/>
                <a:cs typeface="Calibri"/>
              </a:rPr>
              <a:t>Step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2.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Define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plugins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Step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3.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Provide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Authentication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45" dirty="0">
                <a:latin typeface="Calibri"/>
                <a:cs typeface="Calibri"/>
              </a:rPr>
              <a:t>Token </a:t>
            </a:r>
            <a:r>
              <a:rPr sz="1600" spc="-10" dirty="0">
                <a:latin typeface="Calibri"/>
                <a:cs typeface="Calibri"/>
              </a:rPr>
              <a:t>(created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wis2box-</a:t>
            </a:r>
            <a:r>
              <a:rPr sz="1600" spc="-10" dirty="0">
                <a:latin typeface="Calibri"/>
                <a:cs typeface="Calibri"/>
              </a:rPr>
              <a:t>admin)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Step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4.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Submit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dataset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publication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9316" y="762544"/>
            <a:ext cx="5605780" cy="6100445"/>
            <a:chOff x="219316" y="762544"/>
            <a:chExt cx="5605780" cy="610044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841" y="772157"/>
              <a:ext cx="5586476" cy="60858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4078" y="767307"/>
              <a:ext cx="5596255" cy="6090920"/>
            </a:xfrm>
            <a:custGeom>
              <a:avLst/>
              <a:gdLst/>
              <a:ahLst/>
              <a:cxnLst/>
              <a:rect l="l" t="t" r="r" b="b"/>
              <a:pathLst>
                <a:path w="5596255" h="6090920">
                  <a:moveTo>
                    <a:pt x="5596001" y="6090692"/>
                  </a:moveTo>
                  <a:lnTo>
                    <a:pt x="5596001" y="0"/>
                  </a:lnTo>
                  <a:lnTo>
                    <a:pt x="0" y="0"/>
                  </a:lnTo>
                  <a:lnTo>
                    <a:pt x="0" y="6090692"/>
                  </a:lnTo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9787" y="2241804"/>
            <a:ext cx="10167620" cy="25095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b="1" dirty="0">
                <a:solidFill>
                  <a:srgbClr val="0033CC"/>
                </a:solidFill>
                <a:latin typeface="Arial"/>
                <a:cs typeface="Arial"/>
              </a:rPr>
              <a:t>Data</a:t>
            </a:r>
            <a:r>
              <a:rPr sz="2400" b="1" spc="-3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33CC"/>
                </a:solidFill>
                <a:latin typeface="Arial"/>
                <a:cs typeface="Arial"/>
              </a:rPr>
              <a:t>Mappings</a:t>
            </a:r>
            <a:r>
              <a:rPr sz="2400" b="1" spc="-5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map</a:t>
            </a:r>
            <a:r>
              <a:rPr sz="2400" spc="-4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specific</a:t>
            </a:r>
            <a:r>
              <a:rPr sz="2400" spc="-3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6FAC46"/>
                </a:solidFill>
                <a:latin typeface="Arial"/>
                <a:cs typeface="Arial"/>
              </a:rPr>
              <a:t>dataset</a:t>
            </a:r>
            <a:r>
              <a:rPr sz="2400" b="1" spc="-30" dirty="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set</a:t>
            </a:r>
            <a:r>
              <a:rPr sz="2400" spc="-4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33CC"/>
                </a:solidFill>
                <a:latin typeface="Arial"/>
                <a:cs typeface="Arial"/>
              </a:rPr>
              <a:t>data</a:t>
            </a:r>
            <a:r>
              <a:rPr sz="2400" b="1" spc="-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Arial"/>
                <a:cs typeface="Arial"/>
              </a:rPr>
              <a:t>plugins</a:t>
            </a:r>
            <a:endParaRPr sz="2400">
              <a:latin typeface="Arial"/>
              <a:cs typeface="Arial"/>
            </a:endParaRPr>
          </a:p>
          <a:p>
            <a:pPr marL="12700" marR="415290">
              <a:lnSpc>
                <a:spcPts val="2590"/>
              </a:lnSpc>
              <a:spcBef>
                <a:spcPts val="1040"/>
              </a:spcBef>
            </a:pP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Data</a:t>
            </a:r>
            <a:r>
              <a:rPr sz="2400" spc="-7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plugins</a:t>
            </a:r>
            <a:r>
              <a:rPr sz="2400" spc="-4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use</a:t>
            </a:r>
            <a:r>
              <a:rPr sz="2400" spc="-7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an</a:t>
            </a:r>
            <a:r>
              <a:rPr sz="2400" spc="-7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abstract</a:t>
            </a:r>
            <a:r>
              <a:rPr sz="2400" spc="-6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6FAC46"/>
                </a:solidFill>
                <a:latin typeface="Arial MT"/>
                <a:cs typeface="Arial MT"/>
              </a:rPr>
              <a:t>model/approach</a:t>
            </a:r>
            <a:r>
              <a:rPr sz="2400" spc="-5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enable</a:t>
            </a:r>
            <a:r>
              <a:rPr sz="2400" spc="-4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extensibility</a:t>
            </a:r>
            <a:r>
              <a:rPr sz="2400" spc="-3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6FAC46"/>
                </a:solidFill>
                <a:latin typeface="Arial MT"/>
                <a:cs typeface="Arial MT"/>
              </a:rPr>
              <a:t>and </a:t>
            </a:r>
            <a:r>
              <a:rPr sz="2400" spc="-10" dirty="0">
                <a:solidFill>
                  <a:srgbClr val="6FAC46"/>
                </a:solidFill>
                <a:latin typeface="Arial MT"/>
                <a:cs typeface="Arial MT"/>
              </a:rPr>
              <a:t>reuse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ts val="3600"/>
              </a:lnSpc>
              <a:spcBef>
                <a:spcPts val="190"/>
              </a:spcBef>
            </a:pP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33CC"/>
                </a:solidFill>
                <a:latin typeface="Arial"/>
                <a:cs typeface="Arial"/>
              </a:rPr>
              <a:t>data</a:t>
            </a:r>
            <a:r>
              <a:rPr sz="2400" b="1" spc="-6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33CC"/>
                </a:solidFill>
                <a:latin typeface="Arial"/>
                <a:cs typeface="Arial"/>
              </a:rPr>
              <a:t>plugin</a:t>
            </a:r>
            <a:r>
              <a:rPr sz="2400" b="1" spc="-7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defines</a:t>
            </a:r>
            <a:r>
              <a:rPr sz="2400" spc="-4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actions</a:t>
            </a:r>
            <a:r>
              <a:rPr sz="2400" spc="-5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taken</a:t>
            </a:r>
            <a:r>
              <a:rPr sz="2400" spc="-4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33CC"/>
                </a:solidFill>
                <a:latin typeface="Arial"/>
                <a:cs typeface="Arial"/>
              </a:rPr>
              <a:t>transform</a:t>
            </a:r>
            <a:r>
              <a:rPr sz="2400" b="1" spc="-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33CC"/>
                </a:solidFill>
                <a:latin typeface="Arial"/>
                <a:cs typeface="Arial"/>
              </a:rPr>
              <a:t>publish</a:t>
            </a:r>
            <a:r>
              <a:rPr sz="2400" b="1" spc="-7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6FAC46"/>
                </a:solidFill>
                <a:latin typeface="Arial MT"/>
                <a:cs typeface="Arial MT"/>
              </a:rPr>
              <a:t>data </a:t>
            </a:r>
            <a:r>
              <a:rPr sz="2400" dirty="0">
                <a:solidFill>
                  <a:srgbClr val="6FAC46"/>
                </a:solidFill>
                <a:latin typeface="Arial MT"/>
                <a:cs typeface="Arial MT"/>
              </a:rPr>
              <a:t>See</a:t>
            </a:r>
            <a:r>
              <a:rPr sz="2400" spc="25" dirty="0">
                <a:solidFill>
                  <a:srgbClr val="6FAC46"/>
                </a:solid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github.com/wmo-im/wis2box/tree/main/wis2box-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355"/>
              </a:lnSpc>
            </a:pP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management/wis2box/data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75033" y="6420383"/>
            <a:ext cx="178435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90"/>
              </a:lnSpc>
            </a:pP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755"/>
              </a:lnSpc>
            </a:pPr>
            <a:r>
              <a:rPr sz="900" spc="-25" dirty="0"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9515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Datasets</a:t>
            </a:r>
            <a:r>
              <a:rPr spc="-100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wis2box:</a:t>
            </a:r>
            <a:r>
              <a:rPr spc="-85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spc="-10" dirty="0"/>
              <a:t>plugins</a:t>
            </a:r>
          </a:p>
        </p:txBody>
      </p:sp>
      <p:pic>
        <p:nvPicPr>
          <p:cNvPr id="8" name="object 8" descr="Input, system, operation, process, insert icon - Download on Iconfinder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0473" y="1073403"/>
            <a:ext cx="1051052" cy="105105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773047" y="4822399"/>
            <a:ext cx="10424160" cy="1968500"/>
            <a:chOff x="1773047" y="4822399"/>
            <a:chExt cx="10424160" cy="19685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7920" y="4914526"/>
              <a:ext cx="5204079" cy="17732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83094" y="4827161"/>
              <a:ext cx="5208905" cy="1958975"/>
            </a:xfrm>
            <a:custGeom>
              <a:avLst/>
              <a:gdLst/>
              <a:ahLst/>
              <a:cxnLst/>
              <a:rect l="l" t="t" r="r" b="b"/>
              <a:pathLst>
                <a:path w="5208905" h="1958975">
                  <a:moveTo>
                    <a:pt x="5208905" y="0"/>
                  </a:moveTo>
                  <a:lnTo>
                    <a:pt x="0" y="0"/>
                  </a:lnTo>
                  <a:lnTo>
                    <a:pt x="0" y="1958975"/>
                  </a:lnTo>
                  <a:lnTo>
                    <a:pt x="5208905" y="1958975"/>
                  </a:lnTo>
                </a:path>
              </a:pathLst>
            </a:custGeom>
            <a:ln w="9525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3047" y="5572683"/>
              <a:ext cx="4617720" cy="1077595"/>
            </a:xfrm>
            <a:custGeom>
              <a:avLst/>
              <a:gdLst/>
              <a:ahLst/>
              <a:cxnLst/>
              <a:rect l="l" t="t" r="r" b="b"/>
              <a:pathLst>
                <a:path w="4617720" h="1077595">
                  <a:moveTo>
                    <a:pt x="4617339" y="0"/>
                  </a:moveTo>
                  <a:lnTo>
                    <a:pt x="0" y="0"/>
                  </a:lnTo>
                  <a:lnTo>
                    <a:pt x="0" y="1077214"/>
                  </a:lnTo>
                  <a:lnTo>
                    <a:pt x="4617339" y="1077214"/>
                  </a:lnTo>
                  <a:lnTo>
                    <a:pt x="461733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52041" y="5591657"/>
            <a:ext cx="434149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NOTE: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600" spc="-40" dirty="0">
                <a:latin typeface="Trebuchet MS"/>
                <a:cs typeface="Trebuchet MS"/>
              </a:rPr>
              <a:t>Preconfigured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data-</a:t>
            </a:r>
            <a:r>
              <a:rPr sz="1600" spc="-10" dirty="0">
                <a:latin typeface="Trebuchet MS"/>
                <a:cs typeface="Trebuchet MS"/>
              </a:rPr>
              <a:t>plugins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in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data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mappings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for </a:t>
            </a:r>
            <a:r>
              <a:rPr sz="1600" spc="-65" dirty="0">
                <a:latin typeface="Trebuchet MS"/>
                <a:cs typeface="Trebuchet MS"/>
              </a:rPr>
              <a:t>template=“weather/surface-</a:t>
            </a:r>
            <a:r>
              <a:rPr sz="1600" dirty="0">
                <a:latin typeface="Trebuchet MS"/>
                <a:cs typeface="Trebuchet MS"/>
              </a:rPr>
              <a:t>based-</a:t>
            </a:r>
            <a:r>
              <a:rPr sz="1600" spc="-10" dirty="0">
                <a:latin typeface="Trebuchet MS"/>
                <a:cs typeface="Trebuchet MS"/>
              </a:rPr>
              <a:t>observations” </a:t>
            </a:r>
            <a:r>
              <a:rPr sz="1600" spc="-50" dirty="0">
                <a:latin typeface="Trebuchet MS"/>
                <a:cs typeface="Trebuchet MS"/>
              </a:rPr>
              <a:t>in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dataset-</a:t>
            </a:r>
            <a:r>
              <a:rPr sz="1600" spc="-95" dirty="0">
                <a:latin typeface="Trebuchet MS"/>
                <a:cs typeface="Trebuchet MS"/>
              </a:rPr>
              <a:t>editor,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can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be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adjusted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65" dirty="0">
                <a:latin typeface="Trebuchet MS"/>
                <a:cs typeface="Trebuchet MS"/>
              </a:rPr>
              <a:t>as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required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1503" y="5806630"/>
            <a:ext cx="796925" cy="460375"/>
          </a:xfrm>
          <a:custGeom>
            <a:avLst/>
            <a:gdLst/>
            <a:ahLst/>
            <a:cxnLst/>
            <a:rect l="l" t="t" r="r" b="b"/>
            <a:pathLst>
              <a:path w="796925" h="460375">
                <a:moveTo>
                  <a:pt x="632664" y="58359"/>
                </a:moveTo>
                <a:lnTo>
                  <a:pt x="0" y="410222"/>
                </a:lnTo>
                <a:lnTo>
                  <a:pt x="27812" y="460171"/>
                </a:lnTo>
                <a:lnTo>
                  <a:pt x="660443" y="108315"/>
                </a:lnTo>
                <a:lnTo>
                  <a:pt x="632664" y="58359"/>
                </a:lnTo>
                <a:close/>
              </a:path>
              <a:path w="796925" h="460375">
                <a:moveTo>
                  <a:pt x="765999" y="44488"/>
                </a:moveTo>
                <a:lnTo>
                  <a:pt x="657605" y="44488"/>
                </a:lnTo>
                <a:lnTo>
                  <a:pt x="685419" y="94424"/>
                </a:lnTo>
                <a:lnTo>
                  <a:pt x="660443" y="108315"/>
                </a:lnTo>
                <a:lnTo>
                  <a:pt x="688213" y="158254"/>
                </a:lnTo>
                <a:lnTo>
                  <a:pt x="765999" y="44488"/>
                </a:lnTo>
                <a:close/>
              </a:path>
              <a:path w="796925" h="460375">
                <a:moveTo>
                  <a:pt x="657605" y="44488"/>
                </a:moveTo>
                <a:lnTo>
                  <a:pt x="632664" y="58359"/>
                </a:lnTo>
                <a:lnTo>
                  <a:pt x="660443" y="108315"/>
                </a:lnTo>
                <a:lnTo>
                  <a:pt x="685419" y="94424"/>
                </a:lnTo>
                <a:lnTo>
                  <a:pt x="657605" y="44488"/>
                </a:lnTo>
                <a:close/>
              </a:path>
              <a:path w="796925" h="460375">
                <a:moveTo>
                  <a:pt x="796417" y="0"/>
                </a:moveTo>
                <a:lnTo>
                  <a:pt x="604901" y="8432"/>
                </a:lnTo>
                <a:lnTo>
                  <a:pt x="632664" y="58359"/>
                </a:lnTo>
                <a:lnTo>
                  <a:pt x="657605" y="44488"/>
                </a:lnTo>
                <a:lnTo>
                  <a:pt x="765999" y="44488"/>
                </a:lnTo>
                <a:lnTo>
                  <a:pt x="796417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45741"/>
            <a:ext cx="6182995" cy="2366645"/>
          </a:xfrm>
          <a:custGeom>
            <a:avLst/>
            <a:gdLst/>
            <a:ahLst/>
            <a:cxnLst/>
            <a:rect l="l" t="t" r="r" b="b"/>
            <a:pathLst>
              <a:path w="6182995" h="2366645">
                <a:moveTo>
                  <a:pt x="6182868" y="0"/>
                </a:moveTo>
                <a:lnTo>
                  <a:pt x="0" y="0"/>
                </a:lnTo>
                <a:lnTo>
                  <a:pt x="0" y="2366644"/>
                </a:lnTo>
                <a:lnTo>
                  <a:pt x="6182868" y="2366644"/>
                </a:lnTo>
                <a:lnTo>
                  <a:pt x="618286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3929">
              <a:lnSpc>
                <a:spcPct val="100000"/>
              </a:lnSpc>
              <a:spcBef>
                <a:spcPts val="100"/>
              </a:spcBef>
            </a:pPr>
            <a:r>
              <a:rPr dirty="0"/>
              <a:t>wis2box</a:t>
            </a:r>
            <a:r>
              <a:rPr spc="-95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spc="-10" dirty="0"/>
              <a:t>plugins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739" y="2209415"/>
            <a:ext cx="5974080" cy="23298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dirty="0">
                <a:latin typeface="Calibri"/>
                <a:cs typeface="Calibri"/>
              </a:rPr>
              <a:t>wis2box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contains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following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built-in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plugins: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wis2box.data.universal.UniversalData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wis2box.data.cap_message.CAPMessageData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wis2box.data.bufr4.ObservationDataBUFR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wis2box.data.synop2bufr.ObservationDataSYNOP2BUFR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wis2box.data.csv2bufr.ObservationDataCSV2BUFR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wis2box.data.bufr2geojson.ObservationDataBUFR2GeoJSON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0914" y="5336743"/>
            <a:ext cx="7719059" cy="366395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2000" b="1" i="1" dirty="0">
                <a:latin typeface="Calibri"/>
                <a:cs typeface="Calibri"/>
              </a:rPr>
              <a:t>Developers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are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encouraged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to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contribute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new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data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plugins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to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wis2box!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9146" y="1235963"/>
            <a:ext cx="5982842" cy="3723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2"/>
            <a:ext cx="12192000" cy="6858634"/>
            <a:chOff x="0" y="-62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825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73" y="-62"/>
              <a:ext cx="12188825" cy="90170"/>
            </a:xfrm>
            <a:custGeom>
              <a:avLst/>
              <a:gdLst/>
              <a:ahLst/>
              <a:cxnLst/>
              <a:rect l="l" t="t" r="r" b="b"/>
              <a:pathLst>
                <a:path w="12188825" h="90170">
                  <a:moveTo>
                    <a:pt x="12188825" y="0"/>
                  </a:moveTo>
                  <a:lnTo>
                    <a:pt x="0" y="0"/>
                  </a:lnTo>
                  <a:lnTo>
                    <a:pt x="0" y="90105"/>
                  </a:lnTo>
                  <a:lnTo>
                    <a:pt x="12188825" y="90105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45AB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10916" y="1466469"/>
            <a:ext cx="61683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Create</a:t>
            </a:r>
            <a:r>
              <a:rPr sz="4400" b="0" spc="-1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Discovery</a:t>
            </a:r>
            <a:r>
              <a:rPr sz="4400" b="0" spc="-20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Calibri"/>
                <a:cs typeface="Calibri"/>
              </a:rPr>
              <a:t>Metadata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one</a:t>
            </a:r>
            <a:r>
              <a:rPr spc="-25" dirty="0"/>
              <a:t> of:</a:t>
            </a:r>
          </a:p>
          <a:p>
            <a:pPr marL="1905" algn="ctr">
              <a:lnSpc>
                <a:spcPct val="100000"/>
              </a:lnSpc>
              <a:spcBef>
                <a:spcPts val="2880"/>
              </a:spcBef>
            </a:pPr>
            <a:r>
              <a:rPr dirty="0"/>
              <a:t>-</a:t>
            </a:r>
            <a:r>
              <a:rPr spc="-80" dirty="0"/>
              <a:t> </a:t>
            </a:r>
            <a:r>
              <a:rPr spc="-30" dirty="0"/>
              <a:t>Your</a:t>
            </a:r>
            <a:r>
              <a:rPr spc="-70" dirty="0"/>
              <a:t> </a:t>
            </a:r>
            <a:r>
              <a:rPr spc="-10" dirty="0"/>
              <a:t>favorite</a:t>
            </a:r>
            <a:r>
              <a:rPr spc="-70" dirty="0"/>
              <a:t> </a:t>
            </a:r>
            <a:r>
              <a:rPr dirty="0"/>
              <a:t>text</a:t>
            </a:r>
            <a:r>
              <a:rPr spc="-95" dirty="0"/>
              <a:t> </a:t>
            </a:r>
            <a:r>
              <a:rPr spc="-10" dirty="0"/>
              <a:t>editor!</a:t>
            </a:r>
          </a:p>
          <a:p>
            <a:pPr marL="1905" algn="ctr">
              <a:lnSpc>
                <a:spcPct val="100000"/>
              </a:lnSpc>
            </a:pPr>
            <a:r>
              <a:rPr dirty="0"/>
              <a:t>-</a:t>
            </a:r>
            <a:r>
              <a:rPr spc="-55" dirty="0"/>
              <a:t> </a:t>
            </a:r>
            <a:r>
              <a:rPr spc="-30" dirty="0"/>
              <a:t>Your</a:t>
            </a:r>
            <a:r>
              <a:rPr spc="-40" dirty="0"/>
              <a:t> </a:t>
            </a:r>
            <a:r>
              <a:rPr dirty="0"/>
              <a:t>own</a:t>
            </a:r>
            <a:r>
              <a:rPr spc="-50" dirty="0"/>
              <a:t> </a:t>
            </a:r>
            <a:r>
              <a:rPr spc="-10" dirty="0"/>
              <a:t>wis2box-webapp</a:t>
            </a:r>
          </a:p>
          <a:p>
            <a:pPr algn="ctr">
              <a:lnSpc>
                <a:spcPct val="100000"/>
              </a:lnSpc>
              <a:tabLst>
                <a:tab pos="286385" algn="l"/>
              </a:tabLst>
            </a:pPr>
            <a:r>
              <a:rPr dirty="0"/>
              <a:t>-	WIS2</a:t>
            </a:r>
            <a:r>
              <a:rPr spc="-60" dirty="0"/>
              <a:t> </a:t>
            </a:r>
            <a:r>
              <a:rPr spc="-10" dirty="0"/>
              <a:t>Metadata</a:t>
            </a:r>
            <a:r>
              <a:rPr spc="-80" dirty="0"/>
              <a:t> </a:t>
            </a:r>
            <a:r>
              <a:rPr dirty="0"/>
              <a:t>Editor</a:t>
            </a:r>
            <a:r>
              <a:rPr spc="-45" dirty="0"/>
              <a:t> </a:t>
            </a:r>
            <a:r>
              <a:rPr spc="-10" dirty="0"/>
              <a:t>(</a:t>
            </a:r>
            <a:r>
              <a:rPr lang="en-US" u="sng" spc="-10" dirty="0">
                <a:solidFill>
                  <a:srgbClr val="2B83CC"/>
                </a:solidFill>
                <a:uFill>
                  <a:solidFill>
                    <a:srgbClr val="2B83CC"/>
                  </a:solidFill>
                </a:uFill>
              </a:rPr>
              <a:t>your installed wis2box </a:t>
            </a:r>
            <a:r>
              <a:rPr spc="-10" dirty="0"/>
              <a:t>)</a:t>
            </a:r>
          </a:p>
          <a:p>
            <a:pPr algn="ctr">
              <a:lnSpc>
                <a:spcPct val="100000"/>
              </a:lnSpc>
              <a:tabLst>
                <a:tab pos="286385" algn="l"/>
              </a:tabLst>
            </a:pPr>
            <a:r>
              <a:rPr dirty="0"/>
              <a:t>-	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5064" y="4700244"/>
            <a:ext cx="9883140" cy="923925"/>
          </a:xfrm>
          <a:custGeom>
            <a:avLst/>
            <a:gdLst/>
            <a:ahLst/>
            <a:cxnLst/>
            <a:rect l="l" t="t" r="r" b="b"/>
            <a:pathLst>
              <a:path w="9883140" h="923925">
                <a:moveTo>
                  <a:pt x="9882759" y="0"/>
                </a:moveTo>
                <a:lnTo>
                  <a:pt x="0" y="0"/>
                </a:lnTo>
                <a:lnTo>
                  <a:pt x="0" y="923328"/>
                </a:lnTo>
                <a:lnTo>
                  <a:pt x="9882759" y="923328"/>
                </a:lnTo>
                <a:lnTo>
                  <a:pt x="9882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18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838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Trebuchet MS"/>
                <a:cs typeface="Trebuchet MS"/>
              </a:rPr>
              <a:t>Station</a:t>
            </a:r>
            <a:r>
              <a:rPr spc="-300" dirty="0">
                <a:latin typeface="Trebuchet MS"/>
                <a:cs typeface="Trebuchet MS"/>
              </a:rPr>
              <a:t> </a:t>
            </a:r>
            <a:r>
              <a:rPr spc="-25" dirty="0">
                <a:latin typeface="Trebuchet MS"/>
                <a:cs typeface="Trebuchet MS"/>
              </a:rPr>
              <a:t>metadata</a:t>
            </a:r>
            <a:r>
              <a:rPr spc="-275" dirty="0">
                <a:latin typeface="Trebuchet MS"/>
                <a:cs typeface="Trebuchet MS"/>
              </a:rPr>
              <a:t> </a:t>
            </a:r>
            <a:r>
              <a:rPr spc="-80" dirty="0">
                <a:latin typeface="Trebuchet MS"/>
                <a:cs typeface="Trebuchet MS"/>
              </a:rPr>
              <a:t>in</a:t>
            </a:r>
            <a:r>
              <a:rPr spc="-280" dirty="0">
                <a:latin typeface="Trebuchet MS"/>
                <a:cs typeface="Trebuchet MS"/>
              </a:rPr>
              <a:t> </a:t>
            </a:r>
            <a:r>
              <a:rPr spc="-95" dirty="0">
                <a:latin typeface="Trebuchet MS"/>
                <a:cs typeface="Trebuchet MS"/>
              </a:rPr>
              <a:t>the</a:t>
            </a:r>
            <a:r>
              <a:rPr spc="-30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wis2box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55064" y="4700244"/>
            <a:ext cx="988314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sz="1800" b="1" spc="-30" dirty="0">
                <a:latin typeface="Trebuchet MS"/>
                <a:cs typeface="Trebuchet MS"/>
              </a:rPr>
              <a:t>“stations”</a:t>
            </a:r>
            <a:r>
              <a:rPr sz="1800" b="1" spc="-24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collection</a:t>
            </a:r>
            <a:r>
              <a:rPr sz="1800" b="1" spc="-8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in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wis2box-</a:t>
            </a:r>
            <a:r>
              <a:rPr sz="1800" b="1" spc="-20" dirty="0">
                <a:latin typeface="Trebuchet MS"/>
                <a:cs typeface="Trebuchet MS"/>
              </a:rPr>
              <a:t>api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can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be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populated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in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multiple</a:t>
            </a:r>
            <a:r>
              <a:rPr sz="1800" b="1" spc="-11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ways:</a:t>
            </a:r>
            <a:endParaRPr sz="1800">
              <a:latin typeface="Trebuchet MS"/>
              <a:cs typeface="Trebuchet MS"/>
            </a:endParaRPr>
          </a:p>
          <a:p>
            <a:pPr marL="377825" indent="-286385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sz="1800" spc="-50" dirty="0">
                <a:latin typeface="Trebuchet MS"/>
                <a:cs typeface="Trebuchet MS"/>
              </a:rPr>
              <a:t>Provide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station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list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CSV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command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line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inside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wis2box-management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container</a:t>
            </a:r>
            <a:endParaRPr sz="1800">
              <a:latin typeface="Trebuchet MS"/>
              <a:cs typeface="Trebuchet MS"/>
            </a:endParaRPr>
          </a:p>
          <a:p>
            <a:pPr marL="377825" indent="-286385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sz="1800" spc="-75" dirty="0">
                <a:latin typeface="Trebuchet MS"/>
                <a:cs typeface="Trebuchet MS"/>
              </a:rPr>
              <a:t>Interactively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using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station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editor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inside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wis2box-</a:t>
            </a:r>
            <a:r>
              <a:rPr sz="1800" spc="-10" dirty="0">
                <a:latin typeface="Trebuchet MS"/>
                <a:cs typeface="Trebuchet MS"/>
              </a:rPr>
              <a:t>webapp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12138" y="1034084"/>
            <a:ext cx="5544185" cy="2867025"/>
            <a:chOff x="1612138" y="1034084"/>
            <a:chExt cx="5544185" cy="2867025"/>
          </a:xfrm>
        </p:grpSpPr>
        <p:sp>
          <p:nvSpPr>
            <p:cNvPr id="10" name="object 10"/>
            <p:cNvSpPr/>
            <p:nvPr/>
          </p:nvSpPr>
          <p:spPr>
            <a:xfrm>
              <a:off x="2411476" y="2663913"/>
              <a:ext cx="1835785" cy="652145"/>
            </a:xfrm>
            <a:custGeom>
              <a:avLst/>
              <a:gdLst/>
              <a:ahLst/>
              <a:cxnLst/>
              <a:rect l="l" t="t" r="r" b="b"/>
              <a:pathLst>
                <a:path w="1835785" h="652145">
                  <a:moveTo>
                    <a:pt x="1835657" y="0"/>
                  </a:moveTo>
                  <a:lnTo>
                    <a:pt x="0" y="0"/>
                  </a:lnTo>
                  <a:lnTo>
                    <a:pt x="0" y="651802"/>
                  </a:lnTo>
                  <a:lnTo>
                    <a:pt x="1835657" y="651802"/>
                  </a:lnTo>
                  <a:lnTo>
                    <a:pt x="183565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64353" y="2451989"/>
              <a:ext cx="2277745" cy="1434465"/>
            </a:xfrm>
            <a:custGeom>
              <a:avLst/>
              <a:gdLst/>
              <a:ahLst/>
              <a:cxnLst/>
              <a:rect l="l" t="t" r="r" b="b"/>
              <a:pathLst>
                <a:path w="2277745" h="1434464">
                  <a:moveTo>
                    <a:pt x="2277618" y="0"/>
                  </a:moveTo>
                  <a:lnTo>
                    <a:pt x="0" y="0"/>
                  </a:lnTo>
                  <a:lnTo>
                    <a:pt x="0" y="1434211"/>
                  </a:lnTo>
                  <a:lnTo>
                    <a:pt x="2277618" y="1434211"/>
                  </a:lnTo>
                  <a:lnTo>
                    <a:pt x="227761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4353" y="2451989"/>
              <a:ext cx="2277745" cy="1434465"/>
            </a:xfrm>
            <a:custGeom>
              <a:avLst/>
              <a:gdLst/>
              <a:ahLst/>
              <a:cxnLst/>
              <a:rect l="l" t="t" r="r" b="b"/>
              <a:pathLst>
                <a:path w="2277745" h="1434464">
                  <a:moveTo>
                    <a:pt x="0" y="1434211"/>
                  </a:moveTo>
                  <a:lnTo>
                    <a:pt x="2277618" y="1434211"/>
                  </a:lnTo>
                  <a:lnTo>
                    <a:pt x="2277618" y="0"/>
                  </a:lnTo>
                  <a:lnTo>
                    <a:pt x="0" y="0"/>
                  </a:lnTo>
                  <a:lnTo>
                    <a:pt x="0" y="1434211"/>
                  </a:lnTo>
                  <a:close/>
                </a:path>
              </a:pathLst>
            </a:custGeom>
            <a:ln w="28575">
              <a:solidFill>
                <a:srgbClr val="7B7B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Monitoring Ultimatearm Outlin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0078" y="3079470"/>
              <a:ext cx="699922" cy="69992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12138" y="1034084"/>
              <a:ext cx="2634615" cy="1038860"/>
            </a:xfrm>
            <a:custGeom>
              <a:avLst/>
              <a:gdLst/>
              <a:ahLst/>
              <a:cxnLst/>
              <a:rect l="l" t="t" r="r" b="b"/>
              <a:pathLst>
                <a:path w="2634615" h="1038860">
                  <a:moveTo>
                    <a:pt x="2634107" y="0"/>
                  </a:moveTo>
                  <a:lnTo>
                    <a:pt x="0" y="0"/>
                  </a:lnTo>
                  <a:lnTo>
                    <a:pt x="0" y="1038555"/>
                  </a:lnTo>
                  <a:lnTo>
                    <a:pt x="2634107" y="1038555"/>
                  </a:lnTo>
                  <a:lnTo>
                    <a:pt x="263410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12138" y="1034084"/>
            <a:ext cx="2634615" cy="103886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70"/>
              </a:spcBef>
            </a:pPr>
            <a:r>
              <a:rPr sz="1600" b="1" spc="-20" dirty="0">
                <a:solidFill>
                  <a:srgbClr val="0D0D0D"/>
                </a:solidFill>
                <a:latin typeface="Calibri"/>
                <a:cs typeface="Calibri"/>
              </a:rPr>
              <a:t>wis2box-</a:t>
            </a:r>
            <a:r>
              <a:rPr sz="1600" b="1" spc="-10" dirty="0">
                <a:solidFill>
                  <a:srgbClr val="0D0D0D"/>
                </a:solidFill>
                <a:latin typeface="Calibri"/>
                <a:cs typeface="Calibri"/>
              </a:rPr>
              <a:t>management</a:t>
            </a:r>
            <a:endParaRPr sz="1600">
              <a:latin typeface="Calibri"/>
              <a:cs typeface="Calibri"/>
            </a:endParaRPr>
          </a:p>
          <a:p>
            <a:pPr marL="1028700" marR="46355" indent="272415" algn="r">
              <a:lnSpc>
                <a:spcPct val="100000"/>
              </a:lnSpc>
              <a:spcBef>
                <a:spcPts val="1110"/>
              </a:spcBef>
            </a:pP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transform</a:t>
            </a:r>
            <a:r>
              <a:rPr sz="1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input</a:t>
            </a:r>
            <a:r>
              <a:rPr sz="1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D0D0D"/>
                </a:solidFill>
                <a:latin typeface="Calibri"/>
                <a:cs typeface="Calibri"/>
              </a:rPr>
              <a:t>data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WIS2</a:t>
            </a:r>
            <a:r>
              <a:rPr sz="1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notifications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WCMP2</a:t>
            </a:r>
            <a:r>
              <a:rPr sz="12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object 16" descr="Input, system, operation, process, insert icon - Download on Iconfinder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8817" y="1050467"/>
            <a:ext cx="692607" cy="69255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005578" y="2380007"/>
            <a:ext cx="1855470" cy="14395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600" b="1" spc="-10" dirty="0">
                <a:solidFill>
                  <a:srgbClr val="525252"/>
                </a:solidFill>
                <a:latin typeface="Calibri"/>
                <a:cs typeface="Calibri"/>
              </a:rPr>
              <a:t>web-interfaces</a:t>
            </a:r>
            <a:endParaRPr sz="1600">
              <a:latin typeface="Calibri"/>
              <a:cs typeface="Calibri"/>
            </a:endParaRPr>
          </a:p>
          <a:p>
            <a:pPr marL="833119" marR="5080" indent="376555" algn="r">
              <a:lnSpc>
                <a:spcPct val="100000"/>
              </a:lnSpc>
              <a:spcBef>
                <a:spcPts val="535"/>
              </a:spcBef>
            </a:pPr>
            <a:r>
              <a:rPr sz="1100" spc="-10" dirty="0">
                <a:latin typeface="Calibri"/>
                <a:cs typeface="Calibri"/>
              </a:rPr>
              <a:t>monitoring map-display timeseries </a:t>
            </a:r>
            <a:r>
              <a:rPr sz="1100" dirty="0">
                <a:latin typeface="Calibri"/>
                <a:cs typeface="Calibri"/>
              </a:rPr>
              <a:t>dataset-</a:t>
            </a:r>
            <a:r>
              <a:rPr sz="1100" spc="-10" dirty="0">
                <a:latin typeface="Calibri"/>
                <a:cs typeface="Calibri"/>
              </a:rPr>
              <a:t>editor FM-</a:t>
            </a:r>
            <a:r>
              <a:rPr sz="1100" dirty="0">
                <a:latin typeface="Calibri"/>
                <a:cs typeface="Calibri"/>
              </a:rPr>
              <a:t>12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input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form </a:t>
            </a:r>
            <a:r>
              <a:rPr sz="1100" b="1" spc="-10" dirty="0">
                <a:latin typeface="Calibri"/>
                <a:cs typeface="Calibri"/>
              </a:rPr>
              <a:t>station-editor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11476" y="2663913"/>
            <a:ext cx="1835785" cy="652145"/>
          </a:xfrm>
          <a:prstGeom prst="rect">
            <a:avLst/>
          </a:prstGeom>
          <a:ln w="19050">
            <a:solidFill>
              <a:srgbClr val="4471C4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0"/>
              </a:spcBef>
            </a:pPr>
            <a:r>
              <a:rPr sz="1800" b="1" spc="-10" dirty="0">
                <a:solidFill>
                  <a:srgbClr val="004F9F"/>
                </a:solidFill>
                <a:latin typeface="Calibri"/>
                <a:cs typeface="Calibri"/>
              </a:rPr>
              <a:t>wis2box-</a:t>
            </a:r>
            <a:r>
              <a:rPr sz="1800" b="1" spc="-25" dirty="0">
                <a:solidFill>
                  <a:srgbClr val="004F9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11932" y="2072639"/>
            <a:ext cx="1735455" cy="1181100"/>
            <a:chOff x="2511932" y="2072639"/>
            <a:chExt cx="1735455" cy="1181100"/>
          </a:xfrm>
        </p:grpSpPr>
        <p:pic>
          <p:nvPicPr>
            <p:cNvPr id="20" name="object 20" descr="opengeospatial - YouTube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0047" y="2663723"/>
              <a:ext cx="307060" cy="307060"/>
            </a:xfrm>
            <a:prstGeom prst="rect">
              <a:avLst/>
            </a:prstGeom>
          </p:spPr>
        </p:pic>
        <p:pic>
          <p:nvPicPr>
            <p:cNvPr id="21" name="object 21" descr="Home - pygeoapi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1932" y="3020466"/>
              <a:ext cx="852995" cy="23314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891154" y="2072639"/>
              <a:ext cx="76200" cy="591185"/>
            </a:xfrm>
            <a:custGeom>
              <a:avLst/>
              <a:gdLst/>
              <a:ahLst/>
              <a:cxnLst/>
              <a:rect l="l" t="t" r="r" b="b"/>
              <a:pathLst>
                <a:path w="76200" h="591185">
                  <a:moveTo>
                    <a:pt x="47625" y="63500"/>
                  </a:moveTo>
                  <a:lnTo>
                    <a:pt x="28575" y="63500"/>
                  </a:lnTo>
                  <a:lnTo>
                    <a:pt x="28575" y="591058"/>
                  </a:lnTo>
                  <a:lnTo>
                    <a:pt x="47625" y="591058"/>
                  </a:lnTo>
                  <a:lnTo>
                    <a:pt x="47625" y="63500"/>
                  </a:lnTo>
                  <a:close/>
                </a:path>
                <a:path w="76200" h="591185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591185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068829" y="2187702"/>
            <a:ext cx="821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1165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D0D0D"/>
                </a:solidFill>
                <a:latin typeface="Calibri"/>
                <a:cs typeface="Calibri"/>
              </a:rPr>
              <a:t>retrieve</a:t>
            </a:r>
            <a:r>
              <a:rPr sz="900" spc="5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station</a:t>
            </a:r>
            <a:r>
              <a:rPr sz="9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D0D0D"/>
                </a:solidFill>
                <a:latin typeface="Calibri"/>
                <a:cs typeface="Calibri"/>
              </a:rPr>
              <a:t>metadata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87165" y="2086991"/>
            <a:ext cx="76200" cy="594995"/>
          </a:xfrm>
          <a:custGeom>
            <a:avLst/>
            <a:gdLst/>
            <a:ahLst/>
            <a:cxnLst/>
            <a:rect l="l" t="t" r="r" b="b"/>
            <a:pathLst>
              <a:path w="76200" h="594994">
                <a:moveTo>
                  <a:pt x="28575" y="518413"/>
                </a:moveTo>
                <a:lnTo>
                  <a:pt x="0" y="518413"/>
                </a:lnTo>
                <a:lnTo>
                  <a:pt x="38100" y="594613"/>
                </a:lnTo>
                <a:lnTo>
                  <a:pt x="69850" y="531113"/>
                </a:lnTo>
                <a:lnTo>
                  <a:pt x="28575" y="531113"/>
                </a:lnTo>
                <a:lnTo>
                  <a:pt x="28575" y="518413"/>
                </a:lnTo>
                <a:close/>
              </a:path>
              <a:path w="76200" h="594994">
                <a:moveTo>
                  <a:pt x="47625" y="0"/>
                </a:moveTo>
                <a:lnTo>
                  <a:pt x="28575" y="0"/>
                </a:lnTo>
                <a:lnTo>
                  <a:pt x="28575" y="531113"/>
                </a:lnTo>
                <a:lnTo>
                  <a:pt x="47625" y="531113"/>
                </a:lnTo>
                <a:lnTo>
                  <a:pt x="47625" y="0"/>
                </a:lnTo>
                <a:close/>
              </a:path>
              <a:path w="76200" h="594994">
                <a:moveTo>
                  <a:pt x="76200" y="518413"/>
                </a:moveTo>
                <a:lnTo>
                  <a:pt x="47625" y="518413"/>
                </a:lnTo>
                <a:lnTo>
                  <a:pt x="47625" y="531113"/>
                </a:lnTo>
                <a:lnTo>
                  <a:pt x="69850" y="531113"/>
                </a:lnTo>
                <a:lnTo>
                  <a:pt x="76200" y="518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65016" y="2187702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Bulk</a:t>
            </a:r>
            <a:r>
              <a:rPr sz="9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D0D0D"/>
                </a:solidFill>
                <a:latin typeface="Calibri"/>
                <a:cs typeface="Calibri"/>
              </a:rPr>
              <a:t>publish</a:t>
            </a:r>
            <a:r>
              <a:rPr sz="900" spc="5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stations</a:t>
            </a:r>
            <a:r>
              <a:rPr sz="9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D0D0D"/>
                </a:solidFill>
                <a:latin typeface="Calibri"/>
                <a:cs typeface="Calibri"/>
              </a:rPr>
              <a:t>from</a:t>
            </a:r>
            <a:r>
              <a:rPr sz="9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0D0D0D"/>
                </a:solidFill>
                <a:latin typeface="Calibri"/>
                <a:cs typeface="Calibri"/>
              </a:rPr>
              <a:t>CSV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5269" y="2653525"/>
            <a:ext cx="4453255" cy="661670"/>
            <a:chOff x="455269" y="2653525"/>
            <a:chExt cx="4453255" cy="661670"/>
          </a:xfrm>
        </p:grpSpPr>
        <p:sp>
          <p:nvSpPr>
            <p:cNvPr id="27" name="object 27"/>
            <p:cNvSpPr/>
            <p:nvPr/>
          </p:nvSpPr>
          <p:spPr>
            <a:xfrm>
              <a:off x="4229100" y="2974466"/>
              <a:ext cx="678815" cy="340360"/>
            </a:xfrm>
            <a:custGeom>
              <a:avLst/>
              <a:gdLst/>
              <a:ahLst/>
              <a:cxnLst/>
              <a:rect l="l" t="t" r="r" b="b"/>
              <a:pathLst>
                <a:path w="678814" h="340360">
                  <a:moveTo>
                    <a:pt x="637921" y="185547"/>
                  </a:moveTo>
                  <a:lnTo>
                    <a:pt x="93776" y="27406"/>
                  </a:lnTo>
                  <a:lnTo>
                    <a:pt x="94792" y="23876"/>
                  </a:lnTo>
                  <a:lnTo>
                    <a:pt x="101727" y="0"/>
                  </a:lnTo>
                  <a:lnTo>
                    <a:pt x="18034" y="15240"/>
                  </a:lnTo>
                  <a:lnTo>
                    <a:pt x="80518" y="73152"/>
                  </a:lnTo>
                  <a:lnTo>
                    <a:pt x="88468" y="45707"/>
                  </a:lnTo>
                  <a:lnTo>
                    <a:pt x="632587" y="203835"/>
                  </a:lnTo>
                  <a:lnTo>
                    <a:pt x="637921" y="185547"/>
                  </a:lnTo>
                  <a:close/>
                </a:path>
                <a:path w="678814" h="340360">
                  <a:moveTo>
                    <a:pt x="678815" y="326644"/>
                  </a:moveTo>
                  <a:lnTo>
                    <a:pt x="668515" y="316738"/>
                  </a:lnTo>
                  <a:lnTo>
                    <a:pt x="617474" y="267589"/>
                  </a:lnTo>
                  <a:lnTo>
                    <a:pt x="608914" y="294792"/>
                  </a:lnTo>
                  <a:lnTo>
                    <a:pt x="5588" y="105918"/>
                  </a:lnTo>
                  <a:lnTo>
                    <a:pt x="0" y="124079"/>
                  </a:lnTo>
                  <a:lnTo>
                    <a:pt x="603199" y="312953"/>
                  </a:lnTo>
                  <a:lnTo>
                    <a:pt x="594614" y="340233"/>
                  </a:lnTo>
                  <a:lnTo>
                    <a:pt x="678815" y="326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5269" y="2653525"/>
              <a:ext cx="1189990" cy="499745"/>
            </a:xfrm>
            <a:custGeom>
              <a:avLst/>
              <a:gdLst/>
              <a:ahLst/>
              <a:cxnLst/>
              <a:rect l="l" t="t" r="r" b="b"/>
              <a:pathLst>
                <a:path w="1189989" h="499744">
                  <a:moveTo>
                    <a:pt x="1189621" y="0"/>
                  </a:moveTo>
                  <a:lnTo>
                    <a:pt x="0" y="0"/>
                  </a:lnTo>
                  <a:lnTo>
                    <a:pt x="0" y="499249"/>
                  </a:lnTo>
                  <a:lnTo>
                    <a:pt x="1189621" y="499249"/>
                  </a:lnTo>
                  <a:lnTo>
                    <a:pt x="1189621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5269" y="2653525"/>
            <a:ext cx="1189990" cy="4997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320"/>
              </a:spcBef>
            </a:pPr>
            <a:r>
              <a:rPr sz="1300" b="1" spc="-10" dirty="0">
                <a:solidFill>
                  <a:srgbClr val="004F9F"/>
                </a:solidFill>
                <a:latin typeface="Calibri"/>
                <a:cs typeface="Calibri"/>
              </a:rPr>
              <a:t>API-backend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0397" y="2779267"/>
            <a:ext cx="5501005" cy="1393190"/>
            <a:chOff x="540397" y="2779267"/>
            <a:chExt cx="5501005" cy="1393190"/>
          </a:xfrm>
        </p:grpSpPr>
        <p:sp>
          <p:nvSpPr>
            <p:cNvPr id="31" name="object 31"/>
            <p:cNvSpPr/>
            <p:nvPr/>
          </p:nvSpPr>
          <p:spPr>
            <a:xfrm>
              <a:off x="1644904" y="2779267"/>
              <a:ext cx="767080" cy="165100"/>
            </a:xfrm>
            <a:custGeom>
              <a:avLst/>
              <a:gdLst/>
              <a:ahLst/>
              <a:cxnLst/>
              <a:rect l="l" t="t" r="r" b="b"/>
              <a:pathLst>
                <a:path w="767080" h="165100">
                  <a:moveTo>
                    <a:pt x="766572" y="127127"/>
                  </a:moveTo>
                  <a:lnTo>
                    <a:pt x="747229" y="117348"/>
                  </a:lnTo>
                  <a:lnTo>
                    <a:pt x="702932" y="94945"/>
                  </a:lnTo>
                  <a:lnTo>
                    <a:pt x="702932" y="136398"/>
                  </a:lnTo>
                  <a:lnTo>
                    <a:pt x="690333" y="136398"/>
                  </a:lnTo>
                  <a:lnTo>
                    <a:pt x="702932" y="136398"/>
                  </a:lnTo>
                  <a:lnTo>
                    <a:pt x="702932" y="94945"/>
                  </a:lnTo>
                  <a:lnTo>
                    <a:pt x="690499" y="88646"/>
                  </a:lnTo>
                  <a:lnTo>
                    <a:pt x="690410" y="114427"/>
                  </a:lnTo>
                  <a:lnTo>
                    <a:pt x="690397" y="117297"/>
                  </a:lnTo>
                  <a:lnTo>
                    <a:pt x="0" y="114427"/>
                  </a:lnTo>
                  <a:lnTo>
                    <a:pt x="0" y="133477"/>
                  </a:lnTo>
                  <a:lnTo>
                    <a:pt x="690321" y="136347"/>
                  </a:lnTo>
                  <a:lnTo>
                    <a:pt x="690245" y="164846"/>
                  </a:lnTo>
                  <a:lnTo>
                    <a:pt x="747801" y="136398"/>
                  </a:lnTo>
                  <a:lnTo>
                    <a:pt x="766572" y="127127"/>
                  </a:lnTo>
                  <a:close/>
                </a:path>
                <a:path w="767080" h="165100">
                  <a:moveTo>
                    <a:pt x="766572" y="31369"/>
                  </a:moveTo>
                  <a:lnTo>
                    <a:pt x="76225" y="28511"/>
                  </a:lnTo>
                  <a:lnTo>
                    <a:pt x="76327" y="0"/>
                  </a:lnTo>
                  <a:lnTo>
                    <a:pt x="0" y="37719"/>
                  </a:lnTo>
                  <a:lnTo>
                    <a:pt x="76073" y="76200"/>
                  </a:lnTo>
                  <a:lnTo>
                    <a:pt x="76161" y="47561"/>
                  </a:lnTo>
                  <a:lnTo>
                    <a:pt x="766445" y="50419"/>
                  </a:lnTo>
                  <a:lnTo>
                    <a:pt x="766572" y="3136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0397" y="2920504"/>
              <a:ext cx="910539" cy="19988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965063" y="3886200"/>
              <a:ext cx="76200" cy="285750"/>
            </a:xfrm>
            <a:custGeom>
              <a:avLst/>
              <a:gdLst/>
              <a:ahLst/>
              <a:cxnLst/>
              <a:rect l="l" t="t" r="r" b="b"/>
              <a:pathLst>
                <a:path w="76200" h="285750">
                  <a:moveTo>
                    <a:pt x="47625" y="63500"/>
                  </a:moveTo>
                  <a:lnTo>
                    <a:pt x="28575" y="63500"/>
                  </a:lnTo>
                  <a:lnTo>
                    <a:pt x="28575" y="285750"/>
                  </a:lnTo>
                  <a:lnTo>
                    <a:pt x="47625" y="285750"/>
                  </a:lnTo>
                  <a:lnTo>
                    <a:pt x="47625" y="63500"/>
                  </a:lnTo>
                  <a:close/>
                </a:path>
                <a:path w="76200" h="285750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85750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505450" y="3909821"/>
            <a:ext cx="1278255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6755" marR="5080" indent="-10858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4F9F"/>
                </a:solidFill>
                <a:latin typeface="Calibri"/>
                <a:cs typeface="Calibri"/>
              </a:rPr>
              <a:t>Import</a:t>
            </a:r>
            <a:r>
              <a:rPr sz="900" spc="-40" dirty="0">
                <a:solidFill>
                  <a:srgbClr val="004F9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4F9F"/>
                </a:solidFill>
                <a:latin typeface="Calibri"/>
                <a:cs typeface="Calibri"/>
              </a:rPr>
              <a:t>station</a:t>
            </a:r>
            <a:r>
              <a:rPr sz="900" spc="500" dirty="0">
                <a:solidFill>
                  <a:srgbClr val="004F9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4F9F"/>
                </a:solidFill>
                <a:latin typeface="Calibri"/>
                <a:cs typeface="Calibri"/>
              </a:rPr>
              <a:t>metadata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4F9F"/>
                </a:solidFill>
                <a:latin typeface="Calibri"/>
                <a:cs typeface="Calibri"/>
              </a:rPr>
              <a:t>OSCAR/Surface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19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882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Trebuchet MS"/>
                <a:cs typeface="Trebuchet MS"/>
              </a:rPr>
              <a:t>Station</a:t>
            </a:r>
            <a:r>
              <a:rPr spc="-275" dirty="0">
                <a:latin typeface="Trebuchet MS"/>
                <a:cs typeface="Trebuchet MS"/>
              </a:rPr>
              <a:t> </a:t>
            </a:r>
            <a:r>
              <a:rPr spc="-25" dirty="0">
                <a:latin typeface="Trebuchet MS"/>
                <a:cs typeface="Trebuchet MS"/>
              </a:rPr>
              <a:t>metadata</a:t>
            </a:r>
            <a:r>
              <a:rPr spc="-25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used</a:t>
            </a:r>
            <a:r>
              <a:rPr spc="-254" dirty="0">
                <a:latin typeface="Trebuchet MS"/>
                <a:cs typeface="Trebuchet MS"/>
              </a:rPr>
              <a:t> </a:t>
            </a:r>
            <a:r>
              <a:rPr spc="-80" dirty="0">
                <a:latin typeface="Trebuchet MS"/>
                <a:cs typeface="Trebuchet MS"/>
              </a:rPr>
              <a:t>in</a:t>
            </a:r>
            <a:r>
              <a:rPr spc="-270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transformation</a:t>
            </a:r>
            <a:r>
              <a:rPr spc="-265" dirty="0">
                <a:latin typeface="Trebuchet MS"/>
                <a:cs typeface="Trebuchet MS"/>
              </a:rPr>
              <a:t> </a:t>
            </a:r>
            <a:r>
              <a:rPr spc="-70" dirty="0">
                <a:latin typeface="Trebuchet MS"/>
                <a:cs typeface="Trebuchet MS"/>
              </a:rPr>
              <a:t>to</a:t>
            </a:r>
            <a:r>
              <a:rPr spc="-280" dirty="0">
                <a:latin typeface="Trebuchet MS"/>
                <a:cs typeface="Trebuchet MS"/>
              </a:rPr>
              <a:t> </a:t>
            </a:r>
            <a:r>
              <a:rPr spc="-20" dirty="0">
                <a:latin typeface="Trebuchet MS"/>
                <a:cs typeface="Trebuchet MS"/>
              </a:rPr>
              <a:t>BUFR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5680" y="917295"/>
            <a:ext cx="10981690" cy="44151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FM-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12</a:t>
            </a:r>
            <a:r>
              <a:rPr sz="2000" u="sng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</a:t>
            </a:r>
            <a:r>
              <a:rPr sz="20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BUFR</a:t>
            </a:r>
            <a:r>
              <a:rPr sz="20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(synop2bufr)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latin typeface="Trebuchet MS"/>
                <a:cs typeface="Trebuchet MS"/>
              </a:rPr>
              <a:t>Add</a:t>
            </a:r>
            <a:r>
              <a:rPr sz="2000" b="1" spc="-165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the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65" dirty="0">
                <a:latin typeface="Trebuchet MS"/>
                <a:cs typeface="Trebuchet MS"/>
              </a:rPr>
              <a:t>WIGOS-</a:t>
            </a:r>
            <a:r>
              <a:rPr sz="2000" b="1" spc="-25" dirty="0">
                <a:latin typeface="Trebuchet MS"/>
                <a:cs typeface="Trebuchet MS"/>
              </a:rPr>
              <a:t>station-</a:t>
            </a:r>
            <a:r>
              <a:rPr sz="2000" b="1" spc="-20" dirty="0">
                <a:latin typeface="Trebuchet MS"/>
                <a:cs typeface="Trebuchet MS"/>
              </a:rPr>
              <a:t>ID</a:t>
            </a:r>
            <a:r>
              <a:rPr sz="2000" spc="-20" dirty="0">
                <a:latin typeface="Trebuchet MS"/>
                <a:cs typeface="Trebuchet MS"/>
              </a:rPr>
              <a:t>,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derived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by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matching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with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traditional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identifier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FM-</a:t>
            </a:r>
            <a:r>
              <a:rPr sz="2000" dirty="0">
                <a:latin typeface="Trebuchet MS"/>
                <a:cs typeface="Trebuchet MS"/>
              </a:rPr>
              <a:t>12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input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Add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the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latitude,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longitude</a:t>
            </a:r>
            <a:r>
              <a:rPr sz="2000" spc="-50" dirty="0">
                <a:latin typeface="Trebuchet MS"/>
                <a:cs typeface="Trebuchet MS"/>
              </a:rPr>
              <a:t>,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altitude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barometer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height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above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sea-</a:t>
            </a:r>
            <a:r>
              <a:rPr sz="2000" spc="-70" dirty="0">
                <a:latin typeface="Trebuchet MS"/>
                <a:cs typeface="Trebuchet MS"/>
              </a:rPr>
              <a:t>level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BUFR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content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5"/>
              </a:spcBef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u="sng" spc="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CSV</a:t>
            </a:r>
            <a:r>
              <a:rPr sz="2000" u="sng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</a:t>
            </a:r>
            <a:r>
              <a:rPr sz="20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BUFR</a:t>
            </a:r>
            <a:r>
              <a:rPr sz="20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(csv2bufr)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rebuchet MS"/>
                <a:cs typeface="Trebuchet MS"/>
              </a:rPr>
              <a:t>Check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65" dirty="0">
                <a:latin typeface="Trebuchet MS"/>
                <a:cs typeface="Trebuchet MS"/>
              </a:rPr>
              <a:t>WIGOS-</a:t>
            </a:r>
            <a:r>
              <a:rPr sz="2000" b="1" spc="-25" dirty="0">
                <a:latin typeface="Trebuchet MS"/>
                <a:cs typeface="Trebuchet MS"/>
              </a:rPr>
              <a:t>station-</a:t>
            </a:r>
            <a:r>
              <a:rPr sz="2000" b="1" spc="70" dirty="0">
                <a:latin typeface="Trebuchet MS"/>
                <a:cs typeface="Trebuchet MS"/>
              </a:rPr>
              <a:t>ID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input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station-</a:t>
            </a:r>
            <a:r>
              <a:rPr sz="2000" spc="-55" dirty="0">
                <a:latin typeface="Trebuchet MS"/>
                <a:cs typeface="Trebuchet MS"/>
              </a:rPr>
              <a:t>list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associated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topic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40" dirty="0">
                <a:latin typeface="Trebuchet MS"/>
                <a:cs typeface="Trebuchet MS"/>
              </a:rPr>
              <a:t>For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fixed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land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stations: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check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input-</a:t>
            </a:r>
            <a:r>
              <a:rPr sz="2000" spc="-50" dirty="0">
                <a:latin typeface="Trebuchet MS"/>
                <a:cs typeface="Trebuchet MS"/>
              </a:rPr>
              <a:t>data-</a:t>
            </a:r>
            <a:r>
              <a:rPr sz="2000" spc="-40" dirty="0">
                <a:latin typeface="Trebuchet MS"/>
                <a:cs typeface="Trebuchet MS"/>
              </a:rPr>
              <a:t>location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less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than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1km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station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metadata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location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40"/>
              </a:spcBef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BUFR</a:t>
            </a:r>
            <a:r>
              <a:rPr sz="2000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BUFR</a:t>
            </a:r>
            <a:r>
              <a:rPr sz="2000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(bufr2bufr)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latin typeface="Trebuchet MS"/>
                <a:cs typeface="Trebuchet MS"/>
              </a:rPr>
              <a:t>Splits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by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bulletin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check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65" dirty="0">
                <a:latin typeface="Trebuchet MS"/>
                <a:cs typeface="Trebuchet MS"/>
              </a:rPr>
              <a:t>WIGOS-</a:t>
            </a:r>
            <a:r>
              <a:rPr sz="2000" b="1" spc="-25" dirty="0">
                <a:latin typeface="Trebuchet MS"/>
                <a:cs typeface="Trebuchet MS"/>
              </a:rPr>
              <a:t>station-</a:t>
            </a:r>
            <a:r>
              <a:rPr sz="2000" b="1" spc="70" dirty="0">
                <a:latin typeface="Trebuchet MS"/>
                <a:cs typeface="Trebuchet MS"/>
              </a:rPr>
              <a:t>ID</a:t>
            </a:r>
            <a:r>
              <a:rPr sz="2000" b="1" spc="-19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station-</a:t>
            </a:r>
            <a:r>
              <a:rPr sz="2000" spc="-55" dirty="0">
                <a:latin typeface="Trebuchet MS"/>
                <a:cs typeface="Trebuchet MS"/>
              </a:rPr>
              <a:t>list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associated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topic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0" dirty="0">
                <a:latin typeface="Trebuchet MS"/>
                <a:cs typeface="Trebuchet MS"/>
              </a:rPr>
              <a:t>If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WIGOS-</a:t>
            </a:r>
            <a:r>
              <a:rPr sz="2000" spc="-45" dirty="0">
                <a:latin typeface="Trebuchet MS"/>
                <a:cs typeface="Trebuchet MS"/>
              </a:rPr>
              <a:t>station-</a:t>
            </a:r>
            <a:r>
              <a:rPr sz="2000" spc="50" dirty="0">
                <a:latin typeface="Trebuchet MS"/>
                <a:cs typeface="Trebuchet MS"/>
              </a:rPr>
              <a:t>ID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missing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add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it </a:t>
            </a:r>
            <a:r>
              <a:rPr sz="2000" spc="-95" dirty="0">
                <a:latin typeface="Trebuchet MS"/>
                <a:cs typeface="Trebuchet MS"/>
              </a:rPr>
              <a:t>(by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matching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with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traditional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identifier)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30" dirty="0">
                <a:latin typeface="Trebuchet MS"/>
                <a:cs typeface="Trebuchet MS"/>
              </a:rPr>
              <a:t>if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location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or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elevation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are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missing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input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BUFR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values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metadata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922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7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configure</a:t>
            </a:r>
            <a:r>
              <a:rPr spc="-100" dirty="0"/>
              <a:t> </a:t>
            </a:r>
            <a:r>
              <a:rPr dirty="0"/>
              <a:t>stations</a:t>
            </a:r>
            <a:r>
              <a:rPr spc="-75" dirty="0"/>
              <a:t> </a:t>
            </a:r>
            <a:r>
              <a:rPr dirty="0"/>
              <a:t>in</a:t>
            </a:r>
            <a:r>
              <a:rPr spc="-110" dirty="0"/>
              <a:t> </a:t>
            </a:r>
            <a:r>
              <a:rPr spc="-10" dirty="0"/>
              <a:t>wis2box-webapp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442078" y="1509647"/>
            <a:ext cx="6955155" cy="5294630"/>
            <a:chOff x="4442078" y="1509647"/>
            <a:chExt cx="6955155" cy="52946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5428" y="1522347"/>
              <a:ext cx="6857225" cy="52689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48428" y="1515997"/>
              <a:ext cx="6942455" cy="5281930"/>
            </a:xfrm>
            <a:custGeom>
              <a:avLst/>
              <a:gdLst/>
              <a:ahLst/>
              <a:cxnLst/>
              <a:rect l="l" t="t" r="r" b="b"/>
              <a:pathLst>
                <a:path w="6942455" h="5281930">
                  <a:moveTo>
                    <a:pt x="0" y="5281676"/>
                  </a:moveTo>
                  <a:lnTo>
                    <a:pt x="6941947" y="5281676"/>
                  </a:lnTo>
                  <a:lnTo>
                    <a:pt x="6941947" y="0"/>
                  </a:lnTo>
                  <a:lnTo>
                    <a:pt x="0" y="0"/>
                  </a:lnTo>
                  <a:lnTo>
                    <a:pt x="0" y="528167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0725" y="856615"/>
            <a:ext cx="10727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bri"/>
                <a:cs typeface="Calibri"/>
              </a:rPr>
              <a:t>You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wis2box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station-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editor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wis2box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webapp,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importing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OSCAR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&lt;wis2box-host-url&gt;/wis2box-</a:t>
            </a:r>
            <a:r>
              <a:rPr sz="18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webapp/station</a:t>
            </a:r>
            <a:r>
              <a:rPr sz="1800" u="sng" spc="50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2"/>
            <a:ext cx="12192000" cy="6858634"/>
            <a:chOff x="0" y="-62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825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73" y="-62"/>
              <a:ext cx="12188825" cy="90170"/>
            </a:xfrm>
            <a:custGeom>
              <a:avLst/>
              <a:gdLst/>
              <a:ahLst/>
              <a:cxnLst/>
              <a:rect l="l" t="t" r="r" b="b"/>
              <a:pathLst>
                <a:path w="12188825" h="90170">
                  <a:moveTo>
                    <a:pt x="12188825" y="0"/>
                  </a:moveTo>
                  <a:lnTo>
                    <a:pt x="0" y="0"/>
                  </a:lnTo>
                  <a:lnTo>
                    <a:pt x="0" y="90105"/>
                  </a:lnTo>
                  <a:lnTo>
                    <a:pt x="12188825" y="90105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45AB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62958" y="1466469"/>
            <a:ext cx="34651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Create</a:t>
            </a:r>
            <a:r>
              <a:rPr sz="4400" b="0" spc="-1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Calibri"/>
                <a:cs typeface="Calibri"/>
              </a:rPr>
              <a:t>Stations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346072" y="3424554"/>
            <a:ext cx="9499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one</a:t>
            </a:r>
            <a:r>
              <a:rPr spc="-25" dirty="0"/>
              <a:t> of:</a:t>
            </a:r>
          </a:p>
          <a:p>
            <a:pPr marL="1905" algn="ctr">
              <a:lnSpc>
                <a:spcPct val="100000"/>
              </a:lnSpc>
            </a:pPr>
            <a:r>
              <a:rPr dirty="0"/>
              <a:t>-</a:t>
            </a:r>
            <a:r>
              <a:rPr spc="-55" dirty="0"/>
              <a:t> </a:t>
            </a:r>
            <a:r>
              <a:rPr spc="-30" dirty="0"/>
              <a:t>Your</a:t>
            </a:r>
            <a:r>
              <a:rPr spc="-40" dirty="0"/>
              <a:t> </a:t>
            </a:r>
            <a:r>
              <a:rPr dirty="0"/>
              <a:t>own</a:t>
            </a:r>
            <a:r>
              <a:rPr spc="-50" dirty="0"/>
              <a:t> </a:t>
            </a:r>
            <a:r>
              <a:rPr spc="-10" dirty="0"/>
              <a:t>wis2box-webapp</a:t>
            </a:r>
          </a:p>
          <a:p>
            <a:pPr algn="ctr">
              <a:lnSpc>
                <a:spcPct val="100000"/>
              </a:lnSpc>
              <a:tabLst>
                <a:tab pos="286385" algn="l"/>
              </a:tabLst>
            </a:pPr>
            <a:r>
              <a:rPr dirty="0"/>
              <a:t>-	</a:t>
            </a: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2333" y="6517640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22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-6375"/>
            <a:ext cx="12204700" cy="747395"/>
            <a:chOff x="-6350" y="-6375"/>
            <a:chExt cx="12204700" cy="747395"/>
          </a:xfrm>
        </p:grpSpPr>
        <p:sp>
          <p:nvSpPr>
            <p:cNvPr id="4" name="object 4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12192000" y="0"/>
                  </a:moveTo>
                  <a:lnTo>
                    <a:pt x="0" y="0"/>
                  </a:lnTo>
                  <a:lnTo>
                    <a:pt x="0" y="734212"/>
                  </a:lnTo>
                  <a:lnTo>
                    <a:pt x="12192000" y="7342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34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25"/>
              <a:ext cx="12192000" cy="734695"/>
            </a:xfrm>
            <a:custGeom>
              <a:avLst/>
              <a:gdLst/>
              <a:ahLst/>
              <a:cxnLst/>
              <a:rect l="l" t="t" r="r" b="b"/>
              <a:pathLst>
                <a:path w="12192000" h="734695">
                  <a:moveTo>
                    <a:pt x="0" y="734212"/>
                  </a:moveTo>
                  <a:lnTo>
                    <a:pt x="12192000" y="734212"/>
                  </a:lnTo>
                  <a:lnTo>
                    <a:pt x="12192000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659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7" name="object 7"/>
          <p:cNvSpPr/>
          <p:nvPr/>
        </p:nvSpPr>
        <p:spPr>
          <a:xfrm>
            <a:off x="426313" y="841121"/>
            <a:ext cx="11632565" cy="3170555"/>
          </a:xfrm>
          <a:custGeom>
            <a:avLst/>
            <a:gdLst/>
            <a:ahLst/>
            <a:cxnLst/>
            <a:rect l="l" t="t" r="r" b="b"/>
            <a:pathLst>
              <a:path w="11632565" h="3170554">
                <a:moveTo>
                  <a:pt x="11632184" y="0"/>
                </a:moveTo>
                <a:lnTo>
                  <a:pt x="0" y="0"/>
                </a:lnTo>
                <a:lnTo>
                  <a:pt x="0" y="3170047"/>
                </a:lnTo>
                <a:lnTo>
                  <a:pt x="11632184" y="3170047"/>
                </a:lnTo>
                <a:lnTo>
                  <a:pt x="116321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5155" y="854456"/>
            <a:ext cx="1093279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80" dirty="0">
                <a:latin typeface="Trebuchet MS"/>
                <a:cs typeface="Trebuchet MS"/>
              </a:rPr>
              <a:t>To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publish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wis2box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you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must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0033CC"/>
                </a:solidFill>
                <a:latin typeface="Trebuchet MS"/>
                <a:cs typeface="Trebuchet MS"/>
              </a:rPr>
              <a:t>first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0033CC"/>
                </a:solidFill>
                <a:latin typeface="Trebuchet MS"/>
                <a:cs typeface="Trebuchet MS"/>
              </a:rPr>
              <a:t>define</a:t>
            </a:r>
            <a:r>
              <a:rPr sz="2000" b="1" spc="-16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a</a:t>
            </a:r>
            <a:r>
              <a:rPr sz="2000" b="1" spc="-1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dataset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publish</a:t>
            </a:r>
            <a:r>
              <a:rPr sz="2000" b="1" spc="-15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spc="50" dirty="0">
                <a:solidFill>
                  <a:srgbClr val="0033CC"/>
                </a:solidFill>
                <a:latin typeface="Trebuchet MS"/>
                <a:cs typeface="Trebuchet MS"/>
              </a:rPr>
              <a:t>WCMP2</a:t>
            </a:r>
            <a:endParaRPr sz="2000">
              <a:latin typeface="Trebuchet MS"/>
              <a:cs typeface="Trebuchet MS"/>
            </a:endParaRPr>
          </a:p>
          <a:p>
            <a:pPr marL="12700" marR="962025">
              <a:lnSpc>
                <a:spcPct val="200000"/>
              </a:lnSpc>
            </a:pPr>
            <a:r>
              <a:rPr sz="2000" spc="-25" dirty="0">
                <a:latin typeface="Trebuchet MS"/>
                <a:cs typeface="Trebuchet MS"/>
              </a:rPr>
              <a:t>In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wis2box,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datasets</a:t>
            </a:r>
            <a:r>
              <a:rPr sz="2000" b="1" spc="-1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define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both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0033CC"/>
                </a:solidFill>
                <a:latin typeface="Trebuchet MS"/>
                <a:cs typeface="Trebuchet MS"/>
              </a:rPr>
              <a:t>discovery</a:t>
            </a:r>
            <a:r>
              <a:rPr sz="2000" b="1" spc="-13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rebuchet MS"/>
                <a:cs typeface="Trebuchet MS"/>
              </a:rPr>
              <a:t>metadata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rebuchet MS"/>
                <a:cs typeface="Trebuchet MS"/>
              </a:rPr>
              <a:t>data</a:t>
            </a:r>
            <a:r>
              <a:rPr sz="2000" b="1" spc="-1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rebuchet MS"/>
                <a:cs typeface="Trebuchet MS"/>
              </a:rPr>
              <a:t>plugins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Data</a:t>
            </a:r>
            <a:r>
              <a:rPr sz="2000" b="1" spc="-16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plugins</a:t>
            </a:r>
            <a:r>
              <a:rPr sz="2000" b="1" spc="-13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determine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taken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b="1" spc="-30" dirty="0">
                <a:solidFill>
                  <a:srgbClr val="0033CC"/>
                </a:solidFill>
                <a:latin typeface="Trebuchet MS"/>
                <a:cs typeface="Trebuchet MS"/>
              </a:rPr>
              <a:t>transform</a:t>
            </a:r>
            <a:r>
              <a:rPr sz="2000" b="1" spc="-15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rebuchet MS"/>
                <a:cs typeface="Trebuchet MS"/>
              </a:rPr>
              <a:t>publish</a:t>
            </a:r>
            <a:r>
              <a:rPr sz="2000" b="1" spc="-15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Trebuchet MS"/>
                <a:cs typeface="Trebuchet MS"/>
              </a:rPr>
              <a:t>wis2box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includes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pre-</a:t>
            </a:r>
            <a:r>
              <a:rPr sz="2000" spc="-45" dirty="0">
                <a:latin typeface="Trebuchet MS"/>
                <a:cs typeface="Trebuchet MS"/>
              </a:rPr>
              <a:t>defined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plugins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enable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users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transform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BUFR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40" dirty="0">
                <a:latin typeface="Trebuchet MS"/>
                <a:cs typeface="Trebuchet MS"/>
              </a:rPr>
              <a:t>ecCodes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217804">
              <a:lnSpc>
                <a:spcPct val="100000"/>
              </a:lnSpc>
              <a:spcBef>
                <a:spcPts val="5"/>
              </a:spcBef>
            </a:pPr>
            <a:r>
              <a:rPr sz="2000" spc="-85" dirty="0">
                <a:latin typeface="Trebuchet MS"/>
                <a:cs typeface="Trebuchet MS"/>
              </a:rPr>
              <a:t>The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dataset-</a:t>
            </a:r>
            <a:r>
              <a:rPr sz="2000" b="1" spc="-60" dirty="0">
                <a:latin typeface="Trebuchet MS"/>
                <a:cs typeface="Trebuchet MS"/>
              </a:rPr>
              <a:t>editor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makes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it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easier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users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define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correct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data-plugin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their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data-</a:t>
            </a:r>
            <a:r>
              <a:rPr sz="2000" spc="-70" dirty="0">
                <a:latin typeface="Trebuchet MS"/>
                <a:cs typeface="Trebuchet MS"/>
              </a:rPr>
              <a:t>type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by </a:t>
            </a:r>
            <a:r>
              <a:rPr sz="2000" spc="-55" dirty="0">
                <a:latin typeface="Trebuchet MS"/>
                <a:cs typeface="Trebuchet MS"/>
              </a:rPr>
              <a:t>providing</a:t>
            </a:r>
            <a:r>
              <a:rPr sz="2000" spc="-28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“</a:t>
            </a:r>
            <a:r>
              <a:rPr sz="2000" b="1" spc="-35" dirty="0">
                <a:latin typeface="Trebuchet MS"/>
                <a:cs typeface="Trebuchet MS"/>
              </a:rPr>
              <a:t>templates</a:t>
            </a:r>
            <a:r>
              <a:rPr sz="2000" spc="-35" dirty="0">
                <a:latin typeface="Trebuchet MS"/>
                <a:cs typeface="Trebuchet MS"/>
              </a:rPr>
              <a:t>”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that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selected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when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creating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dataset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55381" y="4703762"/>
            <a:ext cx="3014345" cy="905510"/>
            <a:chOff x="7755381" y="4703762"/>
            <a:chExt cx="3014345" cy="905510"/>
          </a:xfrm>
        </p:grpSpPr>
        <p:sp>
          <p:nvSpPr>
            <p:cNvPr id="10" name="object 10"/>
            <p:cNvSpPr/>
            <p:nvPr/>
          </p:nvSpPr>
          <p:spPr>
            <a:xfrm>
              <a:off x="7755381" y="4703762"/>
              <a:ext cx="3014345" cy="905510"/>
            </a:xfrm>
            <a:custGeom>
              <a:avLst/>
              <a:gdLst/>
              <a:ahLst/>
              <a:cxnLst/>
              <a:rect l="l" t="t" r="r" b="b"/>
              <a:pathLst>
                <a:path w="3014345" h="905510">
                  <a:moveTo>
                    <a:pt x="3014091" y="0"/>
                  </a:moveTo>
                  <a:lnTo>
                    <a:pt x="0" y="0"/>
                  </a:lnTo>
                  <a:lnTo>
                    <a:pt x="0" y="905471"/>
                  </a:lnTo>
                  <a:lnTo>
                    <a:pt x="3014091" y="905471"/>
                  </a:lnTo>
                  <a:lnTo>
                    <a:pt x="3014091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MinIO | Understand the guidelines for using MinIO's mark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4267" y="4816487"/>
              <a:ext cx="939571" cy="1332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09432" y="5210809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4" h="331470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909432" y="5210809"/>
            <a:ext cx="1233805" cy="3314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36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incoming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797670" y="5197983"/>
            <a:ext cx="1892935" cy="335915"/>
            <a:chOff x="8797670" y="5197983"/>
            <a:chExt cx="1892935" cy="3359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7670" y="5223560"/>
              <a:ext cx="296811" cy="30982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457054" y="5197983"/>
              <a:ext cx="1233805" cy="331470"/>
            </a:xfrm>
            <a:custGeom>
              <a:avLst/>
              <a:gdLst/>
              <a:ahLst/>
              <a:cxnLst/>
              <a:rect l="l" t="t" r="r" b="b"/>
              <a:pathLst>
                <a:path w="1233804" h="331470">
                  <a:moveTo>
                    <a:pt x="1233309" y="0"/>
                  </a:moveTo>
                  <a:lnTo>
                    <a:pt x="0" y="0"/>
                  </a:lnTo>
                  <a:lnTo>
                    <a:pt x="0" y="331215"/>
                  </a:lnTo>
                  <a:lnTo>
                    <a:pt x="1233309" y="331215"/>
                  </a:lnTo>
                  <a:lnTo>
                    <a:pt x="123330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457055" y="5197983"/>
            <a:ext cx="1233805" cy="3314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36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070595" y="5210733"/>
            <a:ext cx="2634615" cy="1642745"/>
            <a:chOff x="8070595" y="5210733"/>
            <a:chExt cx="2634615" cy="164274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5292" y="5210733"/>
              <a:ext cx="296811" cy="3098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070595" y="5814508"/>
              <a:ext cx="2634615" cy="1038860"/>
            </a:xfrm>
            <a:custGeom>
              <a:avLst/>
              <a:gdLst/>
              <a:ahLst/>
              <a:cxnLst/>
              <a:rect l="l" t="t" r="r" b="b"/>
              <a:pathLst>
                <a:path w="2634615" h="1038859">
                  <a:moveTo>
                    <a:pt x="2634106" y="0"/>
                  </a:moveTo>
                  <a:lnTo>
                    <a:pt x="0" y="0"/>
                  </a:lnTo>
                  <a:lnTo>
                    <a:pt x="0" y="1038555"/>
                  </a:lnTo>
                  <a:lnTo>
                    <a:pt x="2634106" y="1038555"/>
                  </a:lnTo>
                  <a:lnTo>
                    <a:pt x="2634106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070595" y="5814508"/>
            <a:ext cx="2634615" cy="103886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713740">
              <a:lnSpc>
                <a:spcPct val="100000"/>
              </a:lnSpc>
              <a:spcBef>
                <a:spcPts val="75"/>
              </a:spcBef>
            </a:pPr>
            <a:r>
              <a:rPr sz="1600" b="1" spc="-20" dirty="0">
                <a:solidFill>
                  <a:srgbClr val="0D0D0D"/>
                </a:solidFill>
                <a:latin typeface="Calibri"/>
                <a:cs typeface="Calibri"/>
              </a:rPr>
              <a:t>wis2box-</a:t>
            </a:r>
            <a:r>
              <a:rPr sz="1600" b="1" spc="-10" dirty="0">
                <a:solidFill>
                  <a:srgbClr val="0D0D0D"/>
                </a:solidFill>
                <a:latin typeface="Calibri"/>
                <a:cs typeface="Calibri"/>
              </a:rPr>
              <a:t>management</a:t>
            </a:r>
            <a:endParaRPr sz="1600">
              <a:latin typeface="Calibri"/>
              <a:cs typeface="Calibri"/>
            </a:endParaRPr>
          </a:p>
          <a:p>
            <a:pPr marL="1018540" marR="43815" indent="269240" algn="r">
              <a:lnSpc>
                <a:spcPct val="100000"/>
              </a:lnSpc>
              <a:spcBef>
                <a:spcPts val="1110"/>
              </a:spcBef>
            </a:pP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apply</a:t>
            </a:r>
            <a:r>
              <a:rPr sz="12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data-mappings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2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WIS2-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notifications </a:t>
            </a:r>
            <a:r>
              <a:rPr sz="12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1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0D0D"/>
                </a:solidFill>
                <a:latin typeface="Calibri"/>
                <a:cs typeface="Calibri"/>
              </a:rPr>
              <a:t>WCMP2-records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01283" y="4816551"/>
            <a:ext cx="3910965" cy="1706880"/>
            <a:chOff x="6201283" y="4816551"/>
            <a:chExt cx="3910965" cy="1706880"/>
          </a:xfrm>
        </p:grpSpPr>
        <p:pic>
          <p:nvPicPr>
            <p:cNvPr id="23" name="object 23" descr="Input, system, operation, process, insert icon - Download on Iconfinder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7276" y="5830786"/>
              <a:ext cx="692607" cy="69259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486140" y="5529199"/>
              <a:ext cx="1625600" cy="301625"/>
            </a:xfrm>
            <a:custGeom>
              <a:avLst/>
              <a:gdLst/>
              <a:ahLst/>
              <a:cxnLst/>
              <a:rect l="l" t="t" r="r" b="b"/>
              <a:pathLst>
                <a:path w="1625600" h="301625">
                  <a:moveTo>
                    <a:pt x="76200" y="225704"/>
                  </a:moveTo>
                  <a:lnTo>
                    <a:pt x="47599" y="225463"/>
                  </a:lnTo>
                  <a:lnTo>
                    <a:pt x="49403" y="12954"/>
                  </a:lnTo>
                  <a:lnTo>
                    <a:pt x="30353" y="12700"/>
                  </a:lnTo>
                  <a:lnTo>
                    <a:pt x="28549" y="225056"/>
                  </a:lnTo>
                  <a:lnTo>
                    <a:pt x="28549" y="225310"/>
                  </a:lnTo>
                  <a:lnTo>
                    <a:pt x="0" y="225056"/>
                  </a:lnTo>
                  <a:lnTo>
                    <a:pt x="37465" y="301586"/>
                  </a:lnTo>
                  <a:lnTo>
                    <a:pt x="69837" y="238163"/>
                  </a:lnTo>
                  <a:lnTo>
                    <a:pt x="76200" y="225704"/>
                  </a:lnTo>
                  <a:close/>
                </a:path>
                <a:path w="1625600" h="301625">
                  <a:moveTo>
                    <a:pt x="1625600" y="76250"/>
                  </a:moveTo>
                  <a:lnTo>
                    <a:pt x="1619250" y="63550"/>
                  </a:lnTo>
                  <a:lnTo>
                    <a:pt x="1587500" y="0"/>
                  </a:lnTo>
                  <a:lnTo>
                    <a:pt x="1549400" y="76250"/>
                  </a:lnTo>
                  <a:lnTo>
                    <a:pt x="1577975" y="76250"/>
                  </a:lnTo>
                  <a:lnTo>
                    <a:pt x="1577975" y="260934"/>
                  </a:lnTo>
                  <a:lnTo>
                    <a:pt x="1597025" y="260934"/>
                  </a:lnTo>
                  <a:lnTo>
                    <a:pt x="1597025" y="76250"/>
                  </a:lnTo>
                  <a:lnTo>
                    <a:pt x="1625600" y="76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01283" y="4816551"/>
              <a:ext cx="1437005" cy="729615"/>
            </a:xfrm>
            <a:custGeom>
              <a:avLst/>
              <a:gdLst/>
              <a:ahLst/>
              <a:cxnLst/>
              <a:rect l="l" t="t" r="r" b="b"/>
              <a:pathLst>
                <a:path w="1437004" h="729614">
                  <a:moveTo>
                    <a:pt x="1436496" y="0"/>
                  </a:moveTo>
                  <a:lnTo>
                    <a:pt x="0" y="0"/>
                  </a:lnTo>
                  <a:lnTo>
                    <a:pt x="0" y="729284"/>
                  </a:lnTo>
                  <a:lnTo>
                    <a:pt x="1436496" y="729284"/>
                  </a:lnTo>
                  <a:lnTo>
                    <a:pt x="1436496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858125" y="4694301"/>
            <a:ext cx="647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E5496"/>
                </a:solidFill>
                <a:latin typeface="Calibri"/>
                <a:cs typeface="Calibri"/>
              </a:rPr>
              <a:t>storage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90513" y="4772405"/>
            <a:ext cx="11677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0F243E"/>
                </a:solidFill>
                <a:latin typeface="Calibri"/>
                <a:cs typeface="Calibri"/>
              </a:rPr>
              <a:t>National</a:t>
            </a:r>
            <a:r>
              <a:rPr sz="1400" b="1" i="1" spc="-6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F243E"/>
                </a:solidFill>
                <a:latin typeface="Calibri"/>
                <a:cs typeface="Calibri"/>
              </a:rPr>
              <a:t>Sector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201283" y="5330063"/>
            <a:ext cx="1708150" cy="76200"/>
          </a:xfrm>
          <a:custGeom>
            <a:avLst/>
            <a:gdLst/>
            <a:ahLst/>
            <a:cxnLst/>
            <a:rect l="l" t="t" r="r" b="b"/>
            <a:pathLst>
              <a:path w="1708150" h="76200">
                <a:moveTo>
                  <a:pt x="1631568" y="0"/>
                </a:moveTo>
                <a:lnTo>
                  <a:pt x="1631806" y="28557"/>
                </a:lnTo>
                <a:lnTo>
                  <a:pt x="1631880" y="37337"/>
                </a:lnTo>
                <a:lnTo>
                  <a:pt x="1631965" y="47607"/>
                </a:lnTo>
                <a:lnTo>
                  <a:pt x="1632083" y="61721"/>
                </a:lnTo>
                <a:lnTo>
                  <a:pt x="1632203" y="76200"/>
                </a:lnTo>
                <a:lnTo>
                  <a:pt x="1688080" y="47607"/>
                </a:lnTo>
                <a:lnTo>
                  <a:pt x="1644650" y="47607"/>
                </a:lnTo>
                <a:lnTo>
                  <a:pt x="1644523" y="28557"/>
                </a:lnTo>
                <a:lnTo>
                  <a:pt x="1690142" y="28557"/>
                </a:lnTo>
                <a:lnTo>
                  <a:pt x="1631568" y="0"/>
                </a:lnTo>
                <a:close/>
              </a:path>
              <a:path w="1708150" h="76200">
                <a:moveTo>
                  <a:pt x="1631806" y="28557"/>
                </a:moveTo>
                <a:lnTo>
                  <a:pt x="0" y="42671"/>
                </a:lnTo>
                <a:lnTo>
                  <a:pt x="126" y="61721"/>
                </a:lnTo>
                <a:lnTo>
                  <a:pt x="1631965" y="47607"/>
                </a:lnTo>
                <a:lnTo>
                  <a:pt x="1631880" y="37337"/>
                </a:lnTo>
                <a:lnTo>
                  <a:pt x="1631806" y="28557"/>
                </a:lnTo>
                <a:close/>
              </a:path>
              <a:path w="1708150" h="76200">
                <a:moveTo>
                  <a:pt x="1690142" y="28557"/>
                </a:moveTo>
                <a:lnTo>
                  <a:pt x="1644523" y="28557"/>
                </a:lnTo>
                <a:lnTo>
                  <a:pt x="1644650" y="47607"/>
                </a:lnTo>
                <a:lnTo>
                  <a:pt x="1688080" y="47607"/>
                </a:lnTo>
                <a:lnTo>
                  <a:pt x="1708149" y="37337"/>
                </a:lnTo>
                <a:lnTo>
                  <a:pt x="1690142" y="2855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559042" y="5164328"/>
            <a:ext cx="8661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data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uploaded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37977" y="5554598"/>
            <a:ext cx="1407541" cy="75989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94436" y="4403216"/>
            <a:ext cx="502285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45" dirty="0">
                <a:solidFill>
                  <a:srgbClr val="2E5496"/>
                </a:solidFill>
                <a:latin typeface="Trebuchet MS"/>
                <a:cs typeface="Trebuchet MS"/>
              </a:rPr>
              <a:t>wis2box-</a:t>
            </a:r>
            <a:r>
              <a:rPr sz="2000" b="1" spc="-20" dirty="0">
                <a:solidFill>
                  <a:srgbClr val="2E5496"/>
                </a:solidFill>
                <a:latin typeface="Trebuchet MS"/>
                <a:cs typeface="Trebuchet MS"/>
              </a:rPr>
              <a:t>managemen</a:t>
            </a:r>
            <a:r>
              <a:rPr sz="2000" spc="-20" dirty="0">
                <a:solidFill>
                  <a:srgbClr val="2E5496"/>
                </a:solidFill>
                <a:latin typeface="Trebuchet MS"/>
                <a:cs typeface="Trebuchet MS"/>
              </a:rPr>
              <a:t>t</a:t>
            </a:r>
            <a:r>
              <a:rPr sz="2000" spc="-15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2E5496"/>
                </a:solidFill>
                <a:latin typeface="Trebuchet MS"/>
                <a:cs typeface="Trebuchet MS"/>
              </a:rPr>
              <a:t>container</a:t>
            </a:r>
            <a:r>
              <a:rPr sz="2000" spc="-12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rebuchet MS"/>
                <a:cs typeface="Trebuchet MS"/>
              </a:rPr>
              <a:t>listens</a:t>
            </a:r>
            <a:r>
              <a:rPr sz="2000" b="1" spc="-9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2E5496"/>
                </a:solidFill>
                <a:latin typeface="Trebuchet MS"/>
                <a:cs typeface="Trebuchet MS"/>
              </a:rPr>
              <a:t>to </a:t>
            </a:r>
            <a:r>
              <a:rPr sz="2000" spc="-35" dirty="0">
                <a:solidFill>
                  <a:srgbClr val="2E5496"/>
                </a:solidFill>
                <a:latin typeface="Trebuchet MS"/>
                <a:cs typeface="Trebuchet MS"/>
              </a:rPr>
              <a:t>events</a:t>
            </a:r>
            <a:r>
              <a:rPr sz="2000" spc="-16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E5496"/>
                </a:solidFill>
                <a:latin typeface="Trebuchet MS"/>
                <a:cs typeface="Trebuchet MS"/>
              </a:rPr>
              <a:t>from</a:t>
            </a:r>
            <a:r>
              <a:rPr sz="2000" spc="-15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E5496"/>
                </a:solidFill>
                <a:latin typeface="Trebuchet MS"/>
                <a:cs typeface="Trebuchet MS"/>
              </a:rPr>
              <a:t>MinIO</a:t>
            </a:r>
            <a:r>
              <a:rPr sz="2000" b="1" spc="-14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2E5496"/>
                </a:solidFill>
                <a:latin typeface="Trebuchet MS"/>
                <a:cs typeface="Trebuchet MS"/>
              </a:rPr>
              <a:t>to</a:t>
            </a:r>
            <a:r>
              <a:rPr sz="2000" spc="-14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spc="-70" dirty="0">
                <a:solidFill>
                  <a:srgbClr val="2E5496"/>
                </a:solidFill>
                <a:latin typeface="Trebuchet MS"/>
                <a:cs typeface="Trebuchet MS"/>
              </a:rPr>
              <a:t>trigger</a:t>
            </a:r>
            <a:r>
              <a:rPr sz="2000" b="1" spc="-14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rebuchet MS"/>
                <a:cs typeface="Trebuchet MS"/>
              </a:rPr>
              <a:t>data</a:t>
            </a:r>
            <a:r>
              <a:rPr sz="2000" b="1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Trebuchet MS"/>
                <a:cs typeface="Trebuchet MS"/>
              </a:rPr>
              <a:t>processing </a:t>
            </a:r>
            <a:r>
              <a:rPr sz="2000" spc="-85" dirty="0">
                <a:solidFill>
                  <a:srgbClr val="2E5496"/>
                </a:solidFill>
                <a:latin typeface="Trebuchet MS"/>
                <a:cs typeface="Trebuchet MS"/>
              </a:rPr>
              <a:t>The</a:t>
            </a:r>
            <a:r>
              <a:rPr sz="2000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2E5496"/>
                </a:solidFill>
                <a:latin typeface="Trebuchet MS"/>
                <a:cs typeface="Trebuchet MS"/>
              </a:rPr>
              <a:t>file-</a:t>
            </a:r>
            <a:r>
              <a:rPr sz="2000" spc="-40" dirty="0">
                <a:solidFill>
                  <a:srgbClr val="2E5496"/>
                </a:solidFill>
                <a:latin typeface="Trebuchet MS"/>
                <a:cs typeface="Trebuchet MS"/>
              </a:rPr>
              <a:t>path</a:t>
            </a:r>
            <a:r>
              <a:rPr sz="2000" spc="-18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E5496"/>
                </a:solidFill>
                <a:latin typeface="Trebuchet MS"/>
                <a:cs typeface="Trebuchet MS"/>
              </a:rPr>
              <a:t>of</a:t>
            </a:r>
            <a:r>
              <a:rPr sz="2000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E5496"/>
                </a:solidFill>
                <a:latin typeface="Trebuchet MS"/>
                <a:cs typeface="Trebuchet MS"/>
              </a:rPr>
              <a:t>the</a:t>
            </a:r>
            <a:r>
              <a:rPr sz="2000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E5496"/>
                </a:solidFill>
                <a:latin typeface="Trebuchet MS"/>
                <a:cs typeface="Trebuchet MS"/>
              </a:rPr>
              <a:t>incoming</a:t>
            </a:r>
            <a:r>
              <a:rPr sz="2000" spc="-17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2E5496"/>
                </a:solidFill>
                <a:latin typeface="Trebuchet MS"/>
                <a:cs typeface="Trebuchet MS"/>
              </a:rPr>
              <a:t>data</a:t>
            </a:r>
            <a:r>
              <a:rPr sz="2000" spc="-15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E5496"/>
                </a:solidFill>
                <a:latin typeface="Trebuchet MS"/>
                <a:cs typeface="Trebuchet MS"/>
              </a:rPr>
              <a:t>is</a:t>
            </a:r>
            <a:r>
              <a:rPr sz="2000" spc="-15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E5496"/>
                </a:solidFill>
                <a:latin typeface="Trebuchet MS"/>
                <a:cs typeface="Trebuchet MS"/>
              </a:rPr>
              <a:t>used</a:t>
            </a:r>
            <a:r>
              <a:rPr sz="2000" spc="-14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2E5496"/>
                </a:solidFill>
                <a:latin typeface="Trebuchet MS"/>
                <a:cs typeface="Trebuchet MS"/>
              </a:rPr>
              <a:t>to </a:t>
            </a:r>
            <a:r>
              <a:rPr sz="2000" spc="-55" dirty="0">
                <a:solidFill>
                  <a:srgbClr val="2E5496"/>
                </a:solidFill>
                <a:latin typeface="Trebuchet MS"/>
                <a:cs typeface="Trebuchet MS"/>
              </a:rPr>
              <a:t>determine</a:t>
            </a:r>
            <a:r>
              <a:rPr sz="2000" spc="-180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E5496"/>
                </a:solidFill>
                <a:latin typeface="Trebuchet MS"/>
                <a:cs typeface="Trebuchet MS"/>
              </a:rPr>
              <a:t>the</a:t>
            </a:r>
            <a:r>
              <a:rPr sz="2000" spc="-14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E5496"/>
                </a:solidFill>
                <a:latin typeface="Trebuchet MS"/>
                <a:cs typeface="Trebuchet MS"/>
              </a:rPr>
              <a:t>corresponding</a:t>
            </a:r>
            <a:r>
              <a:rPr sz="2000" spc="-175" dirty="0">
                <a:solidFill>
                  <a:srgbClr val="2E5496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2E5496"/>
                </a:solidFill>
                <a:latin typeface="Trebuchet MS"/>
                <a:cs typeface="Trebuchet MS"/>
              </a:rPr>
              <a:t>dataset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40540-4FBE-582C-EE0C-19BE57BD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enter for Geospatial Solutions Home">
            <a:extLst>
              <a:ext uri="{FF2B5EF4-FFF2-40B4-BE49-F238E27FC236}">
                <a16:creationId xmlns:a16="http://schemas.microsoft.com/office/drawing/2014/main" id="{324039AB-39CE-417A-2799-0940F9F96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72" y="5278278"/>
            <a:ext cx="2123623" cy="75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C4D6130-ECB5-3B0B-B46D-0678B7647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128259"/>
            <a:ext cx="1051877" cy="105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A4F7F84-0D00-3B3A-D7DB-DD6999AB2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209" y="5293642"/>
            <a:ext cx="1087437" cy="108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0571C086-065D-49D0-5AA9-BA9F3DFBD0C3}"/>
              </a:ext>
            </a:extLst>
          </p:cNvPr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Thank You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40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2873</TotalTime>
  <Words>1318</Words>
  <Application>Microsoft Office PowerPoint</Application>
  <PresentationFormat>Widescreen</PresentationFormat>
  <Paragraphs>153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Display</vt:lpstr>
      <vt:lpstr>Arial</vt:lpstr>
      <vt:lpstr>Arial MT</vt:lpstr>
      <vt:lpstr>Calibri</vt:lpstr>
      <vt:lpstr>Consolas</vt:lpstr>
      <vt:lpstr>Trebuchet MS</vt:lpstr>
      <vt:lpstr>Office Theme</vt:lpstr>
      <vt:lpstr>1_Office Theme</vt:lpstr>
      <vt:lpstr>2_Office Theme</vt:lpstr>
      <vt:lpstr>PowerPoint Presentation</vt:lpstr>
      <vt:lpstr>How to setup a WIS2 Node using wis2box</vt:lpstr>
      <vt:lpstr>How to setup a WIS2 Node using wis2box</vt:lpstr>
      <vt:lpstr>How to setup a WIS2 Node using wis2box</vt:lpstr>
      <vt:lpstr>Network isolation</vt:lpstr>
      <vt:lpstr>Keeping up to date</vt:lpstr>
      <vt:lpstr>How to configure datasets in wis2box</vt:lpstr>
      <vt:lpstr>How to configure datasets in wis2box: using the dataset editor</vt:lpstr>
      <vt:lpstr>Datasets in wis2box: data plugins</vt:lpstr>
      <vt:lpstr>wis2box data plugins</vt:lpstr>
      <vt:lpstr>Create Discovery Metadata</vt:lpstr>
      <vt:lpstr>Station metadata in the wis2box</vt:lpstr>
      <vt:lpstr>Station metadata used in transformation to BUFR</vt:lpstr>
      <vt:lpstr>How to configure stations in wis2box-webapp</vt:lpstr>
      <vt:lpstr>Create Stations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Benjamin Webb</dc:creator>
  <cp:lastModifiedBy>Peter Mutai</cp:lastModifiedBy>
  <cp:revision>1</cp:revision>
  <dcterms:created xsi:type="dcterms:W3CDTF">2026-09-08T15:33:53Z</dcterms:created>
  <dcterms:modified xsi:type="dcterms:W3CDTF">2026-09-14T12:58:45Z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2026-09-08T00:00:00Z</vt:filetime>
  </property>
  <property fmtid="{D5CDD505-2E9C-101B-9397-08002B2CF9AE}" pid="6" name="Producer">
    <vt:lpwstr>Microsoft® PowerPoint® for Microsoft 365</vt:lpwstr>
  </property>
</Properties>
</file>