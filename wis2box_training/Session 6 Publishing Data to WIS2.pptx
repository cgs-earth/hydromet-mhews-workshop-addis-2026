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</p:sldMasterIdLst>
  <p:sldIdLst>
    <p:sldId id="296" r:id="rId4"/>
    <p:sldId id="257" r:id="rId5"/>
    <p:sldId id="258" r:id="rId6"/>
    <p:sldId id="259" r:id="rId7"/>
    <p:sldId id="260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7" r:id="rId36"/>
    <p:sldId id="288" r:id="rId37"/>
    <p:sldId id="282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C568C-C2E3-44C3-A6A9-5BFE77582C40}" v="3" dt="2026-09-14T13:01:11.5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utai" userId="ad2e6ff7-8086-4442-9194-db39a11ea8a2" providerId="ADAL" clId="{97293C7A-97E0-4791-9794-18C6E9E639C5}"/>
    <pc:docChg chg="addSld delSld modSld">
      <pc:chgData name="Peter Mutai" userId="ad2e6ff7-8086-4442-9194-db39a11ea8a2" providerId="ADAL" clId="{97293C7A-97E0-4791-9794-18C6E9E639C5}" dt="2026-09-14T13:01:29.397" v="18" actId="2696"/>
      <pc:docMkLst>
        <pc:docMk/>
      </pc:docMkLst>
      <pc:sldChg chg="del">
        <pc:chgData name="Peter Mutai" userId="ad2e6ff7-8086-4442-9194-db39a11ea8a2" providerId="ADAL" clId="{97293C7A-97E0-4791-9794-18C6E9E639C5}" dt="2026-09-14T13:01:29.397" v="18" actId="2696"/>
        <pc:sldMkLst>
          <pc:docMk/>
          <pc:sldMk cId="0" sldId="256"/>
        </pc:sldMkLst>
      </pc:sldChg>
      <pc:sldChg chg="add">
        <pc:chgData name="Peter Mutai" userId="ad2e6ff7-8086-4442-9194-db39a11ea8a2" providerId="ADAL" clId="{97293C7A-97E0-4791-9794-18C6E9E639C5}" dt="2026-09-14T12:59:36.814" v="15"/>
        <pc:sldMkLst>
          <pc:docMk/>
          <pc:sldMk cId="726406961" sldId="282"/>
        </pc:sldMkLst>
      </pc:sldChg>
      <pc:sldChg chg="add">
        <pc:chgData name="Peter Mutai" userId="ad2e6ff7-8086-4442-9194-db39a11ea8a2" providerId="ADAL" clId="{97293C7A-97E0-4791-9794-18C6E9E639C5}" dt="2026-09-11T15:24:54.158" v="0"/>
        <pc:sldMkLst>
          <pc:docMk/>
          <pc:sldMk cId="0" sldId="289"/>
        </pc:sldMkLst>
      </pc:sldChg>
      <pc:sldChg chg="add">
        <pc:chgData name="Peter Mutai" userId="ad2e6ff7-8086-4442-9194-db39a11ea8a2" providerId="ADAL" clId="{97293C7A-97E0-4791-9794-18C6E9E639C5}" dt="2026-09-11T15:26:18.069" v="1"/>
        <pc:sldMkLst>
          <pc:docMk/>
          <pc:sldMk cId="0" sldId="290"/>
        </pc:sldMkLst>
      </pc:sldChg>
      <pc:sldChg chg="add">
        <pc:chgData name="Peter Mutai" userId="ad2e6ff7-8086-4442-9194-db39a11ea8a2" providerId="ADAL" clId="{97293C7A-97E0-4791-9794-18C6E9E639C5}" dt="2026-09-11T15:26:36.606" v="2"/>
        <pc:sldMkLst>
          <pc:docMk/>
          <pc:sldMk cId="0" sldId="291"/>
        </pc:sldMkLst>
      </pc:sldChg>
      <pc:sldChg chg="add">
        <pc:chgData name="Peter Mutai" userId="ad2e6ff7-8086-4442-9194-db39a11ea8a2" providerId="ADAL" clId="{97293C7A-97E0-4791-9794-18C6E9E639C5}" dt="2026-09-11T15:27:41.873" v="3"/>
        <pc:sldMkLst>
          <pc:docMk/>
          <pc:sldMk cId="0" sldId="292"/>
        </pc:sldMkLst>
      </pc:sldChg>
      <pc:sldChg chg="add">
        <pc:chgData name="Peter Mutai" userId="ad2e6ff7-8086-4442-9194-db39a11ea8a2" providerId="ADAL" clId="{97293C7A-97E0-4791-9794-18C6E9E639C5}" dt="2026-09-11T15:28:00.500" v="4"/>
        <pc:sldMkLst>
          <pc:docMk/>
          <pc:sldMk cId="0" sldId="293"/>
        </pc:sldMkLst>
      </pc:sldChg>
      <pc:sldChg chg="add">
        <pc:chgData name="Peter Mutai" userId="ad2e6ff7-8086-4442-9194-db39a11ea8a2" providerId="ADAL" clId="{97293C7A-97E0-4791-9794-18C6E9E639C5}" dt="2026-09-11T15:28:42.561" v="5"/>
        <pc:sldMkLst>
          <pc:docMk/>
          <pc:sldMk cId="0" sldId="294"/>
        </pc:sldMkLst>
      </pc:sldChg>
      <pc:sldChg chg="add">
        <pc:chgData name="Peter Mutai" userId="ad2e6ff7-8086-4442-9194-db39a11ea8a2" providerId="ADAL" clId="{97293C7A-97E0-4791-9794-18C6E9E639C5}" dt="2026-09-11T15:29:03.717" v="6"/>
        <pc:sldMkLst>
          <pc:docMk/>
          <pc:sldMk cId="0" sldId="295"/>
        </pc:sldMkLst>
      </pc:sldChg>
      <pc:sldChg chg="modSp add">
        <pc:chgData name="Peter Mutai" userId="ad2e6ff7-8086-4442-9194-db39a11ea8a2" providerId="ADAL" clId="{97293C7A-97E0-4791-9794-18C6E9E639C5}" dt="2026-09-14T13:01:11.528" v="17"/>
        <pc:sldMkLst>
          <pc:docMk/>
          <pc:sldMk cId="1639419396" sldId="296"/>
        </pc:sldMkLst>
        <pc:spChg chg="mod">
          <ac:chgData name="Peter Mutai" userId="ad2e6ff7-8086-4442-9194-db39a11ea8a2" providerId="ADAL" clId="{97293C7A-97E0-4791-9794-18C6E9E639C5}" dt="2026-09-14T13:01:11.528" v="17"/>
          <ac:spMkLst>
            <pc:docMk/>
            <pc:sldMk cId="1639419396" sldId="296"/>
            <ac:spMk id="2" creationId="{F3421A7C-DEF0-1E3A-4A69-39A8EE66A8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1F35A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363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1F35A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39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87472"/>
            <a:ext cx="2089926" cy="24705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814" y="4160532"/>
            <a:ext cx="4526280" cy="248475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-25"/>
            <a:ext cx="12192000" cy="734695"/>
          </a:xfrm>
          <a:custGeom>
            <a:avLst/>
            <a:gdLst/>
            <a:ahLst/>
            <a:cxnLst/>
            <a:rect l="l" t="t" r="r" b="b"/>
            <a:pathLst>
              <a:path w="12192000" h="734695">
                <a:moveTo>
                  <a:pt x="12192000" y="0"/>
                </a:moveTo>
                <a:lnTo>
                  <a:pt x="0" y="0"/>
                </a:lnTo>
                <a:lnTo>
                  <a:pt x="0" y="734212"/>
                </a:lnTo>
                <a:lnTo>
                  <a:pt x="12192000" y="73421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34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-25"/>
            <a:ext cx="12192000" cy="734695"/>
          </a:xfrm>
          <a:custGeom>
            <a:avLst/>
            <a:gdLst/>
            <a:ahLst/>
            <a:cxnLst/>
            <a:rect l="l" t="t" r="r" b="b"/>
            <a:pathLst>
              <a:path w="12192000" h="734695">
                <a:moveTo>
                  <a:pt x="0" y="734212"/>
                </a:moveTo>
                <a:lnTo>
                  <a:pt x="12192000" y="734212"/>
                </a:lnTo>
                <a:lnTo>
                  <a:pt x="12192000" y="0"/>
                </a:lnTo>
                <a:lnTo>
                  <a:pt x="0" y="0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491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892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027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192E-05BC-7370-5007-0781D8458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DEADD-FC41-678E-8BB7-B27BEF9CD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078D4-2AF8-DB81-9A05-66ED6E9B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37675-1730-9F57-C23B-DD9C2DFC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C966-C56A-64C1-5F87-7CFFDFE5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69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17F9-452A-6F30-5137-ABEDF921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5D0C-868C-1248-4AAB-81836FAF8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1BC18-CB10-E262-9E48-FAAFE700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F3B2-DAA5-4E0A-F7A5-D71FDA49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2A2F-E8ED-A2F0-A6C3-69924DC8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04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D2E2-4BA0-E0B2-4DBB-16D74775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070D1-695A-8E67-FD18-DFC0F2102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CD334-A273-E1FA-1F16-36FF2379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A4A5-6E88-125C-93D7-127F08FA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4D1FA-4BDF-8461-0F1A-E776445D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99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67045-EB64-8B55-AF30-34BF9591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1541-5251-A7CC-83E9-A918DF69E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E532C-FFFC-8037-60EC-BDB36E68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D95A0-B8BE-A5B0-72BA-3502E4C8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5A6CF-75E9-91D8-823A-4DF130E6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A375D-DCF8-DB20-A4BC-4BF5586E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69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494B-7FC8-8E00-5BAF-36FEC7F7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5B24-DCD9-5A92-6875-494E205A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DA670-A2D2-B572-0A54-2C0BBAA8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91D31-FEE0-E055-47B9-21DC523CE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B44F0-F566-DE7F-E395-4B137036C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1CA54-9951-0F01-5D52-F86994F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7B389-31F3-86D7-06B4-A83EFCCC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E879F-06BE-2F0B-BA03-9A828D5D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56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E0F6-8C94-09A4-41E4-439EFBDC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B8CB-1C90-03FE-D613-EEC14E5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1D98B-2F57-579F-28BD-1D818A25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6A11F-E6E8-68B3-6F10-E32DD979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4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724FA-B941-2095-D6C9-29461079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494CF-23B4-7DB1-8857-3FC32817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1FA21-0F09-ACBF-2EB9-002E0678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338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D965-8EC3-F5ED-4A7E-5A05F0A0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9908A-D4A2-3594-52FE-395FA395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12EF6-4E92-9B6B-6F42-936BED604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C0AD1-CC87-4ADB-46E5-D27BCC90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AF333-001D-7458-E817-B270BDD6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A31AC-7546-0BEC-B4E2-73A50DA8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72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8692-FA58-702A-87D9-F5BF4FCB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24496-0737-2B66-9463-82C3C0C45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DCCDF-2D7A-57D3-1110-63D75355E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0E5E-AC76-86C8-C68C-3A193465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C532-9444-5198-FB06-158D1924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388F-8BBE-5C33-0C42-766494B6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87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5AC5-6EF1-9C86-6FED-26995196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76280-6CFF-2D23-D642-609BF86BA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BF3B6-354C-89D4-945C-08001C33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0B76-C963-7905-C5E1-5549F0C8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7028-666C-002F-3C8A-908AE8C0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9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A7FE0-3B4B-B239-86A2-8C8F9675E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95A38-C32E-6949-49BB-D30CE4E6C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D8A45-D7E4-0ACB-CD0F-60355F94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1E59-49F8-C1BB-2F7F-36020694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35D5-ACF9-A064-223F-C169A332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9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387472"/>
            <a:ext cx="2089926" cy="24705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8402" y="45212"/>
            <a:ext cx="9264015" cy="553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4373" y="2238882"/>
            <a:ext cx="8763253" cy="270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62333" y="6546215"/>
            <a:ext cx="1797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387472"/>
            <a:ext cx="2089926" cy="24705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59966" y="72339"/>
            <a:ext cx="8618855" cy="5262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508" y="1869186"/>
            <a:ext cx="11160125" cy="273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1F35A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662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CC063-C55E-1F7D-DA40-1FF5FEFD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23345-AC0C-D6CF-076F-ECE24F505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6B052-F785-0606-AD5C-DAC73BCC6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52771-CA95-0C56-C6E2-03E682A5C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F742-9D99-2BE2-4AFB-9A6321F29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3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community.wmo.int/sites/default/files/Cg-Ext2021-d04-1-WMO-UNIFIED-POLICY-FOR-THE-INTERNATIONAL-approved_en_0.pdf?4pv38FtU6R4fDNtwqOxjBCndLIfntWeR" TargetMode="Externa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dqms.wmo.int/" TargetMode="External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s://docs.oasis-open.org/emergency/cap/v1.2/CAP-v1.2-os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mo-im.github.io/wis2-cookbook/cookbook/latest/wis2-cookbook-STABLE.html#_publishing_aeronautical_meteorology_data_on_wis2" TargetMode="External"/><Relationship Id="rId5" Type="http://schemas.openxmlformats.org/officeDocument/2006/relationships/hyperlink" Target="https://creativecommons.org/licenses" TargetMode="External"/><Relationship Id="rId4" Type="http://schemas.openxmlformats.org/officeDocument/2006/relationships/hyperlink" Target="https://mywebsite.com/license/my_dataset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jp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12" Type="http://schemas.openxmlformats.org/officeDocument/2006/relationships/image" Target="../media/image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10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1.jpg"/><Relationship Id="rId10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wmo.int/site/knowledge-hub/programmes-and-initiatives/wmo-information-system-wis/wis2-operational-newsletter-full-issue-list" TargetMode="External"/><Relationship Id="rId2" Type="http://schemas.openxmlformats.org/officeDocument/2006/relationships/hyperlink" Target="mailto:wis@wmo.in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hyperlink" Target="https://library.wmo.int/idurl/4/3562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jpg"/><Relationship Id="rId24" Type="http://schemas.openxmlformats.org/officeDocument/2006/relationships/image" Target="../media/image83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orld-Meteorological-Organization/synop2bufr" TargetMode="External"/><Relationship Id="rId3" Type="http://schemas.openxmlformats.org/officeDocument/2006/relationships/image" Target="../media/image84.jpg"/><Relationship Id="rId7" Type="http://schemas.openxmlformats.org/officeDocument/2006/relationships/hyperlink" Target="https://github.com/World-Meteorological-Organization/csv2bufr" TargetMode="External"/><Relationship Id="rId2" Type="http://schemas.openxmlformats.org/officeDocument/2006/relationships/hyperlink" Target="https://confluence.ecmwf.int/display/EC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jpg"/><Relationship Id="rId5" Type="http://schemas.openxmlformats.org/officeDocument/2006/relationships/image" Target="../media/image53.png"/><Relationship Id="rId10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hyperlink" Target="https://github.com/World-Meteorological-Organization/bufr2geojson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jp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jpg"/><Relationship Id="rId5" Type="http://schemas.openxmlformats.org/officeDocument/2006/relationships/image" Target="../media/image88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hyperlink" Target="https://github.com/wmo-im/csv2bufr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mo-im/csv2bufr-templates" TargetMode="Externa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mo-im/csv2bufr-templates" TargetMode="Externa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jpg"/><Relationship Id="rId5" Type="http://schemas.openxmlformats.org/officeDocument/2006/relationships/image" Target="../media/image88.png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arctica/pymetdecoder" TargetMode="Externa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wmo-im/csv2bufr" TargetMode="External"/><Relationship Id="rId4" Type="http://schemas.openxmlformats.org/officeDocument/2006/relationships/hyperlink" Target="https://github.com/wmo-im/synop2bufr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oasis-open.org/emergency/cap/v1.2/CAP-v1.2-o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89.jp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asis-open.org/emergency/cap/v1.2/CAP-v1.2-os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enter for Geospatial Solutions Home">
            <a:extLst>
              <a:ext uri="{FF2B5EF4-FFF2-40B4-BE49-F238E27FC236}">
                <a16:creationId xmlns:a16="http://schemas.microsoft.com/office/drawing/2014/main" id="{A13028E5-D617-340D-D89A-76F63740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72" y="5278278"/>
            <a:ext cx="2123623" cy="75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CD01A1-9F7A-8794-A742-84A17B76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128259"/>
            <a:ext cx="1051877" cy="105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615567-1D62-07C5-D17D-078BEA694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209" y="5293642"/>
            <a:ext cx="1087437" cy="108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F3421A7C-DEF0-1E3A-4A69-39A8EE66A8B2}"/>
              </a:ext>
            </a:extLst>
          </p:cNvPr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rgbClr val="000000"/>
                </a:solidFill>
                <a:latin typeface="Calibri"/>
                <a:cs typeface="Calibri"/>
              </a:rPr>
              <a:t>Publishing</a:t>
            </a:r>
            <a:r>
              <a:rPr lang="en-US" sz="4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80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lang="en-US" sz="48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80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lang="en-US" sz="4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800" spc="-20" dirty="0">
                <a:solidFill>
                  <a:srgbClr val="000000"/>
                </a:solidFill>
                <a:latin typeface="Calibri"/>
                <a:cs typeface="Calibri"/>
              </a:rPr>
              <a:t>WIS2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F32655D0-FE85-C341-280E-4E42BAB2D242}"/>
              </a:ext>
            </a:extLst>
          </p:cNvPr>
          <p:cNvSpPr txBox="1"/>
          <p:nvPr/>
        </p:nvSpPr>
        <p:spPr>
          <a:xfrm>
            <a:off x="822960" y="36118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Peter Mutai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Kenya Meteorological Service Authority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021F5AF2-C935-D4DB-AE7D-364F4146B14D}"/>
              </a:ext>
            </a:extLst>
          </p:cNvPr>
          <p:cNvSpPr txBox="1"/>
          <p:nvPr/>
        </p:nvSpPr>
        <p:spPr>
          <a:xfrm>
            <a:off x="813816" y="4605099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200" normalizeH="0" baseline="0" noProof="0" dirty="0">
                <a:ln>
                  <a:noFill/>
                </a:ln>
                <a:solidFill>
                  <a:srgbClr val="8FB9C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15</a:t>
            </a:r>
            <a:r>
              <a:rPr kumimoji="0" lang="en-US" sz="1250" b="0" i="0" u="none" strike="noStrike" kern="0" cap="none" spc="200" normalizeH="0" baseline="30000" noProof="0" dirty="0">
                <a:ln>
                  <a:noFill/>
                </a:ln>
                <a:solidFill>
                  <a:srgbClr val="8FB9C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kumimoji="0" lang="en-US" sz="1250" b="0" i="0" u="none" strike="noStrike" kern="0" cap="none" spc="200" normalizeH="0" baseline="0" noProof="0" dirty="0">
                <a:ln>
                  <a:noFill/>
                </a:ln>
                <a:solidFill>
                  <a:srgbClr val="8FB9C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SEPTEMBER 2026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1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20245" y="6517640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35756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508" y="1869186"/>
            <a:ext cx="11160125" cy="2739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WIS2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50" dirty="0">
                <a:latin typeface="Trebuchet MS"/>
                <a:cs typeface="Trebuchet MS"/>
              </a:rPr>
              <a:t>is</a:t>
            </a:r>
            <a:r>
              <a:rPr sz="2000" b="1" spc="-240" dirty="0"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1F35A0"/>
                </a:solidFill>
                <a:latin typeface="Trebuchet MS"/>
                <a:cs typeface="Trebuchet MS"/>
              </a:rPr>
              <a:t>“data-</a:t>
            </a:r>
            <a:r>
              <a:rPr sz="2000" b="1" spc="-55" dirty="0">
                <a:solidFill>
                  <a:srgbClr val="1F35A0"/>
                </a:solidFill>
                <a:latin typeface="Trebuchet MS"/>
                <a:cs typeface="Trebuchet MS"/>
              </a:rPr>
              <a:t>agnostic”</a:t>
            </a:r>
            <a:r>
              <a:rPr sz="2000" b="1" spc="-55" dirty="0">
                <a:latin typeface="Trebuchet MS"/>
                <a:cs typeface="Trebuchet MS"/>
              </a:rPr>
              <a:t>,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80" dirty="0">
                <a:latin typeface="Trebuchet MS"/>
                <a:cs typeface="Trebuchet MS"/>
              </a:rPr>
              <a:t>it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defines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i="1" spc="-80" dirty="0">
                <a:solidFill>
                  <a:srgbClr val="1F35A0"/>
                </a:solidFill>
                <a:latin typeface="Trebuchet MS"/>
                <a:cs typeface="Trebuchet MS"/>
              </a:rPr>
              <a:t>“the</a:t>
            </a:r>
            <a:r>
              <a:rPr sz="2000" b="1" i="1" spc="-140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spc="-20" dirty="0">
                <a:solidFill>
                  <a:srgbClr val="1F35A0"/>
                </a:solidFill>
                <a:latin typeface="Trebuchet MS"/>
                <a:cs typeface="Trebuchet MS"/>
              </a:rPr>
              <a:t>pipes</a:t>
            </a:r>
            <a:r>
              <a:rPr sz="2000" b="1" i="1" spc="-12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spc="-55" dirty="0">
                <a:solidFill>
                  <a:srgbClr val="1F35A0"/>
                </a:solidFill>
                <a:latin typeface="Trebuchet MS"/>
                <a:cs typeface="Trebuchet MS"/>
              </a:rPr>
              <a:t>through</a:t>
            </a:r>
            <a:r>
              <a:rPr sz="2000" b="1" i="1" spc="-13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dirty="0">
                <a:solidFill>
                  <a:srgbClr val="1F35A0"/>
                </a:solidFill>
                <a:latin typeface="Trebuchet MS"/>
                <a:cs typeface="Trebuchet MS"/>
              </a:rPr>
              <a:t>which</a:t>
            </a:r>
            <a:r>
              <a:rPr sz="2000" b="1" i="1" spc="-114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spc="-105" dirty="0">
                <a:solidFill>
                  <a:srgbClr val="1F35A0"/>
                </a:solidFill>
                <a:latin typeface="Trebuchet MS"/>
                <a:cs typeface="Trebuchet MS"/>
              </a:rPr>
              <a:t>data</a:t>
            </a:r>
            <a:r>
              <a:rPr sz="2000" b="1" i="1" spc="-14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spc="-45" dirty="0">
                <a:solidFill>
                  <a:srgbClr val="1F35A0"/>
                </a:solidFill>
                <a:latin typeface="Trebuchet MS"/>
                <a:cs typeface="Trebuchet MS"/>
              </a:rPr>
              <a:t>flows</a:t>
            </a:r>
            <a:r>
              <a:rPr sz="2000" b="1" i="1" spc="-120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spc="-30" dirty="0">
                <a:solidFill>
                  <a:srgbClr val="1F35A0"/>
                </a:solidFill>
                <a:latin typeface="Trebuchet MS"/>
                <a:cs typeface="Trebuchet MS"/>
              </a:rPr>
              <a:t>between</a:t>
            </a:r>
            <a:r>
              <a:rPr sz="2000" b="1" i="1" spc="-16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dirty="0">
                <a:solidFill>
                  <a:srgbClr val="1F35A0"/>
                </a:solidFill>
                <a:latin typeface="Trebuchet MS"/>
                <a:cs typeface="Trebuchet MS"/>
              </a:rPr>
              <a:t>WMO</a:t>
            </a:r>
            <a:r>
              <a:rPr sz="2000" b="1" i="1" spc="-140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i="1" spc="-10" dirty="0">
                <a:solidFill>
                  <a:srgbClr val="1F35A0"/>
                </a:solidFill>
                <a:latin typeface="Trebuchet MS"/>
                <a:cs typeface="Trebuchet MS"/>
              </a:rPr>
              <a:t>Members”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WIS2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supports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exchange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all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114" dirty="0">
                <a:latin typeface="Trebuchet MS"/>
                <a:cs typeface="Trebuchet MS"/>
              </a:rPr>
              <a:t>WMO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disciplines: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weather,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climate,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hydrology,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110" dirty="0">
                <a:latin typeface="Trebuchet MS"/>
                <a:cs typeface="Trebuchet MS"/>
              </a:rPr>
              <a:t>…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WIS2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supports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105" dirty="0">
                <a:solidFill>
                  <a:srgbClr val="1F35A0"/>
                </a:solidFill>
                <a:latin typeface="Trebuchet MS"/>
                <a:cs typeface="Trebuchet MS"/>
              </a:rPr>
              <a:t>WMO</a:t>
            </a:r>
            <a:r>
              <a:rPr sz="2000" b="1" spc="-14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spc="-40" dirty="0">
                <a:solidFill>
                  <a:srgbClr val="1F35A0"/>
                </a:solidFill>
                <a:latin typeface="Trebuchet MS"/>
                <a:cs typeface="Trebuchet MS"/>
              </a:rPr>
              <a:t>Unified</a:t>
            </a:r>
            <a:r>
              <a:rPr sz="2000" b="1" spc="-140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1F35A0"/>
                </a:solidFill>
                <a:latin typeface="Trebuchet MS"/>
                <a:cs typeface="Trebuchet MS"/>
              </a:rPr>
              <a:t>Data</a:t>
            </a:r>
            <a:r>
              <a:rPr sz="2000" b="1" spc="-13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F35A0"/>
                </a:solidFill>
                <a:latin typeface="Trebuchet MS"/>
                <a:cs typeface="Trebuchet MS"/>
              </a:rPr>
              <a:t>policy</a:t>
            </a:r>
            <a:r>
              <a:rPr sz="2000" b="1" spc="-145" dirty="0">
                <a:solidFill>
                  <a:srgbClr val="1F35A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Global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50" dirty="0">
                <a:latin typeface="Trebuchet MS"/>
                <a:cs typeface="Trebuchet MS"/>
              </a:rPr>
              <a:t>Basic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Observing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Network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(GBON)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i="1" spc="-35" dirty="0">
                <a:latin typeface="Trebuchet MS"/>
                <a:cs typeface="Trebuchet MS"/>
              </a:rPr>
              <a:t>However</a:t>
            </a:r>
            <a:r>
              <a:rPr sz="1800" i="1" spc="-180" dirty="0">
                <a:latin typeface="Trebuchet MS"/>
                <a:cs typeface="Trebuchet MS"/>
              </a:rPr>
              <a:t> </a:t>
            </a:r>
            <a:r>
              <a:rPr sz="1800" i="1" dirty="0">
                <a:latin typeface="Trebuchet MS"/>
                <a:cs typeface="Trebuchet MS"/>
              </a:rPr>
              <a:t>WIS2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dirty="0">
                <a:latin typeface="Trebuchet MS"/>
                <a:cs typeface="Trebuchet MS"/>
              </a:rPr>
              <a:t>is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65" dirty="0">
                <a:latin typeface="Trebuchet MS"/>
                <a:cs typeface="Trebuchet MS"/>
              </a:rPr>
              <a:t>not</a:t>
            </a:r>
            <a:r>
              <a:rPr sz="1800" i="1" spc="-160" dirty="0">
                <a:latin typeface="Trebuchet MS"/>
                <a:cs typeface="Trebuchet MS"/>
              </a:rPr>
              <a:t> </a:t>
            </a:r>
            <a:r>
              <a:rPr sz="1800" i="1" spc="-90" dirty="0">
                <a:latin typeface="Trebuchet MS"/>
                <a:cs typeface="Trebuchet MS"/>
              </a:rPr>
              <a:t>limited</a:t>
            </a:r>
            <a:r>
              <a:rPr sz="1800" i="1" spc="-160" dirty="0">
                <a:latin typeface="Trebuchet MS"/>
                <a:cs typeface="Trebuchet MS"/>
              </a:rPr>
              <a:t> </a:t>
            </a:r>
            <a:r>
              <a:rPr sz="1800" i="1" spc="-95" dirty="0">
                <a:latin typeface="Trebuchet MS"/>
                <a:cs typeface="Trebuchet MS"/>
              </a:rPr>
              <a:t>to</a:t>
            </a:r>
            <a:r>
              <a:rPr sz="1800" i="1" spc="-150" dirty="0">
                <a:latin typeface="Trebuchet MS"/>
                <a:cs typeface="Trebuchet MS"/>
              </a:rPr>
              <a:t> </a:t>
            </a:r>
            <a:r>
              <a:rPr sz="1800" i="1" spc="-60" dirty="0">
                <a:latin typeface="Trebuchet MS"/>
                <a:cs typeface="Trebuchet MS"/>
              </a:rPr>
              <a:t>data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40" dirty="0">
                <a:latin typeface="Trebuchet MS"/>
                <a:cs typeface="Trebuchet MS"/>
              </a:rPr>
              <a:t>governed</a:t>
            </a:r>
            <a:r>
              <a:rPr sz="1800" i="1" spc="-165" dirty="0">
                <a:latin typeface="Trebuchet MS"/>
                <a:cs typeface="Trebuchet MS"/>
              </a:rPr>
              <a:t> </a:t>
            </a:r>
            <a:r>
              <a:rPr sz="1800" i="1" spc="-55" dirty="0">
                <a:latin typeface="Trebuchet MS"/>
                <a:cs typeface="Trebuchet MS"/>
              </a:rPr>
              <a:t>by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85" dirty="0">
                <a:latin typeface="Trebuchet MS"/>
                <a:cs typeface="Trebuchet MS"/>
              </a:rPr>
              <a:t>the</a:t>
            </a:r>
            <a:r>
              <a:rPr sz="1800" i="1" spc="-165" dirty="0">
                <a:latin typeface="Trebuchet MS"/>
                <a:cs typeface="Trebuchet MS"/>
              </a:rPr>
              <a:t> </a:t>
            </a:r>
            <a:r>
              <a:rPr sz="1800" i="1" spc="60" dirty="0">
                <a:latin typeface="Trebuchet MS"/>
                <a:cs typeface="Trebuchet MS"/>
              </a:rPr>
              <a:t>WMO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75" dirty="0">
                <a:latin typeface="Trebuchet MS"/>
                <a:cs typeface="Trebuchet MS"/>
              </a:rPr>
              <a:t>Unified</a:t>
            </a:r>
            <a:r>
              <a:rPr sz="1800" i="1" spc="-165" dirty="0">
                <a:latin typeface="Trebuchet MS"/>
                <a:cs typeface="Trebuchet MS"/>
              </a:rPr>
              <a:t> </a:t>
            </a:r>
            <a:r>
              <a:rPr sz="1800" i="1" spc="-25" dirty="0">
                <a:latin typeface="Trebuchet MS"/>
                <a:cs typeface="Trebuchet MS"/>
              </a:rPr>
              <a:t>Data</a:t>
            </a:r>
            <a:r>
              <a:rPr sz="1800" i="1" spc="-150" dirty="0">
                <a:latin typeface="Trebuchet MS"/>
                <a:cs typeface="Trebuchet MS"/>
              </a:rPr>
              <a:t> </a:t>
            </a:r>
            <a:r>
              <a:rPr sz="1800" i="1" spc="-40" dirty="0">
                <a:latin typeface="Trebuchet MS"/>
                <a:cs typeface="Trebuchet MS"/>
              </a:rPr>
              <a:t>Policy</a:t>
            </a:r>
            <a:r>
              <a:rPr sz="1800" i="1" spc="-165" dirty="0">
                <a:latin typeface="Trebuchet MS"/>
                <a:cs typeface="Trebuchet MS"/>
              </a:rPr>
              <a:t> </a:t>
            </a:r>
            <a:r>
              <a:rPr sz="1800" i="1" spc="-10" dirty="0">
                <a:latin typeface="Trebuchet MS"/>
                <a:cs typeface="Trebuchet MS"/>
              </a:rPr>
              <a:t>and</a:t>
            </a:r>
            <a:r>
              <a:rPr sz="1800" i="1" spc="-140" dirty="0">
                <a:latin typeface="Trebuchet MS"/>
                <a:cs typeface="Trebuchet MS"/>
              </a:rPr>
              <a:t> </a:t>
            </a:r>
            <a:r>
              <a:rPr sz="1800" i="1" spc="85" dirty="0">
                <a:latin typeface="Trebuchet MS"/>
                <a:cs typeface="Trebuchet MS"/>
              </a:rPr>
              <a:t>GBON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55" dirty="0">
                <a:latin typeface="Trebuchet MS"/>
                <a:cs typeface="Trebuchet MS"/>
              </a:rPr>
              <a:t>regulations</a:t>
            </a:r>
            <a:r>
              <a:rPr sz="1800" i="1" spc="-175" dirty="0">
                <a:latin typeface="Trebuchet MS"/>
                <a:cs typeface="Trebuchet MS"/>
              </a:rPr>
              <a:t> </a:t>
            </a:r>
            <a:r>
              <a:rPr sz="1800" i="1" spc="145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853C"/>
                </a:solidFill>
                <a:latin typeface="Trebuchet MS"/>
                <a:cs typeface="Trebuchet MS"/>
              </a:rPr>
              <a:t>WIS2-</a:t>
            </a:r>
            <a:r>
              <a:rPr sz="2000" b="1" spc="-55" dirty="0">
                <a:solidFill>
                  <a:srgbClr val="00853C"/>
                </a:solidFill>
                <a:latin typeface="Trebuchet MS"/>
                <a:cs typeface="Trebuchet MS"/>
              </a:rPr>
              <a:t>in-</a:t>
            </a:r>
            <a:r>
              <a:rPr sz="2000" b="1" spc="-25" dirty="0">
                <a:solidFill>
                  <a:srgbClr val="00853C"/>
                </a:solidFill>
                <a:latin typeface="Trebuchet MS"/>
                <a:cs typeface="Trebuchet MS"/>
              </a:rPr>
              <a:t>a-</a:t>
            </a:r>
            <a:r>
              <a:rPr sz="2000" b="1" spc="-55" dirty="0">
                <a:solidFill>
                  <a:srgbClr val="00853C"/>
                </a:solidFill>
                <a:latin typeface="Trebuchet MS"/>
                <a:cs typeface="Trebuchet MS"/>
              </a:rPr>
              <a:t>box</a:t>
            </a:r>
            <a:r>
              <a:rPr sz="2000" b="1" spc="-185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853C"/>
                </a:solidFill>
                <a:latin typeface="Trebuchet MS"/>
                <a:cs typeface="Trebuchet MS"/>
              </a:rPr>
              <a:t>can</a:t>
            </a:r>
            <a:r>
              <a:rPr sz="2000" b="1" spc="-160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00853C"/>
                </a:solidFill>
                <a:latin typeface="Trebuchet MS"/>
                <a:cs typeface="Trebuchet MS"/>
              </a:rPr>
              <a:t>be</a:t>
            </a:r>
            <a:r>
              <a:rPr sz="2000" b="1" spc="-150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853C"/>
                </a:solidFill>
                <a:latin typeface="Trebuchet MS"/>
                <a:cs typeface="Trebuchet MS"/>
              </a:rPr>
              <a:t>used</a:t>
            </a:r>
            <a:r>
              <a:rPr sz="2000" b="1" spc="-130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spc="-55" dirty="0">
                <a:solidFill>
                  <a:srgbClr val="00853C"/>
                </a:solidFill>
                <a:latin typeface="Trebuchet MS"/>
                <a:cs typeface="Trebuchet MS"/>
              </a:rPr>
              <a:t>to</a:t>
            </a:r>
            <a:r>
              <a:rPr sz="2000" b="1" spc="-145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853C"/>
                </a:solidFill>
                <a:latin typeface="Trebuchet MS"/>
                <a:cs typeface="Trebuchet MS"/>
              </a:rPr>
              <a:t>publish</a:t>
            </a:r>
            <a:r>
              <a:rPr sz="2000" b="1" spc="-120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u="sng" spc="-30" dirty="0">
                <a:solidFill>
                  <a:srgbClr val="00853C"/>
                </a:solidFill>
                <a:uFill>
                  <a:solidFill>
                    <a:srgbClr val="00853C"/>
                  </a:solidFill>
                </a:uFill>
                <a:latin typeface="Trebuchet MS"/>
                <a:cs typeface="Trebuchet MS"/>
              </a:rPr>
              <a:t>any</a:t>
            </a:r>
            <a:r>
              <a:rPr sz="2000" b="1" spc="-150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853C"/>
                </a:solidFill>
                <a:latin typeface="Trebuchet MS"/>
                <a:cs typeface="Trebuchet MS"/>
              </a:rPr>
              <a:t>data</a:t>
            </a:r>
            <a:r>
              <a:rPr sz="2000" b="1" spc="-150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00853C"/>
                </a:solidFill>
                <a:latin typeface="Trebuchet MS"/>
                <a:cs typeface="Trebuchet MS"/>
              </a:rPr>
              <a:t>on</a:t>
            </a:r>
            <a:r>
              <a:rPr sz="2000" b="1" spc="-145" dirty="0">
                <a:solidFill>
                  <a:srgbClr val="00853C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00853C"/>
                </a:solidFill>
                <a:latin typeface="Trebuchet MS"/>
                <a:cs typeface="Trebuchet MS"/>
              </a:rPr>
              <a:t>WIS2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Trebuchet MS"/>
                <a:cs typeface="Trebuchet MS"/>
              </a:rPr>
              <a:t>this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includes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“recommended”-</a:t>
            </a:r>
            <a:r>
              <a:rPr sz="2000" spc="-70" dirty="0">
                <a:latin typeface="Trebuchet MS"/>
                <a:cs typeface="Trebuchet MS"/>
              </a:rPr>
              <a:t>data,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that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may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65" dirty="0">
                <a:latin typeface="Trebuchet MS"/>
                <a:cs typeface="Trebuchet MS"/>
              </a:rPr>
              <a:t>access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controlled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20245" y="6517640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12788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WMO</a:t>
            </a:r>
            <a:r>
              <a:rPr spc="-35" dirty="0"/>
              <a:t> </a:t>
            </a:r>
            <a:r>
              <a:rPr dirty="0"/>
              <a:t>Unified</a:t>
            </a:r>
            <a:r>
              <a:rPr spc="-40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Policy</a:t>
            </a:r>
          </a:p>
        </p:txBody>
      </p:sp>
      <p:sp>
        <p:nvSpPr>
          <p:cNvPr id="7" name="object 7"/>
          <p:cNvSpPr/>
          <p:nvPr/>
        </p:nvSpPr>
        <p:spPr>
          <a:xfrm>
            <a:off x="2400045" y="3348621"/>
            <a:ext cx="3839210" cy="3290570"/>
          </a:xfrm>
          <a:custGeom>
            <a:avLst/>
            <a:gdLst/>
            <a:ahLst/>
            <a:cxnLst/>
            <a:rect l="l" t="t" r="r" b="b"/>
            <a:pathLst>
              <a:path w="3839210" h="3290570">
                <a:moveTo>
                  <a:pt x="3839082" y="0"/>
                </a:moveTo>
                <a:lnTo>
                  <a:pt x="0" y="0"/>
                </a:lnTo>
                <a:lnTo>
                  <a:pt x="0" y="3290570"/>
                </a:lnTo>
                <a:lnTo>
                  <a:pt x="3839082" y="3290570"/>
                </a:lnTo>
                <a:lnTo>
                  <a:pt x="3839082" y="0"/>
                </a:lnTo>
                <a:close/>
              </a:path>
            </a:pathLst>
          </a:custGeom>
          <a:solidFill>
            <a:srgbClr val="DCE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458339" y="3389503"/>
            <a:ext cx="3618229" cy="2614930"/>
            <a:chOff x="2458339" y="3389503"/>
            <a:chExt cx="3618229" cy="2614930"/>
          </a:xfrm>
        </p:grpSpPr>
        <p:sp>
          <p:nvSpPr>
            <p:cNvPr id="9" name="object 9"/>
            <p:cNvSpPr/>
            <p:nvPr/>
          </p:nvSpPr>
          <p:spPr>
            <a:xfrm>
              <a:off x="4206943" y="4854966"/>
              <a:ext cx="277495" cy="260350"/>
            </a:xfrm>
            <a:custGeom>
              <a:avLst/>
              <a:gdLst/>
              <a:ahLst/>
              <a:cxnLst/>
              <a:rect l="l" t="t" r="r" b="b"/>
              <a:pathLst>
                <a:path w="277495" h="260350">
                  <a:moveTo>
                    <a:pt x="178262" y="176528"/>
                  </a:moveTo>
                  <a:lnTo>
                    <a:pt x="157727" y="176528"/>
                  </a:lnTo>
                  <a:lnTo>
                    <a:pt x="196770" y="215593"/>
                  </a:lnTo>
                  <a:lnTo>
                    <a:pt x="193317" y="224657"/>
                  </a:lnTo>
                  <a:lnTo>
                    <a:pt x="192903" y="234204"/>
                  </a:lnTo>
                  <a:lnTo>
                    <a:pt x="195483" y="243320"/>
                  </a:lnTo>
                  <a:lnTo>
                    <a:pt x="195527" y="243475"/>
                  </a:lnTo>
                  <a:lnTo>
                    <a:pt x="201190" y="251710"/>
                  </a:lnTo>
                  <a:lnTo>
                    <a:pt x="210905" y="258136"/>
                  </a:lnTo>
                  <a:lnTo>
                    <a:pt x="222001" y="260278"/>
                  </a:lnTo>
                  <a:lnTo>
                    <a:pt x="233097" y="258136"/>
                  </a:lnTo>
                  <a:lnTo>
                    <a:pt x="242812" y="251710"/>
                  </a:lnTo>
                  <a:lnTo>
                    <a:pt x="249235" y="241990"/>
                  </a:lnTo>
                  <a:lnTo>
                    <a:pt x="251376" y="230888"/>
                  </a:lnTo>
                  <a:lnTo>
                    <a:pt x="249235" y="219785"/>
                  </a:lnTo>
                  <a:lnTo>
                    <a:pt x="242812" y="210065"/>
                  </a:lnTo>
                  <a:lnTo>
                    <a:pt x="236555" y="205643"/>
                  </a:lnTo>
                  <a:lnTo>
                    <a:pt x="207084" y="205643"/>
                  </a:lnTo>
                  <a:lnTo>
                    <a:pt x="178262" y="176528"/>
                  </a:lnTo>
                  <a:close/>
                </a:path>
                <a:path w="277495" h="260350">
                  <a:moveTo>
                    <a:pt x="51509" y="201405"/>
                  </a:moveTo>
                  <a:lnTo>
                    <a:pt x="42352" y="204030"/>
                  </a:lnTo>
                  <a:lnTo>
                    <a:pt x="34335" y="209697"/>
                  </a:lnTo>
                  <a:lnTo>
                    <a:pt x="27912" y="219417"/>
                  </a:lnTo>
                  <a:lnTo>
                    <a:pt x="25771" y="230519"/>
                  </a:lnTo>
                  <a:lnTo>
                    <a:pt x="27912" y="241621"/>
                  </a:lnTo>
                  <a:lnTo>
                    <a:pt x="34335" y="251341"/>
                  </a:lnTo>
                  <a:lnTo>
                    <a:pt x="44050" y="257768"/>
                  </a:lnTo>
                  <a:lnTo>
                    <a:pt x="55146" y="259910"/>
                  </a:lnTo>
                  <a:lnTo>
                    <a:pt x="66242" y="257768"/>
                  </a:lnTo>
                  <a:lnTo>
                    <a:pt x="75957" y="251341"/>
                  </a:lnTo>
                  <a:lnTo>
                    <a:pt x="81510" y="243475"/>
                  </a:lnTo>
                  <a:lnTo>
                    <a:pt x="81620" y="243320"/>
                  </a:lnTo>
                  <a:lnTo>
                    <a:pt x="84231" y="234204"/>
                  </a:lnTo>
                  <a:lnTo>
                    <a:pt x="83830" y="224657"/>
                  </a:lnTo>
                  <a:lnTo>
                    <a:pt x="80377" y="215593"/>
                  </a:lnTo>
                  <a:lnTo>
                    <a:pt x="90690" y="205274"/>
                  </a:lnTo>
                  <a:lnTo>
                    <a:pt x="70064" y="205274"/>
                  </a:lnTo>
                  <a:lnTo>
                    <a:pt x="61011" y="201819"/>
                  </a:lnTo>
                  <a:lnTo>
                    <a:pt x="51509" y="201405"/>
                  </a:lnTo>
                  <a:close/>
                </a:path>
                <a:path w="277495" h="260350">
                  <a:moveTo>
                    <a:pt x="225799" y="201819"/>
                  </a:moveTo>
                  <a:lnTo>
                    <a:pt x="224583" y="201819"/>
                  </a:lnTo>
                  <a:lnTo>
                    <a:pt x="216137" y="202188"/>
                  </a:lnTo>
                  <a:lnTo>
                    <a:pt x="207084" y="205643"/>
                  </a:lnTo>
                  <a:lnTo>
                    <a:pt x="236555" y="205643"/>
                  </a:lnTo>
                  <a:lnTo>
                    <a:pt x="234795" y="204399"/>
                  </a:lnTo>
                  <a:lnTo>
                    <a:pt x="225799" y="201819"/>
                  </a:lnTo>
                  <a:close/>
                </a:path>
                <a:path w="277495" h="260350">
                  <a:moveTo>
                    <a:pt x="91776" y="119860"/>
                  </a:moveTo>
                  <a:lnTo>
                    <a:pt x="52963" y="119860"/>
                  </a:lnTo>
                  <a:lnTo>
                    <a:pt x="101372" y="139675"/>
                  </a:lnTo>
                  <a:lnTo>
                    <a:pt x="101004" y="141149"/>
                  </a:lnTo>
                  <a:lnTo>
                    <a:pt x="101004" y="152573"/>
                  </a:lnTo>
                  <a:lnTo>
                    <a:pt x="103582" y="160313"/>
                  </a:lnTo>
                  <a:lnTo>
                    <a:pt x="108370" y="166578"/>
                  </a:lnTo>
                  <a:lnTo>
                    <a:pt x="70064" y="205274"/>
                  </a:lnTo>
                  <a:lnTo>
                    <a:pt x="90690" y="205274"/>
                  </a:lnTo>
                  <a:lnTo>
                    <a:pt x="119420" y="176528"/>
                  </a:lnTo>
                  <a:lnTo>
                    <a:pt x="178262" y="176528"/>
                  </a:lnTo>
                  <a:lnTo>
                    <a:pt x="168777" y="166946"/>
                  </a:lnTo>
                  <a:lnTo>
                    <a:pt x="173565" y="160681"/>
                  </a:lnTo>
                  <a:lnTo>
                    <a:pt x="176144" y="153311"/>
                  </a:lnTo>
                  <a:lnTo>
                    <a:pt x="176051" y="141149"/>
                  </a:lnTo>
                  <a:lnTo>
                    <a:pt x="175775" y="140043"/>
                  </a:lnTo>
                  <a:lnTo>
                    <a:pt x="208850" y="126505"/>
                  </a:lnTo>
                  <a:lnTo>
                    <a:pt x="170691" y="126505"/>
                  </a:lnTo>
                  <a:lnTo>
                    <a:pt x="170345" y="126039"/>
                  </a:lnTo>
                  <a:lnTo>
                    <a:pt x="106528" y="126039"/>
                  </a:lnTo>
                  <a:lnTo>
                    <a:pt x="91776" y="119860"/>
                  </a:lnTo>
                  <a:close/>
                </a:path>
                <a:path w="277495" h="260350">
                  <a:moveTo>
                    <a:pt x="157727" y="176528"/>
                  </a:moveTo>
                  <a:lnTo>
                    <a:pt x="119420" y="176528"/>
                  </a:lnTo>
                  <a:lnTo>
                    <a:pt x="124945" y="179845"/>
                  </a:lnTo>
                  <a:lnTo>
                    <a:pt x="131207" y="181688"/>
                  </a:lnTo>
                  <a:lnTo>
                    <a:pt x="145940" y="181688"/>
                  </a:lnTo>
                  <a:lnTo>
                    <a:pt x="152202" y="179845"/>
                  </a:lnTo>
                  <a:lnTo>
                    <a:pt x="157727" y="176528"/>
                  </a:lnTo>
                  <a:close/>
                </a:path>
                <a:path w="277495" h="260350">
                  <a:moveTo>
                    <a:pt x="270417" y="120229"/>
                  </a:moveTo>
                  <a:lnTo>
                    <a:pt x="224486" y="120229"/>
                  </a:lnTo>
                  <a:lnTo>
                    <a:pt x="231307" y="126718"/>
                  </a:lnTo>
                  <a:lnTo>
                    <a:pt x="239911" y="130738"/>
                  </a:lnTo>
                  <a:lnTo>
                    <a:pt x="249413" y="131855"/>
                  </a:lnTo>
                  <a:lnTo>
                    <a:pt x="259019" y="129724"/>
                  </a:lnTo>
                  <a:lnTo>
                    <a:pt x="268589" y="123004"/>
                  </a:lnTo>
                  <a:lnTo>
                    <a:pt x="270417" y="120229"/>
                  </a:lnTo>
                  <a:close/>
                </a:path>
                <a:path w="277495" h="260350">
                  <a:moveTo>
                    <a:pt x="29432" y="72520"/>
                  </a:moveTo>
                  <a:lnTo>
                    <a:pt x="17847" y="74812"/>
                  </a:lnTo>
                  <a:lnTo>
                    <a:pt x="18172" y="74812"/>
                  </a:lnTo>
                  <a:lnTo>
                    <a:pt x="8851" y="80928"/>
                  </a:lnTo>
                  <a:lnTo>
                    <a:pt x="2290" y="90659"/>
                  </a:lnTo>
                  <a:lnTo>
                    <a:pt x="0" y="102199"/>
                  </a:lnTo>
                  <a:lnTo>
                    <a:pt x="2198" y="113324"/>
                  </a:lnTo>
                  <a:lnTo>
                    <a:pt x="8402" y="122791"/>
                  </a:lnTo>
                  <a:lnTo>
                    <a:pt x="18128" y="129356"/>
                  </a:lnTo>
                  <a:lnTo>
                    <a:pt x="27734" y="131538"/>
                  </a:lnTo>
                  <a:lnTo>
                    <a:pt x="37236" y="130507"/>
                  </a:lnTo>
                  <a:lnTo>
                    <a:pt x="45840" y="126505"/>
                  </a:lnTo>
                  <a:lnTo>
                    <a:pt x="52663" y="119860"/>
                  </a:lnTo>
                  <a:lnTo>
                    <a:pt x="91776" y="119860"/>
                  </a:lnTo>
                  <a:lnTo>
                    <a:pt x="59013" y="106138"/>
                  </a:lnTo>
                  <a:lnTo>
                    <a:pt x="58792" y="96896"/>
                  </a:lnTo>
                  <a:lnTo>
                    <a:pt x="58783" y="96527"/>
                  </a:lnTo>
                  <a:lnTo>
                    <a:pt x="55514" y="87573"/>
                  </a:lnTo>
                  <a:lnTo>
                    <a:pt x="49483" y="80070"/>
                  </a:lnTo>
                  <a:lnTo>
                    <a:pt x="40965" y="74812"/>
                  </a:lnTo>
                  <a:lnTo>
                    <a:pt x="29432" y="72520"/>
                  </a:lnTo>
                  <a:close/>
                </a:path>
                <a:path w="277495" h="260350">
                  <a:moveTo>
                    <a:pt x="247715" y="72889"/>
                  </a:moveTo>
                  <a:lnTo>
                    <a:pt x="218260" y="102199"/>
                  </a:lnTo>
                  <a:lnTo>
                    <a:pt x="218134" y="106507"/>
                  </a:lnTo>
                  <a:lnTo>
                    <a:pt x="170385" y="126505"/>
                  </a:lnTo>
                  <a:lnTo>
                    <a:pt x="208850" y="126505"/>
                  </a:lnTo>
                  <a:lnTo>
                    <a:pt x="224184" y="120229"/>
                  </a:lnTo>
                  <a:lnTo>
                    <a:pt x="270417" y="120229"/>
                  </a:lnTo>
                  <a:lnTo>
                    <a:pt x="274811" y="113555"/>
                  </a:lnTo>
                  <a:lnTo>
                    <a:pt x="277096" y="102516"/>
                  </a:lnTo>
                  <a:lnTo>
                    <a:pt x="274857" y="91028"/>
                  </a:lnTo>
                  <a:lnTo>
                    <a:pt x="268296" y="81296"/>
                  </a:lnTo>
                  <a:lnTo>
                    <a:pt x="258975" y="75181"/>
                  </a:lnTo>
                  <a:lnTo>
                    <a:pt x="259300" y="75181"/>
                  </a:lnTo>
                  <a:lnTo>
                    <a:pt x="247715" y="72889"/>
                  </a:lnTo>
                  <a:close/>
                </a:path>
                <a:path w="277495" h="260350">
                  <a:moveTo>
                    <a:pt x="138573" y="0"/>
                  </a:moveTo>
                  <a:lnTo>
                    <a:pt x="127132" y="2326"/>
                  </a:lnTo>
                  <a:lnTo>
                    <a:pt x="117763" y="8660"/>
                  </a:lnTo>
                  <a:lnTo>
                    <a:pt x="111432" y="18035"/>
                  </a:lnTo>
                  <a:lnTo>
                    <a:pt x="109107" y="29482"/>
                  </a:lnTo>
                  <a:lnTo>
                    <a:pt x="110799" y="39203"/>
                  </a:lnTo>
                  <a:lnTo>
                    <a:pt x="115461" y="47541"/>
                  </a:lnTo>
                  <a:lnTo>
                    <a:pt x="122470" y="53944"/>
                  </a:lnTo>
                  <a:lnTo>
                    <a:pt x="131207" y="57860"/>
                  </a:lnTo>
                  <a:lnTo>
                    <a:pt x="131207" y="108718"/>
                  </a:lnTo>
                  <a:lnTo>
                    <a:pt x="123570" y="110958"/>
                  </a:lnTo>
                  <a:lnTo>
                    <a:pt x="116796" y="114752"/>
                  </a:lnTo>
                  <a:lnTo>
                    <a:pt x="111058" y="119860"/>
                  </a:lnTo>
                  <a:lnTo>
                    <a:pt x="106528" y="126039"/>
                  </a:lnTo>
                  <a:lnTo>
                    <a:pt x="170345" y="126039"/>
                  </a:lnTo>
                  <a:lnTo>
                    <a:pt x="166037" y="120229"/>
                  </a:lnTo>
                  <a:lnTo>
                    <a:pt x="160213" y="115121"/>
                  </a:lnTo>
                  <a:lnTo>
                    <a:pt x="153422" y="111326"/>
                  </a:lnTo>
                  <a:lnTo>
                    <a:pt x="145940" y="109086"/>
                  </a:lnTo>
                  <a:lnTo>
                    <a:pt x="145940" y="57860"/>
                  </a:lnTo>
                  <a:lnTo>
                    <a:pt x="154677" y="53944"/>
                  </a:lnTo>
                  <a:lnTo>
                    <a:pt x="161686" y="47541"/>
                  </a:lnTo>
                  <a:lnTo>
                    <a:pt x="166348" y="39203"/>
                  </a:lnTo>
                  <a:lnTo>
                    <a:pt x="168040" y="29482"/>
                  </a:lnTo>
                  <a:lnTo>
                    <a:pt x="165715" y="18035"/>
                  </a:lnTo>
                  <a:lnTo>
                    <a:pt x="159384" y="8660"/>
                  </a:lnTo>
                  <a:lnTo>
                    <a:pt x="150015" y="2326"/>
                  </a:lnTo>
                  <a:lnTo>
                    <a:pt x="138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A picture containing text, balloon, transport, aircraft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8339" y="3389503"/>
              <a:ext cx="708545" cy="7085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2816" y="5688178"/>
              <a:ext cx="225384" cy="3162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99052" y="3896830"/>
              <a:ext cx="1977389" cy="453390"/>
            </a:xfrm>
            <a:custGeom>
              <a:avLst/>
              <a:gdLst/>
              <a:ahLst/>
              <a:cxnLst/>
              <a:rect l="l" t="t" r="r" b="b"/>
              <a:pathLst>
                <a:path w="1977389" h="453389">
                  <a:moveTo>
                    <a:pt x="1977008" y="0"/>
                  </a:moveTo>
                  <a:lnTo>
                    <a:pt x="0" y="0"/>
                  </a:lnTo>
                  <a:lnTo>
                    <a:pt x="0" y="453174"/>
                  </a:lnTo>
                  <a:lnTo>
                    <a:pt x="1977008" y="453174"/>
                  </a:lnTo>
                  <a:lnTo>
                    <a:pt x="1977008" y="0"/>
                  </a:lnTo>
                  <a:close/>
                </a:path>
              </a:pathLst>
            </a:custGeom>
            <a:solidFill>
              <a:srgbClr val="84E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7366" y="927705"/>
            <a:ext cx="4939754" cy="2908256"/>
          </a:xfrm>
          <a:prstGeom prst="rect">
            <a:avLst/>
          </a:prstGeom>
        </p:spPr>
      </p:pic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6932" y="800925"/>
          <a:ext cx="12113259" cy="3089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71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91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b="1" spc="105" dirty="0">
                          <a:latin typeface="Trebuchet MS"/>
                          <a:cs typeface="Trebuchet MS"/>
                        </a:rPr>
                        <a:t>WMO</a:t>
                      </a:r>
                      <a:r>
                        <a:rPr sz="2000" b="1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40" dirty="0">
                          <a:latin typeface="Trebuchet MS"/>
                          <a:cs typeface="Trebuchet MS"/>
                        </a:rPr>
                        <a:t>Unified</a:t>
                      </a:r>
                      <a:r>
                        <a:rPr sz="2000" b="1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2000" b="1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latin typeface="Trebuchet MS"/>
                          <a:cs typeface="Trebuchet MS"/>
                        </a:rPr>
                        <a:t>Policy</a:t>
                      </a:r>
                      <a:r>
                        <a:rPr sz="2000" b="1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describes</a:t>
                      </a:r>
                      <a:r>
                        <a:rPr sz="20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60" dirty="0"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2000" b="1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0" dirty="0">
                          <a:latin typeface="Trebuchet MS"/>
                          <a:cs typeface="Trebuchet MS"/>
                        </a:rPr>
                        <a:t>categories</a:t>
                      </a:r>
                      <a:r>
                        <a:rPr sz="2000" b="1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4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000" b="1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b="1" spc="-35" dirty="0">
                          <a:latin typeface="Trebuchet MS"/>
                          <a:cs typeface="Trebuchet MS"/>
                        </a:rPr>
                        <a:t>core</a:t>
                      </a:r>
                      <a:r>
                        <a:rPr sz="2000" b="1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sz="20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20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provided</a:t>
                      </a:r>
                      <a:r>
                        <a:rPr sz="2000" spc="-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20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0" dirty="0">
                          <a:latin typeface="Trebuchet MS"/>
                          <a:cs typeface="Trebuchet MS"/>
                        </a:rPr>
                        <a:t>free</a:t>
                      </a:r>
                      <a:r>
                        <a:rPr sz="20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unrestricted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basis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marR="13779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b="1" spc="-20" dirty="0">
                          <a:latin typeface="Trebuchet MS"/>
                          <a:cs typeface="Trebuchet MS"/>
                        </a:rPr>
                        <a:t>recommended</a:t>
                      </a:r>
                      <a:r>
                        <a:rPr sz="2000" b="1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sz="20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20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20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5" dirty="0"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20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conditions</a:t>
                      </a:r>
                      <a:r>
                        <a:rPr sz="20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20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20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defined</a:t>
                      </a:r>
                      <a:r>
                        <a:rPr sz="20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by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license</a:t>
                      </a:r>
                      <a:r>
                        <a:rPr sz="2000" spc="-1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which</a:t>
                      </a:r>
                      <a:r>
                        <a:rPr sz="20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2000" spc="-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restricted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sz="20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65" dirty="0">
                          <a:latin typeface="Trebuchet MS"/>
                          <a:cs typeface="Trebuchet MS"/>
                        </a:rPr>
                        <a:t>access</a:t>
                      </a:r>
                      <a:r>
                        <a:rPr sz="20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controls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91440" marR="23558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Consult</a:t>
                      </a:r>
                      <a:r>
                        <a:rPr sz="2000" spc="-12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2000" spc="-114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u="sng" spc="100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WMO</a:t>
                      </a:r>
                      <a:r>
                        <a:rPr sz="2000" b="1" u="sng" spc="-120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 </a:t>
                      </a:r>
                      <a:r>
                        <a:rPr sz="2000" b="1" u="sng" spc="-35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Unified</a:t>
                      </a:r>
                      <a:r>
                        <a:rPr sz="2000" b="1" u="sng" spc="-120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 </a:t>
                      </a:r>
                      <a:r>
                        <a:rPr sz="2000" b="1" u="sng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Data</a:t>
                      </a:r>
                      <a:r>
                        <a:rPr sz="2000" b="1" u="sng" spc="-120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 </a:t>
                      </a:r>
                      <a:r>
                        <a:rPr sz="2000" b="1" u="sng" spc="-25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Policy</a:t>
                      </a:r>
                      <a:r>
                        <a:rPr sz="2000" b="1" u="sng" spc="-130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 </a:t>
                      </a:r>
                      <a:r>
                        <a:rPr sz="2000" b="1" u="sng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Cg-</a:t>
                      </a:r>
                      <a:r>
                        <a:rPr sz="2000" b="1" u="sng" spc="-75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Ext(2021)/Doc.</a:t>
                      </a:r>
                      <a:r>
                        <a:rPr sz="2000" b="1" u="sng" spc="-165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 </a:t>
                      </a:r>
                      <a:r>
                        <a:rPr sz="2000" b="1" u="sng" spc="-25" dirty="0">
                          <a:solidFill>
                            <a:srgbClr val="1F35A0"/>
                          </a:solidFill>
                          <a:uFill>
                            <a:solidFill>
                              <a:srgbClr val="1F35A0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4.1</a:t>
                      </a:r>
                      <a:r>
                        <a:rPr sz="2000" b="1" spc="-25" dirty="0">
                          <a:solidFill>
                            <a:srgbClr val="1F35A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7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2000" spc="-16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determine</a:t>
                      </a:r>
                      <a:r>
                        <a:rPr sz="2000" spc="-18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2000" spc="-16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7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relevant</a:t>
                      </a:r>
                      <a:r>
                        <a:rPr sz="2000" spc="-16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2000" spc="-17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policy</a:t>
                      </a:r>
                      <a:r>
                        <a:rPr sz="2000" spc="-18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2000" spc="-14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your</a:t>
                      </a:r>
                      <a:r>
                        <a:rPr sz="2000" spc="-165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solidFill>
                            <a:srgbClr val="0F42D2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9556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i="1" spc="50" dirty="0">
                          <a:solidFill>
                            <a:srgbClr val="0F243E"/>
                          </a:solidFill>
                          <a:latin typeface="Trebuchet MS"/>
                          <a:cs typeface="Trebuchet MS"/>
                        </a:rPr>
                        <a:t>WIS</a:t>
                      </a:r>
                      <a:r>
                        <a:rPr sz="1400" b="1" i="1" spc="-145" dirty="0">
                          <a:solidFill>
                            <a:srgbClr val="0F243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i="1" spc="-25" dirty="0">
                          <a:solidFill>
                            <a:srgbClr val="0F243E"/>
                          </a:solidFill>
                          <a:latin typeface="Trebuchet MS"/>
                          <a:cs typeface="Trebuchet MS"/>
                        </a:rPr>
                        <a:t>2.0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4099052" y="5619191"/>
            <a:ext cx="1977389" cy="452755"/>
          </a:xfrm>
          <a:custGeom>
            <a:avLst/>
            <a:gdLst/>
            <a:ahLst/>
            <a:cxnLst/>
            <a:rect l="l" t="t" r="r" b="b"/>
            <a:pathLst>
              <a:path w="1977389" h="452754">
                <a:moveTo>
                  <a:pt x="1977008" y="0"/>
                </a:moveTo>
                <a:lnTo>
                  <a:pt x="0" y="0"/>
                </a:lnTo>
                <a:lnTo>
                  <a:pt x="0" y="452602"/>
                </a:lnTo>
                <a:lnTo>
                  <a:pt x="1977008" y="452602"/>
                </a:lnTo>
                <a:lnTo>
                  <a:pt x="1977008" y="0"/>
                </a:lnTo>
                <a:close/>
              </a:path>
            </a:pathLst>
          </a:custGeom>
          <a:solidFill>
            <a:srgbClr val="70AA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99052" y="5619191"/>
            <a:ext cx="1977389" cy="45275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634365">
              <a:lnSpc>
                <a:spcPct val="100000"/>
              </a:lnSpc>
              <a:spcBef>
                <a:spcPts val="705"/>
              </a:spcBef>
            </a:pPr>
            <a:r>
              <a:rPr sz="1600" b="1" dirty="0">
                <a:latin typeface="Trebuchet MS"/>
                <a:cs typeface="Trebuchet MS"/>
              </a:rPr>
              <a:t>Global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Cache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94860" y="4752301"/>
            <a:ext cx="1981200" cy="453390"/>
          </a:xfrm>
          <a:custGeom>
            <a:avLst/>
            <a:gdLst/>
            <a:ahLst/>
            <a:cxnLst/>
            <a:rect l="l" t="t" r="r" b="b"/>
            <a:pathLst>
              <a:path w="1981200" h="453389">
                <a:moveTo>
                  <a:pt x="1981200" y="0"/>
                </a:moveTo>
                <a:lnTo>
                  <a:pt x="0" y="0"/>
                </a:lnTo>
                <a:lnTo>
                  <a:pt x="0" y="453174"/>
                </a:lnTo>
                <a:lnTo>
                  <a:pt x="1981200" y="453174"/>
                </a:lnTo>
                <a:lnTo>
                  <a:pt x="1981200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94860" y="4752301"/>
            <a:ext cx="1981200" cy="4533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705"/>
              </a:spcBef>
            </a:pPr>
            <a:r>
              <a:rPr sz="1600" b="1" dirty="0">
                <a:latin typeface="Trebuchet MS"/>
                <a:cs typeface="Trebuchet MS"/>
              </a:rPr>
              <a:t>Global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Broker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99052" y="3896829"/>
            <a:ext cx="1977389" cy="4533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83820" algn="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rebuchet MS"/>
                <a:cs typeface="Trebuchet MS"/>
              </a:rPr>
              <a:t>Global</a:t>
            </a:r>
            <a:r>
              <a:rPr sz="1400" b="1" spc="-7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Discovery</a:t>
            </a:r>
            <a:endParaRPr sz="1400">
              <a:latin typeface="Trebuchet MS"/>
              <a:cs typeface="Trebuchet MS"/>
            </a:endParaRPr>
          </a:p>
          <a:p>
            <a:pPr marR="83185" algn="r">
              <a:lnSpc>
                <a:spcPct val="100000"/>
              </a:lnSpc>
            </a:pPr>
            <a:r>
              <a:rPr sz="1400" b="1" spc="-10" dirty="0">
                <a:latin typeface="Trebuchet MS"/>
                <a:cs typeface="Trebuchet MS"/>
              </a:rPr>
              <a:t>Catalogue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43123" y="3981556"/>
            <a:ext cx="1981200" cy="1871345"/>
            <a:chOff x="3143123" y="3981556"/>
            <a:chExt cx="1981200" cy="1871345"/>
          </a:xfrm>
        </p:grpSpPr>
        <p:sp>
          <p:nvSpPr>
            <p:cNvPr id="21" name="object 21"/>
            <p:cNvSpPr/>
            <p:nvPr/>
          </p:nvSpPr>
          <p:spPr>
            <a:xfrm>
              <a:off x="4185823" y="3981556"/>
              <a:ext cx="348615" cy="311150"/>
            </a:xfrm>
            <a:custGeom>
              <a:avLst/>
              <a:gdLst/>
              <a:ahLst/>
              <a:cxnLst/>
              <a:rect l="l" t="t" r="r" b="b"/>
              <a:pathLst>
                <a:path w="348614" h="311150">
                  <a:moveTo>
                    <a:pt x="206968" y="0"/>
                  </a:moveTo>
                  <a:lnTo>
                    <a:pt x="25128" y="63117"/>
                  </a:lnTo>
                  <a:lnTo>
                    <a:pt x="11898" y="101262"/>
                  </a:lnTo>
                  <a:lnTo>
                    <a:pt x="11977" y="108792"/>
                  </a:lnTo>
                  <a:lnTo>
                    <a:pt x="12613" y="114192"/>
                  </a:lnTo>
                  <a:lnTo>
                    <a:pt x="14087" y="120309"/>
                  </a:lnTo>
                  <a:lnTo>
                    <a:pt x="9913" y="124619"/>
                  </a:lnTo>
                  <a:lnTo>
                    <a:pt x="5290" y="131867"/>
                  </a:lnTo>
                  <a:lnTo>
                    <a:pt x="1543" y="142463"/>
                  </a:lnTo>
                  <a:lnTo>
                    <a:pt x="0" y="156817"/>
                  </a:lnTo>
                  <a:lnTo>
                    <a:pt x="816" y="167585"/>
                  </a:lnTo>
                  <a:lnTo>
                    <a:pt x="906" y="168576"/>
                  </a:lnTo>
                  <a:lnTo>
                    <a:pt x="3614" y="179790"/>
                  </a:lnTo>
                  <a:lnTo>
                    <a:pt x="8116" y="190509"/>
                  </a:lnTo>
                  <a:lnTo>
                    <a:pt x="14155" y="200163"/>
                  </a:lnTo>
                  <a:lnTo>
                    <a:pt x="14243" y="200726"/>
                  </a:lnTo>
                  <a:lnTo>
                    <a:pt x="12612" y="207078"/>
                  </a:lnTo>
                  <a:lnTo>
                    <a:pt x="11818" y="213682"/>
                  </a:lnTo>
                  <a:lnTo>
                    <a:pt x="11898" y="220309"/>
                  </a:lnTo>
                  <a:lnTo>
                    <a:pt x="22472" y="257579"/>
                  </a:lnTo>
                  <a:lnTo>
                    <a:pt x="153257" y="310950"/>
                  </a:lnTo>
                  <a:lnTo>
                    <a:pt x="155252" y="310950"/>
                  </a:lnTo>
                  <a:lnTo>
                    <a:pt x="175407" y="302802"/>
                  </a:lnTo>
                  <a:lnTo>
                    <a:pt x="154252" y="302802"/>
                  </a:lnTo>
                  <a:lnTo>
                    <a:pt x="29599" y="253728"/>
                  </a:lnTo>
                  <a:lnTo>
                    <a:pt x="19724" y="213682"/>
                  </a:lnTo>
                  <a:lnTo>
                    <a:pt x="20623" y="207078"/>
                  </a:lnTo>
                  <a:lnTo>
                    <a:pt x="22507" y="200726"/>
                  </a:lnTo>
                  <a:lnTo>
                    <a:pt x="22936" y="199376"/>
                  </a:lnTo>
                  <a:lnTo>
                    <a:pt x="22613" y="197902"/>
                  </a:lnTo>
                  <a:lnTo>
                    <a:pt x="7941" y="156817"/>
                  </a:lnTo>
                  <a:lnTo>
                    <a:pt x="9738" y="142849"/>
                  </a:lnTo>
                  <a:lnTo>
                    <a:pt x="22219" y="124354"/>
                  </a:lnTo>
                  <a:lnTo>
                    <a:pt x="22966" y="122466"/>
                  </a:lnTo>
                  <a:lnTo>
                    <a:pt x="22444" y="120706"/>
                  </a:lnTo>
                  <a:lnTo>
                    <a:pt x="20649" y="114384"/>
                  </a:lnTo>
                  <a:lnTo>
                    <a:pt x="19901" y="108792"/>
                  </a:lnTo>
                  <a:lnTo>
                    <a:pt x="19961" y="99979"/>
                  </a:lnTo>
                  <a:lnTo>
                    <a:pt x="206409" y="8267"/>
                  </a:lnTo>
                  <a:lnTo>
                    <a:pt x="229308" y="8267"/>
                  </a:lnTo>
                  <a:lnTo>
                    <a:pt x="207824" y="330"/>
                  </a:lnTo>
                  <a:lnTo>
                    <a:pt x="206968" y="0"/>
                  </a:lnTo>
                  <a:close/>
                </a:path>
                <a:path w="348614" h="311150">
                  <a:moveTo>
                    <a:pt x="341504" y="225292"/>
                  </a:moveTo>
                  <a:lnTo>
                    <a:pt x="318063" y="225292"/>
                  </a:lnTo>
                  <a:lnTo>
                    <a:pt x="332704" y="230583"/>
                  </a:lnTo>
                  <a:lnTo>
                    <a:pt x="154252" y="302802"/>
                  </a:lnTo>
                  <a:lnTo>
                    <a:pt x="175407" y="302802"/>
                  </a:lnTo>
                  <a:lnTo>
                    <a:pt x="347478" y="233239"/>
                  </a:lnTo>
                  <a:lnTo>
                    <a:pt x="348470" y="230927"/>
                  </a:lnTo>
                  <a:lnTo>
                    <a:pt x="347214" y="227839"/>
                  </a:lnTo>
                  <a:lnTo>
                    <a:pt x="346387" y="227019"/>
                  </a:lnTo>
                  <a:lnTo>
                    <a:pt x="341504" y="225292"/>
                  </a:lnTo>
                  <a:close/>
                </a:path>
                <a:path w="348614" h="311150">
                  <a:moveTo>
                    <a:pt x="35879" y="196658"/>
                  </a:moveTo>
                  <a:lnTo>
                    <a:pt x="33579" y="197660"/>
                  </a:lnTo>
                  <a:lnTo>
                    <a:pt x="32594" y="200163"/>
                  </a:lnTo>
                  <a:lnTo>
                    <a:pt x="32501" y="242465"/>
                  </a:lnTo>
                  <a:lnTo>
                    <a:pt x="33496" y="243930"/>
                  </a:lnTo>
                  <a:lnTo>
                    <a:pt x="153753" y="291304"/>
                  </a:lnTo>
                  <a:lnTo>
                    <a:pt x="154807" y="291304"/>
                  </a:lnTo>
                  <a:lnTo>
                    <a:pt x="175441" y="282961"/>
                  </a:lnTo>
                  <a:lnTo>
                    <a:pt x="154252" y="282961"/>
                  </a:lnTo>
                  <a:lnTo>
                    <a:pt x="40726" y="238237"/>
                  </a:lnTo>
                  <a:lnTo>
                    <a:pt x="40427" y="238237"/>
                  </a:lnTo>
                  <a:lnTo>
                    <a:pt x="40427" y="207078"/>
                  </a:lnTo>
                  <a:lnTo>
                    <a:pt x="62336" y="207078"/>
                  </a:lnTo>
                  <a:lnTo>
                    <a:pt x="35879" y="196658"/>
                  </a:lnTo>
                  <a:close/>
                </a:path>
                <a:path w="348614" h="311150">
                  <a:moveTo>
                    <a:pt x="323847" y="186477"/>
                  </a:moveTo>
                  <a:lnTo>
                    <a:pt x="315915" y="186477"/>
                  </a:lnTo>
                  <a:lnTo>
                    <a:pt x="315915" y="217597"/>
                  </a:lnTo>
                  <a:lnTo>
                    <a:pt x="154252" y="282961"/>
                  </a:lnTo>
                  <a:lnTo>
                    <a:pt x="175441" y="282961"/>
                  </a:lnTo>
                  <a:lnTo>
                    <a:pt x="318063" y="225292"/>
                  </a:lnTo>
                  <a:lnTo>
                    <a:pt x="341504" y="225292"/>
                  </a:lnTo>
                  <a:lnTo>
                    <a:pt x="323847" y="219026"/>
                  </a:lnTo>
                  <a:lnTo>
                    <a:pt x="323847" y="186477"/>
                  </a:lnTo>
                  <a:close/>
                </a:path>
                <a:path w="348614" h="311150">
                  <a:moveTo>
                    <a:pt x="62336" y="207078"/>
                  </a:moveTo>
                  <a:lnTo>
                    <a:pt x="40704" y="207078"/>
                  </a:lnTo>
                  <a:lnTo>
                    <a:pt x="153753" y="251622"/>
                  </a:lnTo>
                  <a:lnTo>
                    <a:pt x="154807" y="251622"/>
                  </a:lnTo>
                  <a:lnTo>
                    <a:pt x="175441" y="243278"/>
                  </a:lnTo>
                  <a:lnTo>
                    <a:pt x="154252" y="243278"/>
                  </a:lnTo>
                  <a:lnTo>
                    <a:pt x="62336" y="207078"/>
                  </a:lnTo>
                  <a:close/>
                </a:path>
                <a:path w="348614" h="311150">
                  <a:moveTo>
                    <a:pt x="343394" y="171139"/>
                  </a:moveTo>
                  <a:lnTo>
                    <a:pt x="308366" y="171139"/>
                  </a:lnTo>
                  <a:lnTo>
                    <a:pt x="325268" y="173917"/>
                  </a:lnTo>
                  <a:lnTo>
                    <a:pt x="154252" y="243278"/>
                  </a:lnTo>
                  <a:lnTo>
                    <a:pt x="175441" y="243278"/>
                  </a:lnTo>
                  <a:lnTo>
                    <a:pt x="315915" y="186477"/>
                  </a:lnTo>
                  <a:lnTo>
                    <a:pt x="323847" y="186477"/>
                  </a:lnTo>
                  <a:lnTo>
                    <a:pt x="323847" y="183223"/>
                  </a:lnTo>
                  <a:lnTo>
                    <a:pt x="343115" y="175071"/>
                  </a:lnTo>
                  <a:lnTo>
                    <a:pt x="344074" y="172743"/>
                  </a:lnTo>
                  <a:lnTo>
                    <a:pt x="343394" y="171139"/>
                  </a:lnTo>
                  <a:close/>
                </a:path>
                <a:path w="348614" h="311150">
                  <a:moveTo>
                    <a:pt x="24090" y="132575"/>
                  </a:moveTo>
                  <a:lnTo>
                    <a:pt x="23882" y="132575"/>
                  </a:lnTo>
                  <a:lnTo>
                    <a:pt x="21681" y="133534"/>
                  </a:lnTo>
                  <a:lnTo>
                    <a:pt x="20696" y="136037"/>
                  </a:lnTo>
                  <a:lnTo>
                    <a:pt x="20603" y="178973"/>
                  </a:lnTo>
                  <a:lnTo>
                    <a:pt x="21598" y="180438"/>
                  </a:lnTo>
                  <a:lnTo>
                    <a:pt x="153578" y="232422"/>
                  </a:lnTo>
                  <a:lnTo>
                    <a:pt x="154622" y="232422"/>
                  </a:lnTo>
                  <a:lnTo>
                    <a:pt x="175520" y="224092"/>
                  </a:lnTo>
                  <a:lnTo>
                    <a:pt x="154084" y="224092"/>
                  </a:lnTo>
                  <a:lnTo>
                    <a:pt x="28535" y="174638"/>
                  </a:lnTo>
                  <a:lnTo>
                    <a:pt x="28535" y="142849"/>
                  </a:lnTo>
                  <a:lnTo>
                    <a:pt x="50220" y="142849"/>
                  </a:lnTo>
                  <a:lnTo>
                    <a:pt x="24090" y="132575"/>
                  </a:lnTo>
                  <a:close/>
                </a:path>
                <a:path w="348614" h="311150">
                  <a:moveTo>
                    <a:pt x="311893" y="131867"/>
                  </a:moveTo>
                  <a:lnTo>
                    <a:pt x="303954" y="131867"/>
                  </a:lnTo>
                  <a:lnTo>
                    <a:pt x="303961" y="164337"/>
                  </a:lnTo>
                  <a:lnTo>
                    <a:pt x="154084" y="224092"/>
                  </a:lnTo>
                  <a:lnTo>
                    <a:pt x="175520" y="224092"/>
                  </a:lnTo>
                  <a:lnTo>
                    <a:pt x="308366" y="171139"/>
                  </a:lnTo>
                  <a:lnTo>
                    <a:pt x="343394" y="171139"/>
                  </a:lnTo>
                  <a:lnTo>
                    <a:pt x="342686" y="169469"/>
                  </a:lnTo>
                  <a:lnTo>
                    <a:pt x="341529" y="168577"/>
                  </a:lnTo>
                  <a:lnTo>
                    <a:pt x="311893" y="163676"/>
                  </a:lnTo>
                  <a:lnTo>
                    <a:pt x="311893" y="131867"/>
                  </a:lnTo>
                  <a:close/>
                </a:path>
                <a:path w="348614" h="311150">
                  <a:moveTo>
                    <a:pt x="50220" y="142849"/>
                  </a:moveTo>
                  <a:lnTo>
                    <a:pt x="28535" y="142849"/>
                  </a:lnTo>
                  <a:lnTo>
                    <a:pt x="153753" y="192098"/>
                  </a:lnTo>
                  <a:lnTo>
                    <a:pt x="154807" y="192098"/>
                  </a:lnTo>
                  <a:lnTo>
                    <a:pt x="175445" y="183755"/>
                  </a:lnTo>
                  <a:lnTo>
                    <a:pt x="154252" y="183755"/>
                  </a:lnTo>
                  <a:lnTo>
                    <a:pt x="50220" y="142849"/>
                  </a:lnTo>
                  <a:close/>
                </a:path>
                <a:path w="348614" h="311150">
                  <a:moveTo>
                    <a:pt x="341519" y="106246"/>
                  </a:moveTo>
                  <a:lnTo>
                    <a:pt x="318063" y="106246"/>
                  </a:lnTo>
                  <a:lnTo>
                    <a:pt x="332704" y="111537"/>
                  </a:lnTo>
                  <a:lnTo>
                    <a:pt x="154252" y="183755"/>
                  </a:lnTo>
                  <a:lnTo>
                    <a:pt x="175445" y="183755"/>
                  </a:lnTo>
                  <a:lnTo>
                    <a:pt x="303790" y="131867"/>
                  </a:lnTo>
                  <a:lnTo>
                    <a:pt x="311893" y="131867"/>
                  </a:lnTo>
                  <a:lnTo>
                    <a:pt x="311893" y="128583"/>
                  </a:lnTo>
                  <a:lnTo>
                    <a:pt x="347478" y="114192"/>
                  </a:lnTo>
                  <a:lnTo>
                    <a:pt x="348470" y="111880"/>
                  </a:lnTo>
                  <a:lnTo>
                    <a:pt x="347214" y="108792"/>
                  </a:lnTo>
                  <a:lnTo>
                    <a:pt x="346387" y="107972"/>
                  </a:lnTo>
                  <a:lnTo>
                    <a:pt x="341519" y="106246"/>
                  </a:lnTo>
                  <a:close/>
                </a:path>
                <a:path w="348614" h="311150">
                  <a:moveTo>
                    <a:pt x="35879" y="77611"/>
                  </a:moveTo>
                  <a:lnTo>
                    <a:pt x="33579" y="78613"/>
                  </a:lnTo>
                  <a:lnTo>
                    <a:pt x="32594" y="81117"/>
                  </a:lnTo>
                  <a:lnTo>
                    <a:pt x="32501" y="123418"/>
                  </a:lnTo>
                  <a:lnTo>
                    <a:pt x="33496" y="124883"/>
                  </a:lnTo>
                  <a:lnTo>
                    <a:pt x="153753" y="172257"/>
                  </a:lnTo>
                  <a:lnTo>
                    <a:pt x="154807" y="172257"/>
                  </a:lnTo>
                  <a:lnTo>
                    <a:pt x="175441" y="163914"/>
                  </a:lnTo>
                  <a:lnTo>
                    <a:pt x="154252" y="163914"/>
                  </a:lnTo>
                  <a:lnTo>
                    <a:pt x="40427" y="119073"/>
                  </a:lnTo>
                  <a:lnTo>
                    <a:pt x="40427" y="87922"/>
                  </a:lnTo>
                  <a:lnTo>
                    <a:pt x="62059" y="87922"/>
                  </a:lnTo>
                  <a:lnTo>
                    <a:pt x="35879" y="77611"/>
                  </a:lnTo>
                  <a:close/>
                </a:path>
                <a:path w="348614" h="311150">
                  <a:moveTo>
                    <a:pt x="323847" y="67430"/>
                  </a:moveTo>
                  <a:lnTo>
                    <a:pt x="315915" y="67430"/>
                  </a:lnTo>
                  <a:lnTo>
                    <a:pt x="315915" y="98551"/>
                  </a:lnTo>
                  <a:lnTo>
                    <a:pt x="154252" y="163914"/>
                  </a:lnTo>
                  <a:lnTo>
                    <a:pt x="175441" y="163914"/>
                  </a:lnTo>
                  <a:lnTo>
                    <a:pt x="318063" y="106246"/>
                  </a:lnTo>
                  <a:lnTo>
                    <a:pt x="341519" y="106246"/>
                  </a:lnTo>
                  <a:lnTo>
                    <a:pt x="323847" y="99979"/>
                  </a:lnTo>
                  <a:lnTo>
                    <a:pt x="323847" y="67430"/>
                  </a:lnTo>
                  <a:close/>
                </a:path>
                <a:path w="348614" h="311150">
                  <a:moveTo>
                    <a:pt x="62059" y="87922"/>
                  </a:moveTo>
                  <a:lnTo>
                    <a:pt x="40427" y="87922"/>
                  </a:lnTo>
                  <a:lnTo>
                    <a:pt x="153753" y="132575"/>
                  </a:lnTo>
                  <a:lnTo>
                    <a:pt x="154807" y="132575"/>
                  </a:lnTo>
                  <a:lnTo>
                    <a:pt x="175138" y="124354"/>
                  </a:lnTo>
                  <a:lnTo>
                    <a:pt x="154563" y="124354"/>
                  </a:lnTo>
                  <a:lnTo>
                    <a:pt x="62059" y="87922"/>
                  </a:lnTo>
                  <a:close/>
                </a:path>
                <a:path w="348614" h="311150">
                  <a:moveTo>
                    <a:pt x="229308" y="8267"/>
                  </a:moveTo>
                  <a:lnTo>
                    <a:pt x="206409" y="8267"/>
                  </a:lnTo>
                  <a:lnTo>
                    <a:pt x="328672" y="53442"/>
                  </a:lnTo>
                  <a:lnTo>
                    <a:pt x="153951" y="124354"/>
                  </a:lnTo>
                  <a:lnTo>
                    <a:pt x="175138" y="124354"/>
                  </a:lnTo>
                  <a:lnTo>
                    <a:pt x="315915" y="67430"/>
                  </a:lnTo>
                  <a:lnTo>
                    <a:pt x="323847" y="67430"/>
                  </a:lnTo>
                  <a:lnTo>
                    <a:pt x="323847" y="64176"/>
                  </a:lnTo>
                  <a:lnTo>
                    <a:pt x="343115" y="56024"/>
                  </a:lnTo>
                  <a:lnTo>
                    <a:pt x="344041" y="53696"/>
                  </a:lnTo>
                  <a:lnTo>
                    <a:pt x="342785" y="50667"/>
                  </a:lnTo>
                  <a:lnTo>
                    <a:pt x="341959" y="49880"/>
                  </a:lnTo>
                  <a:lnTo>
                    <a:pt x="229308" y="82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43123" y="4349877"/>
              <a:ext cx="1981200" cy="1269365"/>
            </a:xfrm>
            <a:custGeom>
              <a:avLst/>
              <a:gdLst/>
              <a:ahLst/>
              <a:cxnLst/>
              <a:rect l="l" t="t" r="r" b="b"/>
              <a:pathLst>
                <a:path w="1981200" h="1269364">
                  <a:moveTo>
                    <a:pt x="951738" y="619379"/>
                  </a:moveTo>
                  <a:lnTo>
                    <a:pt x="76200" y="618629"/>
                  </a:lnTo>
                  <a:lnTo>
                    <a:pt x="76200" y="590042"/>
                  </a:lnTo>
                  <a:lnTo>
                    <a:pt x="0" y="628142"/>
                  </a:lnTo>
                  <a:lnTo>
                    <a:pt x="76200" y="666242"/>
                  </a:lnTo>
                  <a:lnTo>
                    <a:pt x="76200" y="637679"/>
                  </a:lnTo>
                  <a:lnTo>
                    <a:pt x="951738" y="638429"/>
                  </a:lnTo>
                  <a:lnTo>
                    <a:pt x="951738" y="619379"/>
                  </a:lnTo>
                  <a:close/>
                </a:path>
                <a:path w="1981200" h="1269364">
                  <a:moveTo>
                    <a:pt x="1954022" y="1269365"/>
                  </a:moveTo>
                  <a:lnTo>
                    <a:pt x="1952307" y="931926"/>
                  </a:lnTo>
                  <a:lnTo>
                    <a:pt x="1952294" y="931786"/>
                  </a:lnTo>
                  <a:lnTo>
                    <a:pt x="1933257" y="931786"/>
                  </a:lnTo>
                  <a:lnTo>
                    <a:pt x="1934972" y="1269365"/>
                  </a:lnTo>
                  <a:lnTo>
                    <a:pt x="1954022" y="1269365"/>
                  </a:lnTo>
                  <a:close/>
                </a:path>
                <a:path w="1981200" h="1269364">
                  <a:moveTo>
                    <a:pt x="1980819" y="931545"/>
                  </a:moveTo>
                  <a:lnTo>
                    <a:pt x="1974507" y="919099"/>
                  </a:lnTo>
                  <a:lnTo>
                    <a:pt x="1942338" y="855599"/>
                  </a:lnTo>
                  <a:lnTo>
                    <a:pt x="1904796" y="931545"/>
                  </a:lnTo>
                  <a:lnTo>
                    <a:pt x="1904682" y="931786"/>
                  </a:lnTo>
                  <a:lnTo>
                    <a:pt x="1904619" y="931926"/>
                  </a:lnTo>
                  <a:lnTo>
                    <a:pt x="1933257" y="931786"/>
                  </a:lnTo>
                  <a:lnTo>
                    <a:pt x="1952294" y="931697"/>
                  </a:lnTo>
                  <a:lnTo>
                    <a:pt x="1980819" y="931545"/>
                  </a:lnTo>
                  <a:close/>
                </a:path>
                <a:path w="1981200" h="1269364">
                  <a:moveTo>
                    <a:pt x="1980819" y="326390"/>
                  </a:moveTo>
                  <a:lnTo>
                    <a:pt x="1952307" y="326263"/>
                  </a:lnTo>
                  <a:lnTo>
                    <a:pt x="1954022" y="127"/>
                  </a:lnTo>
                  <a:lnTo>
                    <a:pt x="1934972" y="0"/>
                  </a:lnTo>
                  <a:lnTo>
                    <a:pt x="1933257" y="326009"/>
                  </a:lnTo>
                  <a:lnTo>
                    <a:pt x="1933244" y="326161"/>
                  </a:lnTo>
                  <a:lnTo>
                    <a:pt x="1904619" y="326009"/>
                  </a:lnTo>
                  <a:lnTo>
                    <a:pt x="1942338" y="402336"/>
                  </a:lnTo>
                  <a:lnTo>
                    <a:pt x="1974443" y="338963"/>
                  </a:lnTo>
                  <a:lnTo>
                    <a:pt x="1980819" y="326390"/>
                  </a:lnTo>
                  <a:close/>
                </a:path>
              </a:pathLst>
            </a:custGeom>
            <a:solidFill>
              <a:srgbClr val="F1AA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43123" y="4116324"/>
              <a:ext cx="962660" cy="861694"/>
            </a:xfrm>
            <a:custGeom>
              <a:avLst/>
              <a:gdLst/>
              <a:ahLst/>
              <a:cxnLst/>
              <a:rect l="l" t="t" r="r" b="b"/>
              <a:pathLst>
                <a:path w="962660" h="861695">
                  <a:moveTo>
                    <a:pt x="31495" y="782446"/>
                  </a:moveTo>
                  <a:lnTo>
                    <a:pt x="0" y="861694"/>
                  </a:lnTo>
                  <a:lnTo>
                    <a:pt x="82168" y="839215"/>
                  </a:lnTo>
                  <a:lnTo>
                    <a:pt x="70719" y="826388"/>
                  </a:lnTo>
                  <a:lnTo>
                    <a:pt x="53720" y="826388"/>
                  </a:lnTo>
                  <a:lnTo>
                    <a:pt x="41020" y="812292"/>
                  </a:lnTo>
                  <a:lnTo>
                    <a:pt x="50539" y="803781"/>
                  </a:lnTo>
                  <a:lnTo>
                    <a:pt x="31495" y="782446"/>
                  </a:lnTo>
                  <a:close/>
                </a:path>
                <a:path w="962660" h="861695">
                  <a:moveTo>
                    <a:pt x="50539" y="803781"/>
                  </a:moveTo>
                  <a:lnTo>
                    <a:pt x="41020" y="812292"/>
                  </a:lnTo>
                  <a:lnTo>
                    <a:pt x="53720" y="826388"/>
                  </a:lnTo>
                  <a:lnTo>
                    <a:pt x="63174" y="817936"/>
                  </a:lnTo>
                  <a:lnTo>
                    <a:pt x="50539" y="803781"/>
                  </a:lnTo>
                  <a:close/>
                </a:path>
                <a:path w="962660" h="861695">
                  <a:moveTo>
                    <a:pt x="63174" y="817936"/>
                  </a:moveTo>
                  <a:lnTo>
                    <a:pt x="53720" y="826388"/>
                  </a:lnTo>
                  <a:lnTo>
                    <a:pt x="70719" y="826388"/>
                  </a:lnTo>
                  <a:lnTo>
                    <a:pt x="63174" y="817936"/>
                  </a:lnTo>
                  <a:close/>
                </a:path>
                <a:path w="962660" h="861695">
                  <a:moveTo>
                    <a:pt x="949578" y="0"/>
                  </a:moveTo>
                  <a:lnTo>
                    <a:pt x="50539" y="803781"/>
                  </a:lnTo>
                  <a:lnTo>
                    <a:pt x="63174" y="817936"/>
                  </a:lnTo>
                  <a:lnTo>
                    <a:pt x="962278" y="14096"/>
                  </a:lnTo>
                  <a:lnTo>
                    <a:pt x="949578" y="0"/>
                  </a:lnTo>
                  <a:close/>
                </a:path>
              </a:pathLst>
            </a:custGeom>
            <a:solidFill>
              <a:srgbClr val="1250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43123" y="4978019"/>
              <a:ext cx="962660" cy="875030"/>
            </a:xfrm>
            <a:custGeom>
              <a:avLst/>
              <a:gdLst/>
              <a:ahLst/>
              <a:cxnLst/>
              <a:rect l="l" t="t" r="r" b="b"/>
              <a:pathLst>
                <a:path w="962660" h="875029">
                  <a:moveTo>
                    <a:pt x="62878" y="44100"/>
                  </a:moveTo>
                  <a:lnTo>
                    <a:pt x="50068" y="58213"/>
                  </a:lnTo>
                  <a:lnTo>
                    <a:pt x="949578" y="874534"/>
                  </a:lnTo>
                  <a:lnTo>
                    <a:pt x="962405" y="860424"/>
                  </a:lnTo>
                  <a:lnTo>
                    <a:pt x="62878" y="44100"/>
                  </a:lnTo>
                  <a:close/>
                </a:path>
                <a:path w="962660" h="875029">
                  <a:moveTo>
                    <a:pt x="0" y="0"/>
                  </a:moveTo>
                  <a:lnTo>
                    <a:pt x="30860" y="79374"/>
                  </a:lnTo>
                  <a:lnTo>
                    <a:pt x="50068" y="58213"/>
                  </a:lnTo>
                  <a:lnTo>
                    <a:pt x="40639" y="49656"/>
                  </a:lnTo>
                  <a:lnTo>
                    <a:pt x="53466" y="35559"/>
                  </a:lnTo>
                  <a:lnTo>
                    <a:pt x="70630" y="35559"/>
                  </a:lnTo>
                  <a:lnTo>
                    <a:pt x="82041" y="22986"/>
                  </a:lnTo>
                  <a:lnTo>
                    <a:pt x="0" y="0"/>
                  </a:lnTo>
                  <a:close/>
                </a:path>
                <a:path w="962660" h="875029">
                  <a:moveTo>
                    <a:pt x="53466" y="35559"/>
                  </a:moveTo>
                  <a:lnTo>
                    <a:pt x="40639" y="49656"/>
                  </a:lnTo>
                  <a:lnTo>
                    <a:pt x="50068" y="58213"/>
                  </a:lnTo>
                  <a:lnTo>
                    <a:pt x="62878" y="44100"/>
                  </a:lnTo>
                  <a:lnTo>
                    <a:pt x="53466" y="35559"/>
                  </a:lnTo>
                  <a:close/>
                </a:path>
                <a:path w="962660" h="875029">
                  <a:moveTo>
                    <a:pt x="70630" y="35559"/>
                  </a:moveTo>
                  <a:lnTo>
                    <a:pt x="53466" y="35559"/>
                  </a:lnTo>
                  <a:lnTo>
                    <a:pt x="62878" y="44100"/>
                  </a:lnTo>
                  <a:lnTo>
                    <a:pt x="70630" y="35559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578478" y="4796409"/>
            <a:ext cx="386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5" dirty="0">
                <a:solidFill>
                  <a:srgbClr val="C04F15"/>
                </a:solidFill>
                <a:latin typeface="Trebuchet MS"/>
                <a:cs typeface="Trebuchet MS"/>
              </a:rPr>
              <a:t>MQTT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90522" y="4330827"/>
            <a:ext cx="4076065" cy="1282065"/>
            <a:chOff x="1390522" y="4330827"/>
            <a:chExt cx="4076065" cy="1282065"/>
          </a:xfrm>
        </p:grpSpPr>
        <p:sp>
          <p:nvSpPr>
            <p:cNvPr id="27" name="object 27"/>
            <p:cNvSpPr/>
            <p:nvPr/>
          </p:nvSpPr>
          <p:spPr>
            <a:xfrm>
              <a:off x="3405377" y="4351528"/>
              <a:ext cx="250825" cy="274320"/>
            </a:xfrm>
            <a:custGeom>
              <a:avLst/>
              <a:gdLst/>
              <a:ahLst/>
              <a:cxnLst/>
              <a:rect l="l" t="t" r="r" b="b"/>
              <a:pathLst>
                <a:path w="250825" h="274320">
                  <a:moveTo>
                    <a:pt x="13588" y="195326"/>
                  </a:moveTo>
                  <a:lnTo>
                    <a:pt x="0" y="208915"/>
                  </a:lnTo>
                  <a:lnTo>
                    <a:pt x="65150" y="274066"/>
                  </a:lnTo>
                  <a:lnTo>
                    <a:pt x="78739" y="260477"/>
                  </a:lnTo>
                  <a:lnTo>
                    <a:pt x="51054" y="232791"/>
                  </a:lnTo>
                  <a:lnTo>
                    <a:pt x="63067" y="220726"/>
                  </a:lnTo>
                  <a:lnTo>
                    <a:pt x="38988" y="220726"/>
                  </a:lnTo>
                  <a:lnTo>
                    <a:pt x="13588" y="195326"/>
                  </a:lnTo>
                  <a:close/>
                </a:path>
                <a:path w="250825" h="274320">
                  <a:moveTo>
                    <a:pt x="107696" y="203200"/>
                  </a:moveTo>
                  <a:lnTo>
                    <a:pt x="80518" y="203200"/>
                  </a:lnTo>
                  <a:lnTo>
                    <a:pt x="108204" y="230886"/>
                  </a:lnTo>
                  <a:lnTo>
                    <a:pt x="121793" y="217297"/>
                  </a:lnTo>
                  <a:lnTo>
                    <a:pt x="107696" y="203200"/>
                  </a:lnTo>
                  <a:close/>
                </a:path>
                <a:path w="250825" h="274320">
                  <a:moveTo>
                    <a:pt x="56642" y="152146"/>
                  </a:moveTo>
                  <a:lnTo>
                    <a:pt x="43052" y="165735"/>
                  </a:lnTo>
                  <a:lnTo>
                    <a:pt x="68580" y="191262"/>
                  </a:lnTo>
                  <a:lnTo>
                    <a:pt x="38988" y="220726"/>
                  </a:lnTo>
                  <a:lnTo>
                    <a:pt x="63067" y="220726"/>
                  </a:lnTo>
                  <a:lnTo>
                    <a:pt x="80518" y="203200"/>
                  </a:lnTo>
                  <a:lnTo>
                    <a:pt x="107696" y="203200"/>
                  </a:lnTo>
                  <a:lnTo>
                    <a:pt x="56642" y="152146"/>
                  </a:lnTo>
                  <a:close/>
                </a:path>
                <a:path w="250825" h="274320">
                  <a:moveTo>
                    <a:pt x="121190" y="137541"/>
                  </a:moveTo>
                  <a:lnTo>
                    <a:pt x="93980" y="137541"/>
                  </a:lnTo>
                  <a:lnTo>
                    <a:pt x="147700" y="191262"/>
                  </a:lnTo>
                  <a:lnTo>
                    <a:pt x="147827" y="191389"/>
                  </a:lnTo>
                  <a:lnTo>
                    <a:pt x="161417" y="177673"/>
                  </a:lnTo>
                  <a:lnTo>
                    <a:pt x="121190" y="137541"/>
                  </a:lnTo>
                  <a:close/>
                </a:path>
                <a:path w="250825" h="274320">
                  <a:moveTo>
                    <a:pt x="113537" y="95250"/>
                  </a:moveTo>
                  <a:lnTo>
                    <a:pt x="65277" y="143637"/>
                  </a:lnTo>
                  <a:lnTo>
                    <a:pt x="76581" y="154940"/>
                  </a:lnTo>
                  <a:lnTo>
                    <a:pt x="93980" y="137541"/>
                  </a:lnTo>
                  <a:lnTo>
                    <a:pt x="121190" y="137541"/>
                  </a:lnTo>
                  <a:lnTo>
                    <a:pt x="107569" y="123952"/>
                  </a:lnTo>
                  <a:lnTo>
                    <a:pt x="124968" y="106553"/>
                  </a:lnTo>
                  <a:lnTo>
                    <a:pt x="113537" y="95250"/>
                  </a:lnTo>
                  <a:close/>
                </a:path>
                <a:path w="250825" h="274320">
                  <a:moveTo>
                    <a:pt x="170782" y="87884"/>
                  </a:moveTo>
                  <a:lnTo>
                    <a:pt x="143510" y="87884"/>
                  </a:lnTo>
                  <a:lnTo>
                    <a:pt x="197358" y="141732"/>
                  </a:lnTo>
                  <a:lnTo>
                    <a:pt x="210947" y="128143"/>
                  </a:lnTo>
                  <a:lnTo>
                    <a:pt x="170782" y="87884"/>
                  </a:lnTo>
                  <a:close/>
                </a:path>
                <a:path w="250825" h="274320">
                  <a:moveTo>
                    <a:pt x="163195" y="45720"/>
                  </a:moveTo>
                  <a:lnTo>
                    <a:pt x="114808" y="93980"/>
                  </a:lnTo>
                  <a:lnTo>
                    <a:pt x="126111" y="105410"/>
                  </a:lnTo>
                  <a:lnTo>
                    <a:pt x="143510" y="87884"/>
                  </a:lnTo>
                  <a:lnTo>
                    <a:pt x="170782" y="87884"/>
                  </a:lnTo>
                  <a:lnTo>
                    <a:pt x="157225" y="74295"/>
                  </a:lnTo>
                  <a:lnTo>
                    <a:pt x="174498" y="57023"/>
                  </a:lnTo>
                  <a:lnTo>
                    <a:pt x="163195" y="45720"/>
                  </a:lnTo>
                  <a:close/>
                </a:path>
                <a:path w="250825" h="274320">
                  <a:moveTo>
                    <a:pt x="221107" y="0"/>
                  </a:moveTo>
                  <a:lnTo>
                    <a:pt x="171323" y="37592"/>
                  </a:lnTo>
                  <a:lnTo>
                    <a:pt x="236474" y="102743"/>
                  </a:lnTo>
                  <a:lnTo>
                    <a:pt x="250062" y="89154"/>
                  </a:lnTo>
                  <a:lnTo>
                    <a:pt x="226822" y="65913"/>
                  </a:lnTo>
                  <a:lnTo>
                    <a:pt x="237860" y="54991"/>
                  </a:lnTo>
                  <a:lnTo>
                    <a:pt x="215900" y="54991"/>
                  </a:lnTo>
                  <a:lnTo>
                    <a:pt x="195834" y="34925"/>
                  </a:lnTo>
                  <a:lnTo>
                    <a:pt x="206629" y="24257"/>
                  </a:lnTo>
                  <a:lnTo>
                    <a:pt x="209676" y="21209"/>
                  </a:lnTo>
                  <a:lnTo>
                    <a:pt x="212979" y="19431"/>
                  </a:lnTo>
                  <a:lnTo>
                    <a:pt x="216662" y="19050"/>
                  </a:lnTo>
                  <a:lnTo>
                    <a:pt x="220345" y="18796"/>
                  </a:lnTo>
                  <a:lnTo>
                    <a:pt x="248545" y="18796"/>
                  </a:lnTo>
                  <a:lnTo>
                    <a:pt x="245999" y="14478"/>
                  </a:lnTo>
                  <a:lnTo>
                    <a:pt x="241300" y="9652"/>
                  </a:lnTo>
                  <a:lnTo>
                    <a:pt x="236474" y="4953"/>
                  </a:lnTo>
                  <a:lnTo>
                    <a:pt x="231394" y="2032"/>
                  </a:lnTo>
                  <a:lnTo>
                    <a:pt x="221107" y="0"/>
                  </a:lnTo>
                  <a:close/>
                </a:path>
                <a:path w="250825" h="274320">
                  <a:moveTo>
                    <a:pt x="248545" y="18796"/>
                  </a:moveTo>
                  <a:lnTo>
                    <a:pt x="220345" y="18796"/>
                  </a:lnTo>
                  <a:lnTo>
                    <a:pt x="223900" y="20320"/>
                  </a:lnTo>
                  <a:lnTo>
                    <a:pt x="227202" y="23749"/>
                  </a:lnTo>
                  <a:lnTo>
                    <a:pt x="230505" y="26924"/>
                  </a:lnTo>
                  <a:lnTo>
                    <a:pt x="232029" y="30480"/>
                  </a:lnTo>
                  <a:lnTo>
                    <a:pt x="231529" y="37592"/>
                  </a:lnTo>
                  <a:lnTo>
                    <a:pt x="231521" y="37719"/>
                  </a:lnTo>
                  <a:lnTo>
                    <a:pt x="229743" y="41148"/>
                  </a:lnTo>
                  <a:lnTo>
                    <a:pt x="226695" y="44323"/>
                  </a:lnTo>
                  <a:lnTo>
                    <a:pt x="215900" y="54991"/>
                  </a:lnTo>
                  <a:lnTo>
                    <a:pt x="237860" y="54991"/>
                  </a:lnTo>
                  <a:lnTo>
                    <a:pt x="250761" y="30480"/>
                  </a:lnTo>
                  <a:lnTo>
                    <a:pt x="250825" y="29845"/>
                  </a:lnTo>
                  <a:lnTo>
                    <a:pt x="249809" y="24638"/>
                  </a:lnTo>
                  <a:lnTo>
                    <a:pt x="248920" y="19431"/>
                  </a:lnTo>
                  <a:lnTo>
                    <a:pt x="248545" y="18796"/>
                  </a:lnTo>
                  <a:close/>
                </a:path>
              </a:pathLst>
            </a:custGeom>
            <a:solidFill>
              <a:srgbClr val="0D3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99180" y="5266817"/>
              <a:ext cx="278765" cy="246379"/>
            </a:xfrm>
            <a:custGeom>
              <a:avLst/>
              <a:gdLst/>
              <a:ahLst/>
              <a:cxnLst/>
              <a:rect l="l" t="t" r="r" b="b"/>
              <a:pathLst>
                <a:path w="278764" h="246379">
                  <a:moveTo>
                    <a:pt x="239649" y="165862"/>
                  </a:moveTo>
                  <a:lnTo>
                    <a:pt x="176657" y="233045"/>
                  </a:lnTo>
                  <a:lnTo>
                    <a:pt x="190627" y="246126"/>
                  </a:lnTo>
                  <a:lnTo>
                    <a:pt x="213106" y="222250"/>
                  </a:lnTo>
                  <a:lnTo>
                    <a:pt x="235659" y="222250"/>
                  </a:lnTo>
                  <a:lnTo>
                    <a:pt x="223647" y="210947"/>
                  </a:lnTo>
                  <a:lnTo>
                    <a:pt x="243078" y="190246"/>
                  </a:lnTo>
                  <a:lnTo>
                    <a:pt x="265792" y="190246"/>
                  </a:lnTo>
                  <a:lnTo>
                    <a:pt x="239649" y="165862"/>
                  </a:lnTo>
                  <a:close/>
                </a:path>
                <a:path w="278764" h="246379">
                  <a:moveTo>
                    <a:pt x="235659" y="222250"/>
                  </a:moveTo>
                  <a:lnTo>
                    <a:pt x="213106" y="222250"/>
                  </a:lnTo>
                  <a:lnTo>
                    <a:pt x="229870" y="237998"/>
                  </a:lnTo>
                  <a:lnTo>
                    <a:pt x="234569" y="241046"/>
                  </a:lnTo>
                  <a:lnTo>
                    <a:pt x="239775" y="242824"/>
                  </a:lnTo>
                  <a:lnTo>
                    <a:pt x="244856" y="244729"/>
                  </a:lnTo>
                  <a:lnTo>
                    <a:pt x="249936" y="245110"/>
                  </a:lnTo>
                  <a:lnTo>
                    <a:pt x="260223" y="242824"/>
                  </a:lnTo>
                  <a:lnTo>
                    <a:pt x="265175" y="239776"/>
                  </a:lnTo>
                  <a:lnTo>
                    <a:pt x="269748" y="234823"/>
                  </a:lnTo>
                  <a:lnTo>
                    <a:pt x="274447" y="229870"/>
                  </a:lnTo>
                  <a:lnTo>
                    <a:pt x="276313" y="226314"/>
                  </a:lnTo>
                  <a:lnTo>
                    <a:pt x="248666" y="226314"/>
                  </a:lnTo>
                  <a:lnTo>
                    <a:pt x="241427" y="226060"/>
                  </a:lnTo>
                  <a:lnTo>
                    <a:pt x="237998" y="224409"/>
                  </a:lnTo>
                  <a:lnTo>
                    <a:pt x="235659" y="222250"/>
                  </a:lnTo>
                  <a:close/>
                </a:path>
                <a:path w="278764" h="246379">
                  <a:moveTo>
                    <a:pt x="265792" y="190246"/>
                  </a:moveTo>
                  <a:lnTo>
                    <a:pt x="243078" y="190246"/>
                  </a:lnTo>
                  <a:lnTo>
                    <a:pt x="254127" y="200660"/>
                  </a:lnTo>
                  <a:lnTo>
                    <a:pt x="257302" y="203581"/>
                  </a:lnTo>
                  <a:lnTo>
                    <a:pt x="259080" y="206883"/>
                  </a:lnTo>
                  <a:lnTo>
                    <a:pt x="260096" y="214249"/>
                  </a:lnTo>
                  <a:lnTo>
                    <a:pt x="258572" y="217805"/>
                  </a:lnTo>
                  <a:lnTo>
                    <a:pt x="255270" y="221361"/>
                  </a:lnTo>
                  <a:lnTo>
                    <a:pt x="251972" y="224790"/>
                  </a:lnTo>
                  <a:lnTo>
                    <a:pt x="251831" y="224790"/>
                  </a:lnTo>
                  <a:lnTo>
                    <a:pt x="248666" y="226314"/>
                  </a:lnTo>
                  <a:lnTo>
                    <a:pt x="276313" y="226314"/>
                  </a:lnTo>
                  <a:lnTo>
                    <a:pt x="277114" y="224790"/>
                  </a:lnTo>
                  <a:lnTo>
                    <a:pt x="278003" y="219583"/>
                  </a:lnTo>
                  <a:lnTo>
                    <a:pt x="278765" y="214376"/>
                  </a:lnTo>
                  <a:lnTo>
                    <a:pt x="278130" y="209296"/>
                  </a:lnTo>
                  <a:lnTo>
                    <a:pt x="275971" y="204216"/>
                  </a:lnTo>
                  <a:lnTo>
                    <a:pt x="273812" y="199263"/>
                  </a:lnTo>
                  <a:lnTo>
                    <a:pt x="270510" y="194691"/>
                  </a:lnTo>
                  <a:lnTo>
                    <a:pt x="265792" y="190246"/>
                  </a:lnTo>
                  <a:close/>
                </a:path>
                <a:path w="278764" h="246379">
                  <a:moveTo>
                    <a:pt x="181483" y="111125"/>
                  </a:moveTo>
                  <a:lnTo>
                    <a:pt x="170434" y="122809"/>
                  </a:lnTo>
                  <a:lnTo>
                    <a:pt x="188468" y="139700"/>
                  </a:lnTo>
                  <a:lnTo>
                    <a:pt x="136398" y="195199"/>
                  </a:lnTo>
                  <a:lnTo>
                    <a:pt x="150368" y="208407"/>
                  </a:lnTo>
                  <a:lnTo>
                    <a:pt x="202437" y="152908"/>
                  </a:lnTo>
                  <a:lnTo>
                    <a:pt x="225870" y="152908"/>
                  </a:lnTo>
                  <a:lnTo>
                    <a:pt x="181483" y="111125"/>
                  </a:lnTo>
                  <a:close/>
                </a:path>
                <a:path w="278764" h="246379">
                  <a:moveTo>
                    <a:pt x="225870" y="152908"/>
                  </a:moveTo>
                  <a:lnTo>
                    <a:pt x="202437" y="152908"/>
                  </a:lnTo>
                  <a:lnTo>
                    <a:pt x="220345" y="169672"/>
                  </a:lnTo>
                  <a:lnTo>
                    <a:pt x="231267" y="157988"/>
                  </a:lnTo>
                  <a:lnTo>
                    <a:pt x="225870" y="152908"/>
                  </a:lnTo>
                  <a:close/>
                </a:path>
                <a:path w="278764" h="246379">
                  <a:moveTo>
                    <a:pt x="130302" y="63119"/>
                  </a:moveTo>
                  <a:lnTo>
                    <a:pt x="119380" y="74803"/>
                  </a:lnTo>
                  <a:lnTo>
                    <a:pt x="137287" y="91694"/>
                  </a:lnTo>
                  <a:lnTo>
                    <a:pt x="85217" y="147193"/>
                  </a:lnTo>
                  <a:lnTo>
                    <a:pt x="99314" y="160401"/>
                  </a:lnTo>
                  <a:lnTo>
                    <a:pt x="151384" y="104902"/>
                  </a:lnTo>
                  <a:lnTo>
                    <a:pt x="174802" y="104902"/>
                  </a:lnTo>
                  <a:lnTo>
                    <a:pt x="130302" y="63119"/>
                  </a:lnTo>
                  <a:close/>
                </a:path>
                <a:path w="278764" h="246379">
                  <a:moveTo>
                    <a:pt x="65599" y="51816"/>
                  </a:moveTo>
                  <a:lnTo>
                    <a:pt x="40767" y="51816"/>
                  </a:lnTo>
                  <a:lnTo>
                    <a:pt x="71247" y="80391"/>
                  </a:lnTo>
                  <a:lnTo>
                    <a:pt x="44450" y="108966"/>
                  </a:lnTo>
                  <a:lnTo>
                    <a:pt x="58420" y="122047"/>
                  </a:lnTo>
                  <a:lnTo>
                    <a:pt x="109249" y="67945"/>
                  </a:lnTo>
                  <a:lnTo>
                    <a:pt x="82804" y="67945"/>
                  </a:lnTo>
                  <a:lnTo>
                    <a:pt x="65599" y="51816"/>
                  </a:lnTo>
                  <a:close/>
                </a:path>
                <a:path w="278764" h="246379">
                  <a:moveTo>
                    <a:pt x="174802" y="104902"/>
                  </a:moveTo>
                  <a:lnTo>
                    <a:pt x="151384" y="104902"/>
                  </a:lnTo>
                  <a:lnTo>
                    <a:pt x="169164" y="121666"/>
                  </a:lnTo>
                  <a:lnTo>
                    <a:pt x="180212" y="109982"/>
                  </a:lnTo>
                  <a:lnTo>
                    <a:pt x="174802" y="104902"/>
                  </a:lnTo>
                  <a:close/>
                </a:path>
                <a:path w="278764" h="246379">
                  <a:moveTo>
                    <a:pt x="62992" y="0"/>
                  </a:moveTo>
                  <a:lnTo>
                    <a:pt x="0" y="67183"/>
                  </a:lnTo>
                  <a:lnTo>
                    <a:pt x="13970" y="80391"/>
                  </a:lnTo>
                  <a:lnTo>
                    <a:pt x="40767" y="51816"/>
                  </a:lnTo>
                  <a:lnTo>
                    <a:pt x="65599" y="51816"/>
                  </a:lnTo>
                  <a:lnTo>
                    <a:pt x="52324" y="39370"/>
                  </a:lnTo>
                  <a:lnTo>
                    <a:pt x="76962" y="13208"/>
                  </a:lnTo>
                  <a:lnTo>
                    <a:pt x="62992" y="0"/>
                  </a:lnTo>
                  <a:close/>
                </a:path>
                <a:path w="278764" h="246379">
                  <a:moveTo>
                    <a:pt x="107442" y="41783"/>
                  </a:moveTo>
                  <a:lnTo>
                    <a:pt x="82804" y="67945"/>
                  </a:lnTo>
                  <a:lnTo>
                    <a:pt x="109249" y="67945"/>
                  </a:lnTo>
                  <a:lnTo>
                    <a:pt x="121539" y="54864"/>
                  </a:lnTo>
                  <a:lnTo>
                    <a:pt x="107442" y="41783"/>
                  </a:lnTo>
                  <a:close/>
                </a:path>
              </a:pathLst>
            </a:custGeom>
            <a:solidFill>
              <a:srgbClr val="0A2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9880" y="5210556"/>
              <a:ext cx="76200" cy="402590"/>
            </a:xfrm>
            <a:custGeom>
              <a:avLst/>
              <a:gdLst/>
              <a:ahLst/>
              <a:cxnLst/>
              <a:rect l="l" t="t" r="r" b="b"/>
              <a:pathLst>
                <a:path w="76200" h="402589">
                  <a:moveTo>
                    <a:pt x="0" y="325882"/>
                  </a:moveTo>
                  <a:lnTo>
                    <a:pt x="37592" y="402297"/>
                  </a:lnTo>
                  <a:lnTo>
                    <a:pt x="69815" y="338836"/>
                  </a:lnTo>
                  <a:lnTo>
                    <a:pt x="28447" y="338836"/>
                  </a:lnTo>
                  <a:lnTo>
                    <a:pt x="28514" y="326119"/>
                  </a:lnTo>
                  <a:lnTo>
                    <a:pt x="47564" y="326119"/>
                  </a:lnTo>
                  <a:lnTo>
                    <a:pt x="0" y="325882"/>
                  </a:lnTo>
                  <a:close/>
                </a:path>
                <a:path w="76200" h="402589">
                  <a:moveTo>
                    <a:pt x="49275" y="0"/>
                  </a:moveTo>
                  <a:lnTo>
                    <a:pt x="30225" y="0"/>
                  </a:lnTo>
                  <a:lnTo>
                    <a:pt x="28515" y="325882"/>
                  </a:lnTo>
                  <a:lnTo>
                    <a:pt x="28447" y="338836"/>
                  </a:lnTo>
                  <a:lnTo>
                    <a:pt x="47498" y="338836"/>
                  </a:lnTo>
                  <a:lnTo>
                    <a:pt x="49275" y="0"/>
                  </a:lnTo>
                  <a:close/>
                </a:path>
                <a:path w="76200" h="402589">
                  <a:moveTo>
                    <a:pt x="47564" y="326119"/>
                  </a:moveTo>
                  <a:lnTo>
                    <a:pt x="47498" y="338836"/>
                  </a:lnTo>
                  <a:lnTo>
                    <a:pt x="69815" y="338836"/>
                  </a:lnTo>
                  <a:lnTo>
                    <a:pt x="76200" y="326263"/>
                  </a:lnTo>
                  <a:lnTo>
                    <a:pt x="47564" y="326119"/>
                  </a:lnTo>
                  <a:close/>
                </a:path>
              </a:pathLst>
            </a:custGeom>
            <a:solidFill>
              <a:srgbClr val="0F4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73624" y="4330827"/>
              <a:ext cx="76200" cy="428625"/>
            </a:xfrm>
            <a:custGeom>
              <a:avLst/>
              <a:gdLst/>
              <a:ahLst/>
              <a:cxnLst/>
              <a:rect l="l" t="t" r="r" b="b"/>
              <a:pathLst>
                <a:path w="76200" h="428625">
                  <a:moveTo>
                    <a:pt x="47625" y="63500"/>
                  </a:moveTo>
                  <a:lnTo>
                    <a:pt x="28575" y="63500"/>
                  </a:lnTo>
                  <a:lnTo>
                    <a:pt x="28575" y="428244"/>
                  </a:lnTo>
                  <a:lnTo>
                    <a:pt x="47625" y="428244"/>
                  </a:lnTo>
                  <a:lnTo>
                    <a:pt x="47625" y="63500"/>
                  </a:lnTo>
                  <a:close/>
                </a:path>
                <a:path w="76200" h="428625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8625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1250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90522" y="4773117"/>
              <a:ext cx="1752600" cy="410209"/>
            </a:xfrm>
            <a:custGeom>
              <a:avLst/>
              <a:gdLst/>
              <a:ahLst/>
              <a:cxnLst/>
              <a:rect l="l" t="t" r="r" b="b"/>
              <a:pathLst>
                <a:path w="1752600" h="410210">
                  <a:moveTo>
                    <a:pt x="1752600" y="0"/>
                  </a:moveTo>
                  <a:lnTo>
                    <a:pt x="0" y="0"/>
                  </a:lnTo>
                  <a:lnTo>
                    <a:pt x="0" y="409752"/>
                  </a:lnTo>
                  <a:lnTo>
                    <a:pt x="1752600" y="409752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90522" y="4773117"/>
            <a:ext cx="1752600" cy="410209"/>
          </a:xfrm>
          <a:prstGeom prst="rect">
            <a:avLst/>
          </a:prstGeom>
          <a:ln w="19050">
            <a:solidFill>
              <a:srgbClr val="0F42D2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420"/>
              </a:spcBef>
            </a:pPr>
            <a:r>
              <a:rPr sz="1800" b="1" spc="-10" dirty="0">
                <a:solidFill>
                  <a:srgbClr val="0F42D2"/>
                </a:solidFill>
                <a:latin typeface="Calibri"/>
                <a:cs typeface="Calibri"/>
              </a:rPr>
              <a:t>WIS2-</a:t>
            </a:r>
            <a:r>
              <a:rPr sz="1800" b="1" spc="-20" dirty="0">
                <a:solidFill>
                  <a:srgbClr val="0F42D2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1549" y="4811356"/>
            <a:ext cx="389559" cy="3564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277102" y="4193540"/>
            <a:ext cx="51295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latin typeface="Trebuchet MS"/>
                <a:cs typeface="Trebuchet MS"/>
              </a:rPr>
              <a:t>“core”-</a:t>
            </a:r>
            <a:r>
              <a:rPr sz="1400" spc="-30" dirty="0">
                <a:latin typeface="Trebuchet MS"/>
                <a:cs typeface="Trebuchet MS"/>
              </a:rPr>
              <a:t>data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are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downloaded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made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available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by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Global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Caches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77102" y="4619955"/>
            <a:ext cx="57899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0" dirty="0">
                <a:latin typeface="Trebuchet MS"/>
                <a:cs typeface="Trebuchet MS"/>
              </a:rPr>
              <a:t>“recommended”-</a:t>
            </a:r>
            <a:r>
              <a:rPr sz="1400" spc="-25" dirty="0">
                <a:latin typeface="Trebuchet MS"/>
                <a:cs typeface="Trebuchet MS"/>
              </a:rPr>
              <a:t>data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are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to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downloaded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directly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from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data-</a:t>
            </a:r>
            <a:r>
              <a:rPr sz="1400" spc="-10" dirty="0">
                <a:latin typeface="Trebuchet MS"/>
                <a:cs typeface="Trebuchet MS"/>
              </a:rPr>
              <a:t>provider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965181" y="5750458"/>
            <a:ext cx="165735" cy="3295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b="1" spc="-20" dirty="0">
                <a:solidFill>
                  <a:srgbClr val="1F3863"/>
                </a:solidFill>
                <a:latin typeface="Calibri"/>
                <a:cs typeface="Calibri"/>
              </a:rPr>
              <a:t>HTTP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07630" y="6434429"/>
            <a:ext cx="1775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E5496"/>
                </a:solidFill>
                <a:latin typeface="Calibri"/>
                <a:cs typeface="Calibri"/>
              </a:rPr>
              <a:t>download</a:t>
            </a:r>
            <a:r>
              <a:rPr sz="1100" b="1" spc="-5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E5496"/>
                </a:solidFill>
                <a:latin typeface="Calibri"/>
                <a:cs typeface="Calibri"/>
              </a:rPr>
              <a:t>recommended</a:t>
            </a:r>
            <a:r>
              <a:rPr sz="1100" b="1" spc="-6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E5496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28723" y="5182870"/>
            <a:ext cx="7722870" cy="1523365"/>
          </a:xfrm>
          <a:custGeom>
            <a:avLst/>
            <a:gdLst/>
            <a:ahLst/>
            <a:cxnLst/>
            <a:rect l="l" t="t" r="r" b="b"/>
            <a:pathLst>
              <a:path w="7722870" h="1523365">
                <a:moveTo>
                  <a:pt x="47625" y="63499"/>
                </a:moveTo>
                <a:lnTo>
                  <a:pt x="28575" y="63499"/>
                </a:lnTo>
                <a:lnTo>
                  <a:pt x="28575" y="1523314"/>
                </a:lnTo>
                <a:lnTo>
                  <a:pt x="7722488" y="1523314"/>
                </a:lnTo>
                <a:lnTo>
                  <a:pt x="7722488" y="1513789"/>
                </a:lnTo>
                <a:lnTo>
                  <a:pt x="47625" y="1513789"/>
                </a:lnTo>
                <a:lnTo>
                  <a:pt x="38100" y="1504264"/>
                </a:lnTo>
                <a:lnTo>
                  <a:pt x="47625" y="1504264"/>
                </a:lnTo>
                <a:lnTo>
                  <a:pt x="47625" y="63499"/>
                </a:lnTo>
                <a:close/>
              </a:path>
              <a:path w="7722870" h="1523365">
                <a:moveTo>
                  <a:pt x="47625" y="1504264"/>
                </a:moveTo>
                <a:lnTo>
                  <a:pt x="38100" y="1504264"/>
                </a:lnTo>
                <a:lnTo>
                  <a:pt x="47625" y="1513789"/>
                </a:lnTo>
                <a:lnTo>
                  <a:pt x="47625" y="1504264"/>
                </a:lnTo>
                <a:close/>
              </a:path>
              <a:path w="7722870" h="1523365">
                <a:moveTo>
                  <a:pt x="7703438" y="1504264"/>
                </a:moveTo>
                <a:lnTo>
                  <a:pt x="47625" y="1504264"/>
                </a:lnTo>
                <a:lnTo>
                  <a:pt x="47625" y="1513789"/>
                </a:lnTo>
                <a:lnTo>
                  <a:pt x="7703438" y="1513789"/>
                </a:lnTo>
                <a:lnTo>
                  <a:pt x="7703438" y="1504264"/>
                </a:lnTo>
                <a:close/>
              </a:path>
              <a:path w="7722870" h="1523365">
                <a:moveTo>
                  <a:pt x="7722488" y="172338"/>
                </a:moveTo>
                <a:lnTo>
                  <a:pt x="7703438" y="172338"/>
                </a:lnTo>
                <a:lnTo>
                  <a:pt x="7703438" y="1513789"/>
                </a:lnTo>
                <a:lnTo>
                  <a:pt x="7712963" y="1504264"/>
                </a:lnTo>
                <a:lnTo>
                  <a:pt x="7722488" y="1504264"/>
                </a:lnTo>
                <a:lnTo>
                  <a:pt x="7722488" y="172338"/>
                </a:lnTo>
                <a:close/>
              </a:path>
              <a:path w="7722870" h="1523365">
                <a:moveTo>
                  <a:pt x="7722488" y="1504264"/>
                </a:moveTo>
                <a:lnTo>
                  <a:pt x="7712963" y="1504264"/>
                </a:lnTo>
                <a:lnTo>
                  <a:pt x="7703438" y="1513789"/>
                </a:lnTo>
                <a:lnTo>
                  <a:pt x="7722488" y="1513789"/>
                </a:lnTo>
                <a:lnTo>
                  <a:pt x="7722488" y="1504264"/>
                </a:lnTo>
                <a:close/>
              </a:path>
              <a:path w="7722870" h="1523365">
                <a:moveTo>
                  <a:pt x="38100" y="0"/>
                </a:moveTo>
                <a:lnTo>
                  <a:pt x="0" y="76199"/>
                </a:lnTo>
                <a:lnTo>
                  <a:pt x="28575" y="76199"/>
                </a:lnTo>
                <a:lnTo>
                  <a:pt x="28575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722870" h="1523365">
                <a:moveTo>
                  <a:pt x="69850" y="63499"/>
                </a:moveTo>
                <a:lnTo>
                  <a:pt x="47625" y="63499"/>
                </a:lnTo>
                <a:lnTo>
                  <a:pt x="47625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329041" y="5570321"/>
            <a:ext cx="11842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E5496"/>
                </a:solidFill>
                <a:latin typeface="Calibri"/>
                <a:cs typeface="Calibri"/>
              </a:rPr>
              <a:t>download</a:t>
            </a:r>
            <a:r>
              <a:rPr sz="1100" b="1" spc="-3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E5496"/>
                </a:solidFill>
                <a:latin typeface="Calibri"/>
                <a:cs typeface="Calibri"/>
              </a:rPr>
              <a:t>core</a:t>
            </a:r>
            <a:r>
              <a:rPr sz="1100" b="1" spc="-3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E5496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088007" y="5355209"/>
            <a:ext cx="7863205" cy="528955"/>
            <a:chOff x="2088007" y="5355209"/>
            <a:chExt cx="7863205" cy="528955"/>
          </a:xfrm>
        </p:grpSpPr>
        <p:sp>
          <p:nvSpPr>
            <p:cNvPr id="41" name="object 41"/>
            <p:cNvSpPr/>
            <p:nvPr/>
          </p:nvSpPr>
          <p:spPr>
            <a:xfrm>
              <a:off x="6076061" y="5355209"/>
              <a:ext cx="3875404" cy="528955"/>
            </a:xfrm>
            <a:custGeom>
              <a:avLst/>
              <a:gdLst/>
              <a:ahLst/>
              <a:cxnLst/>
              <a:rect l="l" t="t" r="r" b="b"/>
              <a:pathLst>
                <a:path w="3875404" h="528954">
                  <a:moveTo>
                    <a:pt x="76200" y="452183"/>
                  </a:moveTo>
                  <a:lnTo>
                    <a:pt x="0" y="490283"/>
                  </a:lnTo>
                  <a:lnTo>
                    <a:pt x="76200" y="528383"/>
                  </a:lnTo>
                  <a:lnTo>
                    <a:pt x="76200" y="499808"/>
                  </a:lnTo>
                  <a:lnTo>
                    <a:pt x="63500" y="499808"/>
                  </a:lnTo>
                  <a:lnTo>
                    <a:pt x="63500" y="480758"/>
                  </a:lnTo>
                  <a:lnTo>
                    <a:pt x="76200" y="480758"/>
                  </a:lnTo>
                  <a:lnTo>
                    <a:pt x="76200" y="452183"/>
                  </a:lnTo>
                  <a:close/>
                </a:path>
                <a:path w="3875404" h="528954">
                  <a:moveTo>
                    <a:pt x="76200" y="480758"/>
                  </a:moveTo>
                  <a:lnTo>
                    <a:pt x="63500" y="480758"/>
                  </a:lnTo>
                  <a:lnTo>
                    <a:pt x="63500" y="499808"/>
                  </a:lnTo>
                  <a:lnTo>
                    <a:pt x="76200" y="499808"/>
                  </a:lnTo>
                  <a:lnTo>
                    <a:pt x="76200" y="480758"/>
                  </a:lnTo>
                  <a:close/>
                </a:path>
                <a:path w="3875404" h="528954">
                  <a:moveTo>
                    <a:pt x="3856100" y="480758"/>
                  </a:moveTo>
                  <a:lnTo>
                    <a:pt x="76200" y="480758"/>
                  </a:lnTo>
                  <a:lnTo>
                    <a:pt x="76200" y="499808"/>
                  </a:lnTo>
                  <a:lnTo>
                    <a:pt x="3875150" y="499808"/>
                  </a:lnTo>
                  <a:lnTo>
                    <a:pt x="3875150" y="490283"/>
                  </a:lnTo>
                  <a:lnTo>
                    <a:pt x="3856100" y="490283"/>
                  </a:lnTo>
                  <a:lnTo>
                    <a:pt x="3856100" y="480758"/>
                  </a:lnTo>
                  <a:close/>
                </a:path>
                <a:path w="3875404" h="528954">
                  <a:moveTo>
                    <a:pt x="3875150" y="0"/>
                  </a:moveTo>
                  <a:lnTo>
                    <a:pt x="3856100" y="0"/>
                  </a:lnTo>
                  <a:lnTo>
                    <a:pt x="3856100" y="490283"/>
                  </a:lnTo>
                  <a:lnTo>
                    <a:pt x="3865625" y="480758"/>
                  </a:lnTo>
                  <a:lnTo>
                    <a:pt x="3875150" y="480758"/>
                  </a:lnTo>
                  <a:lnTo>
                    <a:pt x="3875150" y="0"/>
                  </a:lnTo>
                  <a:close/>
                </a:path>
                <a:path w="3875404" h="528954">
                  <a:moveTo>
                    <a:pt x="3875150" y="480758"/>
                  </a:moveTo>
                  <a:lnTo>
                    <a:pt x="3865625" y="480758"/>
                  </a:lnTo>
                  <a:lnTo>
                    <a:pt x="3856100" y="490283"/>
                  </a:lnTo>
                  <a:lnTo>
                    <a:pt x="3875150" y="490283"/>
                  </a:lnTo>
                  <a:lnTo>
                    <a:pt x="3875150" y="48075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88007" y="5460250"/>
              <a:ext cx="318770" cy="417195"/>
            </a:xfrm>
            <a:custGeom>
              <a:avLst/>
              <a:gdLst/>
              <a:ahLst/>
              <a:cxnLst/>
              <a:rect l="l" t="t" r="r" b="b"/>
              <a:pathLst>
                <a:path w="318769" h="417195">
                  <a:moveTo>
                    <a:pt x="159006" y="190132"/>
                  </a:moveTo>
                  <a:lnTo>
                    <a:pt x="197" y="190132"/>
                  </a:lnTo>
                  <a:lnTo>
                    <a:pt x="197" y="405789"/>
                  </a:lnTo>
                  <a:lnTo>
                    <a:pt x="158987" y="417137"/>
                  </a:lnTo>
                  <a:lnTo>
                    <a:pt x="317777" y="405789"/>
                  </a:lnTo>
                  <a:lnTo>
                    <a:pt x="159337" y="405789"/>
                  </a:lnTo>
                  <a:lnTo>
                    <a:pt x="11558" y="395221"/>
                  </a:lnTo>
                  <a:lnTo>
                    <a:pt x="11558" y="200677"/>
                  </a:lnTo>
                  <a:lnTo>
                    <a:pt x="159006" y="190132"/>
                  </a:lnTo>
                  <a:close/>
                </a:path>
                <a:path w="318769" h="417195">
                  <a:moveTo>
                    <a:pt x="317777" y="190132"/>
                  </a:moveTo>
                  <a:lnTo>
                    <a:pt x="159006" y="190132"/>
                  </a:lnTo>
                  <a:lnTo>
                    <a:pt x="306454" y="200677"/>
                  </a:lnTo>
                  <a:lnTo>
                    <a:pt x="306454" y="395221"/>
                  </a:lnTo>
                  <a:lnTo>
                    <a:pt x="158676" y="405789"/>
                  </a:lnTo>
                  <a:lnTo>
                    <a:pt x="317777" y="405789"/>
                  </a:lnTo>
                  <a:lnTo>
                    <a:pt x="317777" y="190132"/>
                  </a:lnTo>
                  <a:close/>
                </a:path>
                <a:path w="318769" h="417195">
                  <a:moveTo>
                    <a:pt x="159001" y="0"/>
                  </a:moveTo>
                  <a:lnTo>
                    <a:pt x="112588" y="9372"/>
                  </a:lnTo>
                  <a:lnTo>
                    <a:pt x="74686" y="34933"/>
                  </a:lnTo>
                  <a:lnTo>
                    <a:pt x="49133" y="72849"/>
                  </a:lnTo>
                  <a:lnTo>
                    <a:pt x="39791" y="119143"/>
                  </a:lnTo>
                  <a:lnTo>
                    <a:pt x="39697" y="187285"/>
                  </a:lnTo>
                  <a:lnTo>
                    <a:pt x="0" y="190132"/>
                  </a:lnTo>
                  <a:lnTo>
                    <a:pt x="318175" y="190132"/>
                  </a:lnTo>
                  <a:lnTo>
                    <a:pt x="278240" y="187286"/>
                  </a:lnTo>
                  <a:lnTo>
                    <a:pt x="278240" y="186524"/>
                  </a:lnTo>
                  <a:lnTo>
                    <a:pt x="51114" y="186524"/>
                  </a:lnTo>
                  <a:lnTo>
                    <a:pt x="51133" y="119143"/>
                  </a:lnTo>
                  <a:lnTo>
                    <a:pt x="59583" y="77264"/>
                  </a:lnTo>
                  <a:lnTo>
                    <a:pt x="82705" y="42949"/>
                  </a:lnTo>
                  <a:lnTo>
                    <a:pt x="117001" y="19813"/>
                  </a:lnTo>
                  <a:lnTo>
                    <a:pt x="159001" y="11329"/>
                  </a:lnTo>
                  <a:lnTo>
                    <a:pt x="208317" y="11329"/>
                  </a:lnTo>
                  <a:lnTo>
                    <a:pt x="205415" y="9372"/>
                  </a:lnTo>
                  <a:lnTo>
                    <a:pt x="159001" y="0"/>
                  </a:lnTo>
                  <a:close/>
                </a:path>
                <a:path w="318769" h="417195">
                  <a:moveTo>
                    <a:pt x="159006" y="28356"/>
                  </a:moveTo>
                  <a:lnTo>
                    <a:pt x="123687" y="35491"/>
                  </a:lnTo>
                  <a:lnTo>
                    <a:pt x="94845" y="54947"/>
                  </a:lnTo>
                  <a:lnTo>
                    <a:pt x="75399" y="83805"/>
                  </a:lnTo>
                  <a:lnTo>
                    <a:pt x="68269" y="119143"/>
                  </a:lnTo>
                  <a:lnTo>
                    <a:pt x="68269" y="185380"/>
                  </a:lnTo>
                  <a:lnTo>
                    <a:pt x="50971" y="186524"/>
                  </a:lnTo>
                  <a:lnTo>
                    <a:pt x="266898" y="186524"/>
                  </a:lnTo>
                  <a:lnTo>
                    <a:pt x="249743" y="185380"/>
                  </a:lnTo>
                  <a:lnTo>
                    <a:pt x="249743" y="184586"/>
                  </a:lnTo>
                  <a:lnTo>
                    <a:pt x="79611" y="184586"/>
                  </a:lnTo>
                  <a:lnTo>
                    <a:pt x="79611" y="119143"/>
                  </a:lnTo>
                  <a:lnTo>
                    <a:pt x="85851" y="88223"/>
                  </a:lnTo>
                  <a:lnTo>
                    <a:pt x="102866" y="62972"/>
                  </a:lnTo>
                  <a:lnTo>
                    <a:pt x="128103" y="45948"/>
                  </a:lnTo>
                  <a:lnTo>
                    <a:pt x="159006" y="39705"/>
                  </a:lnTo>
                  <a:lnTo>
                    <a:pt x="200572" y="39705"/>
                  </a:lnTo>
                  <a:lnTo>
                    <a:pt x="194325" y="35491"/>
                  </a:lnTo>
                  <a:lnTo>
                    <a:pt x="159006" y="28356"/>
                  </a:lnTo>
                  <a:close/>
                </a:path>
                <a:path w="318769" h="417195">
                  <a:moveTo>
                    <a:pt x="208317" y="11329"/>
                  </a:moveTo>
                  <a:lnTo>
                    <a:pt x="159001" y="11329"/>
                  </a:lnTo>
                  <a:lnTo>
                    <a:pt x="200999" y="19813"/>
                  </a:lnTo>
                  <a:lnTo>
                    <a:pt x="235296" y="42949"/>
                  </a:lnTo>
                  <a:lnTo>
                    <a:pt x="258419" y="77264"/>
                  </a:lnTo>
                  <a:lnTo>
                    <a:pt x="266870" y="119143"/>
                  </a:lnTo>
                  <a:lnTo>
                    <a:pt x="266898" y="186524"/>
                  </a:lnTo>
                  <a:lnTo>
                    <a:pt x="278240" y="186524"/>
                  </a:lnTo>
                  <a:lnTo>
                    <a:pt x="278212" y="119143"/>
                  </a:lnTo>
                  <a:lnTo>
                    <a:pt x="268870" y="72849"/>
                  </a:lnTo>
                  <a:lnTo>
                    <a:pt x="243317" y="34933"/>
                  </a:lnTo>
                  <a:lnTo>
                    <a:pt x="208317" y="11329"/>
                  </a:lnTo>
                  <a:close/>
                </a:path>
                <a:path w="318769" h="417195">
                  <a:moveTo>
                    <a:pt x="159006" y="178755"/>
                  </a:moveTo>
                  <a:lnTo>
                    <a:pt x="79611" y="184586"/>
                  </a:lnTo>
                  <a:lnTo>
                    <a:pt x="238401" y="184586"/>
                  </a:lnTo>
                  <a:lnTo>
                    <a:pt x="159006" y="178755"/>
                  </a:lnTo>
                  <a:close/>
                </a:path>
                <a:path w="318769" h="417195">
                  <a:moveTo>
                    <a:pt x="200572" y="39705"/>
                  </a:moveTo>
                  <a:lnTo>
                    <a:pt x="159006" y="39705"/>
                  </a:lnTo>
                  <a:lnTo>
                    <a:pt x="189909" y="45948"/>
                  </a:lnTo>
                  <a:lnTo>
                    <a:pt x="215146" y="62972"/>
                  </a:lnTo>
                  <a:lnTo>
                    <a:pt x="232162" y="88223"/>
                  </a:lnTo>
                  <a:lnTo>
                    <a:pt x="238401" y="119143"/>
                  </a:lnTo>
                  <a:lnTo>
                    <a:pt x="238401" y="184586"/>
                  </a:lnTo>
                  <a:lnTo>
                    <a:pt x="249743" y="184586"/>
                  </a:lnTo>
                  <a:lnTo>
                    <a:pt x="249743" y="119143"/>
                  </a:lnTo>
                  <a:lnTo>
                    <a:pt x="242613" y="83805"/>
                  </a:lnTo>
                  <a:lnTo>
                    <a:pt x="223167" y="54947"/>
                  </a:lnTo>
                  <a:lnTo>
                    <a:pt x="200572" y="39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7312" y="5712794"/>
              <a:ext cx="79399" cy="10783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215034" y="5232019"/>
            <a:ext cx="1000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E50"/>
                </a:solidFill>
                <a:latin typeface="Arial MT"/>
                <a:cs typeface="Arial MT"/>
              </a:rPr>
              <a:t>access</a:t>
            </a:r>
            <a:r>
              <a:rPr sz="1200" spc="-20" dirty="0">
                <a:solidFill>
                  <a:srgbClr val="333E5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E50"/>
                </a:solidFill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5" name="object 45" descr="User icon in flat style. person icon. Client Symbol 7296447 ...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02672" y="4958359"/>
            <a:ext cx="485775" cy="430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32945" y="6558915"/>
            <a:ext cx="5841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5"/>
              </a:lnSpc>
            </a:pPr>
            <a:r>
              <a:rPr sz="900" spc="-50" dirty="0"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8624" y="2033118"/>
            <a:ext cx="6920113" cy="10348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774" y="2567813"/>
            <a:ext cx="3612769" cy="18642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1833880">
              <a:lnSpc>
                <a:spcPct val="100000"/>
              </a:lnSpc>
              <a:spcBef>
                <a:spcPts val="100"/>
              </a:spcBef>
            </a:pPr>
            <a:r>
              <a:rPr dirty="0"/>
              <a:t>GBON</a:t>
            </a:r>
            <a:r>
              <a:rPr spc="-5" dirty="0"/>
              <a:t> </a:t>
            </a:r>
            <a:r>
              <a:rPr spc="-10" dirty="0"/>
              <a:t>land-</a:t>
            </a:r>
            <a:r>
              <a:rPr dirty="0"/>
              <a:t>surface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upper-</a:t>
            </a:r>
            <a:r>
              <a:rPr spc="-25" dirty="0"/>
              <a:t>air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8630" y="747776"/>
            <a:ext cx="985393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Global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Basic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Observing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Network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(GBON)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represents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core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data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Land-</a:t>
            </a:r>
            <a:r>
              <a:rPr sz="2000" spc="-40" dirty="0">
                <a:latin typeface="Trebuchet MS"/>
                <a:cs typeface="Trebuchet MS"/>
              </a:rPr>
              <a:t>surface: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every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hour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45" dirty="0">
                <a:latin typeface="Trebuchet MS"/>
                <a:cs typeface="Trebuchet MS"/>
              </a:rPr>
              <a:t>Upper-</a:t>
            </a:r>
            <a:r>
              <a:rPr sz="2000" spc="-100" dirty="0">
                <a:latin typeface="Trebuchet MS"/>
                <a:cs typeface="Trebuchet MS"/>
              </a:rPr>
              <a:t>air: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twice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daily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85" dirty="0">
                <a:latin typeface="Trebuchet MS"/>
                <a:cs typeface="Trebuchet MS"/>
              </a:rPr>
              <a:t>GBON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defines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minimum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number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stations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exchange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depending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country-</a:t>
            </a:r>
            <a:r>
              <a:rPr sz="2000" spc="-20" dirty="0">
                <a:latin typeface="Trebuchet MS"/>
                <a:cs typeface="Trebuchet MS"/>
              </a:rPr>
              <a:t>size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i="1" spc="-45" dirty="0">
                <a:latin typeface="Trebuchet MS"/>
                <a:cs typeface="Trebuchet MS"/>
              </a:rPr>
              <a:t>more</a:t>
            </a:r>
            <a:r>
              <a:rPr sz="2000" i="1" spc="-200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is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better!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53496" y="4126679"/>
            <a:ext cx="7843520" cy="2672715"/>
            <a:chOff x="4353496" y="4126679"/>
            <a:chExt cx="7843520" cy="267271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3091" y="4174042"/>
              <a:ext cx="3528908" cy="26153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21776" y="4132701"/>
              <a:ext cx="3570604" cy="2661920"/>
            </a:xfrm>
            <a:custGeom>
              <a:avLst/>
              <a:gdLst/>
              <a:ahLst/>
              <a:cxnLst/>
              <a:rect l="l" t="t" r="r" b="b"/>
              <a:pathLst>
                <a:path w="3570604" h="2661920">
                  <a:moveTo>
                    <a:pt x="3570224" y="0"/>
                  </a:moveTo>
                  <a:lnTo>
                    <a:pt x="0" y="0"/>
                  </a:lnTo>
                  <a:lnTo>
                    <a:pt x="0" y="2661412"/>
                  </a:lnTo>
                  <a:lnTo>
                    <a:pt x="3570224" y="26614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3085" y="4136203"/>
              <a:ext cx="4255770" cy="26518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58259" y="4131442"/>
              <a:ext cx="4265295" cy="2661920"/>
            </a:xfrm>
            <a:custGeom>
              <a:avLst/>
              <a:gdLst/>
              <a:ahLst/>
              <a:cxnLst/>
              <a:rect l="l" t="t" r="r" b="b"/>
              <a:pathLst>
                <a:path w="4265295" h="2661920">
                  <a:moveTo>
                    <a:pt x="0" y="2661412"/>
                  </a:moveTo>
                  <a:lnTo>
                    <a:pt x="4265295" y="2661412"/>
                  </a:lnTo>
                  <a:lnTo>
                    <a:pt x="4265295" y="0"/>
                  </a:lnTo>
                  <a:lnTo>
                    <a:pt x="0" y="0"/>
                  </a:lnTo>
                  <a:lnTo>
                    <a:pt x="0" y="26614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25138" y="3073273"/>
            <a:ext cx="6400800" cy="98488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600" spc="-30" dirty="0">
                <a:latin typeface="Calibri"/>
                <a:cs typeface="Calibri"/>
              </a:rPr>
              <a:t>“exlore”-</a:t>
            </a:r>
            <a:r>
              <a:rPr sz="1600" dirty="0">
                <a:latin typeface="Calibri"/>
                <a:cs typeface="Calibri"/>
              </a:rPr>
              <a:t>option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wis2box-</a:t>
            </a:r>
            <a:r>
              <a:rPr sz="1600" dirty="0">
                <a:latin typeface="Calibri"/>
                <a:cs typeface="Calibri"/>
              </a:rPr>
              <a:t>homepage helps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visualize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published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wis2box-</a:t>
            </a:r>
            <a:r>
              <a:rPr sz="1400" dirty="0">
                <a:latin typeface="Calibri"/>
                <a:cs typeface="Calibri"/>
              </a:rPr>
              <a:t>1.2,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“explore”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for</a:t>
            </a:r>
            <a:endParaRPr sz="14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spc="-10" dirty="0">
                <a:latin typeface="Calibri"/>
                <a:cs typeface="Calibri"/>
              </a:rPr>
              <a:t>../weather/surface-based-observation/synop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(bufr2geojson </a:t>
            </a:r>
            <a:r>
              <a:rPr sz="1400" dirty="0">
                <a:latin typeface="Calibri"/>
                <a:cs typeface="Calibri"/>
              </a:rPr>
              <a:t>must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enabled)</a:t>
            </a:r>
            <a:endParaRPr sz="14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spc="-10" dirty="0">
                <a:latin typeface="Calibri"/>
                <a:cs typeface="Calibri"/>
              </a:rPr>
              <a:t>../weather/surface-based-observation/temp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64041" y="3208965"/>
            <a:ext cx="1276473" cy="45726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51748" y="3788503"/>
            <a:ext cx="762110" cy="266732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684134" y="2772321"/>
            <a:ext cx="768350" cy="229870"/>
          </a:xfrm>
          <a:custGeom>
            <a:avLst/>
            <a:gdLst/>
            <a:ahLst/>
            <a:cxnLst/>
            <a:rect l="l" t="t" r="r" b="b"/>
            <a:pathLst>
              <a:path w="768350" h="229869">
                <a:moveTo>
                  <a:pt x="0" y="229831"/>
                </a:moveTo>
                <a:lnTo>
                  <a:pt x="768096" y="229831"/>
                </a:lnTo>
                <a:lnTo>
                  <a:pt x="768096" y="0"/>
                </a:lnTo>
                <a:lnTo>
                  <a:pt x="0" y="0"/>
                </a:lnTo>
                <a:lnTo>
                  <a:pt x="0" y="22983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8358" y="4762246"/>
            <a:ext cx="3833495" cy="1089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sz="1600" i="1" spc="-10" dirty="0">
                <a:latin typeface="Calibri"/>
                <a:cs typeface="Calibri"/>
              </a:rPr>
              <a:t>visualization </a:t>
            </a:r>
            <a:r>
              <a:rPr sz="1600" i="1" dirty="0">
                <a:latin typeface="Calibri"/>
                <a:cs typeface="Calibri"/>
              </a:rPr>
              <a:t>in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wis2box</a:t>
            </a:r>
            <a:r>
              <a:rPr sz="1600" i="1" spc="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is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optional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60"/>
              </a:spcBef>
            </a:pPr>
            <a:r>
              <a:rPr sz="1800" dirty="0">
                <a:latin typeface="Calibri"/>
                <a:cs typeface="Calibri"/>
              </a:rPr>
              <a:t>Please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WIGOS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Quality </a:t>
            </a:r>
            <a:r>
              <a:rPr sz="1800" dirty="0">
                <a:latin typeface="Calibri"/>
                <a:cs typeface="Calibri"/>
              </a:rPr>
              <a:t>Monitoring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GBON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compliance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https://wdqms.wmo.int/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20245" y="6517640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505710">
              <a:lnSpc>
                <a:spcPct val="100000"/>
              </a:lnSpc>
              <a:spcBef>
                <a:spcPts val="100"/>
              </a:spcBef>
            </a:pPr>
            <a:r>
              <a:rPr dirty="0"/>
              <a:t>GBON land</a:t>
            </a:r>
            <a:r>
              <a:rPr spc="-20" dirty="0"/>
              <a:t> </a:t>
            </a:r>
            <a:r>
              <a:rPr dirty="0"/>
              <a:t>and</a:t>
            </a:r>
            <a:r>
              <a:rPr spc="-10" dirty="0"/>
              <a:t> upper-</a:t>
            </a:r>
            <a:r>
              <a:rPr spc="-25" dirty="0"/>
              <a:t>air</a:t>
            </a:r>
          </a:p>
        </p:txBody>
      </p:sp>
      <p:sp>
        <p:nvSpPr>
          <p:cNvPr id="7" name="object 7"/>
          <p:cNvSpPr/>
          <p:nvPr/>
        </p:nvSpPr>
        <p:spPr>
          <a:xfrm>
            <a:off x="3869690" y="1093355"/>
            <a:ext cx="4716780" cy="554990"/>
          </a:xfrm>
          <a:custGeom>
            <a:avLst/>
            <a:gdLst/>
            <a:ahLst/>
            <a:cxnLst/>
            <a:rect l="l" t="t" r="r" b="b"/>
            <a:pathLst>
              <a:path w="4716780" h="554989">
                <a:moveTo>
                  <a:pt x="4716780" y="0"/>
                </a:moveTo>
                <a:lnTo>
                  <a:pt x="1568196" y="0"/>
                </a:lnTo>
                <a:lnTo>
                  <a:pt x="1498092" y="0"/>
                </a:lnTo>
                <a:lnTo>
                  <a:pt x="1498092" y="274307"/>
                </a:lnTo>
                <a:lnTo>
                  <a:pt x="1498079" y="0"/>
                </a:lnTo>
                <a:lnTo>
                  <a:pt x="0" y="0"/>
                </a:lnTo>
                <a:lnTo>
                  <a:pt x="0" y="274307"/>
                </a:lnTo>
                <a:lnTo>
                  <a:pt x="0" y="280403"/>
                </a:lnTo>
                <a:lnTo>
                  <a:pt x="0" y="554723"/>
                </a:lnTo>
                <a:lnTo>
                  <a:pt x="2923032" y="554723"/>
                </a:lnTo>
                <a:lnTo>
                  <a:pt x="2993136" y="554723"/>
                </a:lnTo>
                <a:lnTo>
                  <a:pt x="3720084" y="554723"/>
                </a:lnTo>
                <a:lnTo>
                  <a:pt x="3720084" y="280403"/>
                </a:lnTo>
                <a:lnTo>
                  <a:pt x="4716780" y="280403"/>
                </a:lnTo>
                <a:lnTo>
                  <a:pt x="471678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57625" y="1071753"/>
            <a:ext cx="4686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wis2box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dataset-</a:t>
            </a:r>
            <a:r>
              <a:rPr sz="1800" dirty="0">
                <a:latin typeface="Calibri"/>
                <a:cs typeface="Calibri"/>
              </a:rPr>
              <a:t>editor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templates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help </a:t>
            </a:r>
            <a:r>
              <a:rPr sz="1800" dirty="0">
                <a:latin typeface="Calibri"/>
                <a:cs typeface="Calibri"/>
              </a:rPr>
              <a:t>publish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upper-stations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58961" y="1725993"/>
            <a:ext cx="3580129" cy="1957705"/>
            <a:chOff x="2358961" y="1725993"/>
            <a:chExt cx="3580129" cy="19577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5507" y="1827232"/>
              <a:ext cx="3473741" cy="18467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63723" y="1730755"/>
              <a:ext cx="3570604" cy="1948180"/>
            </a:xfrm>
            <a:custGeom>
              <a:avLst/>
              <a:gdLst/>
              <a:ahLst/>
              <a:cxnLst/>
              <a:rect l="l" t="t" r="r" b="b"/>
              <a:pathLst>
                <a:path w="3570604" h="1948179">
                  <a:moveTo>
                    <a:pt x="0" y="1947926"/>
                  </a:moveTo>
                  <a:lnTo>
                    <a:pt x="3570224" y="1947926"/>
                  </a:lnTo>
                  <a:lnTo>
                    <a:pt x="3570224" y="0"/>
                  </a:lnTo>
                  <a:lnTo>
                    <a:pt x="0" y="0"/>
                  </a:lnTo>
                  <a:lnTo>
                    <a:pt x="0" y="19479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28803" y="1725993"/>
            <a:ext cx="4735830" cy="3709670"/>
            <a:chOff x="6428803" y="1725993"/>
            <a:chExt cx="4735830" cy="370967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650" y="1735581"/>
              <a:ext cx="3612641" cy="198475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73824" y="1730755"/>
              <a:ext cx="3622675" cy="1994535"/>
            </a:xfrm>
            <a:custGeom>
              <a:avLst/>
              <a:gdLst/>
              <a:ahLst/>
              <a:cxnLst/>
              <a:rect l="l" t="t" r="r" b="b"/>
              <a:pathLst>
                <a:path w="3622675" h="1994535">
                  <a:moveTo>
                    <a:pt x="0" y="1994281"/>
                  </a:moveTo>
                  <a:lnTo>
                    <a:pt x="3622167" y="1994281"/>
                  </a:lnTo>
                  <a:lnTo>
                    <a:pt x="3622167" y="0"/>
                  </a:lnTo>
                  <a:lnTo>
                    <a:pt x="0" y="0"/>
                  </a:lnTo>
                  <a:lnTo>
                    <a:pt x="0" y="19942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3770" y="3810233"/>
              <a:ext cx="4629058" cy="15339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33565" y="3750945"/>
              <a:ext cx="4726305" cy="1680210"/>
            </a:xfrm>
            <a:custGeom>
              <a:avLst/>
              <a:gdLst/>
              <a:ahLst/>
              <a:cxnLst/>
              <a:rect l="l" t="t" r="r" b="b"/>
              <a:pathLst>
                <a:path w="4726305" h="1680210">
                  <a:moveTo>
                    <a:pt x="0" y="1679955"/>
                  </a:moveTo>
                  <a:lnTo>
                    <a:pt x="4725924" y="1679955"/>
                  </a:lnTo>
                  <a:lnTo>
                    <a:pt x="4725924" y="0"/>
                  </a:lnTo>
                  <a:lnTo>
                    <a:pt x="0" y="0"/>
                  </a:lnTo>
                  <a:lnTo>
                    <a:pt x="0" y="167995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88899" y="3746258"/>
            <a:ext cx="5755640" cy="2028825"/>
            <a:chOff x="188899" y="3746258"/>
            <a:chExt cx="5755640" cy="202882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424" y="3755783"/>
              <a:ext cx="5736082" cy="200952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3662" y="3751021"/>
              <a:ext cx="5746115" cy="2019300"/>
            </a:xfrm>
            <a:custGeom>
              <a:avLst/>
              <a:gdLst/>
              <a:ahLst/>
              <a:cxnLst/>
              <a:rect l="l" t="t" r="r" b="b"/>
              <a:pathLst>
                <a:path w="5746115" h="2019300">
                  <a:moveTo>
                    <a:pt x="0" y="2019046"/>
                  </a:moveTo>
                  <a:lnTo>
                    <a:pt x="5745607" y="2019046"/>
                  </a:lnTo>
                  <a:lnTo>
                    <a:pt x="5745607" y="0"/>
                  </a:lnTo>
                  <a:lnTo>
                    <a:pt x="0" y="0"/>
                  </a:lnTo>
                  <a:lnTo>
                    <a:pt x="0" y="201904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386198" y="6100368"/>
            <a:ext cx="75761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Note: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TEMP-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ingested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BUFR-format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data-conversion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6198" y="6374688"/>
            <a:ext cx="4782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bufr2geojson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enabled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TEMP-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632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Publishing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CAP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WIS2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53" y="3830828"/>
            <a:ext cx="635254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wis2box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dataset-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provides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template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help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XML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951103"/>
            <a:ext cx="31229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Common</a:t>
            </a:r>
            <a:r>
              <a:rPr kumimoji="0" sz="18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kumimoji="0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Alerting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Protocol</a:t>
            </a:r>
            <a:r>
              <a:rPr kumimoji="0" sz="1800" b="0" i="0" u="none" strike="noStrike" kern="0" cap="none" spc="-1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(CAP)</a:t>
            </a:r>
            <a:r>
              <a:rPr kumimoji="0" sz="1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1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an</a:t>
            </a:r>
            <a:r>
              <a:rPr kumimoji="0" sz="18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XML-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based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18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format</a:t>
            </a:r>
            <a:r>
              <a:rPr kumimoji="0" sz="18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18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exchanging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public</a:t>
            </a:r>
            <a:r>
              <a:rPr kumimoji="0" sz="18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warnings</a:t>
            </a:r>
            <a:r>
              <a:rPr kumimoji="0" sz="18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and 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emergencies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between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different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system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4564" y="2258566"/>
            <a:ext cx="5441087" cy="45994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53378" y="1639951"/>
            <a:ext cx="5633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WMO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Composer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configured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forward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XML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publication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WIS2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06762" y="757745"/>
            <a:ext cx="2999740" cy="3021330"/>
            <a:chOff x="3306762" y="757745"/>
            <a:chExt cx="2999740" cy="30213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6350" y="774328"/>
              <a:ext cx="2980436" cy="2973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11525" y="762508"/>
              <a:ext cx="2990215" cy="3011805"/>
            </a:xfrm>
            <a:custGeom>
              <a:avLst/>
              <a:gdLst/>
              <a:ahLst/>
              <a:cxnLst/>
              <a:rect l="l" t="t" r="r" b="b"/>
              <a:pathLst>
                <a:path w="2990215" h="3011804">
                  <a:moveTo>
                    <a:pt x="0" y="3011297"/>
                  </a:moveTo>
                  <a:lnTo>
                    <a:pt x="2989961" y="3011297"/>
                  </a:lnTo>
                  <a:lnTo>
                    <a:pt x="2989961" y="0"/>
                  </a:lnTo>
                  <a:lnTo>
                    <a:pt x="0" y="0"/>
                  </a:lnTo>
                  <a:lnTo>
                    <a:pt x="0" y="30112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200"/>
            <a:ext cx="12198350" cy="741045"/>
            <a:chOff x="-3175" y="-3200"/>
            <a:chExt cx="12198350" cy="74104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Publishing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70" dirty="0">
                <a:latin typeface="Calibri"/>
                <a:cs typeface="Calibri"/>
              </a:rPr>
              <a:t>DAYCLI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WIS2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27011" y="5912611"/>
            <a:ext cx="52330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lvl="0" indent="-22288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Publish</a:t>
            </a:r>
            <a:r>
              <a:rPr kumimoji="0" sz="2000" b="1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DAYCLI</a:t>
            </a:r>
            <a:r>
              <a:rPr kumimoji="0" sz="2000" b="1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on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2000" b="1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0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support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2000" b="1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climate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services</a:t>
            </a:r>
            <a:r>
              <a:rPr kumimoji="0" sz="2000" b="1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and</a:t>
            </a:r>
            <a:r>
              <a:rPr kumimoji="0" sz="2000" b="1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flagship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WMO</a:t>
            </a:r>
            <a:r>
              <a:rPr kumimoji="0" sz="2000" b="1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publications</a:t>
            </a:r>
            <a:r>
              <a:rPr kumimoji="0" sz="2000" b="1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!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16508" y="2427249"/>
            <a:ext cx="4777105" cy="3270885"/>
            <a:chOff x="7116508" y="2427249"/>
            <a:chExt cx="4777105" cy="32708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5969" y="2436774"/>
              <a:ext cx="4757928" cy="32518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21270" y="2432011"/>
              <a:ext cx="4767580" cy="3261360"/>
            </a:xfrm>
            <a:custGeom>
              <a:avLst/>
              <a:gdLst/>
              <a:ahLst/>
              <a:cxnLst/>
              <a:rect l="l" t="t" r="r" b="b"/>
              <a:pathLst>
                <a:path w="4767580" h="3261360">
                  <a:moveTo>
                    <a:pt x="0" y="3261360"/>
                  </a:moveTo>
                  <a:lnTo>
                    <a:pt x="4767453" y="3261360"/>
                  </a:lnTo>
                  <a:lnTo>
                    <a:pt x="4767453" y="0"/>
                  </a:lnTo>
                  <a:lnTo>
                    <a:pt x="0" y="0"/>
                  </a:lnTo>
                  <a:lnTo>
                    <a:pt x="0" y="32613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5221" y="824864"/>
            <a:ext cx="6915784" cy="6033135"/>
            <a:chOff x="125221" y="824864"/>
            <a:chExt cx="6915784" cy="6033135"/>
          </a:xfrm>
        </p:grpSpPr>
        <p:sp>
          <p:nvSpPr>
            <p:cNvPr id="11" name="object 11"/>
            <p:cNvSpPr/>
            <p:nvPr/>
          </p:nvSpPr>
          <p:spPr>
            <a:xfrm>
              <a:off x="219455" y="824864"/>
              <a:ext cx="6821805" cy="2800985"/>
            </a:xfrm>
            <a:custGeom>
              <a:avLst/>
              <a:gdLst/>
              <a:ahLst/>
              <a:cxnLst/>
              <a:rect l="l" t="t" r="r" b="b"/>
              <a:pathLst>
                <a:path w="6821805" h="2800985">
                  <a:moveTo>
                    <a:pt x="6821424" y="0"/>
                  </a:moveTo>
                  <a:lnTo>
                    <a:pt x="0" y="0"/>
                  </a:lnTo>
                  <a:lnTo>
                    <a:pt x="0" y="2800731"/>
                  </a:lnTo>
                  <a:lnTo>
                    <a:pt x="6821424" y="2800731"/>
                  </a:lnTo>
                  <a:lnTo>
                    <a:pt x="682142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9971" y="4846388"/>
              <a:ext cx="3231133" cy="20020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65273" y="4841627"/>
              <a:ext cx="3241040" cy="2011680"/>
            </a:xfrm>
            <a:custGeom>
              <a:avLst/>
              <a:gdLst/>
              <a:ahLst/>
              <a:cxnLst/>
              <a:rect l="l" t="t" r="r" b="b"/>
              <a:pathLst>
                <a:path w="3241040" h="2011679">
                  <a:moveTo>
                    <a:pt x="0" y="2011552"/>
                  </a:moveTo>
                  <a:lnTo>
                    <a:pt x="3240658" y="2011552"/>
                  </a:lnTo>
                  <a:lnTo>
                    <a:pt x="3240658" y="0"/>
                  </a:lnTo>
                  <a:lnTo>
                    <a:pt x="0" y="0"/>
                  </a:lnTo>
                  <a:lnTo>
                    <a:pt x="0" y="201155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46" y="3777373"/>
              <a:ext cx="6654038" cy="106907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9984" y="3772547"/>
              <a:ext cx="6663690" cy="1078865"/>
            </a:xfrm>
            <a:custGeom>
              <a:avLst/>
              <a:gdLst/>
              <a:ahLst/>
              <a:cxnLst/>
              <a:rect l="l" t="t" r="r" b="b"/>
              <a:pathLst>
                <a:path w="6663690" h="1078864">
                  <a:moveTo>
                    <a:pt x="0" y="1078598"/>
                  </a:moveTo>
                  <a:lnTo>
                    <a:pt x="6663563" y="1078598"/>
                  </a:lnTo>
                  <a:lnTo>
                    <a:pt x="6663563" y="0"/>
                  </a:lnTo>
                  <a:lnTo>
                    <a:pt x="0" y="0"/>
                  </a:lnTo>
                  <a:lnTo>
                    <a:pt x="0" y="10785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87362" y="3593096"/>
              <a:ext cx="6151245" cy="280670"/>
            </a:xfrm>
            <a:custGeom>
              <a:avLst/>
              <a:gdLst/>
              <a:ahLst/>
              <a:cxnLst/>
              <a:rect l="l" t="t" r="r" b="b"/>
              <a:pathLst>
                <a:path w="6151245" h="280670">
                  <a:moveTo>
                    <a:pt x="6150838" y="0"/>
                  </a:moveTo>
                  <a:lnTo>
                    <a:pt x="1568183" y="0"/>
                  </a:lnTo>
                  <a:lnTo>
                    <a:pt x="1498079" y="0"/>
                  </a:lnTo>
                  <a:lnTo>
                    <a:pt x="0" y="0"/>
                  </a:lnTo>
                  <a:lnTo>
                    <a:pt x="0" y="280403"/>
                  </a:lnTo>
                  <a:lnTo>
                    <a:pt x="1498079" y="280403"/>
                  </a:lnTo>
                  <a:lnTo>
                    <a:pt x="1568183" y="280403"/>
                  </a:lnTo>
                  <a:lnTo>
                    <a:pt x="6150838" y="280403"/>
                  </a:lnTo>
                  <a:lnTo>
                    <a:pt x="615083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8195" y="842898"/>
            <a:ext cx="6541134" cy="302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40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DAYCLI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WMO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exchange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format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climate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observations, transmitted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scientific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climate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observations: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5080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Monthly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resolution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CLIMAT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messages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resolution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monitoring extremes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calculating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climate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indices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SYNOP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(and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BUFR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equivalent)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use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aggregation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inconsistent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national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11809" lvl="0" indent="28638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climate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reporting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practices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undergo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QC,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metadata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missing 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DAYCLI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resolves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Complements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monthly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CLIMAT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resolution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CLIMAT</a:t>
            </a:r>
            <a:r>
              <a:rPr kumimoji="0" sz="1400" b="0" i="0" u="sng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kumimoji="0" sz="1400" b="0" i="0" u="sng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still</a:t>
            </a:r>
            <a:r>
              <a:rPr kumimoji="0" sz="1400" b="0" i="0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required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aggregation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consistent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national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climate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reporting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Improved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QC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analysis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compared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SYNOP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Improved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provision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metadata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within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DAYCLI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message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wis2box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dataset-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provides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template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help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DAYCLI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15767" y="5898045"/>
            <a:ext cx="1564005" cy="238125"/>
          </a:xfrm>
          <a:custGeom>
            <a:avLst/>
            <a:gdLst/>
            <a:ahLst/>
            <a:cxnLst/>
            <a:rect l="l" t="t" r="r" b="b"/>
            <a:pathLst>
              <a:path w="1564004" h="238125">
                <a:moveTo>
                  <a:pt x="0" y="237578"/>
                </a:moveTo>
                <a:lnTo>
                  <a:pt x="1563624" y="237578"/>
                </a:lnTo>
                <a:lnTo>
                  <a:pt x="1563624" y="0"/>
                </a:lnTo>
                <a:lnTo>
                  <a:pt x="0" y="0"/>
                </a:lnTo>
                <a:lnTo>
                  <a:pt x="0" y="237578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200"/>
            <a:ext cx="12198350" cy="741045"/>
            <a:chOff x="-3175" y="-3200"/>
            <a:chExt cx="12198350" cy="74104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90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Aviation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WIS2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036" y="785241"/>
            <a:ext cx="11827510" cy="3320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114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200" b="1" i="0" u="none" strike="noStrike" kern="0" cap="none" spc="-14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200" b="1" i="0" u="none" strike="noStrike" kern="0" cap="none" spc="-15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provider</a:t>
            </a:r>
            <a:r>
              <a:rPr kumimoji="0" sz="2200" b="1" i="0" u="none" strike="noStrike" kern="0" cap="none" spc="-145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2200" b="1" i="0" u="none" strike="noStrike" kern="0" cap="none" spc="-16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responsible</a:t>
            </a:r>
            <a:r>
              <a:rPr kumimoji="0" sz="2200" b="1" i="0" u="none" strike="noStrike" kern="0" cap="none" spc="-114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85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2200" b="1" i="0" u="none" strike="noStrike" kern="0" cap="none" spc="-155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35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ensuring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5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aviation</a:t>
            </a:r>
            <a:r>
              <a:rPr kumimoji="0" sz="2200" b="1" i="0" u="none" strike="noStrike" kern="0" cap="none" spc="-135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200" b="1" i="0" u="none" strike="noStrike" kern="0" cap="none" spc="-15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2200" b="1" i="0" u="none" strike="noStrike" kern="0" cap="none" spc="-16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shared</a:t>
            </a:r>
            <a:r>
              <a:rPr kumimoji="0" sz="2200" b="1" i="0" u="none" strike="noStrike" kern="0" cap="none" spc="-14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7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per</a:t>
            </a:r>
            <a:r>
              <a:rPr kumimoji="0" sz="2200" b="1" i="0" u="none" strike="noStrike" kern="0" cap="none" spc="-16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ICAO</a:t>
            </a:r>
            <a:r>
              <a:rPr kumimoji="0" sz="2200" b="1" i="0" u="none" strike="noStrike" kern="0" cap="none" spc="-12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rgbClr val="1F35A0"/>
                </a:solidFill>
                <a:effectLst/>
                <a:uLnTx/>
                <a:uFillTx/>
                <a:latin typeface="Trebuchet MS"/>
                <a:cs typeface="Trebuchet MS"/>
              </a:rPr>
              <a:t>regulations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ts val="2145"/>
              </a:lnSpc>
              <a:spcBef>
                <a:spcPts val="2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From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Guide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WMO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Information</a:t>
            </a:r>
            <a:r>
              <a:rPr kumimoji="0" sz="18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System,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Volume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II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(WMO-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No.</a:t>
            </a:r>
            <a:r>
              <a:rPr kumimoji="0" sz="1800" b="1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1061)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section</a:t>
            </a:r>
            <a:r>
              <a:rPr kumimoji="0" sz="1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2.8.1.1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540385" lvl="0" indent="0" defTabSz="914400" eaLnBrk="1" fontAlgn="auto" latinLnBrk="0" hangingPunct="1">
              <a:lnSpc>
                <a:spcPts val="288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“</a:t>
            </a:r>
            <a:r>
              <a:rPr kumimoji="0" sz="1800" b="0" i="1" u="none" strike="noStrike" kern="0" cap="none" spc="-5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Meteorological</a:t>
            </a:r>
            <a:r>
              <a:rPr kumimoji="0" sz="1800" b="0" i="1" u="none" strike="noStrike" kern="0" cap="none" spc="-1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6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1800" b="0" i="1" u="none" strike="noStrike" kern="0" cap="none" spc="-12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an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essential</a:t>
            </a:r>
            <a:r>
              <a:rPr kumimoji="0" sz="1800" b="0" i="1" u="none" strike="noStrike" kern="0" cap="none" spc="-1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input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3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public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7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weather</a:t>
            </a:r>
            <a:r>
              <a:rPr kumimoji="0" sz="1800" b="0" i="1" u="none" strike="noStrike" kern="0" cap="none" spc="-16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services</a:t>
            </a:r>
            <a:r>
              <a:rPr kumimoji="0" sz="1800" b="0" i="1" u="none" strike="noStrike" kern="0" cap="none" spc="-16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and</a:t>
            </a:r>
            <a:r>
              <a:rPr kumimoji="0" sz="1800" b="0" i="1" u="none" strike="noStrike" kern="0" cap="none" spc="-13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aviation</a:t>
            </a:r>
            <a:r>
              <a:rPr kumimoji="0" sz="1800" b="0" i="1" u="none" strike="noStrike" kern="0" cap="none" spc="-1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services</a:t>
            </a:r>
            <a:r>
              <a:rPr kumimoji="0" sz="1800" b="0" i="1" u="none" strike="noStrike" kern="0" cap="none" spc="-15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9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alike</a:t>
            </a:r>
            <a:r>
              <a:rPr kumimoji="0" sz="2400" b="0" i="1" u="none" strike="noStrike" kern="0" cap="none" spc="-9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.</a:t>
            </a:r>
            <a:r>
              <a:rPr kumimoji="0" sz="2400" b="0" i="1" u="none" strike="noStrike" kern="0" cap="none" spc="-18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provides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mechanism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1800" b="0" i="1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1800" b="0" i="1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exchange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WMO.</a:t>
            </a:r>
            <a:r>
              <a:rPr kumimoji="0" sz="1800" b="0" i="1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SWIM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1800" b="0" i="1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ICAO</a:t>
            </a:r>
            <a:r>
              <a:rPr kumimoji="0" sz="1800" b="0" i="1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initiative</a:t>
            </a:r>
            <a:r>
              <a:rPr kumimoji="0" sz="1800" b="0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18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harmonize</a:t>
            </a:r>
            <a:r>
              <a:rPr kumimoji="0" sz="1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0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provision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1800" b="0" i="1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aeronautical, </a:t>
            </a:r>
            <a:r>
              <a:rPr kumimoji="0" sz="1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meteorological</a:t>
            </a:r>
            <a:r>
              <a:rPr kumimoji="0" sz="1800" b="0" i="1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and</a:t>
            </a:r>
            <a:r>
              <a:rPr kumimoji="0" sz="1800" b="0" i="1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flight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information</a:t>
            </a:r>
            <a:r>
              <a:rPr kumimoji="0" sz="1800" b="0" i="1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support</a:t>
            </a:r>
            <a:r>
              <a:rPr kumimoji="0" sz="18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air</a:t>
            </a:r>
            <a:r>
              <a:rPr kumimoji="0" sz="1800" b="0" i="1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traffic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management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(ATM).</a:t>
            </a:r>
            <a:r>
              <a:rPr kumimoji="0" sz="1800" b="0" i="1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[…]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During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0" i="1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18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transition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phase</a:t>
            </a:r>
            <a:r>
              <a:rPr kumimoji="0" sz="1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(2025–</a:t>
            </a:r>
            <a:r>
              <a:rPr kumimoji="0" sz="1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2033),</a:t>
            </a:r>
            <a:r>
              <a:rPr kumimoji="0" sz="1800" b="0" i="1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meteorological</a:t>
            </a:r>
            <a:r>
              <a:rPr kumimoji="0" sz="1800" b="0" i="1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1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published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via</a:t>
            </a:r>
            <a:r>
              <a:rPr kumimoji="0" sz="1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18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will</a:t>
            </a:r>
            <a:r>
              <a:rPr kumimoji="0" sz="1800" b="0" i="1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automatically</a:t>
            </a:r>
            <a:r>
              <a:rPr kumimoji="0" sz="1800" b="0" i="1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18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published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GTS</a:t>
            </a:r>
            <a:r>
              <a:rPr kumimoji="0" sz="18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via</a:t>
            </a:r>
            <a:r>
              <a:rPr kumimoji="0" sz="18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8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WIS2-</a:t>
            </a:r>
            <a:r>
              <a:rPr kumimoji="0" sz="18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to-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GTS</a:t>
            </a:r>
            <a:r>
              <a:rPr kumimoji="0" sz="18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gateways.”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Aviation</a:t>
            </a:r>
            <a:r>
              <a:rPr kumimoji="0" sz="2000" b="1" i="0" u="none" strike="noStrike" kern="0" cap="none" spc="-1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000" b="1" i="0" u="none" strike="noStrike" kern="0" cap="none" spc="-1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on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2000" b="1" i="0" u="none" strike="noStrike" kern="0" cap="none" spc="-1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recommended</a:t>
            </a:r>
            <a:r>
              <a:rPr kumimoji="0" sz="2000" b="1" i="0" u="none" strike="noStrike" kern="0" cap="none" spc="-1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and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must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have</a:t>
            </a:r>
            <a:r>
              <a:rPr kumimoji="0" sz="2000" b="1" i="0" u="none" strike="noStrike" kern="0" cap="none" spc="-1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an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appropriate</a:t>
            </a:r>
            <a:r>
              <a:rPr kumimoji="0" sz="2000" b="1" i="0" u="sng" strike="noStrike" kern="0" cap="none" spc="-1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license</a:t>
            </a:r>
            <a:r>
              <a:rPr kumimoji="0" sz="2000" b="1" i="0" u="sng" strike="noStrike" kern="0" cap="none" spc="-1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referring</a:t>
            </a:r>
            <a:r>
              <a:rPr kumimoji="0" sz="2000" b="1" i="0" u="sng" strike="noStrike" kern="0" cap="none" spc="-1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to</a:t>
            </a:r>
            <a:r>
              <a:rPr kumimoji="0" sz="2000" b="1" i="0" u="sng" strike="noStrike" kern="0" cap="none" spc="-1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rebuchet MS"/>
                <a:cs typeface="Trebuchet MS"/>
              </a:rPr>
              <a:t>ICAO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64947" y="4586161"/>
            <a:ext cx="5112385" cy="2256790"/>
            <a:chOff x="6564947" y="4586161"/>
            <a:chExt cx="5112385" cy="22567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4535" y="4595685"/>
              <a:ext cx="5093208" cy="2237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69709" y="4590924"/>
              <a:ext cx="5102860" cy="2247265"/>
            </a:xfrm>
            <a:custGeom>
              <a:avLst/>
              <a:gdLst/>
              <a:ahLst/>
              <a:cxnLst/>
              <a:rect l="l" t="t" r="r" b="b"/>
              <a:pathLst>
                <a:path w="5102859" h="2247265">
                  <a:moveTo>
                    <a:pt x="0" y="2246757"/>
                  </a:moveTo>
                  <a:lnTo>
                    <a:pt x="5102733" y="2246757"/>
                  </a:lnTo>
                  <a:lnTo>
                    <a:pt x="5102733" y="0"/>
                  </a:lnTo>
                  <a:lnTo>
                    <a:pt x="0" y="0"/>
                  </a:lnTo>
                  <a:lnTo>
                    <a:pt x="0" y="2246757"/>
                  </a:lnTo>
                  <a:close/>
                </a:path>
              </a:pathLst>
            </a:custGeom>
            <a:ln w="952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50210" y="5734913"/>
            <a:ext cx="345567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-6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400" b="0" i="1" u="none" strike="noStrike" kern="0" cap="none" spc="-7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wis2box-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webapp</a:t>
            </a:r>
            <a:r>
              <a:rPr kumimoji="0" sz="1400" b="0" i="1" u="none" strike="noStrike" kern="0" cap="none" spc="-7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9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will</a:t>
            </a:r>
            <a:r>
              <a:rPr kumimoji="0" sz="1400" b="0" i="1" u="none" strike="noStrike" kern="0" cap="none" spc="-7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5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automatically</a:t>
            </a:r>
            <a:r>
              <a:rPr kumimoji="0" sz="1400" b="0" i="1" u="none" strike="noStrike" kern="0" cap="none" spc="-3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2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set </a:t>
            </a:r>
            <a:r>
              <a:rPr kumimoji="0" sz="1400" b="0" i="1" u="none" strike="noStrike" kern="0" cap="none" spc="-6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400" b="0" i="1" u="none" strike="noStrike" kern="0" cap="none" spc="-12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4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1400" b="0" i="1" u="none" strike="noStrike" kern="0" cap="none" spc="-114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policy</a:t>
            </a:r>
            <a:r>
              <a:rPr kumimoji="0" sz="1400" b="0" i="1" u="none" strike="noStrike" kern="0" cap="none" spc="-12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8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1400" b="0" i="1" u="none" strike="noStrike" kern="0" cap="none" spc="-12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recommended</a:t>
            </a:r>
            <a:r>
              <a:rPr kumimoji="0" sz="1400" b="0" i="1" u="none" strike="noStrike" kern="0" cap="none" spc="-14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10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1400" b="0" i="1" u="none" strike="noStrike" kern="0" cap="none" spc="-13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datasets using</a:t>
            </a:r>
            <a:r>
              <a:rPr kumimoji="0" sz="1400" b="0" i="1" u="none" strike="noStrike" kern="0" cap="none" spc="-7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6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aviation</a:t>
            </a:r>
            <a:r>
              <a:rPr kumimoji="0" sz="1400" b="0" i="1" u="none" strike="noStrike" kern="0" cap="none" spc="-8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5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1400" b="0" i="1" u="none" strike="noStrike" kern="0" cap="none" spc="-65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the</a:t>
            </a:r>
            <a:r>
              <a:rPr kumimoji="0" sz="1400" b="0" i="1" u="none" strike="noStrike" kern="0" cap="none" spc="-9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sub-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discipline</a:t>
            </a:r>
            <a:r>
              <a:rPr kumimoji="0" sz="1400" b="0" i="1" u="none" strike="noStrike" kern="0" cap="none" spc="-10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rebuchet MS"/>
                <a:cs typeface="Trebuchet MS"/>
              </a:rPr>
              <a:t>topic: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57403" y="4166742"/>
            <a:ext cx="5339080" cy="2696210"/>
            <a:chOff x="6657403" y="4166742"/>
            <a:chExt cx="5339080" cy="2696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8801" y="4198203"/>
              <a:ext cx="5297585" cy="25939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62166" y="4171505"/>
              <a:ext cx="5329555" cy="2686685"/>
            </a:xfrm>
            <a:custGeom>
              <a:avLst/>
              <a:gdLst/>
              <a:ahLst/>
              <a:cxnLst/>
              <a:rect l="l" t="t" r="r" b="b"/>
              <a:pathLst>
                <a:path w="5329555" h="2686684">
                  <a:moveTo>
                    <a:pt x="5329047" y="2686494"/>
                  </a:moveTo>
                  <a:lnTo>
                    <a:pt x="5329047" y="0"/>
                  </a:lnTo>
                  <a:lnTo>
                    <a:pt x="0" y="0"/>
                  </a:lnTo>
                  <a:lnTo>
                    <a:pt x="0" y="268649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415937" y="3928186"/>
            <a:ext cx="6172200" cy="1200785"/>
          </a:xfrm>
          <a:custGeom>
            <a:avLst/>
            <a:gdLst/>
            <a:ahLst/>
            <a:cxnLst/>
            <a:rect l="l" t="t" r="r" b="b"/>
            <a:pathLst>
              <a:path w="6172200" h="1200785">
                <a:moveTo>
                  <a:pt x="6172200" y="0"/>
                </a:moveTo>
                <a:lnTo>
                  <a:pt x="0" y="0"/>
                </a:lnTo>
                <a:lnTo>
                  <a:pt x="0" y="1200327"/>
                </a:lnTo>
                <a:lnTo>
                  <a:pt x="6172200" y="1200327"/>
                </a:lnTo>
                <a:lnTo>
                  <a:pt x="61722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791" y="3946652"/>
            <a:ext cx="3155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license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URL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provided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by: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3175" y="-3200"/>
            <a:ext cx="12198350" cy="741045"/>
            <a:chOff x="-3175" y="-3200"/>
            <a:chExt cx="12198350" cy="741045"/>
          </a:xfrm>
        </p:grpSpPr>
        <p:sp>
          <p:nvSpPr>
            <p:cNvPr id="8" name="object 8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Adding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license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recommended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wis2box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8157" y="837438"/>
            <a:ext cx="111296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WCMP2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0" i="0" u="none" strike="noStrike" kern="0" cap="none" spc="-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‘recommended’-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dataset</a:t>
            </a:r>
            <a:r>
              <a:rPr kumimoji="0" sz="20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shall</a:t>
            </a:r>
            <a:r>
              <a:rPr kumimoji="0" sz="20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include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link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with</a:t>
            </a:r>
            <a:r>
              <a:rPr kumimoji="0" sz="20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rel=‘licence’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Dataset-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editor</a:t>
            </a:r>
            <a:r>
              <a:rPr kumimoji="0" sz="2000" b="1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wis2box-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webapp</a:t>
            </a:r>
            <a:r>
              <a:rPr kumimoji="0" sz="2000" b="1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requires</a:t>
            </a:r>
            <a:r>
              <a:rPr kumimoji="0" sz="2000" b="1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you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provide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1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license-URL</a:t>
            </a:r>
            <a:r>
              <a:rPr kumimoji="0" sz="2000" b="1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when</a:t>
            </a:r>
            <a:r>
              <a:rPr kumimoji="0" sz="20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setting</a:t>
            </a:r>
            <a:r>
              <a:rPr kumimoji="0" sz="20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WMO</a:t>
            </a:r>
            <a:r>
              <a:rPr kumimoji="0" sz="2000" b="1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Policy</a:t>
            </a:r>
            <a:r>
              <a:rPr kumimoji="0" sz="2000" b="1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=</a:t>
            </a:r>
            <a:r>
              <a:rPr kumimoji="0" sz="2000" b="1" i="0" u="none" strike="noStrike" kern="0" cap="none" spc="-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‘Recommended’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9072" y="2243772"/>
            <a:ext cx="11712575" cy="2052320"/>
            <a:chOff x="399072" y="2243772"/>
            <a:chExt cx="11712575" cy="20523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597" y="2253234"/>
              <a:ext cx="7137400" cy="152311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3834" y="2248535"/>
              <a:ext cx="7146925" cy="1532890"/>
            </a:xfrm>
            <a:custGeom>
              <a:avLst/>
              <a:gdLst/>
              <a:ahLst/>
              <a:cxnLst/>
              <a:rect l="l" t="t" r="r" b="b"/>
              <a:pathLst>
                <a:path w="7146925" h="1532889">
                  <a:moveTo>
                    <a:pt x="0" y="1532636"/>
                  </a:moveTo>
                  <a:lnTo>
                    <a:pt x="7146925" y="1532636"/>
                  </a:lnTo>
                  <a:lnTo>
                    <a:pt x="7146925" y="0"/>
                  </a:lnTo>
                  <a:lnTo>
                    <a:pt x="0" y="0"/>
                  </a:lnTo>
                  <a:lnTo>
                    <a:pt x="0" y="1532636"/>
                  </a:lnTo>
                  <a:close/>
                </a:path>
              </a:pathLst>
            </a:custGeom>
            <a:ln w="9524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934455" y="3090621"/>
              <a:ext cx="6172200" cy="1200785"/>
            </a:xfrm>
            <a:custGeom>
              <a:avLst/>
              <a:gdLst/>
              <a:ahLst/>
              <a:cxnLst/>
              <a:rect l="l" t="t" r="r" b="b"/>
              <a:pathLst>
                <a:path w="6172200" h="1200785">
                  <a:moveTo>
                    <a:pt x="6172200" y="0"/>
                  </a:moveTo>
                  <a:lnTo>
                    <a:pt x="0" y="0"/>
                  </a:lnTo>
                  <a:lnTo>
                    <a:pt x="0" y="1200327"/>
                  </a:lnTo>
                  <a:lnTo>
                    <a:pt x="6172200" y="1200327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934455" y="3090621"/>
              <a:ext cx="6172200" cy="1200785"/>
            </a:xfrm>
            <a:custGeom>
              <a:avLst/>
              <a:gdLst/>
              <a:ahLst/>
              <a:cxnLst/>
              <a:rect l="l" t="t" r="r" b="b"/>
              <a:pathLst>
                <a:path w="6172200" h="1200785">
                  <a:moveTo>
                    <a:pt x="0" y="1200327"/>
                  </a:moveTo>
                  <a:lnTo>
                    <a:pt x="6172200" y="1200327"/>
                  </a:lnTo>
                  <a:lnTo>
                    <a:pt x="6172200" y="0"/>
                  </a:lnTo>
                  <a:lnTo>
                    <a:pt x="0" y="0"/>
                  </a:lnTo>
                  <a:lnTo>
                    <a:pt x="0" y="1200327"/>
                  </a:lnTo>
                  <a:close/>
                </a:path>
              </a:pathLst>
            </a:custGeom>
            <a:ln w="9525">
              <a:solidFill>
                <a:srgbClr val="004F9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14084" y="3115183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{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28484" y="3298063"/>
            <a:ext cx="47364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"rel":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"license",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"href":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  <a:hlinkClick r:id="rId4"/>
              </a:rPr>
              <a:t>https://mywebsite.com/license/my_dataset.html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",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"title":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"License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for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this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dataset",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"type":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"text/html“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14084" y="4029836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}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0950" y="2770377"/>
            <a:ext cx="4342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Additional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object</a:t>
            </a:r>
            <a:r>
              <a:rPr kumimoji="0" sz="1600" b="0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added</a:t>
            </a:r>
            <a:r>
              <a:rPr kumimoji="0" sz="1600" b="0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1600" b="0" i="0" u="none" strike="noStrike" kern="0" cap="none" spc="-114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links-</a:t>
            </a:r>
            <a:r>
              <a:rPr kumimoji="0" sz="1600" b="0" i="0" u="none" strike="noStrike" kern="0" cap="none" spc="-7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array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WCMP2</a:t>
            </a:r>
            <a:r>
              <a:rPr kumimoji="0" sz="1600" b="0" i="0" u="none" strike="noStrike" kern="0" cap="none" spc="-10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08597" y="2350731"/>
            <a:ext cx="4714240" cy="1431290"/>
          </a:xfrm>
          <a:custGeom>
            <a:avLst/>
            <a:gdLst/>
            <a:ahLst/>
            <a:cxnLst/>
            <a:rect l="l" t="t" r="r" b="b"/>
            <a:pathLst>
              <a:path w="4714240" h="1431289">
                <a:moveTo>
                  <a:pt x="2432900" y="570268"/>
                </a:moveTo>
                <a:lnTo>
                  <a:pt x="4625555" y="570268"/>
                </a:lnTo>
                <a:lnTo>
                  <a:pt x="4625555" y="0"/>
                </a:lnTo>
                <a:lnTo>
                  <a:pt x="2432900" y="0"/>
                </a:lnTo>
                <a:lnTo>
                  <a:pt x="2432900" y="570268"/>
                </a:lnTo>
                <a:close/>
              </a:path>
              <a:path w="4714240" h="1431289">
                <a:moveTo>
                  <a:pt x="0" y="1430947"/>
                </a:moveTo>
                <a:lnTo>
                  <a:pt x="4713986" y="1430947"/>
                </a:lnTo>
                <a:lnTo>
                  <a:pt x="4713986" y="860679"/>
                </a:lnTo>
                <a:lnTo>
                  <a:pt x="0" y="860679"/>
                </a:lnTo>
                <a:lnTo>
                  <a:pt x="0" y="143094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4791" y="4221226"/>
            <a:ext cx="6160770" cy="1756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URL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organization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website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Public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license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Creative</a:t>
            </a:r>
            <a:r>
              <a:rPr kumimoji="0" sz="18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Commons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wis2box-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instance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itself,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file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wis2box-public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98195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text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aviation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license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recipe</a:t>
            </a:r>
            <a:r>
              <a:rPr kumimoji="0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for</a:t>
            </a:r>
            <a:r>
              <a:rPr kumimoji="0" sz="18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publishing</a:t>
            </a:r>
            <a:r>
              <a:rPr kumimoji="0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aviation</a:t>
            </a:r>
            <a:r>
              <a:rPr kumimoji="0" sz="18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data</a:t>
            </a:r>
            <a:r>
              <a:rPr kumimoji="0" sz="18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in</a:t>
            </a:r>
            <a:r>
              <a:rPr kumimoji="0" sz="18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the</a:t>
            </a:r>
            <a:r>
              <a:rPr kumimoji="0" sz="18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WIS2</a:t>
            </a:r>
            <a:r>
              <a:rPr kumimoji="0" sz="18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cookbook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32804" y="6185446"/>
            <a:ext cx="897890" cy="154940"/>
          </a:xfrm>
          <a:custGeom>
            <a:avLst/>
            <a:gdLst/>
            <a:ahLst/>
            <a:cxnLst/>
            <a:rect l="l" t="t" r="r" b="b"/>
            <a:pathLst>
              <a:path w="897890" h="154939">
                <a:moveTo>
                  <a:pt x="810895" y="126185"/>
                </a:moveTo>
                <a:lnTo>
                  <a:pt x="807466" y="154558"/>
                </a:lnTo>
                <a:lnTo>
                  <a:pt x="881997" y="127901"/>
                </a:lnTo>
                <a:lnTo>
                  <a:pt x="825119" y="127901"/>
                </a:lnTo>
                <a:lnTo>
                  <a:pt x="810895" y="126185"/>
                </a:lnTo>
                <a:close/>
              </a:path>
              <a:path w="897890" h="154939">
                <a:moveTo>
                  <a:pt x="814324" y="97814"/>
                </a:moveTo>
                <a:lnTo>
                  <a:pt x="810895" y="126185"/>
                </a:lnTo>
                <a:lnTo>
                  <a:pt x="825119" y="127901"/>
                </a:lnTo>
                <a:lnTo>
                  <a:pt x="828548" y="99529"/>
                </a:lnTo>
                <a:lnTo>
                  <a:pt x="814324" y="97814"/>
                </a:lnTo>
                <a:close/>
              </a:path>
              <a:path w="897890" h="154939">
                <a:moveTo>
                  <a:pt x="817752" y="69443"/>
                </a:moveTo>
                <a:lnTo>
                  <a:pt x="814324" y="97814"/>
                </a:lnTo>
                <a:lnTo>
                  <a:pt x="828548" y="99529"/>
                </a:lnTo>
                <a:lnTo>
                  <a:pt x="825119" y="127901"/>
                </a:lnTo>
                <a:lnTo>
                  <a:pt x="881997" y="127901"/>
                </a:lnTo>
                <a:lnTo>
                  <a:pt x="897763" y="122262"/>
                </a:lnTo>
                <a:lnTo>
                  <a:pt x="817752" y="69443"/>
                </a:lnTo>
                <a:close/>
              </a:path>
              <a:path w="897890" h="154939">
                <a:moveTo>
                  <a:pt x="3302" y="0"/>
                </a:moveTo>
                <a:lnTo>
                  <a:pt x="0" y="28371"/>
                </a:lnTo>
                <a:lnTo>
                  <a:pt x="810895" y="126185"/>
                </a:lnTo>
                <a:lnTo>
                  <a:pt x="814324" y="97814"/>
                </a:lnTo>
                <a:lnTo>
                  <a:pt x="330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4"/>
            <a:ext cx="12198985" cy="734695"/>
            <a:chOff x="-3175" y="-3174"/>
            <a:chExt cx="12198985" cy="7346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  <a:lnTo>
                    <a:pt x="0" y="0"/>
                  </a:lnTo>
                  <a:lnTo>
                    <a:pt x="0" y="728217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260" dirty="0"/>
              <a:t> </a:t>
            </a:r>
            <a:r>
              <a:rPr spc="65" dirty="0"/>
              <a:t>a</a:t>
            </a:r>
            <a:r>
              <a:rPr spc="-229" dirty="0"/>
              <a:t> </a:t>
            </a:r>
            <a:r>
              <a:rPr dirty="0"/>
              <a:t>custom</a:t>
            </a:r>
            <a:r>
              <a:rPr spc="-254" dirty="0"/>
              <a:t> </a:t>
            </a:r>
            <a:r>
              <a:rPr dirty="0"/>
              <a:t>license</a:t>
            </a:r>
            <a:r>
              <a:rPr spc="-245" dirty="0"/>
              <a:t> </a:t>
            </a:r>
            <a:r>
              <a:rPr dirty="0"/>
              <a:t>hosted</a:t>
            </a:r>
            <a:r>
              <a:rPr spc="-275" dirty="0"/>
              <a:t> </a:t>
            </a:r>
            <a:r>
              <a:rPr spc="-30" dirty="0"/>
              <a:t>on</a:t>
            </a:r>
            <a:r>
              <a:rPr spc="-229" dirty="0"/>
              <a:t> </a:t>
            </a:r>
            <a:r>
              <a:rPr spc="-10" dirty="0"/>
              <a:t>wis2box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3559" y="1067562"/>
            <a:ext cx="686371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0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use</a:t>
            </a:r>
            <a:r>
              <a:rPr kumimoji="0" sz="20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custom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license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hosted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by</a:t>
            </a:r>
            <a:r>
              <a:rPr kumimoji="0" sz="20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your</a:t>
            </a:r>
            <a:r>
              <a:rPr kumimoji="0" sz="20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wis2box-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instance: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Upload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file</a:t>
            </a:r>
            <a:r>
              <a:rPr kumimoji="0" sz="20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0" i="0" u="none" strike="noStrike" kern="0" cap="none" spc="-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“wis2box-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public”-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bucket</a:t>
            </a:r>
            <a:r>
              <a:rPr kumimoji="0" sz="2000" b="0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0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MinIO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20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Use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0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license-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URL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&lt;WIS2XBOX_URL&gt;/data/&lt;filename&gt;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5401" y="2378646"/>
            <a:ext cx="11101705" cy="4340225"/>
            <a:chOff x="545401" y="2378646"/>
            <a:chExt cx="11101705" cy="43402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926" y="2388361"/>
              <a:ext cx="8028685" cy="30046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0163" y="2383408"/>
              <a:ext cx="8038465" cy="3014345"/>
            </a:xfrm>
            <a:custGeom>
              <a:avLst/>
              <a:gdLst/>
              <a:ahLst/>
              <a:cxnLst/>
              <a:rect l="l" t="t" r="r" b="b"/>
              <a:pathLst>
                <a:path w="8038465" h="3014345">
                  <a:moveTo>
                    <a:pt x="0" y="3014344"/>
                  </a:moveTo>
                  <a:lnTo>
                    <a:pt x="8038210" y="3014344"/>
                  </a:lnTo>
                  <a:lnTo>
                    <a:pt x="8038210" y="0"/>
                  </a:lnTo>
                  <a:lnTo>
                    <a:pt x="0" y="0"/>
                  </a:lnTo>
                  <a:lnTo>
                    <a:pt x="0" y="3014344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9446" y="4729340"/>
              <a:ext cx="6417563" cy="19794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14747" y="4724577"/>
              <a:ext cx="6427470" cy="1989455"/>
            </a:xfrm>
            <a:custGeom>
              <a:avLst/>
              <a:gdLst/>
              <a:ahLst/>
              <a:cxnLst/>
              <a:rect l="l" t="t" r="r" b="b"/>
              <a:pathLst>
                <a:path w="6427470" h="1989454">
                  <a:moveTo>
                    <a:pt x="0" y="1988946"/>
                  </a:moveTo>
                  <a:lnTo>
                    <a:pt x="6427089" y="1988946"/>
                  </a:lnTo>
                  <a:lnTo>
                    <a:pt x="6427089" y="0"/>
                  </a:lnTo>
                  <a:lnTo>
                    <a:pt x="0" y="0"/>
                  </a:lnTo>
                  <a:lnTo>
                    <a:pt x="0" y="1988946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800" y="1194650"/>
            <a:ext cx="8386445" cy="831215"/>
          </a:xfrm>
          <a:prstGeom prst="rect">
            <a:avLst/>
          </a:prstGeom>
          <a:solidFill>
            <a:srgbClr val="EDEBE0"/>
          </a:solidFill>
        </p:spPr>
        <p:txBody>
          <a:bodyPr vert="horz" wrap="square" lIns="0" tIns="22860" rIns="0" bIns="0" rtlCol="0">
            <a:spAutoFit/>
          </a:bodyPr>
          <a:lstStyle/>
          <a:p>
            <a:pPr marL="379730" marR="0" lvl="0" indent="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WMO</a:t>
            </a:r>
            <a:r>
              <a:rPr kumimoji="0" sz="2400" b="1" i="1" u="none" strike="noStrike" kern="0" cap="none" spc="-1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recommended</a:t>
            </a:r>
            <a:r>
              <a:rPr kumimoji="0" sz="2400" b="1" i="1" u="none" strike="noStrike" kern="0" cap="none" spc="-1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2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400" b="1" i="1" u="none" strike="noStrike" kern="0" cap="none" spc="-1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shall</a:t>
            </a:r>
            <a:r>
              <a:rPr kumimoji="0" sz="2400" b="1" i="1" u="none" strike="noStrike" kern="0" cap="none" spc="-1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400" b="1" i="1" u="none" strike="noStrike" kern="0" cap="none" spc="-1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downloaded</a:t>
            </a:r>
            <a:r>
              <a:rPr kumimoji="0" sz="2400" b="1" i="1" u="none" strike="noStrike" kern="0" cap="none" spc="-1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directly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44386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-8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from</a:t>
            </a:r>
            <a:r>
              <a:rPr kumimoji="0" sz="2400" b="1" i="1" u="none" strike="noStrike" kern="0" cap="none" spc="-1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1" i="1" u="none" strike="noStrike" kern="0" cap="none" spc="-204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2400" b="1" i="1" u="none" strike="noStrike" kern="0" cap="none" spc="-1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Node,</a:t>
            </a:r>
            <a:r>
              <a:rPr kumimoji="0" sz="2400" b="1" i="1" u="none" strike="noStrike" kern="0" cap="none" spc="-18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access</a:t>
            </a:r>
            <a:r>
              <a:rPr kumimoji="0" sz="2400" b="1" i="1" u="none" strike="noStrike" kern="0" cap="none" spc="-1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can</a:t>
            </a:r>
            <a:r>
              <a:rPr kumimoji="0" sz="2400" b="1" i="1" u="none" strike="noStrike" kern="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400" b="1" i="1" u="none" strike="noStrike" kern="0" cap="none" spc="-1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open</a:t>
            </a:r>
            <a:r>
              <a:rPr kumimoji="0" sz="2400" b="1" i="1" u="none" strike="noStrike" kern="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or</a:t>
            </a:r>
            <a:r>
              <a:rPr kumimoji="0" sz="2400" b="1" i="1" u="none" strike="noStrike" kern="0" cap="none" spc="-20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restricted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2160" cy="790575"/>
            <a:chOff x="-4762" y="-4762"/>
            <a:chExt cx="12202160" cy="790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26944"/>
              <a:ext cx="12192000" cy="585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  <a:lnTo>
                    <a:pt x="0" y="0"/>
                  </a:lnTo>
                  <a:lnTo>
                    <a:pt x="0" y="728217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Recommended</a:t>
            </a:r>
            <a:r>
              <a:rPr spc="-315" dirty="0"/>
              <a:t> </a:t>
            </a:r>
            <a:r>
              <a:rPr spc="-10" dirty="0"/>
              <a:t>data</a:t>
            </a:r>
            <a:r>
              <a:rPr spc="-305" dirty="0"/>
              <a:t> </a:t>
            </a:r>
            <a:r>
              <a:rPr spc="-80" dirty="0"/>
              <a:t>in</a:t>
            </a:r>
            <a:r>
              <a:rPr spc="-295" dirty="0"/>
              <a:t> </a:t>
            </a:r>
            <a:r>
              <a:rPr spc="155" dirty="0"/>
              <a:t>WIS</a:t>
            </a:r>
            <a:r>
              <a:rPr spc="-315" dirty="0"/>
              <a:t> </a:t>
            </a:r>
            <a:r>
              <a:rPr spc="-200" dirty="0"/>
              <a:t>2.0:</a:t>
            </a:r>
            <a:r>
              <a:rPr spc="-295" dirty="0"/>
              <a:t> </a:t>
            </a:r>
            <a:r>
              <a:rPr spc="125" dirty="0"/>
              <a:t>access</a:t>
            </a:r>
            <a:r>
              <a:rPr spc="-305" dirty="0"/>
              <a:t> </a:t>
            </a:r>
            <a:r>
              <a:rPr spc="-10" dirty="0"/>
              <a:t>control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491799" y="2375319"/>
            <a:ext cx="3848735" cy="3300095"/>
            <a:chOff x="4491799" y="2375319"/>
            <a:chExt cx="3848735" cy="3300095"/>
          </a:xfrm>
        </p:grpSpPr>
        <p:sp>
          <p:nvSpPr>
            <p:cNvPr id="9" name="object 9"/>
            <p:cNvSpPr/>
            <p:nvPr/>
          </p:nvSpPr>
          <p:spPr>
            <a:xfrm>
              <a:off x="4496561" y="2380081"/>
              <a:ext cx="3839210" cy="3290570"/>
            </a:xfrm>
            <a:custGeom>
              <a:avLst/>
              <a:gdLst/>
              <a:ahLst/>
              <a:cxnLst/>
              <a:rect l="l" t="t" r="r" b="b"/>
              <a:pathLst>
                <a:path w="3839209" h="3290570">
                  <a:moveTo>
                    <a:pt x="3839083" y="0"/>
                  </a:moveTo>
                  <a:lnTo>
                    <a:pt x="0" y="0"/>
                  </a:lnTo>
                  <a:lnTo>
                    <a:pt x="0" y="3290570"/>
                  </a:lnTo>
                  <a:lnTo>
                    <a:pt x="3839083" y="3290570"/>
                  </a:lnTo>
                  <a:lnTo>
                    <a:pt x="3839083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496561" y="2380081"/>
              <a:ext cx="3839210" cy="3290570"/>
            </a:xfrm>
            <a:custGeom>
              <a:avLst/>
              <a:gdLst/>
              <a:ahLst/>
              <a:cxnLst/>
              <a:rect l="l" t="t" r="r" b="b"/>
              <a:pathLst>
                <a:path w="3839209" h="3290570">
                  <a:moveTo>
                    <a:pt x="0" y="3290570"/>
                  </a:moveTo>
                  <a:lnTo>
                    <a:pt x="3839083" y="3290570"/>
                  </a:lnTo>
                  <a:lnTo>
                    <a:pt x="3839083" y="0"/>
                  </a:lnTo>
                  <a:lnTo>
                    <a:pt x="0" y="0"/>
                  </a:lnTo>
                  <a:lnTo>
                    <a:pt x="0" y="3290570"/>
                  </a:lnTo>
                  <a:close/>
                </a:path>
              </a:pathLst>
            </a:custGeom>
            <a:ln w="9525">
              <a:solidFill>
                <a:srgbClr val="B7DEE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95567" y="4650638"/>
              <a:ext cx="1977389" cy="452755"/>
            </a:xfrm>
            <a:custGeom>
              <a:avLst/>
              <a:gdLst/>
              <a:ahLst/>
              <a:cxnLst/>
              <a:rect l="l" t="t" r="r" b="b"/>
              <a:pathLst>
                <a:path w="1977390" h="452754">
                  <a:moveTo>
                    <a:pt x="1977009" y="0"/>
                  </a:moveTo>
                  <a:lnTo>
                    <a:pt x="0" y="0"/>
                  </a:lnTo>
                  <a:lnTo>
                    <a:pt x="0" y="452602"/>
                  </a:lnTo>
                  <a:lnTo>
                    <a:pt x="1977009" y="452602"/>
                  </a:lnTo>
                  <a:lnTo>
                    <a:pt x="1977009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71538" y="4731258"/>
            <a:ext cx="1124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Global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Cache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91250" y="3783672"/>
            <a:ext cx="1981200" cy="453390"/>
          </a:xfrm>
          <a:custGeom>
            <a:avLst/>
            <a:gdLst/>
            <a:ahLst/>
            <a:cxnLst/>
            <a:rect l="l" t="t" r="r" b="b"/>
            <a:pathLst>
              <a:path w="1981200" h="453389">
                <a:moveTo>
                  <a:pt x="1981200" y="0"/>
                </a:moveTo>
                <a:lnTo>
                  <a:pt x="0" y="0"/>
                </a:lnTo>
                <a:lnTo>
                  <a:pt x="0" y="453174"/>
                </a:lnTo>
                <a:lnTo>
                  <a:pt x="1981200" y="453174"/>
                </a:lnTo>
                <a:lnTo>
                  <a:pt x="1981200" y="0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06514" y="3864355"/>
            <a:ext cx="1186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Global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Broker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54854" y="2420873"/>
            <a:ext cx="3618229" cy="2615565"/>
            <a:chOff x="4554854" y="2420873"/>
            <a:chExt cx="3618229" cy="2615565"/>
          </a:xfrm>
        </p:grpSpPr>
        <p:sp>
          <p:nvSpPr>
            <p:cNvPr id="16" name="object 16"/>
            <p:cNvSpPr/>
            <p:nvPr/>
          </p:nvSpPr>
          <p:spPr>
            <a:xfrm>
              <a:off x="6303331" y="3886463"/>
              <a:ext cx="277495" cy="260350"/>
            </a:xfrm>
            <a:custGeom>
              <a:avLst/>
              <a:gdLst/>
              <a:ahLst/>
              <a:cxnLst/>
              <a:rect l="l" t="t" r="r" b="b"/>
              <a:pathLst>
                <a:path w="277495" h="260350">
                  <a:moveTo>
                    <a:pt x="178262" y="176528"/>
                  </a:moveTo>
                  <a:lnTo>
                    <a:pt x="157727" y="176528"/>
                  </a:lnTo>
                  <a:lnTo>
                    <a:pt x="196770" y="215593"/>
                  </a:lnTo>
                  <a:lnTo>
                    <a:pt x="193317" y="224657"/>
                  </a:lnTo>
                  <a:lnTo>
                    <a:pt x="192903" y="234204"/>
                  </a:lnTo>
                  <a:lnTo>
                    <a:pt x="195483" y="243320"/>
                  </a:lnTo>
                  <a:lnTo>
                    <a:pt x="195527" y="243475"/>
                  </a:lnTo>
                  <a:lnTo>
                    <a:pt x="201190" y="251710"/>
                  </a:lnTo>
                  <a:lnTo>
                    <a:pt x="210905" y="258136"/>
                  </a:lnTo>
                  <a:lnTo>
                    <a:pt x="222001" y="260278"/>
                  </a:lnTo>
                  <a:lnTo>
                    <a:pt x="233097" y="258136"/>
                  </a:lnTo>
                  <a:lnTo>
                    <a:pt x="242812" y="251710"/>
                  </a:lnTo>
                  <a:lnTo>
                    <a:pt x="249235" y="241990"/>
                  </a:lnTo>
                  <a:lnTo>
                    <a:pt x="251376" y="230887"/>
                  </a:lnTo>
                  <a:lnTo>
                    <a:pt x="249235" y="219785"/>
                  </a:lnTo>
                  <a:lnTo>
                    <a:pt x="242812" y="210065"/>
                  </a:lnTo>
                  <a:lnTo>
                    <a:pt x="236555" y="205643"/>
                  </a:lnTo>
                  <a:lnTo>
                    <a:pt x="207084" y="205643"/>
                  </a:lnTo>
                  <a:lnTo>
                    <a:pt x="178262" y="176528"/>
                  </a:lnTo>
                  <a:close/>
                </a:path>
                <a:path w="277495" h="260350">
                  <a:moveTo>
                    <a:pt x="51509" y="201405"/>
                  </a:moveTo>
                  <a:lnTo>
                    <a:pt x="42352" y="204030"/>
                  </a:lnTo>
                  <a:lnTo>
                    <a:pt x="34335" y="209697"/>
                  </a:lnTo>
                  <a:lnTo>
                    <a:pt x="27913" y="219417"/>
                  </a:lnTo>
                  <a:lnTo>
                    <a:pt x="25772" y="230519"/>
                  </a:lnTo>
                  <a:lnTo>
                    <a:pt x="27913" y="241621"/>
                  </a:lnTo>
                  <a:lnTo>
                    <a:pt x="34335" y="251341"/>
                  </a:lnTo>
                  <a:lnTo>
                    <a:pt x="44050" y="257768"/>
                  </a:lnTo>
                  <a:lnTo>
                    <a:pt x="55146" y="259910"/>
                  </a:lnTo>
                  <a:lnTo>
                    <a:pt x="66242" y="257768"/>
                  </a:lnTo>
                  <a:lnTo>
                    <a:pt x="75957" y="251341"/>
                  </a:lnTo>
                  <a:lnTo>
                    <a:pt x="81510" y="243475"/>
                  </a:lnTo>
                  <a:lnTo>
                    <a:pt x="81620" y="243320"/>
                  </a:lnTo>
                  <a:lnTo>
                    <a:pt x="84231" y="234204"/>
                  </a:lnTo>
                  <a:lnTo>
                    <a:pt x="83830" y="224657"/>
                  </a:lnTo>
                  <a:lnTo>
                    <a:pt x="80377" y="215593"/>
                  </a:lnTo>
                  <a:lnTo>
                    <a:pt x="90690" y="205274"/>
                  </a:lnTo>
                  <a:lnTo>
                    <a:pt x="70064" y="205274"/>
                  </a:lnTo>
                  <a:lnTo>
                    <a:pt x="61011" y="201819"/>
                  </a:lnTo>
                  <a:lnTo>
                    <a:pt x="51509" y="201405"/>
                  </a:lnTo>
                  <a:close/>
                </a:path>
                <a:path w="277495" h="260350">
                  <a:moveTo>
                    <a:pt x="225799" y="201819"/>
                  </a:moveTo>
                  <a:lnTo>
                    <a:pt x="224583" y="201819"/>
                  </a:lnTo>
                  <a:lnTo>
                    <a:pt x="216137" y="202188"/>
                  </a:lnTo>
                  <a:lnTo>
                    <a:pt x="207084" y="205643"/>
                  </a:lnTo>
                  <a:lnTo>
                    <a:pt x="236555" y="205643"/>
                  </a:lnTo>
                  <a:lnTo>
                    <a:pt x="234795" y="204399"/>
                  </a:lnTo>
                  <a:lnTo>
                    <a:pt x="225799" y="201819"/>
                  </a:lnTo>
                  <a:close/>
                </a:path>
                <a:path w="277495" h="260350">
                  <a:moveTo>
                    <a:pt x="91776" y="119860"/>
                  </a:moveTo>
                  <a:lnTo>
                    <a:pt x="52963" y="119860"/>
                  </a:lnTo>
                  <a:lnTo>
                    <a:pt x="101372" y="139675"/>
                  </a:lnTo>
                  <a:lnTo>
                    <a:pt x="101004" y="141149"/>
                  </a:lnTo>
                  <a:lnTo>
                    <a:pt x="101004" y="152574"/>
                  </a:lnTo>
                  <a:lnTo>
                    <a:pt x="103582" y="160313"/>
                  </a:lnTo>
                  <a:lnTo>
                    <a:pt x="108370" y="166578"/>
                  </a:lnTo>
                  <a:lnTo>
                    <a:pt x="70064" y="205274"/>
                  </a:lnTo>
                  <a:lnTo>
                    <a:pt x="90690" y="205274"/>
                  </a:lnTo>
                  <a:lnTo>
                    <a:pt x="119420" y="176528"/>
                  </a:lnTo>
                  <a:lnTo>
                    <a:pt x="178262" y="176528"/>
                  </a:lnTo>
                  <a:lnTo>
                    <a:pt x="168777" y="166946"/>
                  </a:lnTo>
                  <a:lnTo>
                    <a:pt x="173565" y="160681"/>
                  </a:lnTo>
                  <a:lnTo>
                    <a:pt x="176144" y="153311"/>
                  </a:lnTo>
                  <a:lnTo>
                    <a:pt x="176052" y="141149"/>
                  </a:lnTo>
                  <a:lnTo>
                    <a:pt x="175775" y="140043"/>
                  </a:lnTo>
                  <a:lnTo>
                    <a:pt x="208850" y="126505"/>
                  </a:lnTo>
                  <a:lnTo>
                    <a:pt x="170691" y="126505"/>
                  </a:lnTo>
                  <a:lnTo>
                    <a:pt x="170345" y="126039"/>
                  </a:lnTo>
                  <a:lnTo>
                    <a:pt x="106529" y="126039"/>
                  </a:lnTo>
                  <a:lnTo>
                    <a:pt x="91776" y="119860"/>
                  </a:lnTo>
                  <a:close/>
                </a:path>
                <a:path w="277495" h="260350">
                  <a:moveTo>
                    <a:pt x="157727" y="176528"/>
                  </a:moveTo>
                  <a:lnTo>
                    <a:pt x="119420" y="176528"/>
                  </a:lnTo>
                  <a:lnTo>
                    <a:pt x="124945" y="179845"/>
                  </a:lnTo>
                  <a:lnTo>
                    <a:pt x="131207" y="181688"/>
                  </a:lnTo>
                  <a:lnTo>
                    <a:pt x="145940" y="181688"/>
                  </a:lnTo>
                  <a:lnTo>
                    <a:pt x="152202" y="179845"/>
                  </a:lnTo>
                  <a:lnTo>
                    <a:pt x="157727" y="176528"/>
                  </a:lnTo>
                  <a:close/>
                </a:path>
                <a:path w="277495" h="260350">
                  <a:moveTo>
                    <a:pt x="270417" y="120229"/>
                  </a:moveTo>
                  <a:lnTo>
                    <a:pt x="224486" y="120229"/>
                  </a:lnTo>
                  <a:lnTo>
                    <a:pt x="231307" y="126718"/>
                  </a:lnTo>
                  <a:lnTo>
                    <a:pt x="239911" y="130738"/>
                  </a:lnTo>
                  <a:lnTo>
                    <a:pt x="249413" y="131855"/>
                  </a:lnTo>
                  <a:lnTo>
                    <a:pt x="259019" y="129724"/>
                  </a:lnTo>
                  <a:lnTo>
                    <a:pt x="268590" y="123004"/>
                  </a:lnTo>
                  <a:lnTo>
                    <a:pt x="270417" y="120229"/>
                  </a:lnTo>
                  <a:close/>
                </a:path>
                <a:path w="277495" h="260350">
                  <a:moveTo>
                    <a:pt x="29432" y="72521"/>
                  </a:moveTo>
                  <a:lnTo>
                    <a:pt x="17847" y="74812"/>
                  </a:lnTo>
                  <a:lnTo>
                    <a:pt x="18172" y="74812"/>
                  </a:lnTo>
                  <a:lnTo>
                    <a:pt x="8851" y="80928"/>
                  </a:lnTo>
                  <a:lnTo>
                    <a:pt x="2290" y="90659"/>
                  </a:lnTo>
                  <a:lnTo>
                    <a:pt x="0" y="102199"/>
                  </a:lnTo>
                  <a:lnTo>
                    <a:pt x="2198" y="113324"/>
                  </a:lnTo>
                  <a:lnTo>
                    <a:pt x="8402" y="122791"/>
                  </a:lnTo>
                  <a:lnTo>
                    <a:pt x="18128" y="129356"/>
                  </a:lnTo>
                  <a:lnTo>
                    <a:pt x="27734" y="131538"/>
                  </a:lnTo>
                  <a:lnTo>
                    <a:pt x="37236" y="130507"/>
                  </a:lnTo>
                  <a:lnTo>
                    <a:pt x="45840" y="126505"/>
                  </a:lnTo>
                  <a:lnTo>
                    <a:pt x="52663" y="119860"/>
                  </a:lnTo>
                  <a:lnTo>
                    <a:pt x="91776" y="119860"/>
                  </a:lnTo>
                  <a:lnTo>
                    <a:pt x="59013" y="106138"/>
                  </a:lnTo>
                  <a:lnTo>
                    <a:pt x="58792" y="96896"/>
                  </a:lnTo>
                  <a:lnTo>
                    <a:pt x="58783" y="96527"/>
                  </a:lnTo>
                  <a:lnTo>
                    <a:pt x="55514" y="87573"/>
                  </a:lnTo>
                  <a:lnTo>
                    <a:pt x="49483" y="80070"/>
                  </a:lnTo>
                  <a:lnTo>
                    <a:pt x="40965" y="74812"/>
                  </a:lnTo>
                  <a:lnTo>
                    <a:pt x="29432" y="72521"/>
                  </a:lnTo>
                  <a:close/>
                </a:path>
                <a:path w="277495" h="260350">
                  <a:moveTo>
                    <a:pt x="247715" y="72889"/>
                  </a:moveTo>
                  <a:lnTo>
                    <a:pt x="218260" y="102199"/>
                  </a:lnTo>
                  <a:lnTo>
                    <a:pt x="218134" y="106506"/>
                  </a:lnTo>
                  <a:lnTo>
                    <a:pt x="170385" y="126505"/>
                  </a:lnTo>
                  <a:lnTo>
                    <a:pt x="208850" y="126505"/>
                  </a:lnTo>
                  <a:lnTo>
                    <a:pt x="224184" y="120229"/>
                  </a:lnTo>
                  <a:lnTo>
                    <a:pt x="270417" y="120229"/>
                  </a:lnTo>
                  <a:lnTo>
                    <a:pt x="274811" y="113555"/>
                  </a:lnTo>
                  <a:lnTo>
                    <a:pt x="277096" y="102516"/>
                  </a:lnTo>
                  <a:lnTo>
                    <a:pt x="274857" y="91028"/>
                  </a:lnTo>
                  <a:lnTo>
                    <a:pt x="268296" y="81296"/>
                  </a:lnTo>
                  <a:lnTo>
                    <a:pt x="258975" y="75181"/>
                  </a:lnTo>
                  <a:lnTo>
                    <a:pt x="259300" y="75181"/>
                  </a:lnTo>
                  <a:lnTo>
                    <a:pt x="247715" y="72889"/>
                  </a:lnTo>
                  <a:close/>
                </a:path>
                <a:path w="277495" h="260350">
                  <a:moveTo>
                    <a:pt x="138573" y="0"/>
                  </a:moveTo>
                  <a:lnTo>
                    <a:pt x="127132" y="2326"/>
                  </a:lnTo>
                  <a:lnTo>
                    <a:pt x="117762" y="8660"/>
                  </a:lnTo>
                  <a:lnTo>
                    <a:pt x="111432" y="18035"/>
                  </a:lnTo>
                  <a:lnTo>
                    <a:pt x="109107" y="29482"/>
                  </a:lnTo>
                  <a:lnTo>
                    <a:pt x="110799" y="39203"/>
                  </a:lnTo>
                  <a:lnTo>
                    <a:pt x="115460" y="47541"/>
                  </a:lnTo>
                  <a:lnTo>
                    <a:pt x="122470" y="53944"/>
                  </a:lnTo>
                  <a:lnTo>
                    <a:pt x="131207" y="57860"/>
                  </a:lnTo>
                  <a:lnTo>
                    <a:pt x="131207" y="108718"/>
                  </a:lnTo>
                  <a:lnTo>
                    <a:pt x="123570" y="110958"/>
                  </a:lnTo>
                  <a:lnTo>
                    <a:pt x="116796" y="114752"/>
                  </a:lnTo>
                  <a:lnTo>
                    <a:pt x="111058" y="119860"/>
                  </a:lnTo>
                  <a:lnTo>
                    <a:pt x="106529" y="126039"/>
                  </a:lnTo>
                  <a:lnTo>
                    <a:pt x="170345" y="126039"/>
                  </a:lnTo>
                  <a:lnTo>
                    <a:pt x="166037" y="120229"/>
                  </a:lnTo>
                  <a:lnTo>
                    <a:pt x="160213" y="115121"/>
                  </a:lnTo>
                  <a:lnTo>
                    <a:pt x="153422" y="111326"/>
                  </a:lnTo>
                  <a:lnTo>
                    <a:pt x="145940" y="109086"/>
                  </a:lnTo>
                  <a:lnTo>
                    <a:pt x="145940" y="57860"/>
                  </a:lnTo>
                  <a:lnTo>
                    <a:pt x="154676" y="53944"/>
                  </a:lnTo>
                  <a:lnTo>
                    <a:pt x="161686" y="47541"/>
                  </a:lnTo>
                  <a:lnTo>
                    <a:pt x="166348" y="39203"/>
                  </a:lnTo>
                  <a:lnTo>
                    <a:pt x="168040" y="29482"/>
                  </a:lnTo>
                  <a:lnTo>
                    <a:pt x="165715" y="18035"/>
                  </a:lnTo>
                  <a:lnTo>
                    <a:pt x="159384" y="8660"/>
                  </a:lnTo>
                  <a:lnTo>
                    <a:pt x="150015" y="2326"/>
                  </a:lnTo>
                  <a:lnTo>
                    <a:pt x="138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object 17" descr="A picture containing text, balloon, transport, aircraft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4854" y="2420873"/>
              <a:ext cx="708545" cy="708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9204" y="4719663"/>
              <a:ext cx="225384" cy="3162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95567" y="2928200"/>
              <a:ext cx="1977389" cy="453390"/>
            </a:xfrm>
            <a:custGeom>
              <a:avLst/>
              <a:gdLst/>
              <a:ahLst/>
              <a:cxnLst/>
              <a:rect l="l" t="t" r="r" b="b"/>
              <a:pathLst>
                <a:path w="1977390" h="453389">
                  <a:moveTo>
                    <a:pt x="1977009" y="0"/>
                  </a:moveTo>
                  <a:lnTo>
                    <a:pt x="0" y="0"/>
                  </a:lnTo>
                  <a:lnTo>
                    <a:pt x="0" y="453174"/>
                  </a:lnTo>
                  <a:lnTo>
                    <a:pt x="1977009" y="453174"/>
                  </a:lnTo>
                  <a:lnTo>
                    <a:pt x="1977009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54545" y="2422906"/>
            <a:ext cx="1603375" cy="976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0605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1" u="none" strike="noStrike" kern="0" cap="none" spc="0" normalizeH="0" baseline="0" noProof="0" dirty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Calibri"/>
                <a:cs typeface="Calibri"/>
              </a:rPr>
              <a:t>WIS</a:t>
            </a:r>
            <a:r>
              <a:rPr kumimoji="0" sz="1400" b="1" i="1" u="none" strike="noStrike" kern="0" cap="none" spc="-25" normalizeH="0" baseline="0" noProof="0" dirty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Calibri"/>
                <a:cs typeface="Calibri"/>
              </a:rPr>
              <a:t> 2.0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168275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Global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Discovery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16764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Catalogue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20640" y="3012927"/>
            <a:ext cx="2176780" cy="1931035"/>
            <a:chOff x="5120640" y="3012927"/>
            <a:chExt cx="2176780" cy="1931035"/>
          </a:xfrm>
        </p:grpSpPr>
        <p:sp>
          <p:nvSpPr>
            <p:cNvPr id="22" name="object 22"/>
            <p:cNvSpPr/>
            <p:nvPr/>
          </p:nvSpPr>
          <p:spPr>
            <a:xfrm>
              <a:off x="6282212" y="3012927"/>
              <a:ext cx="348615" cy="311150"/>
            </a:xfrm>
            <a:custGeom>
              <a:avLst/>
              <a:gdLst/>
              <a:ahLst/>
              <a:cxnLst/>
              <a:rect l="l" t="t" r="r" b="b"/>
              <a:pathLst>
                <a:path w="348615" h="311150">
                  <a:moveTo>
                    <a:pt x="206967" y="0"/>
                  </a:moveTo>
                  <a:lnTo>
                    <a:pt x="25128" y="63117"/>
                  </a:lnTo>
                  <a:lnTo>
                    <a:pt x="11898" y="101262"/>
                  </a:lnTo>
                  <a:lnTo>
                    <a:pt x="11977" y="108792"/>
                  </a:lnTo>
                  <a:lnTo>
                    <a:pt x="12613" y="114192"/>
                  </a:lnTo>
                  <a:lnTo>
                    <a:pt x="14087" y="120309"/>
                  </a:lnTo>
                  <a:lnTo>
                    <a:pt x="9913" y="124619"/>
                  </a:lnTo>
                  <a:lnTo>
                    <a:pt x="5290" y="131867"/>
                  </a:lnTo>
                  <a:lnTo>
                    <a:pt x="1543" y="142463"/>
                  </a:lnTo>
                  <a:lnTo>
                    <a:pt x="0" y="156817"/>
                  </a:lnTo>
                  <a:lnTo>
                    <a:pt x="816" y="167585"/>
                  </a:lnTo>
                  <a:lnTo>
                    <a:pt x="906" y="168576"/>
                  </a:lnTo>
                  <a:lnTo>
                    <a:pt x="3614" y="179789"/>
                  </a:lnTo>
                  <a:lnTo>
                    <a:pt x="8116" y="190509"/>
                  </a:lnTo>
                  <a:lnTo>
                    <a:pt x="14155" y="200163"/>
                  </a:lnTo>
                  <a:lnTo>
                    <a:pt x="14243" y="200726"/>
                  </a:lnTo>
                  <a:lnTo>
                    <a:pt x="12612" y="207078"/>
                  </a:lnTo>
                  <a:lnTo>
                    <a:pt x="11818" y="213682"/>
                  </a:lnTo>
                  <a:lnTo>
                    <a:pt x="11898" y="220309"/>
                  </a:lnTo>
                  <a:lnTo>
                    <a:pt x="22472" y="257579"/>
                  </a:lnTo>
                  <a:lnTo>
                    <a:pt x="153258" y="310950"/>
                  </a:lnTo>
                  <a:lnTo>
                    <a:pt x="155252" y="310950"/>
                  </a:lnTo>
                  <a:lnTo>
                    <a:pt x="175407" y="302802"/>
                  </a:lnTo>
                  <a:lnTo>
                    <a:pt x="154253" y="302802"/>
                  </a:lnTo>
                  <a:lnTo>
                    <a:pt x="29600" y="253728"/>
                  </a:lnTo>
                  <a:lnTo>
                    <a:pt x="19724" y="213682"/>
                  </a:lnTo>
                  <a:lnTo>
                    <a:pt x="20623" y="207078"/>
                  </a:lnTo>
                  <a:lnTo>
                    <a:pt x="22507" y="200726"/>
                  </a:lnTo>
                  <a:lnTo>
                    <a:pt x="22937" y="199376"/>
                  </a:lnTo>
                  <a:lnTo>
                    <a:pt x="22613" y="197902"/>
                  </a:lnTo>
                  <a:lnTo>
                    <a:pt x="7941" y="156817"/>
                  </a:lnTo>
                  <a:lnTo>
                    <a:pt x="9738" y="142849"/>
                  </a:lnTo>
                  <a:lnTo>
                    <a:pt x="22219" y="124354"/>
                  </a:lnTo>
                  <a:lnTo>
                    <a:pt x="22966" y="122465"/>
                  </a:lnTo>
                  <a:lnTo>
                    <a:pt x="22444" y="120706"/>
                  </a:lnTo>
                  <a:lnTo>
                    <a:pt x="20649" y="114384"/>
                  </a:lnTo>
                  <a:lnTo>
                    <a:pt x="19901" y="108792"/>
                  </a:lnTo>
                  <a:lnTo>
                    <a:pt x="19961" y="99979"/>
                  </a:lnTo>
                  <a:lnTo>
                    <a:pt x="21006" y="87922"/>
                  </a:lnTo>
                  <a:lnTo>
                    <a:pt x="21022" y="87739"/>
                  </a:lnTo>
                  <a:lnTo>
                    <a:pt x="23676" y="78613"/>
                  </a:lnTo>
                  <a:lnTo>
                    <a:pt x="23727" y="78438"/>
                  </a:lnTo>
                  <a:lnTo>
                    <a:pt x="26743" y="72792"/>
                  </a:lnTo>
                  <a:lnTo>
                    <a:pt x="28849" y="70230"/>
                  </a:lnTo>
                  <a:lnTo>
                    <a:pt x="206409" y="8267"/>
                  </a:lnTo>
                  <a:lnTo>
                    <a:pt x="229308" y="8267"/>
                  </a:lnTo>
                  <a:lnTo>
                    <a:pt x="207823" y="330"/>
                  </a:lnTo>
                  <a:lnTo>
                    <a:pt x="206967" y="0"/>
                  </a:lnTo>
                  <a:close/>
                </a:path>
                <a:path w="348615" h="311150">
                  <a:moveTo>
                    <a:pt x="341504" y="225292"/>
                  </a:moveTo>
                  <a:lnTo>
                    <a:pt x="318063" y="225292"/>
                  </a:lnTo>
                  <a:lnTo>
                    <a:pt x="332705" y="230583"/>
                  </a:lnTo>
                  <a:lnTo>
                    <a:pt x="154253" y="302802"/>
                  </a:lnTo>
                  <a:lnTo>
                    <a:pt x="175407" y="302802"/>
                  </a:lnTo>
                  <a:lnTo>
                    <a:pt x="347478" y="233239"/>
                  </a:lnTo>
                  <a:lnTo>
                    <a:pt x="348470" y="230927"/>
                  </a:lnTo>
                  <a:lnTo>
                    <a:pt x="347214" y="227839"/>
                  </a:lnTo>
                  <a:lnTo>
                    <a:pt x="346387" y="227019"/>
                  </a:lnTo>
                  <a:lnTo>
                    <a:pt x="341504" y="225292"/>
                  </a:lnTo>
                  <a:close/>
                </a:path>
                <a:path w="348615" h="311150">
                  <a:moveTo>
                    <a:pt x="35879" y="196658"/>
                  </a:moveTo>
                  <a:lnTo>
                    <a:pt x="33579" y="197660"/>
                  </a:lnTo>
                  <a:lnTo>
                    <a:pt x="32594" y="200163"/>
                  </a:lnTo>
                  <a:lnTo>
                    <a:pt x="32501" y="242465"/>
                  </a:lnTo>
                  <a:lnTo>
                    <a:pt x="33496" y="243930"/>
                  </a:lnTo>
                  <a:lnTo>
                    <a:pt x="153753" y="291304"/>
                  </a:lnTo>
                  <a:lnTo>
                    <a:pt x="154808" y="291304"/>
                  </a:lnTo>
                  <a:lnTo>
                    <a:pt x="175442" y="282961"/>
                  </a:lnTo>
                  <a:lnTo>
                    <a:pt x="154252" y="282961"/>
                  </a:lnTo>
                  <a:lnTo>
                    <a:pt x="40726" y="238237"/>
                  </a:lnTo>
                  <a:lnTo>
                    <a:pt x="40427" y="238237"/>
                  </a:lnTo>
                  <a:lnTo>
                    <a:pt x="40427" y="207078"/>
                  </a:lnTo>
                  <a:lnTo>
                    <a:pt x="62336" y="207078"/>
                  </a:lnTo>
                  <a:lnTo>
                    <a:pt x="35879" y="196658"/>
                  </a:lnTo>
                  <a:close/>
                </a:path>
                <a:path w="348615" h="311150">
                  <a:moveTo>
                    <a:pt x="323847" y="186477"/>
                  </a:moveTo>
                  <a:lnTo>
                    <a:pt x="315915" y="186477"/>
                  </a:lnTo>
                  <a:lnTo>
                    <a:pt x="315915" y="217597"/>
                  </a:lnTo>
                  <a:lnTo>
                    <a:pt x="154252" y="282961"/>
                  </a:lnTo>
                  <a:lnTo>
                    <a:pt x="175442" y="282961"/>
                  </a:lnTo>
                  <a:lnTo>
                    <a:pt x="318063" y="225292"/>
                  </a:lnTo>
                  <a:lnTo>
                    <a:pt x="341504" y="225292"/>
                  </a:lnTo>
                  <a:lnTo>
                    <a:pt x="323847" y="219026"/>
                  </a:lnTo>
                  <a:lnTo>
                    <a:pt x="323847" y="186477"/>
                  </a:lnTo>
                  <a:close/>
                </a:path>
                <a:path w="348615" h="311150">
                  <a:moveTo>
                    <a:pt x="62336" y="207078"/>
                  </a:moveTo>
                  <a:lnTo>
                    <a:pt x="40704" y="207078"/>
                  </a:lnTo>
                  <a:lnTo>
                    <a:pt x="153753" y="251622"/>
                  </a:lnTo>
                  <a:lnTo>
                    <a:pt x="154808" y="251622"/>
                  </a:lnTo>
                  <a:lnTo>
                    <a:pt x="175441" y="243278"/>
                  </a:lnTo>
                  <a:lnTo>
                    <a:pt x="154252" y="243278"/>
                  </a:lnTo>
                  <a:lnTo>
                    <a:pt x="62336" y="207078"/>
                  </a:lnTo>
                  <a:close/>
                </a:path>
                <a:path w="348615" h="311150">
                  <a:moveTo>
                    <a:pt x="343394" y="171139"/>
                  </a:moveTo>
                  <a:lnTo>
                    <a:pt x="308366" y="171139"/>
                  </a:lnTo>
                  <a:lnTo>
                    <a:pt x="325268" y="173917"/>
                  </a:lnTo>
                  <a:lnTo>
                    <a:pt x="154252" y="243278"/>
                  </a:lnTo>
                  <a:lnTo>
                    <a:pt x="175441" y="243278"/>
                  </a:lnTo>
                  <a:lnTo>
                    <a:pt x="315915" y="186477"/>
                  </a:lnTo>
                  <a:lnTo>
                    <a:pt x="323847" y="186477"/>
                  </a:lnTo>
                  <a:lnTo>
                    <a:pt x="323847" y="183223"/>
                  </a:lnTo>
                  <a:lnTo>
                    <a:pt x="343115" y="175071"/>
                  </a:lnTo>
                  <a:lnTo>
                    <a:pt x="344074" y="172743"/>
                  </a:lnTo>
                  <a:lnTo>
                    <a:pt x="343394" y="171139"/>
                  </a:lnTo>
                  <a:close/>
                </a:path>
                <a:path w="348615" h="311150">
                  <a:moveTo>
                    <a:pt x="24090" y="132575"/>
                  </a:moveTo>
                  <a:lnTo>
                    <a:pt x="23882" y="132575"/>
                  </a:lnTo>
                  <a:lnTo>
                    <a:pt x="21681" y="133534"/>
                  </a:lnTo>
                  <a:lnTo>
                    <a:pt x="20696" y="136037"/>
                  </a:lnTo>
                  <a:lnTo>
                    <a:pt x="20603" y="178973"/>
                  </a:lnTo>
                  <a:lnTo>
                    <a:pt x="21598" y="180438"/>
                  </a:lnTo>
                  <a:lnTo>
                    <a:pt x="153578" y="232422"/>
                  </a:lnTo>
                  <a:lnTo>
                    <a:pt x="154623" y="232422"/>
                  </a:lnTo>
                  <a:lnTo>
                    <a:pt x="175520" y="224092"/>
                  </a:lnTo>
                  <a:lnTo>
                    <a:pt x="154084" y="224092"/>
                  </a:lnTo>
                  <a:lnTo>
                    <a:pt x="28535" y="174638"/>
                  </a:lnTo>
                  <a:lnTo>
                    <a:pt x="28535" y="142849"/>
                  </a:lnTo>
                  <a:lnTo>
                    <a:pt x="50220" y="142849"/>
                  </a:lnTo>
                  <a:lnTo>
                    <a:pt x="24090" y="132575"/>
                  </a:lnTo>
                  <a:close/>
                </a:path>
                <a:path w="348615" h="311150">
                  <a:moveTo>
                    <a:pt x="311893" y="131867"/>
                  </a:moveTo>
                  <a:lnTo>
                    <a:pt x="303954" y="131867"/>
                  </a:lnTo>
                  <a:lnTo>
                    <a:pt x="303961" y="164337"/>
                  </a:lnTo>
                  <a:lnTo>
                    <a:pt x="154084" y="224092"/>
                  </a:lnTo>
                  <a:lnTo>
                    <a:pt x="175520" y="224092"/>
                  </a:lnTo>
                  <a:lnTo>
                    <a:pt x="308366" y="171139"/>
                  </a:lnTo>
                  <a:lnTo>
                    <a:pt x="343394" y="171139"/>
                  </a:lnTo>
                  <a:lnTo>
                    <a:pt x="342686" y="169469"/>
                  </a:lnTo>
                  <a:lnTo>
                    <a:pt x="341529" y="168577"/>
                  </a:lnTo>
                  <a:lnTo>
                    <a:pt x="311893" y="163676"/>
                  </a:lnTo>
                  <a:lnTo>
                    <a:pt x="311893" y="131867"/>
                  </a:lnTo>
                  <a:close/>
                </a:path>
                <a:path w="348615" h="311150">
                  <a:moveTo>
                    <a:pt x="50220" y="142849"/>
                  </a:moveTo>
                  <a:lnTo>
                    <a:pt x="28535" y="142849"/>
                  </a:lnTo>
                  <a:lnTo>
                    <a:pt x="153753" y="192098"/>
                  </a:lnTo>
                  <a:lnTo>
                    <a:pt x="154808" y="192098"/>
                  </a:lnTo>
                  <a:lnTo>
                    <a:pt x="175445" y="183755"/>
                  </a:lnTo>
                  <a:lnTo>
                    <a:pt x="154252" y="183755"/>
                  </a:lnTo>
                  <a:lnTo>
                    <a:pt x="50220" y="142849"/>
                  </a:lnTo>
                  <a:close/>
                </a:path>
                <a:path w="348615" h="311150">
                  <a:moveTo>
                    <a:pt x="341519" y="106246"/>
                  </a:moveTo>
                  <a:lnTo>
                    <a:pt x="318063" y="106246"/>
                  </a:lnTo>
                  <a:lnTo>
                    <a:pt x="332704" y="111537"/>
                  </a:lnTo>
                  <a:lnTo>
                    <a:pt x="154252" y="183755"/>
                  </a:lnTo>
                  <a:lnTo>
                    <a:pt x="175445" y="183755"/>
                  </a:lnTo>
                  <a:lnTo>
                    <a:pt x="303790" y="131867"/>
                  </a:lnTo>
                  <a:lnTo>
                    <a:pt x="311893" y="131867"/>
                  </a:lnTo>
                  <a:lnTo>
                    <a:pt x="311893" y="128583"/>
                  </a:lnTo>
                  <a:lnTo>
                    <a:pt x="347478" y="114192"/>
                  </a:lnTo>
                  <a:lnTo>
                    <a:pt x="348469" y="111881"/>
                  </a:lnTo>
                  <a:lnTo>
                    <a:pt x="347214" y="108792"/>
                  </a:lnTo>
                  <a:lnTo>
                    <a:pt x="346387" y="107972"/>
                  </a:lnTo>
                  <a:lnTo>
                    <a:pt x="341519" y="106246"/>
                  </a:lnTo>
                  <a:close/>
                </a:path>
                <a:path w="348615" h="311150">
                  <a:moveTo>
                    <a:pt x="35879" y="77611"/>
                  </a:moveTo>
                  <a:lnTo>
                    <a:pt x="33579" y="78613"/>
                  </a:lnTo>
                  <a:lnTo>
                    <a:pt x="32594" y="81117"/>
                  </a:lnTo>
                  <a:lnTo>
                    <a:pt x="32501" y="123418"/>
                  </a:lnTo>
                  <a:lnTo>
                    <a:pt x="33496" y="124883"/>
                  </a:lnTo>
                  <a:lnTo>
                    <a:pt x="153753" y="172257"/>
                  </a:lnTo>
                  <a:lnTo>
                    <a:pt x="154808" y="172257"/>
                  </a:lnTo>
                  <a:lnTo>
                    <a:pt x="175441" y="163914"/>
                  </a:lnTo>
                  <a:lnTo>
                    <a:pt x="154252" y="163914"/>
                  </a:lnTo>
                  <a:lnTo>
                    <a:pt x="40427" y="119073"/>
                  </a:lnTo>
                  <a:lnTo>
                    <a:pt x="40427" y="87922"/>
                  </a:lnTo>
                  <a:lnTo>
                    <a:pt x="62059" y="87922"/>
                  </a:lnTo>
                  <a:lnTo>
                    <a:pt x="35879" y="77611"/>
                  </a:lnTo>
                  <a:close/>
                </a:path>
                <a:path w="348615" h="311150">
                  <a:moveTo>
                    <a:pt x="323847" y="67430"/>
                  </a:moveTo>
                  <a:lnTo>
                    <a:pt x="315915" y="67430"/>
                  </a:lnTo>
                  <a:lnTo>
                    <a:pt x="315915" y="98551"/>
                  </a:lnTo>
                  <a:lnTo>
                    <a:pt x="154252" y="163914"/>
                  </a:lnTo>
                  <a:lnTo>
                    <a:pt x="175441" y="163914"/>
                  </a:lnTo>
                  <a:lnTo>
                    <a:pt x="318063" y="106246"/>
                  </a:lnTo>
                  <a:lnTo>
                    <a:pt x="341519" y="106246"/>
                  </a:lnTo>
                  <a:lnTo>
                    <a:pt x="323847" y="99979"/>
                  </a:lnTo>
                  <a:lnTo>
                    <a:pt x="323847" y="67430"/>
                  </a:lnTo>
                  <a:close/>
                </a:path>
                <a:path w="348615" h="311150">
                  <a:moveTo>
                    <a:pt x="62059" y="87922"/>
                  </a:moveTo>
                  <a:lnTo>
                    <a:pt x="40427" y="87922"/>
                  </a:lnTo>
                  <a:lnTo>
                    <a:pt x="153753" y="132575"/>
                  </a:lnTo>
                  <a:lnTo>
                    <a:pt x="154807" y="132575"/>
                  </a:lnTo>
                  <a:lnTo>
                    <a:pt x="175138" y="124354"/>
                  </a:lnTo>
                  <a:lnTo>
                    <a:pt x="154563" y="124354"/>
                  </a:lnTo>
                  <a:lnTo>
                    <a:pt x="62059" y="87922"/>
                  </a:lnTo>
                  <a:close/>
                </a:path>
                <a:path w="348615" h="311150">
                  <a:moveTo>
                    <a:pt x="229308" y="8267"/>
                  </a:moveTo>
                  <a:lnTo>
                    <a:pt x="206409" y="8267"/>
                  </a:lnTo>
                  <a:lnTo>
                    <a:pt x="328672" y="53442"/>
                  </a:lnTo>
                  <a:lnTo>
                    <a:pt x="153951" y="124354"/>
                  </a:lnTo>
                  <a:lnTo>
                    <a:pt x="175138" y="124354"/>
                  </a:lnTo>
                  <a:lnTo>
                    <a:pt x="315915" y="67430"/>
                  </a:lnTo>
                  <a:lnTo>
                    <a:pt x="323847" y="67430"/>
                  </a:lnTo>
                  <a:lnTo>
                    <a:pt x="323847" y="64176"/>
                  </a:lnTo>
                  <a:lnTo>
                    <a:pt x="343115" y="56024"/>
                  </a:lnTo>
                  <a:lnTo>
                    <a:pt x="344041" y="53696"/>
                  </a:lnTo>
                  <a:lnTo>
                    <a:pt x="342785" y="50667"/>
                  </a:lnTo>
                  <a:lnTo>
                    <a:pt x="341958" y="49880"/>
                  </a:lnTo>
                  <a:lnTo>
                    <a:pt x="229308" y="82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20640" y="3910583"/>
              <a:ext cx="1109472" cy="2331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239512" y="3971416"/>
              <a:ext cx="951865" cy="76200"/>
            </a:xfrm>
            <a:custGeom>
              <a:avLst/>
              <a:gdLst/>
              <a:ahLst/>
              <a:cxnLst/>
              <a:rect l="l" t="t" r="r" b="b"/>
              <a:pathLst>
                <a:path w="951864" h="76200">
                  <a:moveTo>
                    <a:pt x="76326" y="0"/>
                  </a:moveTo>
                  <a:lnTo>
                    <a:pt x="0" y="37972"/>
                  </a:lnTo>
                  <a:lnTo>
                    <a:pt x="76200" y="76199"/>
                  </a:lnTo>
                  <a:lnTo>
                    <a:pt x="76242" y="50810"/>
                  </a:lnTo>
                  <a:lnTo>
                    <a:pt x="63499" y="50810"/>
                  </a:lnTo>
                  <a:lnTo>
                    <a:pt x="63623" y="26161"/>
                  </a:lnTo>
                  <a:lnTo>
                    <a:pt x="63626" y="25410"/>
                  </a:lnTo>
                  <a:lnTo>
                    <a:pt x="76284" y="25410"/>
                  </a:lnTo>
                  <a:lnTo>
                    <a:pt x="76326" y="0"/>
                  </a:lnTo>
                  <a:close/>
                </a:path>
                <a:path w="951864" h="76200">
                  <a:moveTo>
                    <a:pt x="76284" y="25410"/>
                  </a:moveTo>
                  <a:lnTo>
                    <a:pt x="76242" y="50810"/>
                  </a:lnTo>
                  <a:lnTo>
                    <a:pt x="951738" y="51561"/>
                  </a:lnTo>
                  <a:lnTo>
                    <a:pt x="951738" y="26161"/>
                  </a:lnTo>
                  <a:lnTo>
                    <a:pt x="76284" y="25410"/>
                  </a:lnTo>
                  <a:close/>
                </a:path>
                <a:path w="951864" h="76200">
                  <a:moveTo>
                    <a:pt x="76284" y="25410"/>
                  </a:moveTo>
                  <a:lnTo>
                    <a:pt x="63626" y="25410"/>
                  </a:lnTo>
                  <a:lnTo>
                    <a:pt x="63623" y="26161"/>
                  </a:lnTo>
                  <a:lnTo>
                    <a:pt x="63499" y="50810"/>
                  </a:lnTo>
                  <a:lnTo>
                    <a:pt x="76242" y="50810"/>
                  </a:lnTo>
                  <a:lnTo>
                    <a:pt x="76284" y="2541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2216" y="4137659"/>
              <a:ext cx="234670" cy="571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44258" y="4236846"/>
              <a:ext cx="76200" cy="414020"/>
            </a:xfrm>
            <a:custGeom>
              <a:avLst/>
              <a:gdLst/>
              <a:ahLst/>
              <a:cxnLst/>
              <a:rect l="l" t="t" r="r" b="b"/>
              <a:pathLst>
                <a:path w="76200" h="414020">
                  <a:moveTo>
                    <a:pt x="50673" y="63626"/>
                  </a:moveTo>
                  <a:lnTo>
                    <a:pt x="25273" y="63626"/>
                  </a:lnTo>
                  <a:lnTo>
                    <a:pt x="27050" y="413892"/>
                  </a:lnTo>
                  <a:lnTo>
                    <a:pt x="52451" y="413892"/>
                  </a:lnTo>
                  <a:lnTo>
                    <a:pt x="50738" y="76453"/>
                  </a:lnTo>
                  <a:lnTo>
                    <a:pt x="0" y="76453"/>
                  </a:lnTo>
                  <a:lnTo>
                    <a:pt x="50737" y="76200"/>
                  </a:lnTo>
                  <a:lnTo>
                    <a:pt x="50673" y="63626"/>
                  </a:lnTo>
                  <a:close/>
                </a:path>
                <a:path w="76200" h="414020">
                  <a:moveTo>
                    <a:pt x="37592" y="0"/>
                  </a:moveTo>
                  <a:lnTo>
                    <a:pt x="187" y="76072"/>
                  </a:lnTo>
                  <a:lnTo>
                    <a:pt x="124" y="76200"/>
                  </a:lnTo>
                  <a:lnTo>
                    <a:pt x="0" y="76453"/>
                  </a:lnTo>
                  <a:lnTo>
                    <a:pt x="25338" y="76453"/>
                  </a:lnTo>
                  <a:lnTo>
                    <a:pt x="25273" y="63626"/>
                  </a:lnTo>
                  <a:lnTo>
                    <a:pt x="69883" y="63626"/>
                  </a:lnTo>
                  <a:lnTo>
                    <a:pt x="37592" y="0"/>
                  </a:lnTo>
                  <a:close/>
                </a:path>
                <a:path w="76200" h="414020">
                  <a:moveTo>
                    <a:pt x="50737" y="76200"/>
                  </a:moveTo>
                  <a:lnTo>
                    <a:pt x="0" y="76453"/>
                  </a:lnTo>
                  <a:lnTo>
                    <a:pt x="50738" y="76453"/>
                  </a:lnTo>
                  <a:lnTo>
                    <a:pt x="50737" y="76200"/>
                  </a:lnTo>
                  <a:close/>
                </a:path>
                <a:path w="76200" h="414020">
                  <a:moveTo>
                    <a:pt x="69883" y="63626"/>
                  </a:moveTo>
                  <a:lnTo>
                    <a:pt x="50673" y="63626"/>
                  </a:lnTo>
                  <a:lnTo>
                    <a:pt x="50737" y="76200"/>
                  </a:lnTo>
                  <a:lnTo>
                    <a:pt x="76200" y="76072"/>
                  </a:lnTo>
                  <a:lnTo>
                    <a:pt x="69883" y="63626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2216" y="3358870"/>
              <a:ext cx="234670" cy="55933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144258" y="3381501"/>
              <a:ext cx="76200" cy="402590"/>
            </a:xfrm>
            <a:custGeom>
              <a:avLst/>
              <a:gdLst/>
              <a:ahLst/>
              <a:cxnLst/>
              <a:rect l="l" t="t" r="r" b="b"/>
              <a:pathLst>
                <a:path w="76200" h="402589">
                  <a:moveTo>
                    <a:pt x="0" y="325755"/>
                  </a:moveTo>
                  <a:lnTo>
                    <a:pt x="37592" y="402209"/>
                  </a:lnTo>
                  <a:lnTo>
                    <a:pt x="69808" y="338836"/>
                  </a:lnTo>
                  <a:lnTo>
                    <a:pt x="50673" y="338836"/>
                  </a:lnTo>
                  <a:lnTo>
                    <a:pt x="25273" y="338581"/>
                  </a:lnTo>
                  <a:lnTo>
                    <a:pt x="25339" y="325923"/>
                  </a:lnTo>
                  <a:lnTo>
                    <a:pt x="0" y="325755"/>
                  </a:lnTo>
                  <a:close/>
                </a:path>
                <a:path w="76200" h="402589">
                  <a:moveTo>
                    <a:pt x="25339" y="325923"/>
                  </a:moveTo>
                  <a:lnTo>
                    <a:pt x="25273" y="338581"/>
                  </a:lnTo>
                  <a:lnTo>
                    <a:pt x="50673" y="338836"/>
                  </a:lnTo>
                  <a:lnTo>
                    <a:pt x="50739" y="326093"/>
                  </a:lnTo>
                  <a:lnTo>
                    <a:pt x="25339" y="325923"/>
                  </a:lnTo>
                  <a:close/>
                </a:path>
                <a:path w="76200" h="402589">
                  <a:moveTo>
                    <a:pt x="50739" y="326093"/>
                  </a:moveTo>
                  <a:lnTo>
                    <a:pt x="50673" y="338836"/>
                  </a:lnTo>
                  <a:lnTo>
                    <a:pt x="69808" y="338836"/>
                  </a:lnTo>
                  <a:lnTo>
                    <a:pt x="76200" y="326263"/>
                  </a:lnTo>
                  <a:lnTo>
                    <a:pt x="50739" y="326093"/>
                  </a:lnTo>
                  <a:close/>
                </a:path>
                <a:path w="76200" h="402589">
                  <a:moveTo>
                    <a:pt x="52450" y="0"/>
                  </a:moveTo>
                  <a:lnTo>
                    <a:pt x="27050" y="0"/>
                  </a:lnTo>
                  <a:lnTo>
                    <a:pt x="25340" y="325755"/>
                  </a:lnTo>
                  <a:lnTo>
                    <a:pt x="25339" y="325923"/>
                  </a:lnTo>
                  <a:lnTo>
                    <a:pt x="50739" y="326093"/>
                  </a:lnTo>
                  <a:lnTo>
                    <a:pt x="5245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0640" y="3122688"/>
              <a:ext cx="1121664" cy="102106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39512" y="3145408"/>
              <a:ext cx="964565" cy="864235"/>
            </a:xfrm>
            <a:custGeom>
              <a:avLst/>
              <a:gdLst/>
              <a:ahLst/>
              <a:cxnLst/>
              <a:rect l="l" t="t" r="r" b="b"/>
              <a:pathLst>
                <a:path w="964564" h="864235">
                  <a:moveTo>
                    <a:pt x="31496" y="784859"/>
                  </a:moveTo>
                  <a:lnTo>
                    <a:pt x="0" y="863980"/>
                  </a:lnTo>
                  <a:lnTo>
                    <a:pt x="82296" y="841628"/>
                  </a:lnTo>
                  <a:lnTo>
                    <a:pt x="72976" y="831214"/>
                  </a:lnTo>
                  <a:lnTo>
                    <a:pt x="55879" y="831214"/>
                  </a:lnTo>
                  <a:lnTo>
                    <a:pt x="38988" y="812291"/>
                  </a:lnTo>
                  <a:lnTo>
                    <a:pt x="48463" y="803821"/>
                  </a:lnTo>
                  <a:lnTo>
                    <a:pt x="31496" y="784859"/>
                  </a:lnTo>
                  <a:close/>
                </a:path>
                <a:path w="964564" h="864235">
                  <a:moveTo>
                    <a:pt x="48463" y="803821"/>
                  </a:moveTo>
                  <a:lnTo>
                    <a:pt x="38988" y="812291"/>
                  </a:lnTo>
                  <a:lnTo>
                    <a:pt x="55879" y="831214"/>
                  </a:lnTo>
                  <a:lnTo>
                    <a:pt x="65378" y="822723"/>
                  </a:lnTo>
                  <a:lnTo>
                    <a:pt x="48463" y="803821"/>
                  </a:lnTo>
                  <a:close/>
                </a:path>
                <a:path w="964564" h="864235">
                  <a:moveTo>
                    <a:pt x="65378" y="822723"/>
                  </a:moveTo>
                  <a:lnTo>
                    <a:pt x="55879" y="831214"/>
                  </a:lnTo>
                  <a:lnTo>
                    <a:pt x="72976" y="831214"/>
                  </a:lnTo>
                  <a:lnTo>
                    <a:pt x="65378" y="822723"/>
                  </a:lnTo>
                  <a:close/>
                </a:path>
                <a:path w="964564" h="864235">
                  <a:moveTo>
                    <a:pt x="947547" y="0"/>
                  </a:moveTo>
                  <a:lnTo>
                    <a:pt x="48463" y="803821"/>
                  </a:lnTo>
                  <a:lnTo>
                    <a:pt x="65378" y="822723"/>
                  </a:lnTo>
                  <a:lnTo>
                    <a:pt x="964438" y="18923"/>
                  </a:lnTo>
                  <a:lnTo>
                    <a:pt x="94754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20640" y="3910558"/>
              <a:ext cx="1121664" cy="103329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239512" y="4009389"/>
              <a:ext cx="964565" cy="876935"/>
            </a:xfrm>
            <a:custGeom>
              <a:avLst/>
              <a:gdLst/>
              <a:ahLst/>
              <a:cxnLst/>
              <a:rect l="l" t="t" r="r" b="b"/>
              <a:pathLst>
                <a:path w="964564" h="876935">
                  <a:moveTo>
                    <a:pt x="65012" y="41791"/>
                  </a:moveTo>
                  <a:lnTo>
                    <a:pt x="47991" y="60586"/>
                  </a:lnTo>
                  <a:lnTo>
                    <a:pt x="947420" y="876935"/>
                  </a:lnTo>
                  <a:lnTo>
                    <a:pt x="964564" y="858139"/>
                  </a:lnTo>
                  <a:lnTo>
                    <a:pt x="65012" y="41791"/>
                  </a:lnTo>
                  <a:close/>
                </a:path>
                <a:path w="964564" h="876935">
                  <a:moveTo>
                    <a:pt x="0" y="0"/>
                  </a:moveTo>
                  <a:lnTo>
                    <a:pt x="30861" y="79502"/>
                  </a:lnTo>
                  <a:lnTo>
                    <a:pt x="47991" y="60586"/>
                  </a:lnTo>
                  <a:lnTo>
                    <a:pt x="38608" y="52070"/>
                  </a:lnTo>
                  <a:lnTo>
                    <a:pt x="55625" y="33274"/>
                  </a:lnTo>
                  <a:lnTo>
                    <a:pt x="72725" y="33274"/>
                  </a:lnTo>
                  <a:lnTo>
                    <a:pt x="82041" y="22987"/>
                  </a:lnTo>
                  <a:lnTo>
                    <a:pt x="0" y="0"/>
                  </a:lnTo>
                  <a:close/>
                </a:path>
                <a:path w="964564" h="876935">
                  <a:moveTo>
                    <a:pt x="55625" y="33274"/>
                  </a:moveTo>
                  <a:lnTo>
                    <a:pt x="38608" y="52070"/>
                  </a:lnTo>
                  <a:lnTo>
                    <a:pt x="47991" y="60586"/>
                  </a:lnTo>
                  <a:lnTo>
                    <a:pt x="65012" y="41791"/>
                  </a:lnTo>
                  <a:lnTo>
                    <a:pt x="55625" y="33274"/>
                  </a:lnTo>
                  <a:close/>
                </a:path>
                <a:path w="964564" h="876935">
                  <a:moveTo>
                    <a:pt x="72725" y="33274"/>
                  </a:moveTo>
                  <a:lnTo>
                    <a:pt x="55625" y="33274"/>
                  </a:lnTo>
                  <a:lnTo>
                    <a:pt x="65012" y="41791"/>
                  </a:lnTo>
                  <a:lnTo>
                    <a:pt x="72725" y="3327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75121" y="3829303"/>
            <a:ext cx="3829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-20" normalizeH="0" baseline="0" noProof="0" dirty="0">
                <a:ln>
                  <a:noFill/>
                </a:ln>
                <a:solidFill>
                  <a:srgbClr val="943735"/>
                </a:solidFill>
                <a:effectLst/>
                <a:uLnTx/>
                <a:uFillTx/>
                <a:latin typeface="Calibri"/>
                <a:cs typeface="Calibri"/>
              </a:rPr>
              <a:t>MQTT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59860" y="3262845"/>
            <a:ext cx="4178935" cy="1517015"/>
            <a:chOff x="3459860" y="3262845"/>
            <a:chExt cx="4178935" cy="1517015"/>
          </a:xfrm>
        </p:grpSpPr>
        <p:sp>
          <p:nvSpPr>
            <p:cNvPr id="35" name="object 35"/>
            <p:cNvSpPr/>
            <p:nvPr/>
          </p:nvSpPr>
          <p:spPr>
            <a:xfrm>
              <a:off x="5505703" y="3402583"/>
              <a:ext cx="234950" cy="255270"/>
            </a:xfrm>
            <a:custGeom>
              <a:avLst/>
              <a:gdLst/>
              <a:ahLst/>
              <a:cxnLst/>
              <a:rect l="l" t="t" r="r" b="b"/>
              <a:pathLst>
                <a:path w="234950" h="255270">
                  <a:moveTo>
                    <a:pt x="12446" y="182371"/>
                  </a:moveTo>
                  <a:lnTo>
                    <a:pt x="11049" y="182371"/>
                  </a:lnTo>
                  <a:lnTo>
                    <a:pt x="10287" y="182625"/>
                  </a:lnTo>
                  <a:lnTo>
                    <a:pt x="4825" y="187198"/>
                  </a:lnTo>
                  <a:lnTo>
                    <a:pt x="3556" y="188340"/>
                  </a:lnTo>
                  <a:lnTo>
                    <a:pt x="2540" y="189483"/>
                  </a:lnTo>
                  <a:lnTo>
                    <a:pt x="1905" y="190373"/>
                  </a:lnTo>
                  <a:lnTo>
                    <a:pt x="1143" y="191262"/>
                  </a:lnTo>
                  <a:lnTo>
                    <a:pt x="254" y="192786"/>
                  </a:lnTo>
                  <a:lnTo>
                    <a:pt x="0" y="193420"/>
                  </a:lnTo>
                  <a:lnTo>
                    <a:pt x="126" y="195325"/>
                  </a:lnTo>
                  <a:lnTo>
                    <a:pt x="59562" y="254761"/>
                  </a:lnTo>
                  <a:lnTo>
                    <a:pt x="60325" y="255269"/>
                  </a:lnTo>
                  <a:lnTo>
                    <a:pt x="61849" y="255269"/>
                  </a:lnTo>
                  <a:lnTo>
                    <a:pt x="72644" y="242315"/>
                  </a:lnTo>
                  <a:lnTo>
                    <a:pt x="72262" y="242061"/>
                  </a:lnTo>
                  <a:lnTo>
                    <a:pt x="46990" y="216661"/>
                  </a:lnTo>
                  <a:lnTo>
                    <a:pt x="57843" y="205866"/>
                  </a:lnTo>
                  <a:lnTo>
                    <a:pt x="36195" y="205866"/>
                  </a:lnTo>
                  <a:lnTo>
                    <a:pt x="12953" y="182625"/>
                  </a:lnTo>
                  <a:lnTo>
                    <a:pt x="13207" y="182625"/>
                  </a:lnTo>
                  <a:lnTo>
                    <a:pt x="12446" y="182371"/>
                  </a:lnTo>
                  <a:close/>
                </a:path>
                <a:path w="234950" h="255270">
                  <a:moveTo>
                    <a:pt x="96012" y="193420"/>
                  </a:moveTo>
                  <a:lnTo>
                    <a:pt x="70612" y="193420"/>
                  </a:lnTo>
                  <a:lnTo>
                    <a:pt x="95123" y="217931"/>
                  </a:lnTo>
                  <a:lnTo>
                    <a:pt x="95842" y="218693"/>
                  </a:lnTo>
                  <a:lnTo>
                    <a:pt x="96096" y="219074"/>
                  </a:lnTo>
                  <a:lnTo>
                    <a:pt x="96520" y="219074"/>
                  </a:lnTo>
                  <a:lnTo>
                    <a:pt x="96900" y="219201"/>
                  </a:lnTo>
                  <a:lnTo>
                    <a:pt x="97409" y="219201"/>
                  </a:lnTo>
                  <a:lnTo>
                    <a:pt x="97917" y="219074"/>
                  </a:lnTo>
                  <a:lnTo>
                    <a:pt x="98551" y="218693"/>
                  </a:lnTo>
                  <a:lnTo>
                    <a:pt x="98806" y="218693"/>
                  </a:lnTo>
                  <a:lnTo>
                    <a:pt x="99949" y="217931"/>
                  </a:lnTo>
                  <a:lnTo>
                    <a:pt x="100837" y="217169"/>
                  </a:lnTo>
                  <a:lnTo>
                    <a:pt x="101650" y="216661"/>
                  </a:lnTo>
                  <a:lnTo>
                    <a:pt x="105410" y="212978"/>
                  </a:lnTo>
                  <a:lnTo>
                    <a:pt x="107823" y="210184"/>
                  </a:lnTo>
                  <a:lnTo>
                    <a:pt x="108331" y="209295"/>
                  </a:lnTo>
                  <a:lnTo>
                    <a:pt x="108585" y="208660"/>
                  </a:lnTo>
                  <a:lnTo>
                    <a:pt x="108966" y="208025"/>
                  </a:lnTo>
                  <a:lnTo>
                    <a:pt x="108966" y="206628"/>
                  </a:lnTo>
                  <a:lnTo>
                    <a:pt x="108838" y="206120"/>
                  </a:lnTo>
                  <a:lnTo>
                    <a:pt x="108458" y="205866"/>
                  </a:lnTo>
                  <a:lnTo>
                    <a:pt x="96012" y="193420"/>
                  </a:lnTo>
                  <a:close/>
                </a:path>
                <a:path w="234950" h="255270">
                  <a:moveTo>
                    <a:pt x="48641" y="146176"/>
                  </a:moveTo>
                  <a:lnTo>
                    <a:pt x="47117" y="146176"/>
                  </a:lnTo>
                  <a:lnTo>
                    <a:pt x="46482" y="146557"/>
                  </a:lnTo>
                  <a:lnTo>
                    <a:pt x="45847" y="146812"/>
                  </a:lnTo>
                  <a:lnTo>
                    <a:pt x="45085" y="147446"/>
                  </a:lnTo>
                  <a:lnTo>
                    <a:pt x="44196" y="148081"/>
                  </a:lnTo>
                  <a:lnTo>
                    <a:pt x="43180" y="148843"/>
                  </a:lnTo>
                  <a:lnTo>
                    <a:pt x="42163" y="149732"/>
                  </a:lnTo>
                  <a:lnTo>
                    <a:pt x="39624" y="152273"/>
                  </a:lnTo>
                  <a:lnTo>
                    <a:pt x="38735" y="153415"/>
                  </a:lnTo>
                  <a:lnTo>
                    <a:pt x="37211" y="155193"/>
                  </a:lnTo>
                  <a:lnTo>
                    <a:pt x="36703" y="155955"/>
                  </a:lnTo>
                  <a:lnTo>
                    <a:pt x="36449" y="156590"/>
                  </a:lnTo>
                  <a:lnTo>
                    <a:pt x="36068" y="157225"/>
                  </a:lnTo>
                  <a:lnTo>
                    <a:pt x="36068" y="158750"/>
                  </a:lnTo>
                  <a:lnTo>
                    <a:pt x="36322" y="159130"/>
                  </a:lnTo>
                  <a:lnTo>
                    <a:pt x="59562" y="182371"/>
                  </a:lnTo>
                  <a:lnTo>
                    <a:pt x="36195" y="205866"/>
                  </a:lnTo>
                  <a:lnTo>
                    <a:pt x="57843" y="205866"/>
                  </a:lnTo>
                  <a:lnTo>
                    <a:pt x="70357" y="193420"/>
                  </a:lnTo>
                  <a:lnTo>
                    <a:pt x="96012" y="193420"/>
                  </a:lnTo>
                  <a:lnTo>
                    <a:pt x="49149" y="146557"/>
                  </a:lnTo>
                  <a:lnTo>
                    <a:pt x="48641" y="146176"/>
                  </a:lnTo>
                  <a:close/>
                </a:path>
                <a:path w="234950" h="255270">
                  <a:moveTo>
                    <a:pt x="124894" y="146812"/>
                  </a:moveTo>
                  <a:lnTo>
                    <a:pt x="99272" y="146812"/>
                  </a:lnTo>
                  <a:lnTo>
                    <a:pt x="133096" y="180720"/>
                  </a:lnTo>
                  <a:lnTo>
                    <a:pt x="133540" y="181101"/>
                  </a:lnTo>
                  <a:lnTo>
                    <a:pt x="134112" y="181482"/>
                  </a:lnTo>
                  <a:lnTo>
                    <a:pt x="135318" y="181482"/>
                  </a:lnTo>
                  <a:lnTo>
                    <a:pt x="136271" y="181101"/>
                  </a:lnTo>
                  <a:lnTo>
                    <a:pt x="136906" y="180720"/>
                  </a:lnTo>
                  <a:lnTo>
                    <a:pt x="137668" y="180212"/>
                  </a:lnTo>
                  <a:lnTo>
                    <a:pt x="138557" y="179450"/>
                  </a:lnTo>
                  <a:lnTo>
                    <a:pt x="139573" y="178815"/>
                  </a:lnTo>
                  <a:lnTo>
                    <a:pt x="146304" y="170941"/>
                  </a:lnTo>
                  <a:lnTo>
                    <a:pt x="146685" y="170306"/>
                  </a:lnTo>
                  <a:lnTo>
                    <a:pt x="146558" y="168401"/>
                  </a:lnTo>
                  <a:lnTo>
                    <a:pt x="146176" y="168148"/>
                  </a:lnTo>
                  <a:lnTo>
                    <a:pt x="124894" y="146812"/>
                  </a:lnTo>
                  <a:close/>
                </a:path>
                <a:path w="234950" h="255270">
                  <a:moveTo>
                    <a:pt x="102869" y="91058"/>
                  </a:moveTo>
                  <a:lnTo>
                    <a:pt x="101473" y="91058"/>
                  </a:lnTo>
                  <a:lnTo>
                    <a:pt x="56515" y="136016"/>
                  </a:lnTo>
                  <a:lnTo>
                    <a:pt x="56261" y="136398"/>
                  </a:lnTo>
                  <a:lnTo>
                    <a:pt x="56261" y="137667"/>
                  </a:lnTo>
                  <a:lnTo>
                    <a:pt x="56515" y="138302"/>
                  </a:lnTo>
                  <a:lnTo>
                    <a:pt x="56769" y="138811"/>
                  </a:lnTo>
                  <a:lnTo>
                    <a:pt x="57276" y="139445"/>
                  </a:lnTo>
                  <a:lnTo>
                    <a:pt x="57785" y="140207"/>
                  </a:lnTo>
                  <a:lnTo>
                    <a:pt x="59182" y="141858"/>
                  </a:lnTo>
                  <a:lnTo>
                    <a:pt x="61087" y="143763"/>
                  </a:lnTo>
                  <a:lnTo>
                    <a:pt x="61975" y="144525"/>
                  </a:lnTo>
                  <a:lnTo>
                    <a:pt x="62737" y="145033"/>
                  </a:lnTo>
                  <a:lnTo>
                    <a:pt x="63373" y="145668"/>
                  </a:lnTo>
                  <a:lnTo>
                    <a:pt x="65150" y="146557"/>
                  </a:lnTo>
                  <a:lnTo>
                    <a:pt x="66166" y="146812"/>
                  </a:lnTo>
                  <a:lnTo>
                    <a:pt x="65786" y="146812"/>
                  </a:lnTo>
                  <a:lnTo>
                    <a:pt x="66548" y="146557"/>
                  </a:lnTo>
                  <a:lnTo>
                    <a:pt x="66844" y="146557"/>
                  </a:lnTo>
                  <a:lnTo>
                    <a:pt x="67098" y="146176"/>
                  </a:lnTo>
                  <a:lnTo>
                    <a:pt x="67567" y="145668"/>
                  </a:lnTo>
                  <a:lnTo>
                    <a:pt x="82931" y="130428"/>
                  </a:lnTo>
                  <a:lnTo>
                    <a:pt x="108552" y="130428"/>
                  </a:lnTo>
                  <a:lnTo>
                    <a:pt x="95758" y="117601"/>
                  </a:lnTo>
                  <a:lnTo>
                    <a:pt x="111633" y="101726"/>
                  </a:lnTo>
                  <a:lnTo>
                    <a:pt x="111887" y="101345"/>
                  </a:lnTo>
                  <a:lnTo>
                    <a:pt x="111887" y="99949"/>
                  </a:lnTo>
                  <a:lnTo>
                    <a:pt x="108966" y="95885"/>
                  </a:lnTo>
                  <a:lnTo>
                    <a:pt x="108188" y="94995"/>
                  </a:lnTo>
                  <a:lnTo>
                    <a:pt x="106679" y="93471"/>
                  </a:lnTo>
                  <a:lnTo>
                    <a:pt x="106870" y="93471"/>
                  </a:lnTo>
                  <a:lnTo>
                    <a:pt x="105537" y="92582"/>
                  </a:lnTo>
                  <a:lnTo>
                    <a:pt x="104775" y="91948"/>
                  </a:lnTo>
                  <a:lnTo>
                    <a:pt x="104351" y="91693"/>
                  </a:lnTo>
                  <a:lnTo>
                    <a:pt x="102869" y="91058"/>
                  </a:lnTo>
                  <a:close/>
                </a:path>
                <a:path w="234950" h="255270">
                  <a:moveTo>
                    <a:pt x="99019" y="146557"/>
                  </a:moveTo>
                  <a:lnTo>
                    <a:pt x="66548" y="146557"/>
                  </a:lnTo>
                  <a:lnTo>
                    <a:pt x="65786" y="146812"/>
                  </a:lnTo>
                  <a:lnTo>
                    <a:pt x="99272" y="146812"/>
                  </a:lnTo>
                  <a:lnTo>
                    <a:pt x="99019" y="146557"/>
                  </a:lnTo>
                  <a:close/>
                </a:path>
                <a:path w="234950" h="255270">
                  <a:moveTo>
                    <a:pt x="108552" y="130428"/>
                  </a:moveTo>
                  <a:lnTo>
                    <a:pt x="82931" y="130428"/>
                  </a:lnTo>
                  <a:lnTo>
                    <a:pt x="99019" y="146557"/>
                  </a:lnTo>
                  <a:lnTo>
                    <a:pt x="124641" y="146557"/>
                  </a:lnTo>
                  <a:lnTo>
                    <a:pt x="108552" y="130428"/>
                  </a:lnTo>
                  <a:close/>
                </a:path>
                <a:path w="234950" h="255270">
                  <a:moveTo>
                    <a:pt x="158082" y="80899"/>
                  </a:moveTo>
                  <a:lnTo>
                    <a:pt x="132461" y="80899"/>
                  </a:lnTo>
                  <a:lnTo>
                    <a:pt x="182370" y="130682"/>
                  </a:lnTo>
                  <a:lnTo>
                    <a:pt x="183091" y="131444"/>
                  </a:lnTo>
                  <a:lnTo>
                    <a:pt x="183345" y="131825"/>
                  </a:lnTo>
                  <a:lnTo>
                    <a:pt x="185166" y="131825"/>
                  </a:lnTo>
                  <a:lnTo>
                    <a:pt x="185800" y="131444"/>
                  </a:lnTo>
                  <a:lnTo>
                    <a:pt x="185991" y="131444"/>
                  </a:lnTo>
                  <a:lnTo>
                    <a:pt x="196215" y="120776"/>
                  </a:lnTo>
                  <a:lnTo>
                    <a:pt x="196215" y="119252"/>
                  </a:lnTo>
                  <a:lnTo>
                    <a:pt x="196087" y="118871"/>
                  </a:lnTo>
                  <a:lnTo>
                    <a:pt x="195707" y="118617"/>
                  </a:lnTo>
                  <a:lnTo>
                    <a:pt x="158082" y="80899"/>
                  </a:lnTo>
                  <a:close/>
                </a:path>
                <a:path w="234950" h="255270">
                  <a:moveTo>
                    <a:pt x="153035" y="41655"/>
                  </a:moveTo>
                  <a:lnTo>
                    <a:pt x="150875" y="41655"/>
                  </a:lnTo>
                  <a:lnTo>
                    <a:pt x="106045" y="86487"/>
                  </a:lnTo>
                  <a:lnTo>
                    <a:pt x="106172" y="88645"/>
                  </a:lnTo>
                  <a:lnTo>
                    <a:pt x="106425" y="89280"/>
                  </a:lnTo>
                  <a:lnTo>
                    <a:pt x="106807" y="89915"/>
                  </a:lnTo>
                  <a:lnTo>
                    <a:pt x="107442" y="90677"/>
                  </a:lnTo>
                  <a:lnTo>
                    <a:pt x="107696" y="91058"/>
                  </a:lnTo>
                  <a:lnTo>
                    <a:pt x="108167" y="91693"/>
                  </a:lnTo>
                  <a:lnTo>
                    <a:pt x="108385" y="91948"/>
                  </a:lnTo>
                  <a:lnTo>
                    <a:pt x="109002" y="92582"/>
                  </a:lnTo>
                  <a:lnTo>
                    <a:pt x="109950" y="93471"/>
                  </a:lnTo>
                  <a:lnTo>
                    <a:pt x="110617" y="94233"/>
                  </a:lnTo>
                  <a:lnTo>
                    <a:pt x="111506" y="94995"/>
                  </a:lnTo>
                  <a:lnTo>
                    <a:pt x="112268" y="95503"/>
                  </a:lnTo>
                  <a:lnTo>
                    <a:pt x="113030" y="96138"/>
                  </a:lnTo>
                  <a:lnTo>
                    <a:pt x="113855" y="96646"/>
                  </a:lnTo>
                  <a:lnTo>
                    <a:pt x="114808" y="97027"/>
                  </a:lnTo>
                  <a:lnTo>
                    <a:pt x="116332" y="97027"/>
                  </a:lnTo>
                  <a:lnTo>
                    <a:pt x="132461" y="80899"/>
                  </a:lnTo>
                  <a:lnTo>
                    <a:pt x="158082" y="80899"/>
                  </a:lnTo>
                  <a:lnTo>
                    <a:pt x="145287" y="68071"/>
                  </a:lnTo>
                  <a:lnTo>
                    <a:pt x="161290" y="52069"/>
                  </a:lnTo>
                  <a:lnTo>
                    <a:pt x="161407" y="50545"/>
                  </a:lnTo>
                  <a:lnTo>
                    <a:pt x="161162" y="49783"/>
                  </a:lnTo>
                  <a:lnTo>
                    <a:pt x="160909" y="49275"/>
                  </a:lnTo>
                  <a:lnTo>
                    <a:pt x="160528" y="48640"/>
                  </a:lnTo>
                  <a:lnTo>
                    <a:pt x="159893" y="47878"/>
                  </a:lnTo>
                  <a:lnTo>
                    <a:pt x="159385" y="47116"/>
                  </a:lnTo>
                  <a:lnTo>
                    <a:pt x="158623" y="46227"/>
                  </a:lnTo>
                  <a:lnTo>
                    <a:pt x="157607" y="45338"/>
                  </a:lnTo>
                  <a:lnTo>
                    <a:pt x="156718" y="44323"/>
                  </a:lnTo>
                  <a:lnTo>
                    <a:pt x="155067" y="42925"/>
                  </a:lnTo>
                  <a:lnTo>
                    <a:pt x="154305" y="42417"/>
                  </a:lnTo>
                  <a:lnTo>
                    <a:pt x="153670" y="41910"/>
                  </a:lnTo>
                  <a:lnTo>
                    <a:pt x="153035" y="41655"/>
                  </a:lnTo>
                  <a:close/>
                </a:path>
                <a:path w="234950" h="255270">
                  <a:moveTo>
                    <a:pt x="202946" y="0"/>
                  </a:moveTo>
                  <a:lnTo>
                    <a:pt x="200025" y="380"/>
                  </a:lnTo>
                  <a:lnTo>
                    <a:pt x="197104" y="1396"/>
                  </a:lnTo>
                  <a:lnTo>
                    <a:pt x="194183" y="2286"/>
                  </a:lnTo>
                  <a:lnTo>
                    <a:pt x="191643" y="3428"/>
                  </a:lnTo>
                  <a:lnTo>
                    <a:pt x="187071" y="6476"/>
                  </a:lnTo>
                  <a:lnTo>
                    <a:pt x="185293" y="7874"/>
                  </a:lnTo>
                  <a:lnTo>
                    <a:pt x="183769" y="9016"/>
                  </a:lnTo>
                  <a:lnTo>
                    <a:pt x="162560" y="33654"/>
                  </a:lnTo>
                  <a:lnTo>
                    <a:pt x="163322" y="35178"/>
                  </a:lnTo>
                  <a:lnTo>
                    <a:pt x="220725" y="92582"/>
                  </a:lnTo>
                  <a:lnTo>
                    <a:pt x="221487" y="93471"/>
                  </a:lnTo>
                  <a:lnTo>
                    <a:pt x="221996" y="93599"/>
                  </a:lnTo>
                  <a:lnTo>
                    <a:pt x="223393" y="93599"/>
                  </a:lnTo>
                  <a:lnTo>
                    <a:pt x="223710" y="93471"/>
                  </a:lnTo>
                  <a:lnTo>
                    <a:pt x="225298" y="92582"/>
                  </a:lnTo>
                  <a:lnTo>
                    <a:pt x="226441" y="91693"/>
                  </a:lnTo>
                  <a:lnTo>
                    <a:pt x="227330" y="91058"/>
                  </a:lnTo>
                  <a:lnTo>
                    <a:pt x="231901" y="86487"/>
                  </a:lnTo>
                  <a:lnTo>
                    <a:pt x="232537" y="85598"/>
                  </a:lnTo>
                  <a:lnTo>
                    <a:pt x="233299" y="84708"/>
                  </a:lnTo>
                  <a:lnTo>
                    <a:pt x="233807" y="83819"/>
                  </a:lnTo>
                  <a:lnTo>
                    <a:pt x="234061" y="83185"/>
                  </a:lnTo>
                  <a:lnTo>
                    <a:pt x="234442" y="82550"/>
                  </a:lnTo>
                  <a:lnTo>
                    <a:pt x="234315" y="80644"/>
                  </a:lnTo>
                  <a:lnTo>
                    <a:pt x="233934" y="80390"/>
                  </a:lnTo>
                  <a:lnTo>
                    <a:pt x="213995" y="60325"/>
                  </a:lnTo>
                  <a:lnTo>
                    <a:pt x="223266" y="51053"/>
                  </a:lnTo>
                  <a:lnTo>
                    <a:pt x="223662" y="50545"/>
                  </a:lnTo>
                  <a:lnTo>
                    <a:pt x="204088" y="50545"/>
                  </a:lnTo>
                  <a:lnTo>
                    <a:pt x="182880" y="29337"/>
                  </a:lnTo>
                  <a:lnTo>
                    <a:pt x="189611" y="22605"/>
                  </a:lnTo>
                  <a:lnTo>
                    <a:pt x="191008" y="21336"/>
                  </a:lnTo>
                  <a:lnTo>
                    <a:pt x="192405" y="20319"/>
                  </a:lnTo>
                  <a:lnTo>
                    <a:pt x="193646" y="19303"/>
                  </a:lnTo>
                  <a:lnTo>
                    <a:pt x="194352" y="18923"/>
                  </a:lnTo>
                  <a:lnTo>
                    <a:pt x="195453" y="18414"/>
                  </a:lnTo>
                  <a:lnTo>
                    <a:pt x="197231" y="18033"/>
                  </a:lnTo>
                  <a:lnTo>
                    <a:pt x="198564" y="17652"/>
                  </a:lnTo>
                  <a:lnTo>
                    <a:pt x="229281" y="17652"/>
                  </a:lnTo>
                  <a:lnTo>
                    <a:pt x="228346" y="15493"/>
                  </a:lnTo>
                  <a:lnTo>
                    <a:pt x="225806" y="11811"/>
                  </a:lnTo>
                  <a:lnTo>
                    <a:pt x="222250" y="8381"/>
                  </a:lnTo>
                  <a:lnTo>
                    <a:pt x="219710" y="5841"/>
                  </a:lnTo>
                  <a:lnTo>
                    <a:pt x="217043" y="3810"/>
                  </a:lnTo>
                  <a:lnTo>
                    <a:pt x="214249" y="2539"/>
                  </a:lnTo>
                  <a:lnTo>
                    <a:pt x="211582" y="1142"/>
                  </a:lnTo>
                  <a:lnTo>
                    <a:pt x="208661" y="380"/>
                  </a:lnTo>
                  <a:lnTo>
                    <a:pt x="207327" y="380"/>
                  </a:lnTo>
                  <a:lnTo>
                    <a:pt x="202946" y="0"/>
                  </a:lnTo>
                  <a:close/>
                </a:path>
                <a:path w="234950" h="255270">
                  <a:moveTo>
                    <a:pt x="229281" y="17652"/>
                  </a:moveTo>
                  <a:lnTo>
                    <a:pt x="201041" y="17652"/>
                  </a:lnTo>
                  <a:lnTo>
                    <a:pt x="203758" y="18414"/>
                  </a:lnTo>
                  <a:lnTo>
                    <a:pt x="205486" y="18923"/>
                  </a:lnTo>
                  <a:lnTo>
                    <a:pt x="207645" y="20319"/>
                  </a:lnTo>
                  <a:lnTo>
                    <a:pt x="209804" y="22605"/>
                  </a:lnTo>
                  <a:lnTo>
                    <a:pt x="211455" y="24129"/>
                  </a:lnTo>
                  <a:lnTo>
                    <a:pt x="212725" y="25907"/>
                  </a:lnTo>
                  <a:lnTo>
                    <a:pt x="213613" y="27686"/>
                  </a:lnTo>
                  <a:lnTo>
                    <a:pt x="214630" y="29590"/>
                  </a:lnTo>
                  <a:lnTo>
                    <a:pt x="215137" y="31368"/>
                  </a:lnTo>
                  <a:lnTo>
                    <a:pt x="215248" y="35178"/>
                  </a:lnTo>
                  <a:lnTo>
                    <a:pt x="215011" y="36956"/>
                  </a:lnTo>
                  <a:lnTo>
                    <a:pt x="214122" y="38862"/>
                  </a:lnTo>
                  <a:lnTo>
                    <a:pt x="213360" y="40893"/>
                  </a:lnTo>
                  <a:lnTo>
                    <a:pt x="212140" y="42417"/>
                  </a:lnTo>
                  <a:lnTo>
                    <a:pt x="211709" y="42925"/>
                  </a:lnTo>
                  <a:lnTo>
                    <a:pt x="204088" y="50545"/>
                  </a:lnTo>
                  <a:lnTo>
                    <a:pt x="223662" y="50545"/>
                  </a:lnTo>
                  <a:lnTo>
                    <a:pt x="226341" y="47116"/>
                  </a:lnTo>
                  <a:lnTo>
                    <a:pt x="226822" y="46227"/>
                  </a:lnTo>
                  <a:lnTo>
                    <a:pt x="228473" y="42925"/>
                  </a:lnTo>
                  <a:lnTo>
                    <a:pt x="230632" y="38862"/>
                  </a:lnTo>
                  <a:lnTo>
                    <a:pt x="231701" y="35178"/>
                  </a:lnTo>
                  <a:lnTo>
                    <a:pt x="231856" y="33654"/>
                  </a:lnTo>
                  <a:lnTo>
                    <a:pt x="231881" y="33274"/>
                  </a:lnTo>
                  <a:lnTo>
                    <a:pt x="232004" y="31368"/>
                  </a:lnTo>
                  <a:lnTo>
                    <a:pt x="232119" y="29590"/>
                  </a:lnTo>
                  <a:lnTo>
                    <a:pt x="232242" y="27686"/>
                  </a:lnTo>
                  <a:lnTo>
                    <a:pt x="232283" y="27050"/>
                  </a:lnTo>
                  <a:lnTo>
                    <a:pt x="231521" y="23113"/>
                  </a:lnTo>
                  <a:lnTo>
                    <a:pt x="229997" y="19303"/>
                  </a:lnTo>
                  <a:lnTo>
                    <a:pt x="229281" y="17652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694679" y="4303267"/>
              <a:ext cx="259715" cy="229870"/>
            </a:xfrm>
            <a:custGeom>
              <a:avLst/>
              <a:gdLst/>
              <a:ahLst/>
              <a:cxnLst/>
              <a:rect l="l" t="t" r="r" b="b"/>
              <a:pathLst>
                <a:path w="259714" h="229870">
                  <a:moveTo>
                    <a:pt x="229235" y="157479"/>
                  </a:moveTo>
                  <a:lnTo>
                    <a:pt x="223266" y="157479"/>
                  </a:lnTo>
                  <a:lnTo>
                    <a:pt x="221742" y="160019"/>
                  </a:lnTo>
                  <a:lnTo>
                    <a:pt x="167259" y="217169"/>
                  </a:lnTo>
                  <a:lnTo>
                    <a:pt x="166878" y="218439"/>
                  </a:lnTo>
                  <a:lnTo>
                    <a:pt x="166750" y="218439"/>
                  </a:lnTo>
                  <a:lnTo>
                    <a:pt x="166750" y="219709"/>
                  </a:lnTo>
                  <a:lnTo>
                    <a:pt x="167132" y="220979"/>
                  </a:lnTo>
                  <a:lnTo>
                    <a:pt x="167386" y="220979"/>
                  </a:lnTo>
                  <a:lnTo>
                    <a:pt x="169545" y="223519"/>
                  </a:lnTo>
                  <a:lnTo>
                    <a:pt x="171831" y="226059"/>
                  </a:lnTo>
                  <a:lnTo>
                    <a:pt x="174244" y="228599"/>
                  </a:lnTo>
                  <a:lnTo>
                    <a:pt x="176022" y="229869"/>
                  </a:lnTo>
                  <a:lnTo>
                    <a:pt x="180086" y="229869"/>
                  </a:lnTo>
                  <a:lnTo>
                    <a:pt x="199644" y="209549"/>
                  </a:lnTo>
                  <a:lnTo>
                    <a:pt x="223139" y="209549"/>
                  </a:lnTo>
                  <a:lnTo>
                    <a:pt x="221107" y="208279"/>
                  </a:lnTo>
                  <a:lnTo>
                    <a:pt x="219202" y="208279"/>
                  </a:lnTo>
                  <a:lnTo>
                    <a:pt x="217170" y="207009"/>
                  </a:lnTo>
                  <a:lnTo>
                    <a:pt x="215137" y="204469"/>
                  </a:lnTo>
                  <a:lnTo>
                    <a:pt x="209169" y="199389"/>
                  </a:lnTo>
                  <a:lnTo>
                    <a:pt x="229743" y="177799"/>
                  </a:lnTo>
                  <a:lnTo>
                    <a:pt x="250063" y="177799"/>
                  </a:lnTo>
                  <a:lnTo>
                    <a:pt x="248793" y="176529"/>
                  </a:lnTo>
                  <a:lnTo>
                    <a:pt x="247396" y="175259"/>
                  </a:lnTo>
                  <a:lnTo>
                    <a:pt x="245872" y="172719"/>
                  </a:lnTo>
                  <a:lnTo>
                    <a:pt x="229235" y="157479"/>
                  </a:lnTo>
                  <a:close/>
                </a:path>
                <a:path w="259714" h="229870">
                  <a:moveTo>
                    <a:pt x="250063" y="177799"/>
                  </a:moveTo>
                  <a:lnTo>
                    <a:pt x="229743" y="177799"/>
                  </a:lnTo>
                  <a:lnTo>
                    <a:pt x="236728" y="184149"/>
                  </a:lnTo>
                  <a:lnTo>
                    <a:pt x="237998" y="185419"/>
                  </a:lnTo>
                  <a:lnTo>
                    <a:pt x="239014" y="186689"/>
                  </a:lnTo>
                  <a:lnTo>
                    <a:pt x="240157" y="187959"/>
                  </a:lnTo>
                  <a:lnTo>
                    <a:pt x="241046" y="189229"/>
                  </a:lnTo>
                  <a:lnTo>
                    <a:pt x="242062" y="193039"/>
                  </a:lnTo>
                  <a:lnTo>
                    <a:pt x="241935" y="195579"/>
                  </a:lnTo>
                  <a:lnTo>
                    <a:pt x="241427" y="196849"/>
                  </a:lnTo>
                  <a:lnTo>
                    <a:pt x="240792" y="199389"/>
                  </a:lnTo>
                  <a:lnTo>
                    <a:pt x="239522" y="201929"/>
                  </a:lnTo>
                  <a:lnTo>
                    <a:pt x="237362" y="204469"/>
                  </a:lnTo>
                  <a:lnTo>
                    <a:pt x="235839" y="205739"/>
                  </a:lnTo>
                  <a:lnTo>
                    <a:pt x="230505" y="209549"/>
                  </a:lnTo>
                  <a:lnTo>
                    <a:pt x="199644" y="209549"/>
                  </a:lnTo>
                  <a:lnTo>
                    <a:pt x="205105" y="214629"/>
                  </a:lnTo>
                  <a:lnTo>
                    <a:pt x="209296" y="218439"/>
                  </a:lnTo>
                  <a:lnTo>
                    <a:pt x="213487" y="220979"/>
                  </a:lnTo>
                  <a:lnTo>
                    <a:pt x="217550" y="223519"/>
                  </a:lnTo>
                  <a:lnTo>
                    <a:pt x="225679" y="226059"/>
                  </a:lnTo>
                  <a:lnTo>
                    <a:pt x="237490" y="226059"/>
                  </a:lnTo>
                  <a:lnTo>
                    <a:pt x="241173" y="223519"/>
                  </a:lnTo>
                  <a:lnTo>
                    <a:pt x="244983" y="222249"/>
                  </a:lnTo>
                  <a:lnTo>
                    <a:pt x="248539" y="219709"/>
                  </a:lnTo>
                  <a:lnTo>
                    <a:pt x="251968" y="215899"/>
                  </a:lnTo>
                  <a:lnTo>
                    <a:pt x="254381" y="213359"/>
                  </a:lnTo>
                  <a:lnTo>
                    <a:pt x="256286" y="210819"/>
                  </a:lnTo>
                  <a:lnTo>
                    <a:pt x="258825" y="204469"/>
                  </a:lnTo>
                  <a:lnTo>
                    <a:pt x="259461" y="201929"/>
                  </a:lnTo>
                  <a:lnTo>
                    <a:pt x="259461" y="195579"/>
                  </a:lnTo>
                  <a:lnTo>
                    <a:pt x="259207" y="193039"/>
                  </a:lnTo>
                  <a:lnTo>
                    <a:pt x="257175" y="187959"/>
                  </a:lnTo>
                  <a:lnTo>
                    <a:pt x="255905" y="185419"/>
                  </a:lnTo>
                  <a:lnTo>
                    <a:pt x="254254" y="182879"/>
                  </a:lnTo>
                  <a:lnTo>
                    <a:pt x="252730" y="180339"/>
                  </a:lnTo>
                  <a:lnTo>
                    <a:pt x="251333" y="179069"/>
                  </a:lnTo>
                  <a:lnTo>
                    <a:pt x="250063" y="177799"/>
                  </a:lnTo>
                  <a:close/>
                </a:path>
                <a:path w="259714" h="229870">
                  <a:moveTo>
                    <a:pt x="169799" y="101599"/>
                  </a:moveTo>
                  <a:lnTo>
                    <a:pt x="168529" y="102869"/>
                  </a:lnTo>
                  <a:lnTo>
                    <a:pt x="166750" y="102869"/>
                  </a:lnTo>
                  <a:lnTo>
                    <a:pt x="165989" y="104139"/>
                  </a:lnTo>
                  <a:lnTo>
                    <a:pt x="165354" y="104139"/>
                  </a:lnTo>
                  <a:lnTo>
                    <a:pt x="163575" y="106679"/>
                  </a:lnTo>
                  <a:lnTo>
                    <a:pt x="162560" y="106679"/>
                  </a:lnTo>
                  <a:lnTo>
                    <a:pt x="161290" y="109219"/>
                  </a:lnTo>
                  <a:lnTo>
                    <a:pt x="160782" y="109219"/>
                  </a:lnTo>
                  <a:lnTo>
                    <a:pt x="160400" y="110489"/>
                  </a:lnTo>
                  <a:lnTo>
                    <a:pt x="160147" y="110489"/>
                  </a:lnTo>
                  <a:lnTo>
                    <a:pt x="159893" y="111759"/>
                  </a:lnTo>
                  <a:lnTo>
                    <a:pt x="159893" y="113029"/>
                  </a:lnTo>
                  <a:lnTo>
                    <a:pt x="160400" y="113029"/>
                  </a:lnTo>
                  <a:lnTo>
                    <a:pt x="176657" y="128269"/>
                  </a:lnTo>
                  <a:lnTo>
                    <a:pt x="127762" y="180339"/>
                  </a:lnTo>
                  <a:lnTo>
                    <a:pt x="127254" y="181609"/>
                  </a:lnTo>
                  <a:lnTo>
                    <a:pt x="127381" y="182879"/>
                  </a:lnTo>
                  <a:lnTo>
                    <a:pt x="127762" y="184149"/>
                  </a:lnTo>
                  <a:lnTo>
                    <a:pt x="128016" y="184149"/>
                  </a:lnTo>
                  <a:lnTo>
                    <a:pt x="130175" y="186689"/>
                  </a:lnTo>
                  <a:lnTo>
                    <a:pt x="131191" y="187959"/>
                  </a:lnTo>
                  <a:lnTo>
                    <a:pt x="132334" y="189229"/>
                  </a:lnTo>
                  <a:lnTo>
                    <a:pt x="133604" y="190499"/>
                  </a:lnTo>
                  <a:lnTo>
                    <a:pt x="135762" y="191769"/>
                  </a:lnTo>
                  <a:lnTo>
                    <a:pt x="136652" y="191769"/>
                  </a:lnTo>
                  <a:lnTo>
                    <a:pt x="137414" y="193039"/>
                  </a:lnTo>
                  <a:lnTo>
                    <a:pt x="140970" y="193039"/>
                  </a:lnTo>
                  <a:lnTo>
                    <a:pt x="189865" y="140969"/>
                  </a:lnTo>
                  <a:lnTo>
                    <a:pt x="210678" y="140969"/>
                  </a:lnTo>
                  <a:lnTo>
                    <a:pt x="170561" y="102869"/>
                  </a:lnTo>
                  <a:lnTo>
                    <a:pt x="169799" y="101599"/>
                  </a:lnTo>
                  <a:close/>
                </a:path>
                <a:path w="259714" h="229870">
                  <a:moveTo>
                    <a:pt x="210678" y="140969"/>
                  </a:moveTo>
                  <a:lnTo>
                    <a:pt x="189865" y="140969"/>
                  </a:lnTo>
                  <a:lnTo>
                    <a:pt x="206248" y="156209"/>
                  </a:lnTo>
                  <a:lnTo>
                    <a:pt x="209169" y="156209"/>
                  </a:lnTo>
                  <a:lnTo>
                    <a:pt x="209804" y="154939"/>
                  </a:lnTo>
                  <a:lnTo>
                    <a:pt x="210439" y="154939"/>
                  </a:lnTo>
                  <a:lnTo>
                    <a:pt x="212090" y="153669"/>
                  </a:lnTo>
                  <a:lnTo>
                    <a:pt x="213868" y="151129"/>
                  </a:lnTo>
                  <a:lnTo>
                    <a:pt x="215265" y="149859"/>
                  </a:lnTo>
                  <a:lnTo>
                    <a:pt x="216154" y="148589"/>
                  </a:lnTo>
                  <a:lnTo>
                    <a:pt x="216408" y="147319"/>
                  </a:lnTo>
                  <a:lnTo>
                    <a:pt x="216535" y="146049"/>
                  </a:lnTo>
                  <a:lnTo>
                    <a:pt x="216027" y="146049"/>
                  </a:lnTo>
                  <a:lnTo>
                    <a:pt x="210678" y="140969"/>
                  </a:lnTo>
                  <a:close/>
                </a:path>
                <a:path w="259714" h="229870">
                  <a:moveTo>
                    <a:pt x="119380" y="54609"/>
                  </a:moveTo>
                  <a:lnTo>
                    <a:pt x="116332" y="54609"/>
                  </a:lnTo>
                  <a:lnTo>
                    <a:pt x="114935" y="55879"/>
                  </a:lnTo>
                  <a:lnTo>
                    <a:pt x="114173" y="55879"/>
                  </a:lnTo>
                  <a:lnTo>
                    <a:pt x="111506" y="59689"/>
                  </a:lnTo>
                  <a:lnTo>
                    <a:pt x="110744" y="59689"/>
                  </a:lnTo>
                  <a:lnTo>
                    <a:pt x="110236" y="60959"/>
                  </a:lnTo>
                  <a:lnTo>
                    <a:pt x="109600" y="60959"/>
                  </a:lnTo>
                  <a:lnTo>
                    <a:pt x="109220" y="62229"/>
                  </a:lnTo>
                  <a:lnTo>
                    <a:pt x="109093" y="63499"/>
                  </a:lnTo>
                  <a:lnTo>
                    <a:pt x="108712" y="63499"/>
                  </a:lnTo>
                  <a:lnTo>
                    <a:pt x="108712" y="64769"/>
                  </a:lnTo>
                  <a:lnTo>
                    <a:pt x="109347" y="64769"/>
                  </a:lnTo>
                  <a:lnTo>
                    <a:pt x="125475" y="80009"/>
                  </a:lnTo>
                  <a:lnTo>
                    <a:pt x="76708" y="133349"/>
                  </a:lnTo>
                  <a:lnTo>
                    <a:pt x="76200" y="133349"/>
                  </a:lnTo>
                  <a:lnTo>
                    <a:pt x="76200" y="134619"/>
                  </a:lnTo>
                  <a:lnTo>
                    <a:pt x="76962" y="135889"/>
                  </a:lnTo>
                  <a:lnTo>
                    <a:pt x="77470" y="137159"/>
                  </a:lnTo>
                  <a:lnTo>
                    <a:pt x="78994" y="138429"/>
                  </a:lnTo>
                  <a:lnTo>
                    <a:pt x="81280" y="140969"/>
                  </a:lnTo>
                  <a:lnTo>
                    <a:pt x="83693" y="143509"/>
                  </a:lnTo>
                  <a:lnTo>
                    <a:pt x="84582" y="143509"/>
                  </a:lnTo>
                  <a:lnTo>
                    <a:pt x="85471" y="144779"/>
                  </a:lnTo>
                  <a:lnTo>
                    <a:pt x="86995" y="144779"/>
                  </a:lnTo>
                  <a:lnTo>
                    <a:pt x="87630" y="146049"/>
                  </a:lnTo>
                  <a:lnTo>
                    <a:pt x="89535" y="146049"/>
                  </a:lnTo>
                  <a:lnTo>
                    <a:pt x="89789" y="144779"/>
                  </a:lnTo>
                  <a:lnTo>
                    <a:pt x="138684" y="92709"/>
                  </a:lnTo>
                  <a:lnTo>
                    <a:pt x="159833" y="92709"/>
                  </a:lnTo>
                  <a:lnTo>
                    <a:pt x="119380" y="54609"/>
                  </a:lnTo>
                  <a:close/>
                </a:path>
                <a:path w="259714" h="229870">
                  <a:moveTo>
                    <a:pt x="60706" y="46989"/>
                  </a:moveTo>
                  <a:lnTo>
                    <a:pt x="38100" y="46989"/>
                  </a:lnTo>
                  <a:lnTo>
                    <a:pt x="62357" y="69849"/>
                  </a:lnTo>
                  <a:lnTo>
                    <a:pt x="37846" y="96519"/>
                  </a:lnTo>
                  <a:lnTo>
                    <a:pt x="37337" y="96519"/>
                  </a:lnTo>
                  <a:lnTo>
                    <a:pt x="37337" y="97789"/>
                  </a:lnTo>
                  <a:lnTo>
                    <a:pt x="38100" y="99059"/>
                  </a:lnTo>
                  <a:lnTo>
                    <a:pt x="38608" y="100329"/>
                  </a:lnTo>
                  <a:lnTo>
                    <a:pt x="40132" y="102869"/>
                  </a:lnTo>
                  <a:lnTo>
                    <a:pt x="42418" y="104139"/>
                  </a:lnTo>
                  <a:lnTo>
                    <a:pt x="43687" y="105409"/>
                  </a:lnTo>
                  <a:lnTo>
                    <a:pt x="44831" y="106679"/>
                  </a:lnTo>
                  <a:lnTo>
                    <a:pt x="45720" y="107949"/>
                  </a:lnTo>
                  <a:lnTo>
                    <a:pt x="47371" y="107949"/>
                  </a:lnTo>
                  <a:lnTo>
                    <a:pt x="48133" y="109219"/>
                  </a:lnTo>
                  <a:lnTo>
                    <a:pt x="50927" y="109219"/>
                  </a:lnTo>
                  <a:lnTo>
                    <a:pt x="97891" y="58419"/>
                  </a:lnTo>
                  <a:lnTo>
                    <a:pt x="72771" y="58419"/>
                  </a:lnTo>
                  <a:lnTo>
                    <a:pt x="60706" y="46989"/>
                  </a:lnTo>
                  <a:close/>
                </a:path>
                <a:path w="259714" h="229870">
                  <a:moveTo>
                    <a:pt x="157480" y="107949"/>
                  </a:moveTo>
                  <a:lnTo>
                    <a:pt x="155194" y="107949"/>
                  </a:lnTo>
                  <a:lnTo>
                    <a:pt x="156845" y="109219"/>
                  </a:lnTo>
                  <a:lnTo>
                    <a:pt x="157480" y="107949"/>
                  </a:lnTo>
                  <a:close/>
                </a:path>
                <a:path w="259714" h="229870">
                  <a:moveTo>
                    <a:pt x="159833" y="92709"/>
                  </a:moveTo>
                  <a:lnTo>
                    <a:pt x="138684" y="92709"/>
                  </a:lnTo>
                  <a:lnTo>
                    <a:pt x="154812" y="107949"/>
                  </a:lnTo>
                  <a:lnTo>
                    <a:pt x="157987" y="107949"/>
                  </a:lnTo>
                  <a:lnTo>
                    <a:pt x="159385" y="106679"/>
                  </a:lnTo>
                  <a:lnTo>
                    <a:pt x="160147" y="106679"/>
                  </a:lnTo>
                  <a:lnTo>
                    <a:pt x="160909" y="105409"/>
                  </a:lnTo>
                  <a:lnTo>
                    <a:pt x="161798" y="104139"/>
                  </a:lnTo>
                  <a:lnTo>
                    <a:pt x="162814" y="104139"/>
                  </a:lnTo>
                  <a:lnTo>
                    <a:pt x="163575" y="102869"/>
                  </a:lnTo>
                  <a:lnTo>
                    <a:pt x="164084" y="101599"/>
                  </a:lnTo>
                  <a:lnTo>
                    <a:pt x="164719" y="101599"/>
                  </a:lnTo>
                  <a:lnTo>
                    <a:pt x="165100" y="100329"/>
                  </a:lnTo>
                  <a:lnTo>
                    <a:pt x="165227" y="100329"/>
                  </a:lnTo>
                  <a:lnTo>
                    <a:pt x="165481" y="99059"/>
                  </a:lnTo>
                  <a:lnTo>
                    <a:pt x="165481" y="97789"/>
                  </a:lnTo>
                  <a:lnTo>
                    <a:pt x="165227" y="97789"/>
                  </a:lnTo>
                  <a:lnTo>
                    <a:pt x="159833" y="92709"/>
                  </a:lnTo>
                  <a:close/>
                </a:path>
                <a:path w="259714" h="229870">
                  <a:moveTo>
                    <a:pt x="61214" y="0"/>
                  </a:moveTo>
                  <a:lnTo>
                    <a:pt x="57785" y="0"/>
                  </a:lnTo>
                  <a:lnTo>
                    <a:pt x="508" y="60959"/>
                  </a:lnTo>
                  <a:lnTo>
                    <a:pt x="0" y="62229"/>
                  </a:lnTo>
                  <a:lnTo>
                    <a:pt x="0" y="63499"/>
                  </a:lnTo>
                  <a:lnTo>
                    <a:pt x="127" y="63499"/>
                  </a:lnTo>
                  <a:lnTo>
                    <a:pt x="508" y="64769"/>
                  </a:lnTo>
                  <a:lnTo>
                    <a:pt x="762" y="64769"/>
                  </a:lnTo>
                  <a:lnTo>
                    <a:pt x="2159" y="66039"/>
                  </a:lnTo>
                  <a:lnTo>
                    <a:pt x="2794" y="67309"/>
                  </a:lnTo>
                  <a:lnTo>
                    <a:pt x="3810" y="68579"/>
                  </a:lnTo>
                  <a:lnTo>
                    <a:pt x="6477" y="71119"/>
                  </a:lnTo>
                  <a:lnTo>
                    <a:pt x="7493" y="71119"/>
                  </a:lnTo>
                  <a:lnTo>
                    <a:pt x="8509" y="72389"/>
                  </a:lnTo>
                  <a:lnTo>
                    <a:pt x="9398" y="72389"/>
                  </a:lnTo>
                  <a:lnTo>
                    <a:pt x="10160" y="73659"/>
                  </a:lnTo>
                  <a:lnTo>
                    <a:pt x="13589" y="73659"/>
                  </a:lnTo>
                  <a:lnTo>
                    <a:pt x="38100" y="46989"/>
                  </a:lnTo>
                  <a:lnTo>
                    <a:pt x="60706" y="46989"/>
                  </a:lnTo>
                  <a:lnTo>
                    <a:pt x="48641" y="35559"/>
                  </a:lnTo>
                  <a:lnTo>
                    <a:pt x="70866" y="12699"/>
                  </a:lnTo>
                  <a:lnTo>
                    <a:pt x="71247" y="12699"/>
                  </a:lnTo>
                  <a:lnTo>
                    <a:pt x="71374" y="10159"/>
                  </a:lnTo>
                  <a:lnTo>
                    <a:pt x="70612" y="8889"/>
                  </a:lnTo>
                  <a:lnTo>
                    <a:pt x="70104" y="8889"/>
                  </a:lnTo>
                  <a:lnTo>
                    <a:pt x="67564" y="5079"/>
                  </a:lnTo>
                  <a:lnTo>
                    <a:pt x="63881" y="2539"/>
                  </a:lnTo>
                  <a:lnTo>
                    <a:pt x="62992" y="1269"/>
                  </a:lnTo>
                  <a:lnTo>
                    <a:pt x="62103" y="1269"/>
                  </a:lnTo>
                  <a:lnTo>
                    <a:pt x="61214" y="0"/>
                  </a:lnTo>
                  <a:close/>
                </a:path>
                <a:path w="259714" h="229870">
                  <a:moveTo>
                    <a:pt x="97282" y="34289"/>
                  </a:moveTo>
                  <a:lnTo>
                    <a:pt x="95758" y="34289"/>
                  </a:lnTo>
                  <a:lnTo>
                    <a:pt x="94996" y="35559"/>
                  </a:lnTo>
                  <a:lnTo>
                    <a:pt x="72771" y="58419"/>
                  </a:lnTo>
                  <a:lnTo>
                    <a:pt x="97891" y="58419"/>
                  </a:lnTo>
                  <a:lnTo>
                    <a:pt x="108458" y="46989"/>
                  </a:lnTo>
                  <a:lnTo>
                    <a:pt x="108585" y="45719"/>
                  </a:lnTo>
                  <a:lnTo>
                    <a:pt x="108204" y="44449"/>
                  </a:lnTo>
                  <a:lnTo>
                    <a:pt x="107950" y="44449"/>
                  </a:lnTo>
                  <a:lnTo>
                    <a:pt x="106553" y="41909"/>
                  </a:lnTo>
                  <a:lnTo>
                    <a:pt x="105918" y="41909"/>
                  </a:lnTo>
                  <a:lnTo>
                    <a:pt x="103632" y="39369"/>
                  </a:lnTo>
                  <a:lnTo>
                    <a:pt x="101219" y="36829"/>
                  </a:lnTo>
                  <a:lnTo>
                    <a:pt x="100203" y="36829"/>
                  </a:lnTo>
                  <a:lnTo>
                    <a:pt x="99314" y="35559"/>
                  </a:lnTo>
                  <a:lnTo>
                    <a:pt x="98552" y="35559"/>
                  </a:lnTo>
                  <a:lnTo>
                    <a:pt x="97282" y="34289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5115" y="4219930"/>
              <a:ext cx="233172" cy="5593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486394" y="4241926"/>
              <a:ext cx="76200" cy="402590"/>
            </a:xfrm>
            <a:custGeom>
              <a:avLst/>
              <a:gdLst/>
              <a:ahLst/>
              <a:cxnLst/>
              <a:rect l="l" t="t" r="r" b="b"/>
              <a:pathLst>
                <a:path w="76200" h="402589">
                  <a:moveTo>
                    <a:pt x="25213" y="326262"/>
                  </a:moveTo>
                  <a:lnTo>
                    <a:pt x="0" y="326262"/>
                  </a:lnTo>
                  <a:lnTo>
                    <a:pt x="37593" y="402336"/>
                  </a:lnTo>
                  <a:lnTo>
                    <a:pt x="69704" y="338963"/>
                  </a:lnTo>
                  <a:lnTo>
                    <a:pt x="25146" y="338963"/>
                  </a:lnTo>
                  <a:lnTo>
                    <a:pt x="25213" y="326262"/>
                  </a:lnTo>
                  <a:close/>
                </a:path>
                <a:path w="76200" h="402589">
                  <a:moveTo>
                    <a:pt x="26925" y="0"/>
                  </a:moveTo>
                  <a:lnTo>
                    <a:pt x="25213" y="326262"/>
                  </a:lnTo>
                  <a:lnTo>
                    <a:pt x="25146" y="338963"/>
                  </a:lnTo>
                  <a:lnTo>
                    <a:pt x="50547" y="338963"/>
                  </a:lnTo>
                  <a:lnTo>
                    <a:pt x="52325" y="127"/>
                  </a:lnTo>
                  <a:lnTo>
                    <a:pt x="26925" y="0"/>
                  </a:lnTo>
                  <a:close/>
                </a:path>
                <a:path w="76200" h="402589">
                  <a:moveTo>
                    <a:pt x="50614" y="326262"/>
                  </a:moveTo>
                  <a:lnTo>
                    <a:pt x="50547" y="338963"/>
                  </a:lnTo>
                  <a:lnTo>
                    <a:pt x="69704" y="338963"/>
                  </a:lnTo>
                  <a:lnTo>
                    <a:pt x="76074" y="326390"/>
                  </a:lnTo>
                  <a:lnTo>
                    <a:pt x="50614" y="326262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88351" y="3262845"/>
              <a:ext cx="234670" cy="585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70013" y="3362197"/>
              <a:ext cx="76200" cy="428625"/>
            </a:xfrm>
            <a:custGeom>
              <a:avLst/>
              <a:gdLst/>
              <a:ahLst/>
              <a:cxnLst/>
              <a:rect l="l" t="t" r="r" b="b"/>
              <a:pathLst>
                <a:path w="76200" h="4286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428370"/>
                  </a:lnTo>
                  <a:lnTo>
                    <a:pt x="50800" y="428370"/>
                  </a:lnTo>
                  <a:lnTo>
                    <a:pt x="50800" y="63500"/>
                  </a:lnTo>
                  <a:close/>
                </a:path>
                <a:path w="76200" h="4286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86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3472560" y="3777437"/>
              <a:ext cx="1752600" cy="410209"/>
            </a:xfrm>
            <a:custGeom>
              <a:avLst/>
              <a:gdLst/>
              <a:ahLst/>
              <a:cxnLst/>
              <a:rect l="l" t="t" r="r" b="b"/>
              <a:pathLst>
                <a:path w="1752600" h="410210">
                  <a:moveTo>
                    <a:pt x="1752600" y="0"/>
                  </a:moveTo>
                  <a:lnTo>
                    <a:pt x="0" y="0"/>
                  </a:lnTo>
                  <a:lnTo>
                    <a:pt x="0" y="409752"/>
                  </a:lnTo>
                  <a:lnTo>
                    <a:pt x="1752600" y="409752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472560" y="3777437"/>
              <a:ext cx="1752600" cy="410209"/>
            </a:xfrm>
            <a:custGeom>
              <a:avLst/>
              <a:gdLst/>
              <a:ahLst/>
              <a:cxnLst/>
              <a:rect l="l" t="t" r="r" b="b"/>
              <a:pathLst>
                <a:path w="1752600" h="410210">
                  <a:moveTo>
                    <a:pt x="0" y="409752"/>
                  </a:moveTo>
                  <a:lnTo>
                    <a:pt x="1752600" y="409752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409752"/>
                  </a:lnTo>
                  <a:close/>
                </a:path>
              </a:pathLst>
            </a:custGeom>
            <a:ln w="25400">
              <a:solidFill>
                <a:srgbClr val="0F42D2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062476" y="3818001"/>
            <a:ext cx="1082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WIS2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Node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553586" y="3805961"/>
            <a:ext cx="7059295" cy="430530"/>
            <a:chOff x="3553586" y="3805961"/>
            <a:chExt cx="7059295" cy="430530"/>
          </a:xfrm>
        </p:grpSpPr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53586" y="3815676"/>
              <a:ext cx="389559" cy="356400"/>
            </a:xfrm>
            <a:prstGeom prst="rect">
              <a:avLst/>
            </a:prstGeom>
          </p:spPr>
        </p:pic>
        <p:pic>
          <p:nvPicPr>
            <p:cNvPr id="46" name="object 46" descr="User icon in flat style. person icon. Client Symbol 7296447 ...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26853" y="3805961"/>
              <a:ext cx="485775" cy="43050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8463788" y="5564835"/>
            <a:ext cx="1775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download</a:t>
            </a:r>
            <a:r>
              <a:rPr kumimoji="0" sz="1100" b="1" i="0" u="none" strike="noStrike" kern="0" cap="none" spc="-5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recommended</a:t>
            </a:r>
            <a:r>
              <a:rPr kumimoji="0" sz="1100" b="1" i="0" u="none" strike="noStrike" kern="0" cap="none" spc="-6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-2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190746" y="4087380"/>
            <a:ext cx="6230620" cy="1811020"/>
            <a:chOff x="4190746" y="4087380"/>
            <a:chExt cx="6230620" cy="1811020"/>
          </a:xfrm>
        </p:grpSpPr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29100" y="4087380"/>
              <a:ext cx="6192011" cy="181051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310761" y="4187190"/>
              <a:ext cx="6071870" cy="1653539"/>
            </a:xfrm>
            <a:custGeom>
              <a:avLst/>
              <a:gdLst/>
              <a:ahLst/>
              <a:cxnLst/>
              <a:rect l="l" t="t" r="r" b="b"/>
              <a:pathLst>
                <a:path w="6071870" h="1653539">
                  <a:moveTo>
                    <a:pt x="50800" y="63500"/>
                  </a:moveTo>
                  <a:lnTo>
                    <a:pt x="25400" y="63500"/>
                  </a:lnTo>
                  <a:lnTo>
                    <a:pt x="25400" y="1647355"/>
                  </a:lnTo>
                  <a:lnTo>
                    <a:pt x="31114" y="1653032"/>
                  </a:lnTo>
                  <a:lnTo>
                    <a:pt x="6065900" y="1653032"/>
                  </a:lnTo>
                  <a:lnTo>
                    <a:pt x="6071616" y="1647355"/>
                  </a:lnTo>
                  <a:lnTo>
                    <a:pt x="6071616" y="1640332"/>
                  </a:lnTo>
                  <a:lnTo>
                    <a:pt x="50800" y="1640332"/>
                  </a:lnTo>
                  <a:lnTo>
                    <a:pt x="38100" y="1627632"/>
                  </a:lnTo>
                  <a:lnTo>
                    <a:pt x="50800" y="1627632"/>
                  </a:lnTo>
                  <a:lnTo>
                    <a:pt x="50800" y="63500"/>
                  </a:lnTo>
                  <a:close/>
                </a:path>
                <a:path w="6071870" h="1653539">
                  <a:moveTo>
                    <a:pt x="50800" y="1627632"/>
                  </a:moveTo>
                  <a:lnTo>
                    <a:pt x="38100" y="1627632"/>
                  </a:lnTo>
                  <a:lnTo>
                    <a:pt x="50800" y="1640332"/>
                  </a:lnTo>
                  <a:lnTo>
                    <a:pt x="50800" y="1627632"/>
                  </a:lnTo>
                  <a:close/>
                </a:path>
                <a:path w="6071870" h="1653539">
                  <a:moveTo>
                    <a:pt x="6046216" y="1627632"/>
                  </a:moveTo>
                  <a:lnTo>
                    <a:pt x="50800" y="1627632"/>
                  </a:lnTo>
                  <a:lnTo>
                    <a:pt x="50800" y="1640332"/>
                  </a:lnTo>
                  <a:lnTo>
                    <a:pt x="6046216" y="1640332"/>
                  </a:lnTo>
                  <a:lnTo>
                    <a:pt x="6046216" y="1627632"/>
                  </a:lnTo>
                  <a:close/>
                </a:path>
                <a:path w="6071870" h="1653539">
                  <a:moveTo>
                    <a:pt x="6071616" y="49276"/>
                  </a:moveTo>
                  <a:lnTo>
                    <a:pt x="6046216" y="49276"/>
                  </a:lnTo>
                  <a:lnTo>
                    <a:pt x="6046216" y="1640332"/>
                  </a:lnTo>
                  <a:lnTo>
                    <a:pt x="6058916" y="1627632"/>
                  </a:lnTo>
                  <a:lnTo>
                    <a:pt x="6071616" y="1627632"/>
                  </a:lnTo>
                  <a:lnTo>
                    <a:pt x="6071616" y="49276"/>
                  </a:lnTo>
                  <a:close/>
                </a:path>
                <a:path w="6071870" h="1653539">
                  <a:moveTo>
                    <a:pt x="6071616" y="1627632"/>
                  </a:moveTo>
                  <a:lnTo>
                    <a:pt x="6058916" y="1627632"/>
                  </a:lnTo>
                  <a:lnTo>
                    <a:pt x="6046216" y="1640332"/>
                  </a:lnTo>
                  <a:lnTo>
                    <a:pt x="6071616" y="1640332"/>
                  </a:lnTo>
                  <a:lnTo>
                    <a:pt x="6071616" y="1627632"/>
                  </a:lnTo>
                  <a:close/>
                </a:path>
                <a:path w="6071870" h="1653539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6071870" h="1653539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190746" y="4494123"/>
              <a:ext cx="318770" cy="417195"/>
            </a:xfrm>
            <a:custGeom>
              <a:avLst/>
              <a:gdLst/>
              <a:ahLst/>
              <a:cxnLst/>
              <a:rect l="l" t="t" r="r" b="b"/>
              <a:pathLst>
                <a:path w="318770" h="417195">
                  <a:moveTo>
                    <a:pt x="159006" y="190132"/>
                  </a:moveTo>
                  <a:lnTo>
                    <a:pt x="197" y="190132"/>
                  </a:lnTo>
                  <a:lnTo>
                    <a:pt x="197" y="405789"/>
                  </a:lnTo>
                  <a:lnTo>
                    <a:pt x="158987" y="417137"/>
                  </a:lnTo>
                  <a:lnTo>
                    <a:pt x="317777" y="405789"/>
                  </a:lnTo>
                  <a:lnTo>
                    <a:pt x="159337" y="405789"/>
                  </a:lnTo>
                  <a:lnTo>
                    <a:pt x="11558" y="395221"/>
                  </a:lnTo>
                  <a:lnTo>
                    <a:pt x="11558" y="200677"/>
                  </a:lnTo>
                  <a:lnTo>
                    <a:pt x="159006" y="190132"/>
                  </a:lnTo>
                  <a:close/>
                </a:path>
                <a:path w="318770" h="417195">
                  <a:moveTo>
                    <a:pt x="317777" y="190132"/>
                  </a:moveTo>
                  <a:lnTo>
                    <a:pt x="159006" y="190132"/>
                  </a:lnTo>
                  <a:lnTo>
                    <a:pt x="306454" y="200677"/>
                  </a:lnTo>
                  <a:lnTo>
                    <a:pt x="306454" y="395221"/>
                  </a:lnTo>
                  <a:lnTo>
                    <a:pt x="158676" y="405789"/>
                  </a:lnTo>
                  <a:lnTo>
                    <a:pt x="317777" y="405789"/>
                  </a:lnTo>
                  <a:lnTo>
                    <a:pt x="317777" y="190132"/>
                  </a:lnTo>
                  <a:close/>
                </a:path>
                <a:path w="318770" h="417195">
                  <a:moveTo>
                    <a:pt x="159001" y="0"/>
                  </a:moveTo>
                  <a:lnTo>
                    <a:pt x="112588" y="9372"/>
                  </a:lnTo>
                  <a:lnTo>
                    <a:pt x="74686" y="34933"/>
                  </a:lnTo>
                  <a:lnTo>
                    <a:pt x="49133" y="72849"/>
                  </a:lnTo>
                  <a:lnTo>
                    <a:pt x="39791" y="119143"/>
                  </a:lnTo>
                  <a:lnTo>
                    <a:pt x="39697" y="187285"/>
                  </a:lnTo>
                  <a:lnTo>
                    <a:pt x="0" y="190132"/>
                  </a:lnTo>
                  <a:lnTo>
                    <a:pt x="318175" y="190132"/>
                  </a:lnTo>
                  <a:lnTo>
                    <a:pt x="278240" y="187286"/>
                  </a:lnTo>
                  <a:lnTo>
                    <a:pt x="278240" y="186524"/>
                  </a:lnTo>
                  <a:lnTo>
                    <a:pt x="51114" y="186524"/>
                  </a:lnTo>
                  <a:lnTo>
                    <a:pt x="51133" y="119143"/>
                  </a:lnTo>
                  <a:lnTo>
                    <a:pt x="59583" y="77264"/>
                  </a:lnTo>
                  <a:lnTo>
                    <a:pt x="82705" y="42949"/>
                  </a:lnTo>
                  <a:lnTo>
                    <a:pt x="117001" y="19813"/>
                  </a:lnTo>
                  <a:lnTo>
                    <a:pt x="159001" y="11329"/>
                  </a:lnTo>
                  <a:lnTo>
                    <a:pt x="208317" y="11329"/>
                  </a:lnTo>
                  <a:lnTo>
                    <a:pt x="205415" y="9372"/>
                  </a:lnTo>
                  <a:lnTo>
                    <a:pt x="159001" y="0"/>
                  </a:lnTo>
                  <a:close/>
                </a:path>
                <a:path w="318770" h="417195">
                  <a:moveTo>
                    <a:pt x="159006" y="28356"/>
                  </a:moveTo>
                  <a:lnTo>
                    <a:pt x="123687" y="35491"/>
                  </a:lnTo>
                  <a:lnTo>
                    <a:pt x="94845" y="54947"/>
                  </a:lnTo>
                  <a:lnTo>
                    <a:pt x="75399" y="83805"/>
                  </a:lnTo>
                  <a:lnTo>
                    <a:pt x="68269" y="119143"/>
                  </a:lnTo>
                  <a:lnTo>
                    <a:pt x="68269" y="185380"/>
                  </a:lnTo>
                  <a:lnTo>
                    <a:pt x="50971" y="186524"/>
                  </a:lnTo>
                  <a:lnTo>
                    <a:pt x="266898" y="186524"/>
                  </a:lnTo>
                  <a:lnTo>
                    <a:pt x="249743" y="185380"/>
                  </a:lnTo>
                  <a:lnTo>
                    <a:pt x="249743" y="184586"/>
                  </a:lnTo>
                  <a:lnTo>
                    <a:pt x="79611" y="184586"/>
                  </a:lnTo>
                  <a:lnTo>
                    <a:pt x="79611" y="119143"/>
                  </a:lnTo>
                  <a:lnTo>
                    <a:pt x="85851" y="88223"/>
                  </a:lnTo>
                  <a:lnTo>
                    <a:pt x="102866" y="62972"/>
                  </a:lnTo>
                  <a:lnTo>
                    <a:pt x="128103" y="45948"/>
                  </a:lnTo>
                  <a:lnTo>
                    <a:pt x="159006" y="39705"/>
                  </a:lnTo>
                  <a:lnTo>
                    <a:pt x="200572" y="39705"/>
                  </a:lnTo>
                  <a:lnTo>
                    <a:pt x="194325" y="35491"/>
                  </a:lnTo>
                  <a:lnTo>
                    <a:pt x="159006" y="28356"/>
                  </a:lnTo>
                  <a:close/>
                </a:path>
                <a:path w="318770" h="417195">
                  <a:moveTo>
                    <a:pt x="208317" y="11329"/>
                  </a:moveTo>
                  <a:lnTo>
                    <a:pt x="159001" y="11329"/>
                  </a:lnTo>
                  <a:lnTo>
                    <a:pt x="200999" y="19813"/>
                  </a:lnTo>
                  <a:lnTo>
                    <a:pt x="235295" y="42949"/>
                  </a:lnTo>
                  <a:lnTo>
                    <a:pt x="258419" y="77264"/>
                  </a:lnTo>
                  <a:lnTo>
                    <a:pt x="266870" y="119143"/>
                  </a:lnTo>
                  <a:lnTo>
                    <a:pt x="266898" y="186524"/>
                  </a:lnTo>
                  <a:lnTo>
                    <a:pt x="278240" y="186524"/>
                  </a:lnTo>
                  <a:lnTo>
                    <a:pt x="278212" y="119143"/>
                  </a:lnTo>
                  <a:lnTo>
                    <a:pt x="268870" y="72849"/>
                  </a:lnTo>
                  <a:lnTo>
                    <a:pt x="243316" y="34933"/>
                  </a:lnTo>
                  <a:lnTo>
                    <a:pt x="208317" y="11329"/>
                  </a:lnTo>
                  <a:close/>
                </a:path>
                <a:path w="318770" h="417195">
                  <a:moveTo>
                    <a:pt x="159006" y="178755"/>
                  </a:moveTo>
                  <a:lnTo>
                    <a:pt x="79611" y="184586"/>
                  </a:lnTo>
                  <a:lnTo>
                    <a:pt x="238401" y="184586"/>
                  </a:lnTo>
                  <a:lnTo>
                    <a:pt x="159006" y="178755"/>
                  </a:lnTo>
                  <a:close/>
                </a:path>
                <a:path w="318770" h="417195">
                  <a:moveTo>
                    <a:pt x="200572" y="39705"/>
                  </a:moveTo>
                  <a:lnTo>
                    <a:pt x="159006" y="39705"/>
                  </a:lnTo>
                  <a:lnTo>
                    <a:pt x="189909" y="45948"/>
                  </a:lnTo>
                  <a:lnTo>
                    <a:pt x="215146" y="62972"/>
                  </a:lnTo>
                  <a:lnTo>
                    <a:pt x="232161" y="88223"/>
                  </a:lnTo>
                  <a:lnTo>
                    <a:pt x="238401" y="119143"/>
                  </a:lnTo>
                  <a:lnTo>
                    <a:pt x="238401" y="184586"/>
                  </a:lnTo>
                  <a:lnTo>
                    <a:pt x="249743" y="184586"/>
                  </a:lnTo>
                  <a:lnTo>
                    <a:pt x="249743" y="119143"/>
                  </a:lnTo>
                  <a:lnTo>
                    <a:pt x="242613" y="83805"/>
                  </a:lnTo>
                  <a:lnTo>
                    <a:pt x="223167" y="54947"/>
                  </a:lnTo>
                  <a:lnTo>
                    <a:pt x="200572" y="39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0051" y="4746667"/>
              <a:ext cx="79399" cy="107837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3039872" y="4256659"/>
            <a:ext cx="1223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access</a:t>
            </a:r>
            <a:r>
              <a:rPr kumimoji="0" sz="1400" b="1" i="0" u="none" strike="noStrike" kern="0" cap="none" spc="-1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control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010" y="1136395"/>
            <a:ext cx="11483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Within</a:t>
            </a:r>
            <a:r>
              <a:rPr kumimoji="0" sz="2000" b="1" i="0" u="none" strike="noStrike" kern="0" cap="none" spc="-1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wis2box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datasets</a:t>
            </a:r>
            <a:r>
              <a:rPr kumimoji="0" sz="2000" b="1" i="0" u="none" strike="noStrike" kern="0" cap="none" spc="-1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can</a:t>
            </a:r>
            <a:r>
              <a:rPr kumimoji="0" sz="2000" b="1" i="0" u="none" strike="noStrike" kern="0" cap="none" spc="-1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000" b="1" i="0" u="none" strike="noStrike" kern="0" cap="none" spc="-1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made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restricted</a:t>
            </a:r>
            <a:r>
              <a:rPr kumimoji="0" sz="2000" b="1" i="0" u="none" strike="noStrike" kern="0" cap="none" spc="-1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by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adding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token</a:t>
            </a:r>
            <a:r>
              <a:rPr kumimoji="0" sz="2000" b="1" i="0" u="none" strike="noStrike" kern="0" cap="none" spc="-1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using</a:t>
            </a:r>
            <a:r>
              <a:rPr kumimoji="0" sz="2000" b="1" i="0" u="none" strike="noStrike" kern="0" cap="none" spc="204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‘wis2box</a:t>
            </a:r>
            <a:r>
              <a:rPr kumimoji="0" sz="2000" b="1" i="0" u="none" strike="noStrike" kern="0" cap="none" spc="-1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auth’</a:t>
            </a:r>
            <a:r>
              <a:rPr kumimoji="0" sz="2000" b="1" i="0" u="none" strike="noStrike" kern="0" cap="none" spc="-2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commands: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2160" cy="790575"/>
            <a:chOff x="-4762" y="-4762"/>
            <a:chExt cx="12202160" cy="790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26944"/>
              <a:ext cx="12192000" cy="585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  <a:lnTo>
                    <a:pt x="0" y="0"/>
                  </a:lnTo>
                  <a:lnTo>
                    <a:pt x="0" y="728217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405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access</a:t>
            </a:r>
            <a:r>
              <a:rPr spc="-305" dirty="0"/>
              <a:t> </a:t>
            </a:r>
            <a:r>
              <a:rPr spc="-45" dirty="0"/>
              <a:t>control</a:t>
            </a:r>
            <a:r>
              <a:rPr spc="-300" dirty="0"/>
              <a:t> </a:t>
            </a:r>
            <a:r>
              <a:rPr spc="-80" dirty="0"/>
              <a:t>in</a:t>
            </a:r>
            <a:r>
              <a:rPr spc="-285" dirty="0"/>
              <a:t> </a:t>
            </a:r>
            <a:r>
              <a:rPr spc="-10" dirty="0"/>
              <a:t>wis2box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7728" y="2202002"/>
            <a:ext cx="117976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1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access</a:t>
            </a:r>
            <a:r>
              <a:rPr kumimoji="0" sz="2000" b="1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1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restricted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dataset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Consumers</a:t>
            </a:r>
            <a:r>
              <a:rPr kumimoji="0" sz="2000" b="1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should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include</a:t>
            </a:r>
            <a:r>
              <a:rPr kumimoji="0" sz="2000" b="1" i="0" u="none" strike="noStrike" kern="0" cap="none" spc="-1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6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1" i="0" u="none" strike="noStrike" kern="0" cap="none" spc="-114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token</a:t>
            </a:r>
            <a:r>
              <a:rPr kumimoji="0" sz="2000" b="1" i="0" u="none" strike="noStrike" kern="0" cap="none" spc="-1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000" b="1" i="0" u="none" strike="noStrike" kern="0" cap="none" spc="-114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6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1" i="0" u="none" strike="noStrike" kern="0" cap="none" spc="-12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HTTP-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request-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headers: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38882" y="5404789"/>
            <a:ext cx="9392285" cy="1323975"/>
          </a:xfrm>
          <a:custGeom>
            <a:avLst/>
            <a:gdLst/>
            <a:ahLst/>
            <a:cxnLst/>
            <a:rect l="l" t="t" r="r" b="b"/>
            <a:pathLst>
              <a:path w="9392285" h="1323975">
                <a:moveTo>
                  <a:pt x="9391904" y="0"/>
                </a:moveTo>
                <a:lnTo>
                  <a:pt x="0" y="0"/>
                </a:lnTo>
                <a:lnTo>
                  <a:pt x="0" y="1323467"/>
                </a:lnTo>
                <a:lnTo>
                  <a:pt x="9391904" y="1323467"/>
                </a:lnTo>
                <a:lnTo>
                  <a:pt x="9391904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8002" y="5419140"/>
            <a:ext cx="914654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Datasets</a:t>
            </a:r>
            <a:r>
              <a:rPr kumimoji="0" sz="2000" b="0" i="0" u="none" strike="noStrike" kern="0" cap="none" spc="-1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published</a:t>
            </a:r>
            <a:r>
              <a:rPr kumimoji="0" sz="2000" b="0" i="0" u="none" strike="noStrike" kern="0" cap="none" spc="-12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on</a:t>
            </a:r>
            <a:r>
              <a:rPr kumimoji="0" sz="2000" b="0" i="0" u="none" strike="noStrike" kern="0" cap="none" spc="-12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1" u="none" strike="noStrike" kern="0" cap="none" spc="-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origin/a/wis2/…/data/core/…</a:t>
            </a:r>
            <a:r>
              <a:rPr kumimoji="0" sz="2000" b="1" i="1" u="none" strike="noStrike" kern="0" cap="none" spc="-13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should</a:t>
            </a:r>
            <a:r>
              <a:rPr kumimoji="0" sz="2000" b="0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1" u="sng" strike="noStrike" kern="0" cap="none" spc="-5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>
                  <a:solidFill>
                    <a:srgbClr val="17375E"/>
                  </a:solidFill>
                </a:uFill>
                <a:latin typeface="Trebuchet MS"/>
                <a:cs typeface="Trebuchet MS"/>
              </a:rPr>
              <a:t>never</a:t>
            </a:r>
            <a:r>
              <a:rPr kumimoji="0" sz="2000" b="1" i="1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000" b="1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restricted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Datasets</a:t>
            </a:r>
            <a:r>
              <a:rPr kumimoji="0" sz="2000" b="0" i="0" u="none" strike="noStrike" kern="0" cap="none" spc="-1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published</a:t>
            </a:r>
            <a:r>
              <a:rPr kumimoji="0" sz="2000" b="0" i="0" u="none" strike="noStrike" kern="0" cap="none" spc="-1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on</a:t>
            </a:r>
            <a:r>
              <a:rPr kumimoji="0" sz="2000" b="0" i="0" u="none" strike="noStrike" kern="0" cap="none" spc="-10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origin/a/wis2/…/data/recommended/…</a:t>
            </a:r>
            <a:r>
              <a:rPr kumimoji="0" sz="2000" b="1" i="1" u="none" strike="noStrike" kern="0" cap="none" spc="-12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>
                  <a:solidFill>
                    <a:srgbClr val="17375E"/>
                  </a:solidFill>
                </a:uFill>
                <a:latin typeface="Trebuchet MS"/>
                <a:cs typeface="Trebuchet MS"/>
              </a:rPr>
              <a:t>can</a:t>
            </a:r>
            <a:r>
              <a:rPr kumimoji="0" sz="2000" b="1" i="1" u="none" strike="noStrike" kern="0" cap="none" spc="-10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000" b="1" i="1" u="none" strike="noStrike" kern="0" cap="none" spc="-8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restricted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9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limit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000" b="0" i="0" u="none" strike="noStrike" kern="0" cap="none" spc="-16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sharing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specific</a:t>
            </a:r>
            <a:r>
              <a:rPr kumimoji="0" sz="2000" b="0" i="0" u="none" strike="noStrike" kern="0" cap="none" spc="-19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data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Trebuchet MS"/>
                <a:cs typeface="Trebuchet MS"/>
              </a:rPr>
              <a:t>consumers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014" y="1622717"/>
            <a:ext cx="12052935" cy="246379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wis2box</a:t>
            </a:r>
            <a:r>
              <a:rPr kumimoji="0" sz="1600" b="0" i="0" u="none" strike="noStrike" kern="0" cap="none" spc="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auth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add-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token</a:t>
            </a:r>
            <a:r>
              <a:rPr kumimoji="0" sz="1600" b="0" i="0" u="none" strike="noStrike" kern="0" cap="none" spc="1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--metadata-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id</a:t>
            </a:r>
            <a:r>
              <a:rPr kumimoji="0" sz="1600" b="0" i="0" u="none" strike="noStrike" kern="0" cap="none" spc="1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urn:wmo:md:mw-mw_met_centre:surface-weather-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observations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Secr3tT0ken1!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861" y="2668689"/>
            <a:ext cx="7185025" cy="246379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curl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-H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"Authorization: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Bearer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Secr3tT0ken1!"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"&lt;canonical-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onsolas"/>
                <a:cs typeface="Consolas"/>
              </a:rPr>
              <a:t>url&gt;"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5409" y="4077715"/>
            <a:ext cx="13798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proxy</a:t>
            </a:r>
            <a:r>
              <a:rPr kumimoji="0" sz="11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sz="1100" b="1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wis2box-</a:t>
            </a:r>
            <a:r>
              <a:rPr kumimoji="0" sz="11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auth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8263" y="3328542"/>
            <a:ext cx="6002655" cy="1675764"/>
          </a:xfrm>
          <a:custGeom>
            <a:avLst/>
            <a:gdLst/>
            <a:ahLst/>
            <a:cxnLst/>
            <a:rect l="l" t="t" r="r" b="b"/>
            <a:pathLst>
              <a:path w="6002655" h="1675764">
                <a:moveTo>
                  <a:pt x="0" y="1675764"/>
                </a:moveTo>
                <a:lnTo>
                  <a:pt x="6002528" y="1675764"/>
                </a:lnTo>
                <a:lnTo>
                  <a:pt x="6002528" y="0"/>
                </a:lnTo>
                <a:lnTo>
                  <a:pt x="0" y="0"/>
                </a:lnTo>
                <a:lnTo>
                  <a:pt x="0" y="1675764"/>
                </a:lnTo>
                <a:close/>
              </a:path>
            </a:pathLst>
          </a:custGeom>
          <a:ln w="25400">
            <a:solidFill>
              <a:srgbClr val="0F42D2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0794" y="3315665"/>
            <a:ext cx="1371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WIS2-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in-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a-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box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54953" y="3926268"/>
            <a:ext cx="1181735" cy="715010"/>
            <a:chOff x="5854953" y="3926268"/>
            <a:chExt cx="1181735" cy="715010"/>
          </a:xfrm>
        </p:grpSpPr>
        <p:sp>
          <p:nvSpPr>
            <p:cNvPr id="17" name="object 17"/>
            <p:cNvSpPr/>
            <p:nvPr/>
          </p:nvSpPr>
          <p:spPr>
            <a:xfrm>
              <a:off x="5854953" y="3926268"/>
              <a:ext cx="1181735" cy="715010"/>
            </a:xfrm>
            <a:custGeom>
              <a:avLst/>
              <a:gdLst/>
              <a:ahLst/>
              <a:cxnLst/>
              <a:rect l="l" t="t" r="r" b="b"/>
              <a:pathLst>
                <a:path w="1181734" h="715010">
                  <a:moveTo>
                    <a:pt x="1181201" y="0"/>
                  </a:moveTo>
                  <a:lnTo>
                    <a:pt x="0" y="0"/>
                  </a:lnTo>
                  <a:lnTo>
                    <a:pt x="0" y="714946"/>
                  </a:lnTo>
                  <a:lnTo>
                    <a:pt x="1181201" y="714946"/>
                  </a:lnTo>
                  <a:lnTo>
                    <a:pt x="1181201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9710" y="4369231"/>
              <a:ext cx="696988" cy="15628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969634" y="3932935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HTTP-proxy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925056" y="4463821"/>
            <a:ext cx="3420110" cy="234950"/>
            <a:chOff x="6925056" y="4463821"/>
            <a:chExt cx="3420110" cy="23495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5056" y="4463821"/>
              <a:ext cx="3419855" cy="2346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45071" y="4526025"/>
              <a:ext cx="3262629" cy="79375"/>
            </a:xfrm>
            <a:custGeom>
              <a:avLst/>
              <a:gdLst/>
              <a:ahLst/>
              <a:cxnLst/>
              <a:rect l="l" t="t" r="r" b="b"/>
              <a:pathLst>
                <a:path w="3262629" h="79375">
                  <a:moveTo>
                    <a:pt x="76242" y="25384"/>
                  </a:moveTo>
                  <a:lnTo>
                    <a:pt x="76141" y="37465"/>
                  </a:lnTo>
                  <a:lnTo>
                    <a:pt x="76030" y="50784"/>
                  </a:lnTo>
                  <a:lnTo>
                    <a:pt x="3262249" y="78867"/>
                  </a:lnTo>
                  <a:lnTo>
                    <a:pt x="3262376" y="53467"/>
                  </a:lnTo>
                  <a:lnTo>
                    <a:pt x="76242" y="25384"/>
                  </a:lnTo>
                  <a:close/>
                </a:path>
                <a:path w="3262629" h="79375">
                  <a:moveTo>
                    <a:pt x="76453" y="0"/>
                  </a:moveTo>
                  <a:lnTo>
                    <a:pt x="0" y="37465"/>
                  </a:lnTo>
                  <a:lnTo>
                    <a:pt x="75819" y="76200"/>
                  </a:lnTo>
                  <a:lnTo>
                    <a:pt x="76008" y="53467"/>
                  </a:lnTo>
                  <a:lnTo>
                    <a:pt x="76030" y="50784"/>
                  </a:lnTo>
                  <a:lnTo>
                    <a:pt x="63371" y="50784"/>
                  </a:lnTo>
                  <a:lnTo>
                    <a:pt x="63505" y="37465"/>
                  </a:lnTo>
                  <a:lnTo>
                    <a:pt x="63625" y="25384"/>
                  </a:lnTo>
                  <a:lnTo>
                    <a:pt x="76242" y="25384"/>
                  </a:lnTo>
                  <a:lnTo>
                    <a:pt x="76453" y="0"/>
                  </a:lnTo>
                  <a:close/>
                </a:path>
                <a:path w="3262629" h="79375">
                  <a:moveTo>
                    <a:pt x="76242" y="25384"/>
                  </a:moveTo>
                  <a:lnTo>
                    <a:pt x="63625" y="25384"/>
                  </a:lnTo>
                  <a:lnTo>
                    <a:pt x="63371" y="50784"/>
                  </a:lnTo>
                  <a:lnTo>
                    <a:pt x="76030" y="50784"/>
                  </a:lnTo>
                  <a:lnTo>
                    <a:pt x="76141" y="37465"/>
                  </a:lnTo>
                  <a:lnTo>
                    <a:pt x="76242" y="2538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55154" y="4607433"/>
            <a:ext cx="24307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“Authorization:</a:t>
            </a:r>
            <a:r>
              <a:rPr kumimoji="0" sz="1100" b="1" i="0" u="none" strike="noStrike" kern="0" cap="none" spc="-3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Bearer</a:t>
            </a:r>
            <a:r>
              <a:rPr kumimoji="0" sz="1100" b="1" i="0" u="none" strike="noStrike" kern="0" cap="none" spc="-4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Calibri"/>
                <a:cs typeface="Calibri"/>
              </a:rPr>
              <a:t>Secr3tT0ken1!”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48283" y="3627666"/>
            <a:ext cx="9645015" cy="1254760"/>
            <a:chOff x="1148283" y="3627666"/>
            <a:chExt cx="9645015" cy="1254760"/>
          </a:xfrm>
        </p:grpSpPr>
        <p:pic>
          <p:nvPicPr>
            <p:cNvPr id="25" name="object 25" descr="User icon in flat style. person icon. Client Symbol 7296447 ..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07446" y="4451883"/>
              <a:ext cx="485775" cy="43050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31765" y="3692880"/>
              <a:ext cx="318770" cy="417195"/>
            </a:xfrm>
            <a:custGeom>
              <a:avLst/>
              <a:gdLst/>
              <a:ahLst/>
              <a:cxnLst/>
              <a:rect l="l" t="t" r="r" b="b"/>
              <a:pathLst>
                <a:path w="318770" h="417195">
                  <a:moveTo>
                    <a:pt x="159006" y="190132"/>
                  </a:moveTo>
                  <a:lnTo>
                    <a:pt x="197" y="190132"/>
                  </a:lnTo>
                  <a:lnTo>
                    <a:pt x="197" y="405789"/>
                  </a:lnTo>
                  <a:lnTo>
                    <a:pt x="158987" y="417137"/>
                  </a:lnTo>
                  <a:lnTo>
                    <a:pt x="317777" y="405789"/>
                  </a:lnTo>
                  <a:lnTo>
                    <a:pt x="159337" y="405789"/>
                  </a:lnTo>
                  <a:lnTo>
                    <a:pt x="11558" y="395221"/>
                  </a:lnTo>
                  <a:lnTo>
                    <a:pt x="11558" y="200677"/>
                  </a:lnTo>
                  <a:lnTo>
                    <a:pt x="159006" y="190132"/>
                  </a:lnTo>
                  <a:close/>
                </a:path>
                <a:path w="318770" h="417195">
                  <a:moveTo>
                    <a:pt x="317777" y="190132"/>
                  </a:moveTo>
                  <a:lnTo>
                    <a:pt x="159006" y="190132"/>
                  </a:lnTo>
                  <a:lnTo>
                    <a:pt x="306454" y="200677"/>
                  </a:lnTo>
                  <a:lnTo>
                    <a:pt x="306454" y="395221"/>
                  </a:lnTo>
                  <a:lnTo>
                    <a:pt x="158676" y="405789"/>
                  </a:lnTo>
                  <a:lnTo>
                    <a:pt x="317777" y="405789"/>
                  </a:lnTo>
                  <a:lnTo>
                    <a:pt x="317777" y="190132"/>
                  </a:lnTo>
                  <a:close/>
                </a:path>
                <a:path w="318770" h="417195">
                  <a:moveTo>
                    <a:pt x="159001" y="0"/>
                  </a:moveTo>
                  <a:lnTo>
                    <a:pt x="112588" y="9372"/>
                  </a:lnTo>
                  <a:lnTo>
                    <a:pt x="74686" y="34933"/>
                  </a:lnTo>
                  <a:lnTo>
                    <a:pt x="49133" y="72849"/>
                  </a:lnTo>
                  <a:lnTo>
                    <a:pt x="39791" y="119143"/>
                  </a:lnTo>
                  <a:lnTo>
                    <a:pt x="39697" y="187285"/>
                  </a:lnTo>
                  <a:lnTo>
                    <a:pt x="0" y="190132"/>
                  </a:lnTo>
                  <a:lnTo>
                    <a:pt x="318175" y="190132"/>
                  </a:lnTo>
                  <a:lnTo>
                    <a:pt x="278240" y="187286"/>
                  </a:lnTo>
                  <a:lnTo>
                    <a:pt x="278240" y="186524"/>
                  </a:lnTo>
                  <a:lnTo>
                    <a:pt x="51114" y="186524"/>
                  </a:lnTo>
                  <a:lnTo>
                    <a:pt x="51133" y="119143"/>
                  </a:lnTo>
                  <a:lnTo>
                    <a:pt x="59583" y="77264"/>
                  </a:lnTo>
                  <a:lnTo>
                    <a:pt x="82705" y="42949"/>
                  </a:lnTo>
                  <a:lnTo>
                    <a:pt x="117002" y="19813"/>
                  </a:lnTo>
                  <a:lnTo>
                    <a:pt x="159001" y="11329"/>
                  </a:lnTo>
                  <a:lnTo>
                    <a:pt x="208317" y="11329"/>
                  </a:lnTo>
                  <a:lnTo>
                    <a:pt x="205415" y="9372"/>
                  </a:lnTo>
                  <a:lnTo>
                    <a:pt x="159001" y="0"/>
                  </a:lnTo>
                  <a:close/>
                </a:path>
                <a:path w="318770" h="417195">
                  <a:moveTo>
                    <a:pt x="159006" y="28356"/>
                  </a:moveTo>
                  <a:lnTo>
                    <a:pt x="123687" y="35491"/>
                  </a:lnTo>
                  <a:lnTo>
                    <a:pt x="94845" y="54947"/>
                  </a:lnTo>
                  <a:lnTo>
                    <a:pt x="75400" y="83805"/>
                  </a:lnTo>
                  <a:lnTo>
                    <a:pt x="68269" y="119143"/>
                  </a:lnTo>
                  <a:lnTo>
                    <a:pt x="68269" y="185380"/>
                  </a:lnTo>
                  <a:lnTo>
                    <a:pt x="50971" y="186524"/>
                  </a:lnTo>
                  <a:lnTo>
                    <a:pt x="266898" y="186524"/>
                  </a:lnTo>
                  <a:lnTo>
                    <a:pt x="249743" y="185380"/>
                  </a:lnTo>
                  <a:lnTo>
                    <a:pt x="249743" y="184586"/>
                  </a:lnTo>
                  <a:lnTo>
                    <a:pt x="79611" y="184586"/>
                  </a:lnTo>
                  <a:lnTo>
                    <a:pt x="79611" y="119143"/>
                  </a:lnTo>
                  <a:lnTo>
                    <a:pt x="85851" y="88223"/>
                  </a:lnTo>
                  <a:lnTo>
                    <a:pt x="102866" y="62972"/>
                  </a:lnTo>
                  <a:lnTo>
                    <a:pt x="128103" y="45948"/>
                  </a:lnTo>
                  <a:lnTo>
                    <a:pt x="159006" y="39705"/>
                  </a:lnTo>
                  <a:lnTo>
                    <a:pt x="200572" y="39705"/>
                  </a:lnTo>
                  <a:lnTo>
                    <a:pt x="194325" y="35491"/>
                  </a:lnTo>
                  <a:lnTo>
                    <a:pt x="159006" y="28356"/>
                  </a:lnTo>
                  <a:close/>
                </a:path>
                <a:path w="318770" h="417195">
                  <a:moveTo>
                    <a:pt x="208317" y="11329"/>
                  </a:moveTo>
                  <a:lnTo>
                    <a:pt x="159001" y="11329"/>
                  </a:lnTo>
                  <a:lnTo>
                    <a:pt x="200999" y="19813"/>
                  </a:lnTo>
                  <a:lnTo>
                    <a:pt x="235296" y="42949"/>
                  </a:lnTo>
                  <a:lnTo>
                    <a:pt x="258419" y="77264"/>
                  </a:lnTo>
                  <a:lnTo>
                    <a:pt x="266870" y="119143"/>
                  </a:lnTo>
                  <a:lnTo>
                    <a:pt x="266898" y="186524"/>
                  </a:lnTo>
                  <a:lnTo>
                    <a:pt x="278240" y="186524"/>
                  </a:lnTo>
                  <a:lnTo>
                    <a:pt x="278212" y="119143"/>
                  </a:lnTo>
                  <a:lnTo>
                    <a:pt x="268870" y="72849"/>
                  </a:lnTo>
                  <a:lnTo>
                    <a:pt x="243317" y="34933"/>
                  </a:lnTo>
                  <a:lnTo>
                    <a:pt x="208317" y="11329"/>
                  </a:lnTo>
                  <a:close/>
                </a:path>
                <a:path w="318770" h="417195">
                  <a:moveTo>
                    <a:pt x="159006" y="178755"/>
                  </a:moveTo>
                  <a:lnTo>
                    <a:pt x="79611" y="184586"/>
                  </a:lnTo>
                  <a:lnTo>
                    <a:pt x="238401" y="184586"/>
                  </a:lnTo>
                  <a:lnTo>
                    <a:pt x="159006" y="178755"/>
                  </a:lnTo>
                  <a:close/>
                </a:path>
                <a:path w="318770" h="417195">
                  <a:moveTo>
                    <a:pt x="200572" y="39705"/>
                  </a:moveTo>
                  <a:lnTo>
                    <a:pt x="159006" y="39705"/>
                  </a:lnTo>
                  <a:lnTo>
                    <a:pt x="189909" y="45948"/>
                  </a:lnTo>
                  <a:lnTo>
                    <a:pt x="215146" y="62972"/>
                  </a:lnTo>
                  <a:lnTo>
                    <a:pt x="232162" y="88223"/>
                  </a:lnTo>
                  <a:lnTo>
                    <a:pt x="238401" y="119143"/>
                  </a:lnTo>
                  <a:lnTo>
                    <a:pt x="238401" y="184586"/>
                  </a:lnTo>
                  <a:lnTo>
                    <a:pt x="249743" y="184586"/>
                  </a:lnTo>
                  <a:lnTo>
                    <a:pt x="249743" y="119143"/>
                  </a:lnTo>
                  <a:lnTo>
                    <a:pt x="242613" y="83805"/>
                  </a:lnTo>
                  <a:lnTo>
                    <a:pt x="223167" y="54947"/>
                  </a:lnTo>
                  <a:lnTo>
                    <a:pt x="200572" y="39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1070" y="3945424"/>
              <a:ext cx="79399" cy="1078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148283" y="3627666"/>
              <a:ext cx="3014345" cy="905510"/>
            </a:xfrm>
            <a:custGeom>
              <a:avLst/>
              <a:gdLst/>
              <a:ahLst/>
              <a:cxnLst/>
              <a:rect l="l" t="t" r="r" b="b"/>
              <a:pathLst>
                <a:path w="3014345" h="905510">
                  <a:moveTo>
                    <a:pt x="3014091" y="0"/>
                  </a:moveTo>
                  <a:lnTo>
                    <a:pt x="0" y="0"/>
                  </a:lnTo>
                  <a:lnTo>
                    <a:pt x="0" y="905471"/>
                  </a:lnTo>
                  <a:lnTo>
                    <a:pt x="3014091" y="905471"/>
                  </a:lnTo>
                  <a:lnTo>
                    <a:pt x="3014091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9" name="object 29" descr="MinIO | Understand the guidelines for using MinIO's marks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7092" y="3740416"/>
              <a:ext cx="939571" cy="13321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302257" y="4134739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5" h="331470">
                  <a:moveTo>
                    <a:pt x="1233309" y="0"/>
                  </a:moveTo>
                  <a:lnTo>
                    <a:pt x="0" y="0"/>
                  </a:lnTo>
                  <a:lnTo>
                    <a:pt x="0" y="331216"/>
                  </a:lnTo>
                  <a:lnTo>
                    <a:pt x="1233309" y="331216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02258" y="4134739"/>
            <a:ext cx="1233805" cy="3314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79705" marR="0" lvl="0" indent="0" defTabSz="914400" eaLnBrk="1" fontAlgn="auto" latinLnBrk="0" hangingPunct="1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incoming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90495" y="4121911"/>
            <a:ext cx="1892935" cy="335915"/>
            <a:chOff x="2190495" y="4121911"/>
            <a:chExt cx="1892935" cy="335915"/>
          </a:xfrm>
        </p:grpSpPr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0495" y="4147489"/>
              <a:ext cx="296811" cy="30982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849879" y="4121911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70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017266" y="4156075"/>
            <a:ext cx="442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public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38117" y="3781196"/>
            <a:ext cx="7046595" cy="663575"/>
            <a:chOff x="3738117" y="3781196"/>
            <a:chExt cx="7046595" cy="663575"/>
          </a:xfrm>
        </p:grpSpPr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8117" y="4134662"/>
              <a:ext cx="296811" cy="309829"/>
            </a:xfrm>
            <a:prstGeom prst="rect">
              <a:avLst/>
            </a:prstGeom>
          </p:spPr>
        </p:pic>
        <p:pic>
          <p:nvPicPr>
            <p:cNvPr id="38" name="object 38" descr="User icon in flat style. person icon. Client Symbol 7296447 ..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98429" y="3781196"/>
              <a:ext cx="485775" cy="43050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7435" y="3954805"/>
              <a:ext cx="3419855" cy="23467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036180" y="4017136"/>
              <a:ext cx="3262629" cy="79375"/>
            </a:xfrm>
            <a:custGeom>
              <a:avLst/>
              <a:gdLst/>
              <a:ahLst/>
              <a:cxnLst/>
              <a:rect l="l" t="t" r="r" b="b"/>
              <a:pathLst>
                <a:path w="3262629" h="79375">
                  <a:moveTo>
                    <a:pt x="76242" y="25385"/>
                  </a:moveTo>
                  <a:lnTo>
                    <a:pt x="76141" y="37464"/>
                  </a:lnTo>
                  <a:lnTo>
                    <a:pt x="76030" y="50784"/>
                  </a:lnTo>
                  <a:lnTo>
                    <a:pt x="3262249" y="78867"/>
                  </a:lnTo>
                  <a:lnTo>
                    <a:pt x="3262376" y="53467"/>
                  </a:lnTo>
                  <a:lnTo>
                    <a:pt x="76242" y="25385"/>
                  </a:lnTo>
                  <a:close/>
                </a:path>
                <a:path w="3262629" h="79375">
                  <a:moveTo>
                    <a:pt x="76453" y="0"/>
                  </a:moveTo>
                  <a:lnTo>
                    <a:pt x="0" y="37464"/>
                  </a:lnTo>
                  <a:lnTo>
                    <a:pt x="75819" y="76200"/>
                  </a:lnTo>
                  <a:lnTo>
                    <a:pt x="76008" y="53467"/>
                  </a:lnTo>
                  <a:lnTo>
                    <a:pt x="76030" y="50784"/>
                  </a:lnTo>
                  <a:lnTo>
                    <a:pt x="63372" y="50784"/>
                  </a:lnTo>
                  <a:lnTo>
                    <a:pt x="63499" y="25385"/>
                  </a:lnTo>
                  <a:lnTo>
                    <a:pt x="76242" y="25385"/>
                  </a:lnTo>
                  <a:lnTo>
                    <a:pt x="76453" y="0"/>
                  </a:lnTo>
                  <a:close/>
                </a:path>
                <a:path w="3262629" h="79375">
                  <a:moveTo>
                    <a:pt x="76242" y="25385"/>
                  </a:moveTo>
                  <a:lnTo>
                    <a:pt x="63499" y="25385"/>
                  </a:lnTo>
                  <a:lnTo>
                    <a:pt x="63372" y="50784"/>
                  </a:lnTo>
                  <a:lnTo>
                    <a:pt x="76030" y="50784"/>
                  </a:lnTo>
                  <a:lnTo>
                    <a:pt x="76141" y="37464"/>
                  </a:lnTo>
                  <a:lnTo>
                    <a:pt x="76242" y="25385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250086" y="3618103"/>
            <a:ext cx="655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storage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70063" y="4357242"/>
            <a:ext cx="1775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download</a:t>
            </a:r>
            <a:r>
              <a:rPr kumimoji="0" sz="1100" b="1" i="0" u="none" strike="noStrike" kern="0" cap="none" spc="-5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recommended</a:t>
            </a:r>
            <a:r>
              <a:rPr kumimoji="0" sz="1100" b="1" i="0" u="none" strike="noStrike" kern="0" cap="none" spc="-6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-2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70063" y="3859784"/>
            <a:ext cx="1775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download</a:t>
            </a:r>
            <a:r>
              <a:rPr kumimoji="0" sz="1100" b="1" i="0" u="none" strike="noStrike" kern="0" cap="none" spc="-5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recommended</a:t>
            </a:r>
            <a:r>
              <a:rPr kumimoji="0" sz="1100" b="1" i="0" u="none" strike="noStrike" kern="0" cap="none" spc="-6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1" i="0" u="none" strike="noStrike" kern="0" cap="none" spc="-20" normalizeH="0" baseline="0" noProof="0" dirty="0">
                <a:ln>
                  <a:noFill/>
                </a:ln>
                <a:solidFill>
                  <a:srgbClr val="375F92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879073" y="3831717"/>
            <a:ext cx="1108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data-consumer-</a:t>
            </a: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1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12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allowed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873231" y="4450460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4F6128"/>
                </a:solidFill>
                <a:effectLst/>
                <a:uLnTx/>
                <a:uFillTx/>
                <a:latin typeface="Calibri"/>
                <a:cs typeface="Calibri"/>
              </a:rPr>
              <a:t>data-consumer-</a:t>
            </a: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rgbClr val="4F6128"/>
                </a:solidFill>
                <a:effectLst/>
                <a:uLnTx/>
                <a:uFillTx/>
                <a:latin typeface="Calibri"/>
                <a:cs typeface="Calibri"/>
              </a:rPr>
              <a:t>2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4F6128"/>
                </a:solidFill>
                <a:effectLst/>
                <a:uLnTx/>
                <a:uFillTx/>
                <a:latin typeface="Calibri"/>
                <a:cs typeface="Calibri"/>
              </a:rPr>
              <a:t>allowed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40123" y="3686518"/>
            <a:ext cx="5309870" cy="672465"/>
            <a:chOff x="4040123" y="3686518"/>
            <a:chExt cx="5309870" cy="672465"/>
          </a:xfrm>
        </p:grpSpPr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4839" y="3706393"/>
              <a:ext cx="1104887" cy="60195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38744" y="3686518"/>
              <a:ext cx="1073403" cy="62183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293608" y="3720084"/>
              <a:ext cx="957580" cy="518159"/>
            </a:xfrm>
            <a:custGeom>
              <a:avLst/>
              <a:gdLst/>
              <a:ahLst/>
              <a:cxnLst/>
              <a:rect l="l" t="t" r="r" b="b"/>
              <a:pathLst>
                <a:path w="957579" h="518160">
                  <a:moveTo>
                    <a:pt x="957072" y="0"/>
                  </a:moveTo>
                  <a:lnTo>
                    <a:pt x="0" y="517906"/>
                  </a:lnTo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40123" y="4248863"/>
              <a:ext cx="1865376" cy="109903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083176" y="4283710"/>
              <a:ext cx="1772285" cy="3810"/>
            </a:xfrm>
            <a:custGeom>
              <a:avLst/>
              <a:gdLst/>
              <a:ahLst/>
              <a:cxnLst/>
              <a:rect l="l" t="t" r="r" b="b"/>
              <a:pathLst>
                <a:path w="1772285" h="3810">
                  <a:moveTo>
                    <a:pt x="0" y="3809"/>
                  </a:moveTo>
                  <a:lnTo>
                    <a:pt x="1771777" y="0"/>
                  </a:lnTo>
                </a:path>
              </a:pathLst>
            </a:custGeom>
            <a:ln w="254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486390" y="402717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501121" y="469856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1341755">
              <a:lnSpc>
                <a:spcPct val="100000"/>
              </a:lnSpc>
              <a:spcBef>
                <a:spcPts val="100"/>
              </a:spcBef>
            </a:pPr>
            <a:r>
              <a:rPr dirty="0"/>
              <a:t>No</a:t>
            </a:r>
            <a:r>
              <a:rPr spc="-80" dirty="0"/>
              <a:t> </a:t>
            </a:r>
            <a:r>
              <a:rPr dirty="0"/>
              <a:t>WIS2</a:t>
            </a:r>
            <a:r>
              <a:rPr spc="-75" dirty="0"/>
              <a:t> </a:t>
            </a:r>
            <a:r>
              <a:rPr spc="-40" dirty="0"/>
              <a:t>Topic</a:t>
            </a:r>
            <a:r>
              <a:rPr spc="-85" dirty="0"/>
              <a:t> </a:t>
            </a:r>
            <a:r>
              <a:rPr dirty="0"/>
              <a:t>available</a:t>
            </a:r>
            <a:r>
              <a:rPr spc="-105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your</a:t>
            </a:r>
            <a:r>
              <a:rPr spc="-90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spc="-50" dirty="0"/>
              <a:t>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713638" y="895604"/>
            <a:ext cx="11037570" cy="236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</a:tabLst>
            </a:pPr>
            <a:r>
              <a:rPr sz="1600" spc="-10" dirty="0">
                <a:latin typeface="Trebuchet MS"/>
                <a:cs typeface="Trebuchet MS"/>
              </a:rPr>
              <a:t>Submit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request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on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GitHub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repository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by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opening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new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issue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or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sending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an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email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to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  <a:hlinkClick r:id="rId2"/>
              </a:rPr>
              <a:t>wis@wmo.int</a:t>
            </a:r>
            <a:endParaRPr sz="16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600" spc="-80" dirty="0">
                <a:latin typeface="Trebuchet MS"/>
                <a:cs typeface="Trebuchet MS"/>
              </a:rPr>
              <a:t>The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Task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Team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on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WIS2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Metadata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will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50" dirty="0">
                <a:latin typeface="Trebuchet MS"/>
                <a:cs typeface="Trebuchet MS"/>
              </a:rPr>
              <a:t>discuss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the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options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consult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with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other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experts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as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needed</a:t>
            </a:r>
            <a:endParaRPr sz="16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600" spc="-80" dirty="0">
                <a:latin typeface="Trebuchet MS"/>
                <a:cs typeface="Trebuchet MS"/>
              </a:rPr>
              <a:t>The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new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topics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will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be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included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in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proposal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for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amendments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to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approved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through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WMO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fast-</a:t>
            </a:r>
            <a:r>
              <a:rPr sz="1600" spc="-60" dirty="0">
                <a:latin typeface="Trebuchet MS"/>
                <a:cs typeface="Trebuchet MS"/>
              </a:rPr>
              <a:t>track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approval</a:t>
            </a:r>
            <a:endParaRPr sz="16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procedure.</a:t>
            </a:r>
            <a:endParaRPr sz="1600">
              <a:latin typeface="Trebuchet MS"/>
              <a:cs typeface="Trebuchet MS"/>
            </a:endParaRPr>
          </a:p>
          <a:p>
            <a:pPr marL="769620" lvl="1" indent="-457200">
              <a:lnSpc>
                <a:spcPts val="1910"/>
              </a:lnSpc>
              <a:spcBef>
                <a:spcPts val="25"/>
              </a:spcBef>
              <a:buFont typeface="Arial MT"/>
              <a:buChar char="•"/>
              <a:tabLst>
                <a:tab pos="769620" algn="l"/>
              </a:tabLst>
            </a:pPr>
            <a:r>
              <a:rPr sz="1600" spc="-40" dirty="0">
                <a:latin typeface="Trebuchet MS"/>
                <a:cs typeface="Trebuchet MS"/>
              </a:rPr>
              <a:t>Approval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by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Chair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of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70" dirty="0">
                <a:latin typeface="Trebuchet MS"/>
                <a:cs typeface="Trebuchet MS"/>
              </a:rPr>
              <a:t>SC-</a:t>
            </a:r>
            <a:r>
              <a:rPr sz="1600" spc="-35" dirty="0">
                <a:latin typeface="Trebuchet MS"/>
                <a:cs typeface="Trebuchet MS"/>
              </a:rPr>
              <a:t>IMT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Review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by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National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Focal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Points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on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WIS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Matters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Approval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by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P-</a:t>
            </a:r>
            <a:r>
              <a:rPr sz="1600" spc="55" dirty="0">
                <a:latin typeface="Trebuchet MS"/>
                <a:cs typeface="Trebuchet MS"/>
              </a:rPr>
              <a:t>INFCOM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P-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50" dirty="0">
                <a:latin typeface="Trebuchet MS"/>
                <a:cs typeface="Trebuchet MS"/>
              </a:rPr>
              <a:t>WMO</a:t>
            </a:r>
            <a:endParaRPr sz="1600">
              <a:latin typeface="Trebuchet MS"/>
              <a:cs typeface="Trebuchet MS"/>
            </a:endParaRPr>
          </a:p>
          <a:p>
            <a:pPr marL="769620" lvl="1" indent="-457200">
              <a:lnSpc>
                <a:spcPts val="1910"/>
              </a:lnSpc>
              <a:buFont typeface="Arial MT"/>
              <a:buChar char="•"/>
              <a:tabLst>
                <a:tab pos="769620" algn="l"/>
              </a:tabLst>
            </a:pPr>
            <a:r>
              <a:rPr sz="1600" spc="-80" dirty="0">
                <a:latin typeface="Trebuchet MS"/>
                <a:cs typeface="Trebuchet MS"/>
              </a:rPr>
              <a:t>The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procedure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takes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3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months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at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minimum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occurs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2x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year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at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minimum</a:t>
            </a:r>
            <a:endParaRPr sz="16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buAutoNum type="arabicPeriod" startAt="4"/>
              <a:tabLst>
                <a:tab pos="469265" algn="l"/>
              </a:tabLst>
            </a:pPr>
            <a:r>
              <a:rPr sz="1600" spc="-40" dirty="0">
                <a:latin typeface="Trebuchet MS"/>
                <a:cs typeface="Trebuchet MS"/>
              </a:rPr>
              <a:t>Publication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implementation</a:t>
            </a:r>
            <a:endParaRPr sz="16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buAutoNum type="arabicPeriod" startAt="4"/>
              <a:tabLst>
                <a:tab pos="469265" algn="l"/>
              </a:tabLst>
            </a:pPr>
            <a:r>
              <a:rPr sz="1600" spc="-10" dirty="0">
                <a:latin typeface="Trebuchet MS"/>
                <a:cs typeface="Trebuchet MS"/>
              </a:rPr>
              <a:t>Announcements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in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WIS2</a:t>
            </a:r>
            <a:r>
              <a:rPr sz="1600" u="sng" spc="-10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Operational</a:t>
            </a:r>
            <a:r>
              <a:rPr sz="16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Newsletter</a:t>
            </a:r>
            <a:endParaRPr sz="1600">
              <a:latin typeface="Trebuchet MS"/>
              <a:cs typeface="Trebuchet MS"/>
            </a:endParaRPr>
          </a:p>
          <a:p>
            <a:pPr marL="2666365">
              <a:lnSpc>
                <a:spcPct val="100000"/>
              </a:lnSpc>
              <a:spcBef>
                <a:spcPts val="885"/>
              </a:spcBef>
            </a:pPr>
            <a:r>
              <a:rPr sz="1800" b="1" dirty="0">
                <a:latin typeface="Calibri"/>
                <a:cs typeface="Calibri"/>
              </a:rPr>
              <a:t>New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topics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made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available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20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June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2026 </a:t>
            </a:r>
            <a:r>
              <a:rPr sz="1800" spc="-10" dirty="0">
                <a:latin typeface="Calibri"/>
                <a:cs typeface="Calibri"/>
              </a:rPr>
              <a:t>(FT-</a:t>
            </a:r>
            <a:r>
              <a:rPr sz="1800" spc="-20" dirty="0">
                <a:latin typeface="Calibri"/>
                <a:cs typeface="Calibri"/>
              </a:rPr>
              <a:t>2026-</a:t>
            </a:r>
            <a:r>
              <a:rPr sz="1800" spc="-25" dirty="0">
                <a:latin typeface="Calibri"/>
                <a:cs typeface="Calibri"/>
              </a:rPr>
              <a:t>1):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2967" y="3465017"/>
            <a:ext cx="3252470" cy="255460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 marR="1344930">
              <a:lnSpc>
                <a:spcPct val="100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1F35A0"/>
                </a:solidFill>
                <a:latin typeface="Calibri"/>
                <a:cs typeface="Calibri"/>
              </a:rPr>
              <a:t>atmospheric-composition </a:t>
            </a:r>
            <a:r>
              <a:rPr sz="1000" spc="-10" dirty="0">
                <a:latin typeface="Calibri"/>
                <a:cs typeface="Calibri"/>
              </a:rPr>
              <a:t>advisories-warnings/sand-and-</a:t>
            </a:r>
            <a:r>
              <a:rPr sz="1000" spc="-20" dirty="0">
                <a:latin typeface="Calibri"/>
                <a:cs typeface="Calibri"/>
              </a:rPr>
              <a:t>dust </a:t>
            </a:r>
            <a:r>
              <a:rPr sz="1000" spc="-10" dirty="0">
                <a:latin typeface="Calibri"/>
                <a:cs typeface="Calibri"/>
              </a:rPr>
              <a:t>advisories-warnings/air-pollution advisories-warnings/fires</a:t>
            </a:r>
            <a:endParaRPr sz="1000">
              <a:latin typeface="Calibri"/>
              <a:cs typeface="Calibri"/>
            </a:endParaRPr>
          </a:p>
          <a:p>
            <a:pPr marL="92075" marR="46482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advisories-warnings/ozone-and-ultraviolet-radiation advisories-warnings/nuclear-fallout</a:t>
            </a:r>
            <a:endParaRPr sz="1000">
              <a:latin typeface="Calibri"/>
              <a:cs typeface="Calibri"/>
            </a:endParaRPr>
          </a:p>
          <a:p>
            <a:pPr marL="92075" marR="59563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advisories-warnings/volcanic-activity observations/aerosol-particles-and-clouds observations/atmospheric-processes-and-kinetics observations/emissions observations/gases/greenhouse-</a:t>
            </a:r>
            <a:r>
              <a:rPr sz="1000" spc="-20" dirty="0">
                <a:latin typeface="Calibri"/>
                <a:cs typeface="Calibri"/>
              </a:rPr>
              <a:t>gases </a:t>
            </a:r>
            <a:r>
              <a:rPr sz="1000" spc="-10" dirty="0">
                <a:latin typeface="Calibri"/>
                <a:cs typeface="Calibri"/>
              </a:rPr>
              <a:t>observations/gases/ozone observations/gases/reactive-gases</a:t>
            </a:r>
            <a:endParaRPr sz="1000">
              <a:latin typeface="Calibri"/>
              <a:cs typeface="Calibri"/>
            </a:endParaRPr>
          </a:p>
          <a:p>
            <a:pPr marL="92075" marR="9144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Calibri"/>
                <a:cs typeface="Calibri"/>
              </a:rPr>
              <a:t>observations/radiation-latent-heat/ultraviolet-radiation observations/surface-flux-densities/precipitation-chemistry observations/surface-flux-densities/dry-deposition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08797" y="3474504"/>
            <a:ext cx="3952240" cy="230886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solidFill>
                  <a:srgbClr val="1F35A0"/>
                </a:solidFill>
                <a:latin typeface="Calibri"/>
                <a:cs typeface="Calibri"/>
              </a:rPr>
              <a:t>weather</a:t>
            </a:r>
            <a:endParaRPr sz="1200">
              <a:latin typeface="Calibri"/>
              <a:cs typeface="Calibri"/>
            </a:endParaRPr>
          </a:p>
          <a:p>
            <a:pPr marL="92075" marR="147256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maritime-safety-information/warnings maritime-safety-information/forecasts</a:t>
            </a:r>
            <a:endParaRPr sz="1200">
              <a:latin typeface="Calibri"/>
              <a:cs typeface="Calibri"/>
            </a:endParaRPr>
          </a:p>
          <a:p>
            <a:pPr marL="92075" marR="82613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maritime-safety-information/sea-ice-information surface-based-observations/amdar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surface-based-observations/uas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(Uncrewed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aerial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systems)</a:t>
            </a:r>
            <a:endParaRPr sz="1200">
              <a:latin typeface="Calibri"/>
              <a:cs typeface="Calibri"/>
            </a:endParaRPr>
          </a:p>
          <a:p>
            <a:pPr marL="92075" marR="1022350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surface-based-observations/weather-</a:t>
            </a:r>
            <a:r>
              <a:rPr sz="1200" spc="-20" dirty="0">
                <a:latin typeface="Calibri"/>
                <a:cs typeface="Calibri"/>
              </a:rPr>
              <a:t>radar </a:t>
            </a:r>
            <a:r>
              <a:rPr sz="1200" spc="-10" dirty="0">
                <a:latin typeface="Calibri"/>
                <a:cs typeface="Calibri"/>
              </a:rPr>
              <a:t>surface-based-observations/vertical-profilers </a:t>
            </a:r>
            <a:r>
              <a:rPr sz="1200" i="1" dirty="0">
                <a:latin typeface="Calibri"/>
                <a:cs typeface="Calibri"/>
              </a:rPr>
              <a:t>(…such</a:t>
            </a:r>
            <a:r>
              <a:rPr sz="1200" i="1" spc="-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as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wind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profilers,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lidar,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VAD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radar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etc.) </a:t>
            </a:r>
            <a:r>
              <a:rPr sz="1200" spc="-10" dirty="0">
                <a:latin typeface="Calibri"/>
                <a:cs typeface="Calibri"/>
              </a:rPr>
              <a:t>surface-based-observations/gnss-</a:t>
            </a:r>
            <a:r>
              <a:rPr sz="1200" spc="-25" dirty="0">
                <a:latin typeface="Calibri"/>
                <a:cs typeface="Calibri"/>
              </a:rPr>
              <a:t>iwv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i="1" dirty="0">
                <a:latin typeface="Calibri"/>
                <a:cs typeface="Calibri"/>
              </a:rPr>
              <a:t>More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operational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satellites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instruments,</a:t>
            </a:r>
            <a:r>
              <a:rPr sz="1200" i="1" spc="-20" dirty="0">
                <a:latin typeface="Calibri"/>
                <a:cs typeface="Calibri"/>
              </a:rPr>
              <a:t> e.g.</a:t>
            </a:r>
            <a:endParaRPr sz="12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space-based-observations/oceansat-3/ocm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479" y="3474465"/>
            <a:ext cx="3952240" cy="1939289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solidFill>
                  <a:srgbClr val="1F35A0"/>
                </a:solidFill>
                <a:latin typeface="Calibri"/>
                <a:cs typeface="Calibri"/>
              </a:rPr>
              <a:t>hydrology</a:t>
            </a:r>
            <a:endParaRPr sz="12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space-based-observations/soil</a:t>
            </a:r>
            <a:endParaRPr sz="1200">
              <a:latin typeface="Calibri"/>
              <a:cs typeface="Calibri"/>
            </a:endParaRPr>
          </a:p>
          <a:p>
            <a:pPr marL="91440" marR="470534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surface-based-observations/atmospheric/precipitation surface-based-observations/water-quantity/ice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surface-based-observations/water-quantity/lake surface-based-observations/water-quantity/reservoir surface-based-observations/water-quantity/snow surface-based-observations/water-quantity/stream</a:t>
            </a:r>
            <a:endParaRPr sz="1200">
              <a:latin typeface="Calibri"/>
              <a:cs typeface="Calibri"/>
            </a:endParaRPr>
          </a:p>
          <a:p>
            <a:pPr marL="91440" marR="94615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subsurface-based-observations/water-quantity/groundwater subsurface-based-observations/water-quantity/soil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7457" y="1052360"/>
            <a:ext cx="3014345" cy="905510"/>
            <a:chOff x="1497457" y="1052360"/>
            <a:chExt cx="3014345" cy="905510"/>
          </a:xfrm>
        </p:grpSpPr>
        <p:sp>
          <p:nvSpPr>
            <p:cNvPr id="3" name="object 3"/>
            <p:cNvSpPr/>
            <p:nvPr/>
          </p:nvSpPr>
          <p:spPr>
            <a:xfrm>
              <a:off x="1497457" y="1052360"/>
              <a:ext cx="3014345" cy="905510"/>
            </a:xfrm>
            <a:custGeom>
              <a:avLst/>
              <a:gdLst/>
              <a:ahLst/>
              <a:cxnLst/>
              <a:rect l="l" t="t" r="r" b="b"/>
              <a:pathLst>
                <a:path w="3014345" h="905510">
                  <a:moveTo>
                    <a:pt x="3014091" y="0"/>
                  </a:moveTo>
                  <a:lnTo>
                    <a:pt x="0" y="0"/>
                  </a:lnTo>
                  <a:lnTo>
                    <a:pt x="0" y="905471"/>
                  </a:lnTo>
                  <a:lnTo>
                    <a:pt x="3014091" y="905471"/>
                  </a:lnTo>
                  <a:lnTo>
                    <a:pt x="3014091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 descr="MinIO | Understand the guidelines for using MinIO's mark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6342" y="1165110"/>
              <a:ext cx="939571" cy="1332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51508" y="1559305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5" h="331469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51507" y="1559305"/>
            <a:ext cx="1233805" cy="3314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36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incoming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39745" y="1546605"/>
            <a:ext cx="1892935" cy="335915"/>
            <a:chOff x="2539745" y="1546605"/>
            <a:chExt cx="1892935" cy="3359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9745" y="1572196"/>
              <a:ext cx="296811" cy="3098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9129" y="1546605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69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9129" y="1546605"/>
            <a:ext cx="1233805" cy="3314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36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8383" y="1559369"/>
            <a:ext cx="2663190" cy="1951989"/>
            <a:chOff x="1798383" y="1559369"/>
            <a:chExt cx="2663190" cy="1951989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7367" y="1559369"/>
              <a:ext cx="296811" cy="3098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12670" y="2458389"/>
              <a:ext cx="2634615" cy="1038860"/>
            </a:xfrm>
            <a:custGeom>
              <a:avLst/>
              <a:gdLst/>
              <a:ahLst/>
              <a:cxnLst/>
              <a:rect l="l" t="t" r="r" b="b"/>
              <a:pathLst>
                <a:path w="2634615" h="1038860">
                  <a:moveTo>
                    <a:pt x="2634107" y="0"/>
                  </a:moveTo>
                  <a:lnTo>
                    <a:pt x="0" y="0"/>
                  </a:lnTo>
                  <a:lnTo>
                    <a:pt x="0" y="1038555"/>
                  </a:lnTo>
                  <a:lnTo>
                    <a:pt x="2634107" y="1038555"/>
                  </a:lnTo>
                  <a:lnTo>
                    <a:pt x="263410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12670" y="2458389"/>
              <a:ext cx="2634615" cy="1038860"/>
            </a:xfrm>
            <a:custGeom>
              <a:avLst/>
              <a:gdLst/>
              <a:ahLst/>
              <a:cxnLst/>
              <a:rect l="l" t="t" r="r" b="b"/>
              <a:pathLst>
                <a:path w="2634615" h="1038860">
                  <a:moveTo>
                    <a:pt x="0" y="1038555"/>
                  </a:moveTo>
                  <a:lnTo>
                    <a:pt x="2634107" y="1038555"/>
                  </a:lnTo>
                  <a:lnTo>
                    <a:pt x="2634107" y="0"/>
                  </a:lnTo>
                  <a:lnTo>
                    <a:pt x="0" y="0"/>
                  </a:lnTo>
                  <a:lnTo>
                    <a:pt x="0" y="103855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13202" y="2455291"/>
            <a:ext cx="1892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D0D0D"/>
                </a:solidFill>
                <a:latin typeface="Calibri"/>
                <a:cs typeface="Calibri"/>
              </a:rPr>
              <a:t>wis2box-</a:t>
            </a:r>
            <a:r>
              <a:rPr sz="1600" b="1" spc="-10" dirty="0">
                <a:solidFill>
                  <a:srgbClr val="0D0D0D"/>
                </a:solidFill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18002" y="2839034"/>
            <a:ext cx="1588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924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apply</a:t>
            </a:r>
            <a:r>
              <a:rPr sz="12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data-mappings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WIS2-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notifications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WCMP2-records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19351" y="1877822"/>
            <a:ext cx="1934845" cy="1289685"/>
            <a:chOff x="1919351" y="1877822"/>
            <a:chExt cx="1934845" cy="1289685"/>
          </a:xfrm>
        </p:grpSpPr>
        <p:pic>
          <p:nvPicPr>
            <p:cNvPr id="18" name="object 18" descr="Input, system, operation, process, insert icon - Download on Iconfinder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9351" y="2474595"/>
              <a:ext cx="692607" cy="6926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227948" y="1877821"/>
              <a:ext cx="1626235" cy="884555"/>
            </a:xfrm>
            <a:custGeom>
              <a:avLst/>
              <a:gdLst/>
              <a:ahLst/>
              <a:cxnLst/>
              <a:rect l="l" t="t" r="r" b="b"/>
              <a:pathLst>
                <a:path w="1626235" h="884555">
                  <a:moveTo>
                    <a:pt x="76085" y="808355"/>
                  </a:moveTo>
                  <a:lnTo>
                    <a:pt x="47409" y="808355"/>
                  </a:lnTo>
                  <a:lnTo>
                    <a:pt x="49669" y="12827"/>
                  </a:lnTo>
                  <a:lnTo>
                    <a:pt x="30607" y="12827"/>
                  </a:lnTo>
                  <a:lnTo>
                    <a:pt x="28359" y="808355"/>
                  </a:lnTo>
                  <a:lnTo>
                    <a:pt x="0" y="808355"/>
                  </a:lnTo>
                  <a:lnTo>
                    <a:pt x="37731" y="884428"/>
                  </a:lnTo>
                  <a:lnTo>
                    <a:pt x="69735" y="820928"/>
                  </a:lnTo>
                  <a:lnTo>
                    <a:pt x="76085" y="808355"/>
                  </a:lnTo>
                  <a:close/>
                </a:path>
                <a:path w="1626235" h="884555">
                  <a:moveTo>
                    <a:pt x="1625866" y="76200"/>
                  </a:moveTo>
                  <a:lnTo>
                    <a:pt x="1619516" y="63500"/>
                  </a:lnTo>
                  <a:lnTo>
                    <a:pt x="1587766" y="0"/>
                  </a:lnTo>
                  <a:lnTo>
                    <a:pt x="1549666" y="76200"/>
                  </a:lnTo>
                  <a:lnTo>
                    <a:pt x="1578241" y="76200"/>
                  </a:lnTo>
                  <a:lnTo>
                    <a:pt x="1578241" y="556133"/>
                  </a:lnTo>
                  <a:lnTo>
                    <a:pt x="1597291" y="556133"/>
                  </a:lnTo>
                  <a:lnTo>
                    <a:pt x="1597291" y="76200"/>
                  </a:lnTo>
                  <a:lnTo>
                    <a:pt x="162586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324480" y="1898650"/>
            <a:ext cx="60325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D0D0D"/>
                </a:solidFill>
                <a:latin typeface="Calibri"/>
                <a:cs typeface="Calibri"/>
              </a:rPr>
              <a:t>listen</a:t>
            </a:r>
            <a:r>
              <a:rPr sz="11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0D0D0D"/>
                </a:solidFill>
                <a:latin typeface="Calibri"/>
                <a:cs typeface="Calibri"/>
              </a:rPr>
              <a:t>to </a:t>
            </a:r>
            <a:r>
              <a:rPr sz="1100" b="1" dirty="0">
                <a:solidFill>
                  <a:srgbClr val="0D0D0D"/>
                </a:solidFill>
                <a:latin typeface="Calibri"/>
                <a:cs typeface="Calibri"/>
              </a:rPr>
              <a:t>incoming-</a:t>
            </a:r>
            <a:r>
              <a:rPr sz="1100" b="1" spc="-10" dirty="0">
                <a:solidFill>
                  <a:srgbClr val="0D0D0D"/>
                </a:solidFill>
                <a:latin typeface="Calibri"/>
                <a:cs typeface="Calibri"/>
              </a:rPr>
              <a:t>bucket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8552" y="1917319"/>
            <a:ext cx="60515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D0D0D"/>
                </a:solidFill>
                <a:latin typeface="Calibri"/>
                <a:cs typeface="Calibri"/>
              </a:rPr>
              <a:t>publish</a:t>
            </a:r>
            <a:r>
              <a:rPr sz="11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0D0D0D"/>
                </a:solidFill>
                <a:latin typeface="Calibri"/>
                <a:cs typeface="Calibri"/>
              </a:rPr>
              <a:t>to </a:t>
            </a:r>
            <a:r>
              <a:rPr sz="1100" b="1" dirty="0">
                <a:solidFill>
                  <a:srgbClr val="0D0D0D"/>
                </a:solidFill>
                <a:latin typeface="Calibri"/>
                <a:cs typeface="Calibri"/>
              </a:rPr>
              <a:t>public-</a:t>
            </a:r>
            <a:r>
              <a:rPr sz="1100" b="1" spc="-10" dirty="0">
                <a:solidFill>
                  <a:srgbClr val="0D0D0D"/>
                </a:solidFill>
                <a:latin typeface="Calibri"/>
                <a:cs typeface="Calibri"/>
              </a:rPr>
              <a:t>bucket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868616"/>
            <a:ext cx="1380490" cy="1026160"/>
          </a:xfrm>
          <a:custGeom>
            <a:avLst/>
            <a:gdLst/>
            <a:ahLst/>
            <a:cxnLst/>
            <a:rect l="l" t="t" r="r" b="b"/>
            <a:pathLst>
              <a:path w="1380490" h="1026160">
                <a:moveTo>
                  <a:pt x="1379881" y="0"/>
                </a:moveTo>
                <a:lnTo>
                  <a:pt x="0" y="0"/>
                </a:lnTo>
                <a:lnTo>
                  <a:pt x="0" y="1025715"/>
                </a:lnTo>
                <a:lnTo>
                  <a:pt x="1379881" y="1025715"/>
                </a:lnTo>
                <a:lnTo>
                  <a:pt x="1379881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1775" y="876045"/>
            <a:ext cx="2114550" cy="434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490"/>
              </a:lnSpc>
              <a:spcBef>
                <a:spcPts val="10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National</a:t>
            </a:r>
            <a:r>
              <a:rPr sz="1400" b="1" i="1" spc="-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F243E"/>
                </a:solidFill>
                <a:latin typeface="Calibri"/>
                <a:cs typeface="Calibri"/>
              </a:rPr>
              <a:t>Sector</a:t>
            </a:r>
            <a:endParaRPr sz="1400">
              <a:latin typeface="Calibri"/>
              <a:cs typeface="Calibri"/>
            </a:endParaRPr>
          </a:p>
          <a:p>
            <a:pPr marL="1480185">
              <a:lnSpc>
                <a:spcPts val="1730"/>
              </a:lnSpc>
            </a:pPr>
            <a:r>
              <a:rPr sz="1600" b="1" spc="-10" dirty="0">
                <a:solidFill>
                  <a:srgbClr val="2E5496"/>
                </a:solidFill>
                <a:latin typeface="Calibri"/>
                <a:cs typeface="Calibri"/>
              </a:rPr>
              <a:t>storage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25" name="object 2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114550">
              <a:lnSpc>
                <a:spcPct val="100000"/>
              </a:lnSpc>
              <a:spcBef>
                <a:spcPts val="100"/>
              </a:spcBef>
            </a:pPr>
            <a:r>
              <a:rPr dirty="0"/>
              <a:t>wis2box</a:t>
            </a:r>
            <a:r>
              <a:rPr spc="-100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dirty="0"/>
              <a:t>ingest</a:t>
            </a:r>
            <a:r>
              <a:rPr spc="-10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632705" y="2593594"/>
            <a:ext cx="680974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rebuchet MS"/>
                <a:cs typeface="Trebuchet MS"/>
              </a:rPr>
              <a:t>Dataset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driven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workflow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triggered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when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wis2box-</a:t>
            </a:r>
            <a:r>
              <a:rPr sz="2000" spc="-10" dirty="0">
                <a:latin typeface="Trebuchet MS"/>
                <a:cs typeface="Trebuchet MS"/>
              </a:rPr>
              <a:t>management </a:t>
            </a:r>
            <a:r>
              <a:rPr sz="2000" spc="-35" dirty="0">
                <a:latin typeface="Trebuchet MS"/>
                <a:cs typeface="Trebuchet MS"/>
              </a:rPr>
              <a:t>receives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notification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storage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service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1678558"/>
            <a:ext cx="1651635" cy="76200"/>
          </a:xfrm>
          <a:custGeom>
            <a:avLst/>
            <a:gdLst/>
            <a:ahLst/>
            <a:cxnLst/>
            <a:rect l="l" t="t" r="r" b="b"/>
            <a:pathLst>
              <a:path w="1651635" h="76200">
                <a:moveTo>
                  <a:pt x="1574927" y="0"/>
                </a:moveTo>
                <a:lnTo>
                  <a:pt x="1575164" y="28558"/>
                </a:lnTo>
                <a:lnTo>
                  <a:pt x="1575239" y="37464"/>
                </a:lnTo>
                <a:lnTo>
                  <a:pt x="1575323" y="47608"/>
                </a:lnTo>
                <a:lnTo>
                  <a:pt x="1575438" y="61355"/>
                </a:lnTo>
                <a:lnTo>
                  <a:pt x="1575562" y="76200"/>
                </a:lnTo>
                <a:lnTo>
                  <a:pt x="1631619" y="47608"/>
                </a:lnTo>
                <a:lnTo>
                  <a:pt x="1588008" y="47608"/>
                </a:lnTo>
                <a:lnTo>
                  <a:pt x="1587881" y="28558"/>
                </a:lnTo>
                <a:lnTo>
                  <a:pt x="1633303" y="28558"/>
                </a:lnTo>
                <a:lnTo>
                  <a:pt x="1574927" y="0"/>
                </a:lnTo>
                <a:close/>
              </a:path>
              <a:path w="1651635" h="76200">
                <a:moveTo>
                  <a:pt x="1575164" y="28558"/>
                </a:moveTo>
                <a:lnTo>
                  <a:pt x="0" y="42304"/>
                </a:lnTo>
                <a:lnTo>
                  <a:pt x="0" y="61355"/>
                </a:lnTo>
                <a:lnTo>
                  <a:pt x="1575323" y="47608"/>
                </a:lnTo>
                <a:lnTo>
                  <a:pt x="1575239" y="37464"/>
                </a:lnTo>
                <a:lnTo>
                  <a:pt x="1575164" y="28558"/>
                </a:lnTo>
                <a:close/>
              </a:path>
              <a:path w="1651635" h="76200">
                <a:moveTo>
                  <a:pt x="1633303" y="28558"/>
                </a:moveTo>
                <a:lnTo>
                  <a:pt x="1587881" y="28558"/>
                </a:lnTo>
                <a:lnTo>
                  <a:pt x="1588008" y="47608"/>
                </a:lnTo>
                <a:lnTo>
                  <a:pt x="1631619" y="47608"/>
                </a:lnTo>
                <a:lnTo>
                  <a:pt x="1651508" y="37464"/>
                </a:lnTo>
                <a:lnTo>
                  <a:pt x="1633303" y="2855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00329" y="1511934"/>
            <a:ext cx="86614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data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uploaded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485">
              <a:lnSpc>
                <a:spcPts val="955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sp>
        <p:nvSpPr>
          <p:cNvPr id="31" name="object 31"/>
          <p:cNvSpPr txBox="1"/>
          <p:nvPr/>
        </p:nvSpPr>
        <p:spPr>
          <a:xfrm>
            <a:off x="1003198" y="4423359"/>
            <a:ext cx="106559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Trebuchet MS"/>
                <a:cs typeface="Trebuchet MS"/>
              </a:rPr>
              <a:t>wis2box-</a:t>
            </a:r>
            <a:r>
              <a:rPr sz="2400" spc="-35" dirty="0">
                <a:latin typeface="Trebuchet MS"/>
                <a:cs typeface="Trebuchet MS"/>
              </a:rPr>
              <a:t>management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matches</a:t>
            </a:r>
            <a:r>
              <a:rPr sz="2400" b="1" spc="-14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incoming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data</a:t>
            </a:r>
            <a:r>
              <a:rPr sz="2400" b="1" spc="-15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with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datasets</a:t>
            </a:r>
            <a:r>
              <a:rPr sz="2400" b="1" spc="-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based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b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file-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path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rebuchet MS"/>
                <a:cs typeface="Trebuchet MS"/>
              </a:rPr>
              <a:t>data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plugins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applied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b="1" spc="-40" dirty="0">
                <a:latin typeface="Trebuchet MS"/>
                <a:cs typeface="Trebuchet MS"/>
              </a:rPr>
              <a:t>transform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b="1" spc="580" dirty="0">
                <a:latin typeface="Trebuchet MS"/>
                <a:cs typeface="Trebuchet MS"/>
              </a:rPr>
              <a:t>s</a:t>
            </a:r>
            <a:r>
              <a:rPr sz="2400" b="1" spc="-2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publish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75" dirty="0">
                <a:latin typeface="Trebuchet MS"/>
                <a:cs typeface="Trebuchet MS"/>
              </a:rPr>
              <a:t>the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20245" y="6517640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36300" y="5154669"/>
            <a:ext cx="3834765" cy="1587500"/>
            <a:chOff x="4436300" y="5154669"/>
            <a:chExt cx="3834765" cy="1587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889" y="5164193"/>
              <a:ext cx="3815207" cy="1568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41063" y="5159431"/>
              <a:ext cx="3825240" cy="1577975"/>
            </a:xfrm>
            <a:custGeom>
              <a:avLst/>
              <a:gdLst/>
              <a:ahLst/>
              <a:cxnLst/>
              <a:rect l="l" t="t" r="r" b="b"/>
              <a:pathLst>
                <a:path w="3825240" h="1577975">
                  <a:moveTo>
                    <a:pt x="0" y="1577848"/>
                  </a:moveTo>
                  <a:lnTo>
                    <a:pt x="3824732" y="1577848"/>
                  </a:lnTo>
                  <a:lnTo>
                    <a:pt x="3824732" y="0"/>
                  </a:lnTo>
                  <a:lnTo>
                    <a:pt x="0" y="0"/>
                  </a:lnTo>
                  <a:lnTo>
                    <a:pt x="0" y="1577848"/>
                  </a:lnTo>
                  <a:close/>
                </a:path>
              </a:pathLst>
            </a:custGeom>
            <a:ln w="9524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97457" y="1052360"/>
            <a:ext cx="3014345" cy="905510"/>
            <a:chOff x="1497457" y="1052360"/>
            <a:chExt cx="3014345" cy="905510"/>
          </a:xfrm>
        </p:grpSpPr>
        <p:sp>
          <p:nvSpPr>
            <p:cNvPr id="7" name="object 7"/>
            <p:cNvSpPr/>
            <p:nvPr/>
          </p:nvSpPr>
          <p:spPr>
            <a:xfrm>
              <a:off x="1497457" y="1052360"/>
              <a:ext cx="3014345" cy="905510"/>
            </a:xfrm>
            <a:custGeom>
              <a:avLst/>
              <a:gdLst/>
              <a:ahLst/>
              <a:cxnLst/>
              <a:rect l="l" t="t" r="r" b="b"/>
              <a:pathLst>
                <a:path w="3014345" h="905510">
                  <a:moveTo>
                    <a:pt x="3014091" y="0"/>
                  </a:moveTo>
                  <a:lnTo>
                    <a:pt x="0" y="0"/>
                  </a:lnTo>
                  <a:lnTo>
                    <a:pt x="0" y="905471"/>
                  </a:lnTo>
                  <a:lnTo>
                    <a:pt x="3014091" y="905471"/>
                  </a:lnTo>
                  <a:lnTo>
                    <a:pt x="3014091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MinIO | Understand the guidelines for using MinIO's marks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6342" y="1165110"/>
              <a:ext cx="939571" cy="13321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51508" y="1559305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5" h="331469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8894" y="1592961"/>
            <a:ext cx="6521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incoming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39745" y="1546605"/>
            <a:ext cx="1892935" cy="335915"/>
            <a:chOff x="2539745" y="1546605"/>
            <a:chExt cx="1892935" cy="33591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9745" y="1572196"/>
              <a:ext cx="296811" cy="3098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99129" y="1546605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69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99129" y="1546605"/>
            <a:ext cx="1233805" cy="3314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36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868616"/>
            <a:ext cx="4384675" cy="1026160"/>
            <a:chOff x="0" y="868616"/>
            <a:chExt cx="4384675" cy="102616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7367" y="1559369"/>
              <a:ext cx="296811" cy="3098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868616"/>
              <a:ext cx="1380490" cy="1026160"/>
            </a:xfrm>
            <a:custGeom>
              <a:avLst/>
              <a:gdLst/>
              <a:ahLst/>
              <a:cxnLst/>
              <a:rect l="l" t="t" r="r" b="b"/>
              <a:pathLst>
                <a:path w="1380490" h="1026160">
                  <a:moveTo>
                    <a:pt x="1379881" y="0"/>
                  </a:moveTo>
                  <a:lnTo>
                    <a:pt x="0" y="0"/>
                  </a:lnTo>
                  <a:lnTo>
                    <a:pt x="0" y="1025715"/>
                  </a:lnTo>
                  <a:lnTo>
                    <a:pt x="1379881" y="1025715"/>
                  </a:lnTo>
                  <a:lnTo>
                    <a:pt x="1379881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99438" y="1042161"/>
            <a:ext cx="647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E5496"/>
                </a:solidFill>
                <a:latin typeface="Calibri"/>
                <a:cs typeface="Calibri"/>
              </a:rPr>
              <a:t>storage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775" y="876045"/>
            <a:ext cx="11677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National</a:t>
            </a:r>
            <a:r>
              <a:rPr sz="1400" b="1" i="1" spc="-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F243E"/>
                </a:solidFill>
                <a:latin typeface="Calibri"/>
                <a:cs typeface="Calibri"/>
              </a:rPr>
              <a:t>Sector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21" name="object 21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upload</a:t>
            </a:r>
            <a:r>
              <a:rPr spc="-85" dirty="0"/>
              <a:t> </a:t>
            </a: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wis2box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613528" y="1164716"/>
            <a:ext cx="74256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Data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can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be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uploaded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to</a:t>
            </a:r>
            <a:r>
              <a:rPr sz="2000" b="1" spc="-12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wis2box-</a:t>
            </a:r>
            <a:r>
              <a:rPr sz="2000" b="1" spc="-10" dirty="0">
                <a:latin typeface="Trebuchet MS"/>
                <a:cs typeface="Trebuchet MS"/>
              </a:rPr>
              <a:t>incoming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in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different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ways </a:t>
            </a:r>
            <a:r>
              <a:rPr sz="2000" b="1" dirty="0">
                <a:solidFill>
                  <a:srgbClr val="0F42D2"/>
                </a:solidFill>
                <a:latin typeface="Trebuchet MS"/>
                <a:cs typeface="Trebuchet MS"/>
              </a:rPr>
              <a:t>Optimal</a:t>
            </a:r>
            <a:r>
              <a:rPr sz="2000" b="1" spc="-14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F42D2"/>
                </a:solidFill>
                <a:latin typeface="Trebuchet MS"/>
                <a:cs typeface="Trebuchet MS"/>
              </a:rPr>
              <a:t>solution</a:t>
            </a:r>
            <a:r>
              <a:rPr sz="2000" b="1" spc="-13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35" dirty="0">
                <a:solidFill>
                  <a:srgbClr val="0F42D2"/>
                </a:solidFill>
                <a:latin typeface="Trebuchet MS"/>
                <a:cs typeface="Trebuchet MS"/>
              </a:rPr>
              <a:t>will</a:t>
            </a:r>
            <a:r>
              <a:rPr sz="2000" b="1" spc="-13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0F42D2"/>
                </a:solidFill>
                <a:latin typeface="Trebuchet MS"/>
                <a:cs typeface="Trebuchet MS"/>
              </a:rPr>
              <a:t>depend</a:t>
            </a:r>
            <a:r>
              <a:rPr sz="2000" b="1" spc="-14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F42D2"/>
                </a:solidFill>
                <a:latin typeface="Trebuchet MS"/>
                <a:cs typeface="Trebuchet MS"/>
              </a:rPr>
              <a:t>on</a:t>
            </a:r>
            <a:r>
              <a:rPr sz="2000" b="1" spc="-13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F42D2"/>
                </a:solidFill>
                <a:latin typeface="Trebuchet MS"/>
                <a:cs typeface="Trebuchet MS"/>
              </a:rPr>
              <a:t>systems</a:t>
            </a:r>
            <a:r>
              <a:rPr sz="2000" b="1" spc="-11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F42D2"/>
                </a:solidFill>
                <a:latin typeface="Trebuchet MS"/>
                <a:cs typeface="Trebuchet MS"/>
              </a:rPr>
              <a:t>used</a:t>
            </a:r>
            <a:r>
              <a:rPr sz="2000" b="1" spc="-12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55" dirty="0">
                <a:solidFill>
                  <a:srgbClr val="0F42D2"/>
                </a:solidFill>
                <a:latin typeface="Trebuchet MS"/>
                <a:cs typeface="Trebuchet MS"/>
              </a:rPr>
              <a:t>in</a:t>
            </a:r>
            <a:r>
              <a:rPr sz="2000" b="1" spc="-12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0F42D2"/>
                </a:solidFill>
                <a:latin typeface="Trebuchet MS"/>
                <a:cs typeface="Trebuchet MS"/>
              </a:rPr>
              <a:t>national</a:t>
            </a:r>
            <a:r>
              <a:rPr sz="2000" b="1" spc="-15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F42D2"/>
                </a:solidFill>
                <a:latin typeface="Trebuchet MS"/>
                <a:cs typeface="Trebuchet MS"/>
              </a:rPr>
              <a:t>sector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1678558"/>
            <a:ext cx="1651635" cy="76200"/>
          </a:xfrm>
          <a:custGeom>
            <a:avLst/>
            <a:gdLst/>
            <a:ahLst/>
            <a:cxnLst/>
            <a:rect l="l" t="t" r="r" b="b"/>
            <a:pathLst>
              <a:path w="1651635" h="76200">
                <a:moveTo>
                  <a:pt x="1574927" y="0"/>
                </a:moveTo>
                <a:lnTo>
                  <a:pt x="1575164" y="28558"/>
                </a:lnTo>
                <a:lnTo>
                  <a:pt x="1575239" y="37464"/>
                </a:lnTo>
                <a:lnTo>
                  <a:pt x="1575323" y="47608"/>
                </a:lnTo>
                <a:lnTo>
                  <a:pt x="1575438" y="61355"/>
                </a:lnTo>
                <a:lnTo>
                  <a:pt x="1575562" y="76200"/>
                </a:lnTo>
                <a:lnTo>
                  <a:pt x="1631619" y="47608"/>
                </a:lnTo>
                <a:lnTo>
                  <a:pt x="1588008" y="47608"/>
                </a:lnTo>
                <a:lnTo>
                  <a:pt x="1587881" y="28558"/>
                </a:lnTo>
                <a:lnTo>
                  <a:pt x="1633303" y="28558"/>
                </a:lnTo>
                <a:lnTo>
                  <a:pt x="1574927" y="0"/>
                </a:lnTo>
                <a:close/>
              </a:path>
              <a:path w="1651635" h="76200">
                <a:moveTo>
                  <a:pt x="1575164" y="28558"/>
                </a:moveTo>
                <a:lnTo>
                  <a:pt x="0" y="42304"/>
                </a:lnTo>
                <a:lnTo>
                  <a:pt x="0" y="61355"/>
                </a:lnTo>
                <a:lnTo>
                  <a:pt x="1575323" y="47608"/>
                </a:lnTo>
                <a:lnTo>
                  <a:pt x="1575239" y="37464"/>
                </a:lnTo>
                <a:lnTo>
                  <a:pt x="1575164" y="28558"/>
                </a:lnTo>
                <a:close/>
              </a:path>
              <a:path w="1651635" h="76200">
                <a:moveTo>
                  <a:pt x="1633303" y="28558"/>
                </a:moveTo>
                <a:lnTo>
                  <a:pt x="1587881" y="28558"/>
                </a:lnTo>
                <a:lnTo>
                  <a:pt x="1588008" y="47608"/>
                </a:lnTo>
                <a:lnTo>
                  <a:pt x="1631619" y="47608"/>
                </a:lnTo>
                <a:lnTo>
                  <a:pt x="1651508" y="37464"/>
                </a:lnTo>
                <a:lnTo>
                  <a:pt x="1633303" y="2855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0329" y="1511934"/>
            <a:ext cx="86614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data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uploaded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51507" y="2226691"/>
            <a:ext cx="9154160" cy="2800985"/>
          </a:xfrm>
          <a:custGeom>
            <a:avLst/>
            <a:gdLst/>
            <a:ahLst/>
            <a:cxnLst/>
            <a:rect l="l" t="t" r="r" b="b"/>
            <a:pathLst>
              <a:path w="9154160" h="2800985">
                <a:moveTo>
                  <a:pt x="9153906" y="0"/>
                </a:moveTo>
                <a:lnTo>
                  <a:pt x="0" y="0"/>
                </a:lnTo>
                <a:lnTo>
                  <a:pt x="0" y="2800730"/>
                </a:lnTo>
                <a:lnTo>
                  <a:pt x="9153906" y="2800730"/>
                </a:lnTo>
                <a:lnTo>
                  <a:pt x="915390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95"/>
              </a:spcBef>
            </a:pPr>
            <a:r>
              <a:rPr dirty="0"/>
              <a:t>Manual</a:t>
            </a:r>
            <a:r>
              <a:rPr spc="-160" dirty="0"/>
              <a:t> </a:t>
            </a:r>
            <a:r>
              <a:rPr dirty="0"/>
              <a:t>upload</a:t>
            </a:r>
            <a:r>
              <a:rPr spc="-140" dirty="0"/>
              <a:t> </a:t>
            </a:r>
            <a:r>
              <a:rPr spc="-10" dirty="0"/>
              <a:t>methods:</a:t>
            </a:r>
          </a:p>
          <a:p>
            <a:pPr marL="314325" indent="-285750">
              <a:lnSpc>
                <a:spcPct val="100000"/>
              </a:lnSpc>
              <a:buFont typeface="Trebuchet MS"/>
              <a:buChar char="-"/>
              <a:tabLst>
                <a:tab pos="314325" algn="l"/>
              </a:tabLst>
            </a:pPr>
            <a:r>
              <a:rPr u="sng" spc="-2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Interfaces</a:t>
            </a:r>
            <a:r>
              <a:rPr u="sng" spc="-9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 </a:t>
            </a:r>
            <a:r>
              <a:rPr u="sng" spc="-7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in</a:t>
            </a:r>
            <a:r>
              <a:rPr u="sng" spc="-10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 </a:t>
            </a:r>
            <a:r>
              <a:rPr u="sng" spc="-5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wis2box-</a:t>
            </a:r>
            <a:r>
              <a:rPr u="sng" spc="-4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webapp</a:t>
            </a:r>
            <a:r>
              <a:rPr spc="-45" dirty="0">
                <a:solidFill>
                  <a:srgbClr val="0F42D2"/>
                </a:solidFill>
              </a:rPr>
              <a:t>:</a:t>
            </a:r>
            <a:r>
              <a:rPr spc="-60" dirty="0">
                <a:solidFill>
                  <a:srgbClr val="0F42D2"/>
                </a:solidFill>
              </a:rPr>
              <a:t> </a:t>
            </a:r>
            <a:r>
              <a:rPr b="0" spc="-10" dirty="0">
                <a:latin typeface="Trebuchet MS"/>
                <a:cs typeface="Trebuchet MS"/>
              </a:rPr>
              <a:t>manual</a:t>
            </a:r>
            <a:r>
              <a:rPr b="0" spc="-8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submission</a:t>
            </a:r>
            <a:r>
              <a:rPr b="0" spc="-8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using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spc="-30" dirty="0">
                <a:latin typeface="Trebuchet MS"/>
                <a:cs typeface="Trebuchet MS"/>
              </a:rPr>
              <a:t>FM-</a:t>
            </a:r>
            <a:r>
              <a:rPr b="0" dirty="0">
                <a:latin typeface="Trebuchet MS"/>
                <a:cs typeface="Trebuchet MS"/>
              </a:rPr>
              <a:t>12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form</a:t>
            </a:r>
          </a:p>
          <a:p>
            <a:pPr marL="314960">
              <a:lnSpc>
                <a:spcPct val="100000"/>
              </a:lnSpc>
            </a:pPr>
            <a:r>
              <a:rPr b="0" spc="-50" dirty="0">
                <a:latin typeface="Trebuchet MS"/>
                <a:cs typeface="Trebuchet MS"/>
              </a:rPr>
              <a:t>or</a:t>
            </a:r>
            <a:r>
              <a:rPr b="0" spc="-21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manual</a:t>
            </a:r>
            <a:r>
              <a:rPr b="0" spc="-170" dirty="0">
                <a:latin typeface="Trebuchet MS"/>
                <a:cs typeface="Trebuchet MS"/>
              </a:rPr>
              <a:t> </a:t>
            </a:r>
            <a:r>
              <a:rPr b="0" spc="-105" dirty="0">
                <a:latin typeface="Trebuchet MS"/>
                <a:cs typeface="Trebuchet MS"/>
              </a:rPr>
              <a:t>file</a:t>
            </a:r>
            <a:r>
              <a:rPr b="0" spc="-19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upload</a:t>
            </a:r>
            <a:r>
              <a:rPr b="0" spc="-18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interface</a:t>
            </a:r>
          </a:p>
          <a:p>
            <a:pPr marL="313690" marR="593090" indent="-285750">
              <a:lnSpc>
                <a:spcPct val="100000"/>
              </a:lnSpc>
              <a:buFont typeface="Trebuchet MS"/>
              <a:buChar char="-"/>
              <a:tabLst>
                <a:tab pos="314960" algn="l"/>
              </a:tabLst>
            </a:pPr>
            <a:r>
              <a:rPr u="sng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Using</a:t>
            </a:r>
            <a:r>
              <a:rPr u="sng" spc="-14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 </a:t>
            </a:r>
            <a:r>
              <a:rPr u="sng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MinIO</a:t>
            </a:r>
            <a:r>
              <a:rPr u="sng" spc="-16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 </a:t>
            </a:r>
            <a:r>
              <a:rPr u="sng" spc="-4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UI</a:t>
            </a:r>
            <a:r>
              <a:rPr spc="-40" dirty="0">
                <a:solidFill>
                  <a:srgbClr val="0F42D2"/>
                </a:solidFill>
              </a:rPr>
              <a:t>:</a:t>
            </a:r>
            <a:r>
              <a:rPr spc="-150" dirty="0">
                <a:solidFill>
                  <a:srgbClr val="0F42D2"/>
                </a:solidFill>
              </a:rPr>
              <a:t> </a:t>
            </a:r>
            <a:r>
              <a:rPr b="0" spc="-35" dirty="0">
                <a:latin typeface="Trebuchet MS"/>
                <a:cs typeface="Trebuchet MS"/>
              </a:rPr>
              <a:t>manually</a:t>
            </a:r>
            <a:r>
              <a:rPr b="0" spc="-140" dirty="0">
                <a:latin typeface="Trebuchet MS"/>
                <a:cs typeface="Trebuchet MS"/>
              </a:rPr>
              <a:t> </a:t>
            </a:r>
            <a:r>
              <a:rPr b="0" spc="-75" dirty="0">
                <a:latin typeface="Trebuchet MS"/>
                <a:cs typeface="Trebuchet MS"/>
              </a:rPr>
              <a:t>create</a:t>
            </a:r>
            <a:r>
              <a:rPr b="0" spc="-135" dirty="0">
                <a:latin typeface="Trebuchet MS"/>
                <a:cs typeface="Trebuchet MS"/>
              </a:rPr>
              <a:t> </a:t>
            </a:r>
            <a:r>
              <a:rPr b="0" spc="-60" dirty="0">
                <a:latin typeface="Trebuchet MS"/>
                <a:cs typeface="Trebuchet MS"/>
              </a:rPr>
              <a:t>path</a:t>
            </a:r>
            <a:r>
              <a:rPr b="0" spc="-1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15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upload</a:t>
            </a:r>
            <a:r>
              <a:rPr b="0" spc="-160" dirty="0">
                <a:latin typeface="Trebuchet MS"/>
                <a:cs typeface="Trebuchet MS"/>
              </a:rPr>
              <a:t> </a:t>
            </a:r>
            <a:r>
              <a:rPr b="0" spc="-85" dirty="0">
                <a:latin typeface="Trebuchet MS"/>
                <a:cs typeface="Trebuchet MS"/>
              </a:rPr>
              <a:t>data,</a:t>
            </a:r>
            <a:r>
              <a:rPr b="0" spc="-135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useful</a:t>
            </a:r>
            <a:r>
              <a:rPr b="0" spc="-160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for 	</a:t>
            </a:r>
            <a:r>
              <a:rPr b="0" spc="-65" dirty="0">
                <a:latin typeface="Trebuchet MS"/>
                <a:cs typeface="Trebuchet MS"/>
              </a:rPr>
              <a:t>testing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spc="-60" dirty="0">
                <a:latin typeface="Trebuchet MS"/>
                <a:cs typeface="Trebuchet MS"/>
              </a:rPr>
              <a:t>data-</a:t>
            </a:r>
            <a:r>
              <a:rPr b="0" spc="-10" dirty="0">
                <a:latin typeface="Trebuchet MS"/>
                <a:cs typeface="Trebuchet MS"/>
              </a:rPr>
              <a:t>workflow</a:t>
            </a:r>
          </a:p>
          <a:p>
            <a:pPr marL="28575">
              <a:lnSpc>
                <a:spcPct val="100000"/>
              </a:lnSpc>
            </a:pPr>
            <a:r>
              <a:rPr spc="-40" dirty="0"/>
              <a:t>Automating</a:t>
            </a:r>
            <a:r>
              <a:rPr spc="-165" dirty="0"/>
              <a:t> </a:t>
            </a:r>
            <a:r>
              <a:rPr spc="-20" dirty="0"/>
              <a:t>data</a:t>
            </a:r>
            <a:r>
              <a:rPr spc="-175" dirty="0"/>
              <a:t> </a:t>
            </a:r>
            <a:r>
              <a:rPr dirty="0"/>
              <a:t>upload</a:t>
            </a:r>
            <a:r>
              <a:rPr spc="-155" dirty="0"/>
              <a:t> </a:t>
            </a:r>
            <a:r>
              <a:rPr spc="-10" dirty="0"/>
              <a:t>(recommended!):</a:t>
            </a:r>
          </a:p>
          <a:p>
            <a:pPr marL="314325" indent="-285750">
              <a:lnSpc>
                <a:spcPct val="100000"/>
              </a:lnSpc>
              <a:buFont typeface="Trebuchet MS"/>
              <a:buChar char="-"/>
              <a:tabLst>
                <a:tab pos="314325" algn="l"/>
              </a:tabLst>
            </a:pPr>
            <a:r>
              <a:rPr u="sng" spc="-1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Scripts</a:t>
            </a:r>
            <a:r>
              <a:rPr spc="-10" dirty="0">
                <a:solidFill>
                  <a:srgbClr val="0F42D2"/>
                </a:solidFill>
              </a:rPr>
              <a:t>:</a:t>
            </a:r>
            <a:r>
              <a:rPr spc="-145" dirty="0">
                <a:solidFill>
                  <a:srgbClr val="0F42D2"/>
                </a:solidFill>
              </a:rPr>
              <a:t> </a:t>
            </a:r>
            <a:r>
              <a:rPr b="0" spc="-110" dirty="0">
                <a:latin typeface="Trebuchet MS"/>
                <a:cs typeface="Trebuchet MS"/>
              </a:rPr>
              <a:t>write</a:t>
            </a:r>
            <a:r>
              <a:rPr b="0" spc="-15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code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80" dirty="0">
                <a:latin typeface="Trebuchet MS"/>
                <a:cs typeface="Trebuchet MS"/>
              </a:rPr>
              <a:t>to</a:t>
            </a:r>
            <a:r>
              <a:rPr b="0" spc="-17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upload</a:t>
            </a:r>
            <a:r>
              <a:rPr b="0" spc="-155" dirty="0">
                <a:latin typeface="Trebuchet MS"/>
                <a:cs typeface="Trebuchet MS"/>
              </a:rPr>
              <a:t> </a:t>
            </a:r>
            <a:r>
              <a:rPr b="0" spc="-55" dirty="0">
                <a:latin typeface="Trebuchet MS"/>
                <a:cs typeface="Trebuchet MS"/>
              </a:rPr>
              <a:t>data</a:t>
            </a:r>
            <a:r>
              <a:rPr b="0" spc="-15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using</a:t>
            </a:r>
            <a:r>
              <a:rPr b="0" spc="-15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MinIO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client</a:t>
            </a:r>
            <a:r>
              <a:rPr b="0" spc="-17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software</a:t>
            </a:r>
          </a:p>
          <a:p>
            <a:pPr marL="314325" indent="-285750">
              <a:lnSpc>
                <a:spcPct val="100000"/>
              </a:lnSpc>
              <a:buFont typeface="Trebuchet MS"/>
              <a:buChar char="-"/>
              <a:tabLst>
                <a:tab pos="314325" algn="l"/>
              </a:tabLst>
            </a:pPr>
            <a:r>
              <a:rPr u="sng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Using</a:t>
            </a:r>
            <a:r>
              <a:rPr u="sng" spc="-12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 </a:t>
            </a:r>
            <a:r>
              <a:rPr u="sng" spc="-4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SFTP</a:t>
            </a:r>
            <a:r>
              <a:rPr u="sng" spc="-16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 </a:t>
            </a:r>
            <a:r>
              <a:rPr u="sng" spc="-4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</a:rPr>
              <a:t>protocol</a:t>
            </a:r>
            <a:r>
              <a:rPr spc="-45" dirty="0">
                <a:solidFill>
                  <a:srgbClr val="0F42D2"/>
                </a:solidFill>
              </a:rPr>
              <a:t>:</a:t>
            </a:r>
            <a:r>
              <a:rPr spc="-100" dirty="0">
                <a:solidFill>
                  <a:srgbClr val="0F42D2"/>
                </a:solidFill>
              </a:rPr>
              <a:t> </a:t>
            </a:r>
            <a:r>
              <a:rPr b="0" spc="-75" dirty="0">
                <a:latin typeface="Trebuchet MS"/>
                <a:cs typeface="Trebuchet MS"/>
              </a:rPr>
              <a:t>forward</a:t>
            </a:r>
            <a:r>
              <a:rPr b="0" spc="-130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data</a:t>
            </a:r>
            <a:r>
              <a:rPr b="0" spc="-125" dirty="0">
                <a:latin typeface="Trebuchet MS"/>
                <a:cs typeface="Trebuchet MS"/>
              </a:rPr>
              <a:t> </a:t>
            </a:r>
            <a:r>
              <a:rPr b="0" spc="-80" dirty="0">
                <a:latin typeface="Trebuchet MS"/>
                <a:cs typeface="Trebuchet MS"/>
              </a:rPr>
              <a:t>to</a:t>
            </a:r>
            <a:r>
              <a:rPr b="0" spc="-13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MinIO</a:t>
            </a:r>
            <a:r>
              <a:rPr b="0" spc="-145" dirty="0">
                <a:latin typeface="Trebuchet MS"/>
                <a:cs typeface="Trebuchet MS"/>
              </a:rPr>
              <a:t> </a:t>
            </a:r>
            <a:r>
              <a:rPr b="0" spc="-40" dirty="0">
                <a:latin typeface="Trebuchet MS"/>
                <a:cs typeface="Trebuchet MS"/>
              </a:rPr>
              <a:t>SFTP-</a:t>
            </a:r>
            <a:r>
              <a:rPr b="0" spc="-10" dirty="0">
                <a:latin typeface="Trebuchet MS"/>
                <a:cs typeface="Trebuchet MS"/>
              </a:rPr>
              <a:t>endpoint</a:t>
            </a:r>
          </a:p>
        </p:txBody>
      </p:sp>
      <p:sp>
        <p:nvSpPr>
          <p:cNvPr id="29" name="object 29"/>
          <p:cNvSpPr/>
          <p:nvPr/>
        </p:nvSpPr>
        <p:spPr>
          <a:xfrm>
            <a:off x="0" y="1487754"/>
            <a:ext cx="1651635" cy="403225"/>
          </a:xfrm>
          <a:custGeom>
            <a:avLst/>
            <a:gdLst/>
            <a:ahLst/>
            <a:cxnLst/>
            <a:rect l="l" t="t" r="r" b="b"/>
            <a:pathLst>
              <a:path w="1651635" h="403225">
                <a:moveTo>
                  <a:pt x="0" y="402767"/>
                </a:moveTo>
                <a:lnTo>
                  <a:pt x="1651508" y="402767"/>
                </a:lnTo>
                <a:lnTo>
                  <a:pt x="1651508" y="0"/>
                </a:lnTo>
                <a:lnTo>
                  <a:pt x="0" y="0"/>
                </a:lnTo>
                <a:lnTo>
                  <a:pt x="0" y="402767"/>
                </a:lnTo>
                <a:close/>
              </a:path>
            </a:pathLst>
          </a:custGeom>
          <a:ln w="381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28460" y="6136323"/>
            <a:ext cx="5316220" cy="7080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400" b="1" spc="-40" dirty="0">
                <a:latin typeface="Trebuchet MS"/>
                <a:cs typeface="Trebuchet MS"/>
              </a:rPr>
              <a:t>NOTE:</a:t>
            </a:r>
            <a:r>
              <a:rPr sz="1400" b="1" spc="-80" dirty="0">
                <a:latin typeface="Trebuchet MS"/>
                <a:cs typeface="Trebuchet MS"/>
              </a:rPr>
              <a:t> </a:t>
            </a:r>
            <a:r>
              <a:rPr sz="1400" b="1" spc="-30" dirty="0">
                <a:latin typeface="Trebuchet MS"/>
                <a:cs typeface="Trebuchet MS"/>
              </a:rPr>
              <a:t>when</a:t>
            </a:r>
            <a:r>
              <a:rPr sz="1400" b="1" spc="-11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uploading</a:t>
            </a:r>
            <a:r>
              <a:rPr sz="1400" b="1" spc="-12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data</a:t>
            </a:r>
            <a:r>
              <a:rPr sz="1400" b="1" spc="-95" dirty="0">
                <a:latin typeface="Trebuchet MS"/>
                <a:cs typeface="Trebuchet MS"/>
              </a:rPr>
              <a:t> </a:t>
            </a:r>
            <a:r>
              <a:rPr sz="1400" b="1" spc="-35" dirty="0">
                <a:latin typeface="Trebuchet MS"/>
                <a:cs typeface="Trebuchet MS"/>
              </a:rPr>
              <a:t>in</a:t>
            </a:r>
            <a:r>
              <a:rPr sz="1400" b="1" spc="-90" dirty="0">
                <a:latin typeface="Trebuchet MS"/>
                <a:cs typeface="Trebuchet MS"/>
              </a:rPr>
              <a:t> </a:t>
            </a:r>
            <a:r>
              <a:rPr sz="1400" b="1" spc="-30" dirty="0">
                <a:latin typeface="Trebuchet MS"/>
                <a:cs typeface="Trebuchet MS"/>
              </a:rPr>
              <a:t>wis2box-webapp,</a:t>
            </a:r>
            <a:r>
              <a:rPr sz="1400" b="1" spc="-130" dirty="0">
                <a:latin typeface="Trebuchet MS"/>
                <a:cs typeface="Trebuchet MS"/>
              </a:rPr>
              <a:t> </a:t>
            </a:r>
            <a:r>
              <a:rPr sz="1400" b="1" spc="-35" dirty="0">
                <a:latin typeface="Trebuchet MS"/>
                <a:cs typeface="Trebuchet MS"/>
              </a:rPr>
              <a:t>received</a:t>
            </a:r>
            <a:r>
              <a:rPr sz="1400" b="1" spc="-125" dirty="0">
                <a:latin typeface="Trebuchet MS"/>
                <a:cs typeface="Trebuchet MS"/>
              </a:rPr>
              <a:t> </a:t>
            </a:r>
            <a:r>
              <a:rPr sz="1400" b="1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  <a:p>
            <a:pPr marL="92075">
              <a:lnSpc>
                <a:spcPct val="100000"/>
              </a:lnSpc>
            </a:pPr>
            <a:r>
              <a:rPr sz="1400" b="1" dirty="0">
                <a:latin typeface="Trebuchet MS"/>
                <a:cs typeface="Trebuchet MS"/>
              </a:rPr>
              <a:t>does</a:t>
            </a:r>
            <a:r>
              <a:rPr sz="1400" b="1" spc="-105" dirty="0">
                <a:latin typeface="Trebuchet MS"/>
                <a:cs typeface="Trebuchet MS"/>
              </a:rPr>
              <a:t> </a:t>
            </a:r>
            <a:r>
              <a:rPr sz="1400" b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not</a:t>
            </a:r>
            <a:r>
              <a:rPr sz="1400" b="1" spc="-7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go</a:t>
            </a:r>
            <a:r>
              <a:rPr sz="1400" b="1" spc="-100" dirty="0">
                <a:latin typeface="Trebuchet MS"/>
                <a:cs typeface="Trebuchet MS"/>
              </a:rPr>
              <a:t> </a:t>
            </a:r>
            <a:r>
              <a:rPr sz="1400" b="1" spc="-35" dirty="0">
                <a:latin typeface="Trebuchet MS"/>
                <a:cs typeface="Trebuchet MS"/>
              </a:rPr>
              <a:t>into</a:t>
            </a:r>
            <a:r>
              <a:rPr sz="1400" b="1" spc="-80" dirty="0">
                <a:latin typeface="Trebuchet MS"/>
                <a:cs typeface="Trebuchet MS"/>
              </a:rPr>
              <a:t> </a:t>
            </a:r>
            <a:r>
              <a:rPr sz="1400" b="1" spc="-40" dirty="0">
                <a:latin typeface="Trebuchet MS"/>
                <a:cs typeface="Trebuchet MS"/>
              </a:rPr>
              <a:t>the</a:t>
            </a:r>
            <a:r>
              <a:rPr sz="1400" b="1" spc="-195" dirty="0">
                <a:latin typeface="Trebuchet MS"/>
                <a:cs typeface="Trebuchet MS"/>
              </a:rPr>
              <a:t> </a:t>
            </a:r>
            <a:r>
              <a:rPr sz="1400" b="1" spc="-40" dirty="0">
                <a:latin typeface="Trebuchet MS"/>
                <a:cs typeface="Trebuchet MS"/>
              </a:rPr>
              <a:t>“wis2box-</a:t>
            </a:r>
            <a:r>
              <a:rPr sz="1400" b="1" spc="-20" dirty="0">
                <a:latin typeface="Trebuchet MS"/>
                <a:cs typeface="Trebuchet MS"/>
              </a:rPr>
              <a:t>incoming”</a:t>
            </a:r>
            <a:r>
              <a:rPr sz="1400" b="1" spc="-22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bucket</a:t>
            </a:r>
            <a:endParaRPr sz="1400">
              <a:latin typeface="Trebuchet MS"/>
              <a:cs typeface="Trebuchet MS"/>
            </a:endParaRPr>
          </a:p>
          <a:p>
            <a:pPr marL="92075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Calibri"/>
                <a:cs typeface="Calibri"/>
              </a:rPr>
              <a:t>Received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converted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output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“wis2box-</a:t>
            </a:r>
            <a:r>
              <a:rPr sz="1200" dirty="0">
                <a:latin typeface="Calibri"/>
                <a:cs typeface="Calibri"/>
              </a:rPr>
              <a:t>public”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bucket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directly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368" y="735940"/>
            <a:ext cx="9311640" cy="49752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BUFR</a:t>
            </a:r>
            <a:r>
              <a:rPr sz="2000" b="1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(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B</a:t>
            </a:r>
            <a:r>
              <a:rPr sz="2000" spc="-55" dirty="0">
                <a:latin typeface="Trebuchet MS"/>
                <a:cs typeface="Trebuchet MS"/>
              </a:rPr>
              <a:t>inary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2000" spc="-30" dirty="0">
                <a:latin typeface="Trebuchet MS"/>
                <a:cs typeface="Trebuchet MS"/>
              </a:rPr>
              <a:t>niversal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2000" spc="-25" dirty="0">
                <a:latin typeface="Trebuchet MS"/>
                <a:cs typeface="Trebuchet MS"/>
              </a:rPr>
              <a:t>orm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epresentation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meteorological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data)</a:t>
            </a:r>
            <a:endParaRPr sz="2000">
              <a:latin typeface="Trebuchet MS"/>
              <a:cs typeface="Trebuchet MS"/>
            </a:endParaRPr>
          </a:p>
          <a:p>
            <a:pPr marL="754380" indent="-28448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flexible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binary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format</a:t>
            </a:r>
            <a:endParaRPr sz="2000">
              <a:latin typeface="Trebuchet MS"/>
              <a:cs typeface="Trebuchet MS"/>
            </a:endParaRPr>
          </a:p>
          <a:p>
            <a:pPr marL="754380" indent="-28448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spc="-40" dirty="0">
                <a:latin typeface="Trebuchet MS"/>
                <a:cs typeface="Trebuchet MS"/>
              </a:rPr>
              <a:t>mainly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encode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situ</a:t>
            </a:r>
            <a:r>
              <a:rPr sz="2000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000" spc="-1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satellite</a:t>
            </a:r>
            <a:r>
              <a:rPr sz="2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observations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solidFill>
                  <a:srgbClr val="006FC0"/>
                </a:solidFill>
                <a:latin typeface="Trebuchet MS"/>
                <a:cs typeface="Trebuchet MS"/>
              </a:rPr>
              <a:t>How</a:t>
            </a:r>
            <a:r>
              <a:rPr sz="2000" b="1" spc="-1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rebuchet MS"/>
                <a:cs typeface="Trebuchet MS"/>
              </a:rPr>
              <a:t>BUFR</a:t>
            </a:r>
            <a:r>
              <a:rPr sz="2000" b="1" spc="-1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rebuchet MS"/>
                <a:cs typeface="Trebuchet MS"/>
              </a:rPr>
              <a:t>Works: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BUFR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message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consists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header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body</a:t>
            </a:r>
            <a:r>
              <a:rPr sz="2000" b="1" spc="-114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containing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data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11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metadata</a:t>
            </a:r>
            <a:r>
              <a:rPr sz="2000" spc="-1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BUFR</a:t>
            </a:r>
            <a:r>
              <a:rPr sz="2000" b="1" spc="-204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descriptors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Calibri"/>
                <a:cs typeface="Calibri"/>
              </a:rPr>
              <a:t>define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structured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encoded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BUFR</a:t>
            </a:r>
            <a:r>
              <a:rPr sz="2000" spc="-10" dirty="0">
                <a:latin typeface="Calibri"/>
                <a:cs typeface="Calibri"/>
              </a:rPr>
              <a:t> message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Compression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for</a:t>
            </a:r>
            <a:r>
              <a:rPr sz="2000" b="1" spc="-120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efficient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storage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reduce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transmission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times.</a:t>
            </a:r>
            <a:endParaRPr sz="2000">
              <a:latin typeface="Trebuchet MS"/>
              <a:cs typeface="Trebuchet MS"/>
            </a:endParaRPr>
          </a:p>
          <a:p>
            <a:pPr marL="81280">
              <a:lnSpc>
                <a:spcPct val="100000"/>
              </a:lnSpc>
              <a:spcBef>
                <a:spcPts val="2260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BUFR</a:t>
            </a:r>
            <a:r>
              <a:rPr sz="20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Table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812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BUFR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descriptors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BUFR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Tables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(Tables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D).</a:t>
            </a:r>
            <a:endParaRPr sz="2000">
              <a:latin typeface="Calibri"/>
              <a:cs typeface="Calibri"/>
            </a:endParaRPr>
          </a:p>
          <a:p>
            <a:pPr marL="424180" lvl="1" indent="-342900">
              <a:lnSpc>
                <a:spcPct val="100000"/>
              </a:lnSpc>
              <a:buFont typeface="Arial MT"/>
              <a:buChar char="•"/>
              <a:tabLst>
                <a:tab pos="424180" algn="l"/>
              </a:tabLst>
            </a:pPr>
            <a:r>
              <a:rPr sz="2000" b="1" spc="-20" dirty="0">
                <a:latin typeface="Calibri"/>
                <a:cs typeface="Calibri"/>
              </a:rPr>
              <a:t>Table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element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descriptors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definitions.</a:t>
            </a:r>
            <a:endParaRPr sz="2000">
              <a:latin typeface="Calibri"/>
              <a:cs typeface="Calibri"/>
            </a:endParaRPr>
          </a:p>
          <a:p>
            <a:pPr marL="424180" lvl="1" indent="-342900">
              <a:lnSpc>
                <a:spcPct val="100000"/>
              </a:lnSpc>
              <a:buFont typeface="Arial MT"/>
              <a:buChar char="•"/>
              <a:tabLst>
                <a:tab pos="424180" algn="l"/>
              </a:tabLst>
            </a:pPr>
            <a:r>
              <a:rPr sz="2000" b="1" spc="-20" dirty="0">
                <a:latin typeface="Calibri"/>
                <a:cs typeface="Calibri"/>
              </a:rPr>
              <a:t>Table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combinations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descriptors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predefined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sequences</a:t>
            </a:r>
            <a:endParaRPr sz="2000">
              <a:latin typeface="Calibri"/>
              <a:cs typeface="Calibri"/>
            </a:endParaRPr>
          </a:p>
          <a:p>
            <a:pPr marL="81280">
              <a:lnSpc>
                <a:spcPct val="100000"/>
              </a:lnSpc>
              <a:spcBef>
                <a:spcPts val="2375"/>
              </a:spcBef>
            </a:pP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BUFR</a:t>
            </a:r>
            <a:r>
              <a:rPr sz="2000" spc="-1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tables</a:t>
            </a:r>
            <a:r>
              <a:rPr sz="2000" spc="-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part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b="1" spc="105" dirty="0">
                <a:latin typeface="Trebuchet MS"/>
                <a:cs typeface="Trebuchet MS"/>
              </a:rPr>
              <a:t>WMO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Manual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on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Codes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81280">
              <a:lnSpc>
                <a:spcPct val="100000"/>
              </a:lnSpc>
              <a:spcBef>
                <a:spcPts val="10"/>
              </a:spcBef>
            </a:pPr>
            <a:r>
              <a:rPr sz="1800" u="heavy" spc="-10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https://library.wmo.int/idurl/4/35625</a:t>
            </a:r>
            <a:r>
              <a:rPr sz="1800" u="heavy" spc="-114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0462C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new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version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released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every</a:t>
            </a:r>
            <a:r>
              <a:rPr sz="1800" spc="-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rebuchet MS"/>
                <a:cs typeface="Trebuchet MS"/>
              </a:rPr>
              <a:t>six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months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49"/>
            <a:ext cx="12205335" cy="707390"/>
            <a:chOff x="-6350" y="-6349"/>
            <a:chExt cx="12205335" cy="70739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90"/>
                  </a:lnTo>
                  <a:lnTo>
                    <a:pt x="12192056" y="0"/>
                  </a:lnTo>
                  <a:lnTo>
                    <a:pt x="0" y="0"/>
                  </a:lnTo>
                  <a:lnTo>
                    <a:pt x="0" y="694689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89"/>
                  </a:lnTo>
                  <a:lnTo>
                    <a:pt x="12192056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6060">
              <a:lnSpc>
                <a:spcPct val="100000"/>
              </a:lnSpc>
              <a:spcBef>
                <a:spcPts val="100"/>
              </a:spcBef>
            </a:pPr>
            <a:r>
              <a:rPr dirty="0"/>
              <a:t>BUFR</a:t>
            </a:r>
            <a:r>
              <a:rPr spc="-80" dirty="0"/>
              <a:t> </a:t>
            </a:r>
            <a:r>
              <a:rPr spc="-50" dirty="0"/>
              <a:t>?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3670" y="3850527"/>
            <a:ext cx="312833" cy="785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5641" y="3850527"/>
            <a:ext cx="273564" cy="7852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558808" y="6118352"/>
            <a:ext cx="146050" cy="78740"/>
          </a:xfrm>
          <a:custGeom>
            <a:avLst/>
            <a:gdLst/>
            <a:ahLst/>
            <a:cxnLst/>
            <a:rect l="l" t="t" r="r" b="b"/>
            <a:pathLst>
              <a:path w="146050" h="78739">
                <a:moveTo>
                  <a:pt x="2946" y="76555"/>
                </a:moveTo>
                <a:lnTo>
                  <a:pt x="1955" y="73939"/>
                </a:lnTo>
                <a:lnTo>
                  <a:pt x="0" y="73291"/>
                </a:lnTo>
                <a:lnTo>
                  <a:pt x="330" y="75907"/>
                </a:lnTo>
                <a:lnTo>
                  <a:pt x="1638" y="76911"/>
                </a:lnTo>
                <a:lnTo>
                  <a:pt x="1638" y="78219"/>
                </a:lnTo>
                <a:lnTo>
                  <a:pt x="2946" y="78524"/>
                </a:lnTo>
                <a:lnTo>
                  <a:pt x="2946" y="76555"/>
                </a:lnTo>
                <a:close/>
              </a:path>
              <a:path w="146050" h="78739">
                <a:moveTo>
                  <a:pt x="40855" y="37947"/>
                </a:moveTo>
                <a:lnTo>
                  <a:pt x="38900" y="38608"/>
                </a:lnTo>
                <a:lnTo>
                  <a:pt x="39230" y="36296"/>
                </a:lnTo>
                <a:lnTo>
                  <a:pt x="40208" y="33375"/>
                </a:lnTo>
                <a:lnTo>
                  <a:pt x="39230" y="31064"/>
                </a:lnTo>
                <a:lnTo>
                  <a:pt x="39878" y="29451"/>
                </a:lnTo>
                <a:lnTo>
                  <a:pt x="38239" y="28448"/>
                </a:lnTo>
                <a:lnTo>
                  <a:pt x="37922" y="31407"/>
                </a:lnTo>
                <a:lnTo>
                  <a:pt x="38900" y="33375"/>
                </a:lnTo>
                <a:lnTo>
                  <a:pt x="36944" y="34683"/>
                </a:lnTo>
                <a:lnTo>
                  <a:pt x="36944" y="37947"/>
                </a:lnTo>
                <a:lnTo>
                  <a:pt x="38239" y="40576"/>
                </a:lnTo>
                <a:lnTo>
                  <a:pt x="39230" y="44843"/>
                </a:lnTo>
                <a:lnTo>
                  <a:pt x="39547" y="40881"/>
                </a:lnTo>
                <a:lnTo>
                  <a:pt x="40855" y="37947"/>
                </a:lnTo>
                <a:close/>
              </a:path>
              <a:path w="146050" h="78739">
                <a:moveTo>
                  <a:pt x="41846" y="37299"/>
                </a:moveTo>
                <a:lnTo>
                  <a:pt x="41186" y="35636"/>
                </a:lnTo>
                <a:lnTo>
                  <a:pt x="40855" y="34328"/>
                </a:lnTo>
                <a:lnTo>
                  <a:pt x="40208" y="35991"/>
                </a:lnTo>
                <a:lnTo>
                  <a:pt x="41846" y="37299"/>
                </a:lnTo>
                <a:close/>
              </a:path>
              <a:path w="146050" h="78739">
                <a:moveTo>
                  <a:pt x="82702" y="53009"/>
                </a:moveTo>
                <a:lnTo>
                  <a:pt x="82042" y="53352"/>
                </a:lnTo>
                <a:lnTo>
                  <a:pt x="82042" y="54013"/>
                </a:lnTo>
                <a:lnTo>
                  <a:pt x="82702" y="54317"/>
                </a:lnTo>
                <a:lnTo>
                  <a:pt x="82702" y="53009"/>
                </a:lnTo>
                <a:close/>
              </a:path>
              <a:path w="146050" h="78739">
                <a:moveTo>
                  <a:pt x="84988" y="54660"/>
                </a:moveTo>
                <a:lnTo>
                  <a:pt x="84340" y="54013"/>
                </a:lnTo>
                <a:lnTo>
                  <a:pt x="84658" y="53009"/>
                </a:lnTo>
                <a:lnTo>
                  <a:pt x="84340" y="52044"/>
                </a:lnTo>
                <a:lnTo>
                  <a:pt x="84340" y="50736"/>
                </a:lnTo>
                <a:lnTo>
                  <a:pt x="84010" y="51041"/>
                </a:lnTo>
                <a:lnTo>
                  <a:pt x="83350" y="51041"/>
                </a:lnTo>
                <a:lnTo>
                  <a:pt x="83350" y="52044"/>
                </a:lnTo>
                <a:lnTo>
                  <a:pt x="83680" y="52349"/>
                </a:lnTo>
                <a:lnTo>
                  <a:pt x="83350" y="53009"/>
                </a:lnTo>
                <a:lnTo>
                  <a:pt x="83032" y="54317"/>
                </a:lnTo>
                <a:lnTo>
                  <a:pt x="82702" y="55321"/>
                </a:lnTo>
                <a:lnTo>
                  <a:pt x="83350" y="54965"/>
                </a:lnTo>
                <a:lnTo>
                  <a:pt x="84340" y="54660"/>
                </a:lnTo>
                <a:lnTo>
                  <a:pt x="84988" y="54660"/>
                </a:lnTo>
                <a:close/>
              </a:path>
              <a:path w="146050" h="78739">
                <a:moveTo>
                  <a:pt x="111137" y="46812"/>
                </a:moveTo>
                <a:lnTo>
                  <a:pt x="109181" y="45808"/>
                </a:lnTo>
                <a:lnTo>
                  <a:pt x="107543" y="45808"/>
                </a:lnTo>
                <a:lnTo>
                  <a:pt x="108191" y="46812"/>
                </a:lnTo>
                <a:lnTo>
                  <a:pt x="108521" y="47764"/>
                </a:lnTo>
                <a:lnTo>
                  <a:pt x="110490" y="47764"/>
                </a:lnTo>
                <a:lnTo>
                  <a:pt x="111137" y="46812"/>
                </a:lnTo>
                <a:close/>
              </a:path>
              <a:path w="146050" h="78739">
                <a:moveTo>
                  <a:pt x="127812" y="965"/>
                </a:moveTo>
                <a:lnTo>
                  <a:pt x="127152" y="0"/>
                </a:lnTo>
                <a:lnTo>
                  <a:pt x="125196" y="0"/>
                </a:lnTo>
                <a:lnTo>
                  <a:pt x="124218" y="965"/>
                </a:lnTo>
                <a:lnTo>
                  <a:pt x="125196" y="1612"/>
                </a:lnTo>
                <a:lnTo>
                  <a:pt x="125526" y="2273"/>
                </a:lnTo>
                <a:lnTo>
                  <a:pt x="126504" y="2273"/>
                </a:lnTo>
                <a:lnTo>
                  <a:pt x="127812" y="965"/>
                </a:lnTo>
                <a:close/>
              </a:path>
              <a:path w="146050" h="78739">
                <a:moveTo>
                  <a:pt x="131406" y="58889"/>
                </a:moveTo>
                <a:lnTo>
                  <a:pt x="130429" y="58242"/>
                </a:lnTo>
                <a:lnTo>
                  <a:pt x="129438" y="59550"/>
                </a:lnTo>
                <a:lnTo>
                  <a:pt x="129438" y="61506"/>
                </a:lnTo>
                <a:lnTo>
                  <a:pt x="130429" y="62509"/>
                </a:lnTo>
                <a:lnTo>
                  <a:pt x="131076" y="61861"/>
                </a:lnTo>
                <a:lnTo>
                  <a:pt x="131076" y="59550"/>
                </a:lnTo>
                <a:lnTo>
                  <a:pt x="131406" y="58889"/>
                </a:lnTo>
                <a:close/>
              </a:path>
              <a:path w="146050" h="78739">
                <a:moveTo>
                  <a:pt x="145808" y="36944"/>
                </a:moveTo>
                <a:lnTo>
                  <a:pt x="144500" y="36944"/>
                </a:lnTo>
                <a:lnTo>
                  <a:pt x="144145" y="35991"/>
                </a:lnTo>
                <a:lnTo>
                  <a:pt x="142189" y="35991"/>
                </a:lnTo>
                <a:lnTo>
                  <a:pt x="141236" y="37604"/>
                </a:lnTo>
                <a:lnTo>
                  <a:pt x="143840" y="39268"/>
                </a:lnTo>
                <a:lnTo>
                  <a:pt x="144995" y="39268"/>
                </a:lnTo>
                <a:lnTo>
                  <a:pt x="145808" y="37947"/>
                </a:lnTo>
                <a:lnTo>
                  <a:pt x="145808" y="369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254489" y="3116515"/>
            <a:ext cx="2594610" cy="3673475"/>
            <a:chOff x="9254489" y="3116515"/>
            <a:chExt cx="2594610" cy="3673475"/>
          </a:xfrm>
        </p:grpSpPr>
        <p:sp>
          <p:nvSpPr>
            <p:cNvPr id="11" name="object 11"/>
            <p:cNvSpPr/>
            <p:nvPr/>
          </p:nvSpPr>
          <p:spPr>
            <a:xfrm>
              <a:off x="9254489" y="3116515"/>
              <a:ext cx="2594610" cy="3673475"/>
            </a:xfrm>
            <a:custGeom>
              <a:avLst/>
              <a:gdLst/>
              <a:ahLst/>
              <a:cxnLst/>
              <a:rect l="l" t="t" r="r" b="b"/>
              <a:pathLst>
                <a:path w="2594609" h="3673475">
                  <a:moveTo>
                    <a:pt x="2594108" y="0"/>
                  </a:moveTo>
                  <a:lnTo>
                    <a:pt x="0" y="0"/>
                  </a:lnTo>
                  <a:lnTo>
                    <a:pt x="0" y="3673333"/>
                  </a:lnTo>
                  <a:lnTo>
                    <a:pt x="2594109" y="3673333"/>
                  </a:lnTo>
                  <a:lnTo>
                    <a:pt x="2594108" y="0"/>
                  </a:lnTo>
                  <a:close/>
                </a:path>
              </a:pathLst>
            </a:custGeom>
            <a:solidFill>
              <a:srgbClr val="C40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54489" y="5960952"/>
              <a:ext cx="74295" cy="829310"/>
            </a:xfrm>
            <a:custGeom>
              <a:avLst/>
              <a:gdLst/>
              <a:ahLst/>
              <a:cxnLst/>
              <a:rect l="l" t="t" r="r" b="b"/>
              <a:pathLst>
                <a:path w="74295" h="829309">
                  <a:moveTo>
                    <a:pt x="73872" y="0"/>
                  </a:moveTo>
                  <a:lnTo>
                    <a:pt x="0" y="0"/>
                  </a:lnTo>
                  <a:lnTo>
                    <a:pt x="0" y="828896"/>
                  </a:lnTo>
                  <a:lnTo>
                    <a:pt x="73872" y="828896"/>
                  </a:lnTo>
                  <a:lnTo>
                    <a:pt x="73872" y="0"/>
                  </a:lnTo>
                  <a:close/>
                </a:path>
              </a:pathLst>
            </a:custGeom>
            <a:solidFill>
              <a:srgbClr val="005B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54489" y="5367321"/>
              <a:ext cx="74295" cy="198120"/>
            </a:xfrm>
            <a:custGeom>
              <a:avLst/>
              <a:gdLst/>
              <a:ahLst/>
              <a:cxnLst/>
              <a:rect l="l" t="t" r="r" b="b"/>
              <a:pathLst>
                <a:path w="74295" h="198120">
                  <a:moveTo>
                    <a:pt x="73872" y="0"/>
                  </a:moveTo>
                  <a:lnTo>
                    <a:pt x="0" y="0"/>
                  </a:lnTo>
                  <a:lnTo>
                    <a:pt x="0" y="197964"/>
                  </a:lnTo>
                  <a:lnTo>
                    <a:pt x="73872" y="197964"/>
                  </a:lnTo>
                  <a:lnTo>
                    <a:pt x="73872" y="0"/>
                  </a:lnTo>
                  <a:close/>
                </a:path>
              </a:pathLst>
            </a:custGeom>
            <a:solidFill>
              <a:srgbClr val="00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54489" y="5565286"/>
              <a:ext cx="74295" cy="198120"/>
            </a:xfrm>
            <a:custGeom>
              <a:avLst/>
              <a:gdLst/>
              <a:ahLst/>
              <a:cxnLst/>
              <a:rect l="l" t="t" r="r" b="b"/>
              <a:pathLst>
                <a:path w="74295" h="198120">
                  <a:moveTo>
                    <a:pt x="73872" y="0"/>
                  </a:moveTo>
                  <a:lnTo>
                    <a:pt x="0" y="0"/>
                  </a:lnTo>
                  <a:lnTo>
                    <a:pt x="0" y="198007"/>
                  </a:lnTo>
                  <a:lnTo>
                    <a:pt x="73872" y="198007"/>
                  </a:lnTo>
                  <a:lnTo>
                    <a:pt x="73872" y="0"/>
                  </a:lnTo>
                  <a:close/>
                </a:path>
              </a:pathLst>
            </a:custGeom>
            <a:solidFill>
              <a:srgbClr val="6FB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54489" y="5762944"/>
              <a:ext cx="74295" cy="198120"/>
            </a:xfrm>
            <a:custGeom>
              <a:avLst/>
              <a:gdLst/>
              <a:ahLst/>
              <a:cxnLst/>
              <a:rect l="l" t="t" r="r" b="b"/>
              <a:pathLst>
                <a:path w="74295" h="198120">
                  <a:moveTo>
                    <a:pt x="73872" y="0"/>
                  </a:moveTo>
                  <a:lnTo>
                    <a:pt x="0" y="0"/>
                  </a:lnTo>
                  <a:lnTo>
                    <a:pt x="0" y="198007"/>
                  </a:lnTo>
                  <a:lnTo>
                    <a:pt x="73872" y="198007"/>
                  </a:lnTo>
                  <a:lnTo>
                    <a:pt x="73872" y="0"/>
                  </a:lnTo>
                  <a:close/>
                </a:path>
              </a:pathLst>
            </a:custGeom>
            <a:solidFill>
              <a:srgbClr val="F9A6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28110" y="5021386"/>
              <a:ext cx="307587" cy="4026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982759" y="3878021"/>
              <a:ext cx="105410" cy="51435"/>
            </a:xfrm>
            <a:custGeom>
              <a:avLst/>
              <a:gdLst/>
              <a:ahLst/>
              <a:cxnLst/>
              <a:rect l="l" t="t" r="r" b="b"/>
              <a:pathLst>
                <a:path w="105409" h="51435">
                  <a:moveTo>
                    <a:pt x="51320" y="25514"/>
                  </a:moveTo>
                  <a:lnTo>
                    <a:pt x="49453" y="15455"/>
                  </a:lnTo>
                  <a:lnTo>
                    <a:pt x="44221" y="7353"/>
                  </a:lnTo>
                  <a:lnTo>
                    <a:pt x="43446" y="6845"/>
                  </a:lnTo>
                  <a:lnTo>
                    <a:pt x="43180" y="6667"/>
                  </a:lnTo>
                  <a:lnTo>
                    <a:pt x="43180" y="25514"/>
                  </a:lnTo>
                  <a:lnTo>
                    <a:pt x="41986" y="32702"/>
                  </a:lnTo>
                  <a:lnTo>
                    <a:pt x="38557" y="38646"/>
                  </a:lnTo>
                  <a:lnTo>
                    <a:pt x="33032" y="42735"/>
                  </a:lnTo>
                  <a:lnTo>
                    <a:pt x="32867" y="42735"/>
                  </a:lnTo>
                  <a:lnTo>
                    <a:pt x="25831" y="44183"/>
                  </a:lnTo>
                  <a:lnTo>
                    <a:pt x="18440" y="42735"/>
                  </a:lnTo>
                  <a:lnTo>
                    <a:pt x="12992" y="38773"/>
                  </a:lnTo>
                  <a:lnTo>
                    <a:pt x="9639" y="32854"/>
                  </a:lnTo>
                  <a:lnTo>
                    <a:pt x="8496" y="25514"/>
                  </a:lnTo>
                  <a:lnTo>
                    <a:pt x="9728" y="18313"/>
                  </a:lnTo>
                  <a:lnTo>
                    <a:pt x="13246" y="12369"/>
                  </a:lnTo>
                  <a:lnTo>
                    <a:pt x="18707" y="8331"/>
                  </a:lnTo>
                  <a:lnTo>
                    <a:pt x="25831" y="6845"/>
                  </a:lnTo>
                  <a:lnTo>
                    <a:pt x="32956" y="8331"/>
                  </a:lnTo>
                  <a:lnTo>
                    <a:pt x="38430" y="12369"/>
                  </a:lnTo>
                  <a:lnTo>
                    <a:pt x="41935" y="18313"/>
                  </a:lnTo>
                  <a:lnTo>
                    <a:pt x="43180" y="25514"/>
                  </a:lnTo>
                  <a:lnTo>
                    <a:pt x="43180" y="6667"/>
                  </a:lnTo>
                  <a:lnTo>
                    <a:pt x="36156" y="1955"/>
                  </a:lnTo>
                  <a:lnTo>
                    <a:pt x="25831" y="0"/>
                  </a:lnTo>
                  <a:lnTo>
                    <a:pt x="15582" y="1955"/>
                  </a:lnTo>
                  <a:lnTo>
                    <a:pt x="7391" y="7353"/>
                  </a:lnTo>
                  <a:lnTo>
                    <a:pt x="1955" y="15455"/>
                  </a:lnTo>
                  <a:lnTo>
                    <a:pt x="0" y="25514"/>
                  </a:lnTo>
                  <a:lnTo>
                    <a:pt x="1727" y="35572"/>
                  </a:lnTo>
                  <a:lnTo>
                    <a:pt x="6781" y="43675"/>
                  </a:lnTo>
                  <a:lnTo>
                    <a:pt x="14897" y="49072"/>
                  </a:lnTo>
                  <a:lnTo>
                    <a:pt x="25831" y="51041"/>
                  </a:lnTo>
                  <a:lnTo>
                    <a:pt x="36029" y="49072"/>
                  </a:lnTo>
                  <a:lnTo>
                    <a:pt x="43332" y="44183"/>
                  </a:lnTo>
                  <a:lnTo>
                    <a:pt x="44107" y="43675"/>
                  </a:lnTo>
                  <a:lnTo>
                    <a:pt x="49415" y="35572"/>
                  </a:lnTo>
                  <a:lnTo>
                    <a:pt x="51320" y="25514"/>
                  </a:lnTo>
                  <a:close/>
                </a:path>
                <a:path w="105409" h="51435">
                  <a:moveTo>
                    <a:pt x="105270" y="20281"/>
                  </a:moveTo>
                  <a:lnTo>
                    <a:pt x="104101" y="11760"/>
                  </a:lnTo>
                  <a:lnTo>
                    <a:pt x="100609" y="5499"/>
                  </a:lnTo>
                  <a:lnTo>
                    <a:pt x="94780" y="1625"/>
                  </a:lnTo>
                  <a:lnTo>
                    <a:pt x="86626" y="304"/>
                  </a:lnTo>
                  <a:lnTo>
                    <a:pt x="80733" y="304"/>
                  </a:lnTo>
                  <a:lnTo>
                    <a:pt x="74549" y="2616"/>
                  </a:lnTo>
                  <a:lnTo>
                    <a:pt x="69621" y="8496"/>
                  </a:lnTo>
                  <a:lnTo>
                    <a:pt x="69316" y="8496"/>
                  </a:lnTo>
                  <a:lnTo>
                    <a:pt x="67665" y="1308"/>
                  </a:lnTo>
                  <a:lnTo>
                    <a:pt x="62128" y="1308"/>
                  </a:lnTo>
                  <a:lnTo>
                    <a:pt x="62128" y="49720"/>
                  </a:lnTo>
                  <a:lnTo>
                    <a:pt x="70281" y="49720"/>
                  </a:lnTo>
                  <a:lnTo>
                    <a:pt x="70281" y="12738"/>
                  </a:lnTo>
                  <a:lnTo>
                    <a:pt x="77470" y="7188"/>
                  </a:lnTo>
                  <a:lnTo>
                    <a:pt x="92849" y="7188"/>
                  </a:lnTo>
                  <a:lnTo>
                    <a:pt x="97078" y="12433"/>
                  </a:lnTo>
                  <a:lnTo>
                    <a:pt x="97078" y="49720"/>
                  </a:lnTo>
                  <a:lnTo>
                    <a:pt x="105270" y="49720"/>
                  </a:lnTo>
                  <a:lnTo>
                    <a:pt x="105270" y="202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32032" y="4042297"/>
              <a:ext cx="621414" cy="565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625813" y="4186262"/>
              <a:ext cx="336550" cy="57150"/>
            </a:xfrm>
            <a:custGeom>
              <a:avLst/>
              <a:gdLst/>
              <a:ahLst/>
              <a:cxnLst/>
              <a:rect l="l" t="t" r="r" b="b"/>
              <a:pathLst>
                <a:path w="336550" h="57150">
                  <a:moveTo>
                    <a:pt x="44132" y="4279"/>
                  </a:moveTo>
                  <a:lnTo>
                    <a:pt x="37922" y="4279"/>
                  </a:lnTo>
                  <a:lnTo>
                    <a:pt x="26428" y="32893"/>
                  </a:lnTo>
                  <a:lnTo>
                    <a:pt x="22555" y="42875"/>
                  </a:lnTo>
                  <a:lnTo>
                    <a:pt x="21907" y="42875"/>
                  </a:lnTo>
                  <a:lnTo>
                    <a:pt x="8026" y="8509"/>
                  </a:lnTo>
                  <a:lnTo>
                    <a:pt x="6210" y="4279"/>
                  </a:lnTo>
                  <a:lnTo>
                    <a:pt x="0" y="4279"/>
                  </a:lnTo>
                  <a:lnTo>
                    <a:pt x="21577" y="55968"/>
                  </a:lnTo>
                  <a:lnTo>
                    <a:pt x="22885" y="55968"/>
                  </a:lnTo>
                  <a:lnTo>
                    <a:pt x="44132" y="4279"/>
                  </a:lnTo>
                  <a:close/>
                </a:path>
                <a:path w="336550" h="57150">
                  <a:moveTo>
                    <a:pt x="80416" y="38303"/>
                  </a:moveTo>
                  <a:lnTo>
                    <a:pt x="79070" y="31153"/>
                  </a:lnTo>
                  <a:lnTo>
                    <a:pt x="75311" y="25323"/>
                  </a:lnTo>
                  <a:lnTo>
                    <a:pt x="74625" y="24866"/>
                  </a:lnTo>
                  <a:lnTo>
                    <a:pt x="74536" y="31153"/>
                  </a:lnTo>
                  <a:lnTo>
                    <a:pt x="74536" y="45504"/>
                  </a:lnTo>
                  <a:lnTo>
                    <a:pt x="69951" y="51739"/>
                  </a:lnTo>
                  <a:lnTo>
                    <a:pt x="54267" y="51739"/>
                  </a:lnTo>
                  <a:lnTo>
                    <a:pt x="49682" y="45847"/>
                  </a:lnTo>
                  <a:lnTo>
                    <a:pt x="49682" y="30759"/>
                  </a:lnTo>
                  <a:lnTo>
                    <a:pt x="54597" y="24866"/>
                  </a:lnTo>
                  <a:lnTo>
                    <a:pt x="69646" y="24866"/>
                  </a:lnTo>
                  <a:lnTo>
                    <a:pt x="74256" y="30759"/>
                  </a:lnTo>
                  <a:lnTo>
                    <a:pt x="74536" y="31153"/>
                  </a:lnTo>
                  <a:lnTo>
                    <a:pt x="74536" y="24815"/>
                  </a:lnTo>
                  <a:lnTo>
                    <a:pt x="69532" y="21412"/>
                  </a:lnTo>
                  <a:lnTo>
                    <a:pt x="62115" y="19977"/>
                  </a:lnTo>
                  <a:lnTo>
                    <a:pt x="54838" y="21412"/>
                  </a:lnTo>
                  <a:lnTo>
                    <a:pt x="49034" y="25323"/>
                  </a:lnTo>
                  <a:lnTo>
                    <a:pt x="45199" y="31153"/>
                  </a:lnTo>
                  <a:lnTo>
                    <a:pt x="43802" y="38303"/>
                  </a:lnTo>
                  <a:lnTo>
                    <a:pt x="45085" y="45504"/>
                  </a:lnTo>
                  <a:lnTo>
                    <a:pt x="48666" y="51269"/>
                  </a:lnTo>
                  <a:lnTo>
                    <a:pt x="54419" y="55194"/>
                  </a:lnTo>
                  <a:lnTo>
                    <a:pt x="62115" y="56616"/>
                  </a:lnTo>
                  <a:lnTo>
                    <a:pt x="69380" y="55194"/>
                  </a:lnTo>
                  <a:lnTo>
                    <a:pt x="74498" y="51739"/>
                  </a:lnTo>
                  <a:lnTo>
                    <a:pt x="75184" y="51269"/>
                  </a:lnTo>
                  <a:lnTo>
                    <a:pt x="78994" y="45504"/>
                  </a:lnTo>
                  <a:lnTo>
                    <a:pt x="80416" y="38303"/>
                  </a:lnTo>
                  <a:close/>
                </a:path>
                <a:path w="336550" h="57150">
                  <a:moveTo>
                    <a:pt x="94792" y="0"/>
                  </a:moveTo>
                  <a:lnTo>
                    <a:pt x="88607" y="0"/>
                  </a:lnTo>
                  <a:lnTo>
                    <a:pt x="88607" y="55664"/>
                  </a:lnTo>
                  <a:lnTo>
                    <a:pt x="94792" y="55664"/>
                  </a:lnTo>
                  <a:lnTo>
                    <a:pt x="94792" y="0"/>
                  </a:lnTo>
                  <a:close/>
                </a:path>
                <a:path w="336550" h="57150">
                  <a:moveTo>
                    <a:pt x="134658" y="20942"/>
                  </a:moveTo>
                  <a:lnTo>
                    <a:pt x="128778" y="20942"/>
                  </a:lnTo>
                  <a:lnTo>
                    <a:pt x="128778" y="47815"/>
                  </a:lnTo>
                  <a:lnTo>
                    <a:pt x="124548" y="51384"/>
                  </a:lnTo>
                  <a:lnTo>
                    <a:pt x="113449" y="51384"/>
                  </a:lnTo>
                  <a:lnTo>
                    <a:pt x="110477" y="47815"/>
                  </a:lnTo>
                  <a:lnTo>
                    <a:pt x="110477" y="20942"/>
                  </a:lnTo>
                  <a:lnTo>
                    <a:pt x="104597" y="20942"/>
                  </a:lnTo>
                  <a:lnTo>
                    <a:pt x="104597" y="51384"/>
                  </a:lnTo>
                  <a:lnTo>
                    <a:pt x="109169" y="56311"/>
                  </a:lnTo>
                  <a:lnTo>
                    <a:pt x="122250" y="56311"/>
                  </a:lnTo>
                  <a:lnTo>
                    <a:pt x="126161" y="55003"/>
                  </a:lnTo>
                  <a:lnTo>
                    <a:pt x="129133" y="51079"/>
                  </a:lnTo>
                  <a:lnTo>
                    <a:pt x="129438" y="51079"/>
                  </a:lnTo>
                  <a:lnTo>
                    <a:pt x="130746" y="55664"/>
                  </a:lnTo>
                  <a:lnTo>
                    <a:pt x="134658" y="55664"/>
                  </a:lnTo>
                  <a:lnTo>
                    <a:pt x="134658" y="20942"/>
                  </a:lnTo>
                  <a:close/>
                </a:path>
                <a:path w="336550" h="57150">
                  <a:moveTo>
                    <a:pt x="198107" y="25514"/>
                  </a:moveTo>
                  <a:lnTo>
                    <a:pt x="197891" y="25209"/>
                  </a:lnTo>
                  <a:lnTo>
                    <a:pt x="194183" y="19977"/>
                  </a:lnTo>
                  <a:lnTo>
                    <a:pt x="181114" y="19977"/>
                  </a:lnTo>
                  <a:lnTo>
                    <a:pt x="176187" y="21945"/>
                  </a:lnTo>
                  <a:lnTo>
                    <a:pt x="173266" y="27178"/>
                  </a:lnTo>
                  <a:lnTo>
                    <a:pt x="172427" y="25209"/>
                  </a:lnTo>
                  <a:lnTo>
                    <a:pt x="171310" y="22593"/>
                  </a:lnTo>
                  <a:lnTo>
                    <a:pt x="167690" y="19977"/>
                  </a:lnTo>
                  <a:lnTo>
                    <a:pt x="158851" y="19977"/>
                  </a:lnTo>
                  <a:lnTo>
                    <a:pt x="153619" y="21590"/>
                  </a:lnTo>
                  <a:lnTo>
                    <a:pt x="150355" y="26174"/>
                  </a:lnTo>
                  <a:lnTo>
                    <a:pt x="150050" y="26174"/>
                  </a:lnTo>
                  <a:lnTo>
                    <a:pt x="149974" y="25514"/>
                  </a:lnTo>
                  <a:lnTo>
                    <a:pt x="149047" y="20942"/>
                  </a:lnTo>
                  <a:lnTo>
                    <a:pt x="144818" y="20942"/>
                  </a:lnTo>
                  <a:lnTo>
                    <a:pt x="144818" y="55664"/>
                  </a:lnTo>
                  <a:lnTo>
                    <a:pt x="150698" y="55664"/>
                  </a:lnTo>
                  <a:lnTo>
                    <a:pt x="150698" y="29133"/>
                  </a:lnTo>
                  <a:lnTo>
                    <a:pt x="154381" y="26174"/>
                  </a:lnTo>
                  <a:lnTo>
                    <a:pt x="155575" y="25209"/>
                  </a:lnTo>
                  <a:lnTo>
                    <a:pt x="165735" y="25209"/>
                  </a:lnTo>
                  <a:lnTo>
                    <a:pt x="168656" y="28130"/>
                  </a:lnTo>
                  <a:lnTo>
                    <a:pt x="168656" y="55664"/>
                  </a:lnTo>
                  <a:lnTo>
                    <a:pt x="174574" y="55664"/>
                  </a:lnTo>
                  <a:lnTo>
                    <a:pt x="174574" y="28486"/>
                  </a:lnTo>
                  <a:lnTo>
                    <a:pt x="176403" y="27178"/>
                  </a:lnTo>
                  <a:lnTo>
                    <a:pt x="179158" y="25209"/>
                  </a:lnTo>
                  <a:lnTo>
                    <a:pt x="189268" y="25209"/>
                  </a:lnTo>
                  <a:lnTo>
                    <a:pt x="192227" y="28130"/>
                  </a:lnTo>
                  <a:lnTo>
                    <a:pt x="192227" y="55664"/>
                  </a:lnTo>
                  <a:lnTo>
                    <a:pt x="198107" y="55664"/>
                  </a:lnTo>
                  <a:lnTo>
                    <a:pt x="198107" y="25514"/>
                  </a:lnTo>
                  <a:close/>
                </a:path>
                <a:path w="336550" h="57150">
                  <a:moveTo>
                    <a:pt x="239598" y="27825"/>
                  </a:moveTo>
                  <a:lnTo>
                    <a:pt x="237375" y="24866"/>
                  </a:lnTo>
                  <a:lnTo>
                    <a:pt x="234061" y="20459"/>
                  </a:lnTo>
                  <a:lnTo>
                    <a:pt x="234061" y="35382"/>
                  </a:lnTo>
                  <a:lnTo>
                    <a:pt x="212483" y="35382"/>
                  </a:lnTo>
                  <a:lnTo>
                    <a:pt x="213448" y="29133"/>
                  </a:lnTo>
                  <a:lnTo>
                    <a:pt x="217373" y="24866"/>
                  </a:lnTo>
                  <a:lnTo>
                    <a:pt x="229489" y="24866"/>
                  </a:lnTo>
                  <a:lnTo>
                    <a:pt x="233400" y="28790"/>
                  </a:lnTo>
                  <a:lnTo>
                    <a:pt x="234061" y="35382"/>
                  </a:lnTo>
                  <a:lnTo>
                    <a:pt x="234061" y="20459"/>
                  </a:lnTo>
                  <a:lnTo>
                    <a:pt x="233705" y="19977"/>
                  </a:lnTo>
                  <a:lnTo>
                    <a:pt x="213448" y="19977"/>
                  </a:lnTo>
                  <a:lnTo>
                    <a:pt x="206260" y="28130"/>
                  </a:lnTo>
                  <a:lnTo>
                    <a:pt x="206260" y="38303"/>
                  </a:lnTo>
                  <a:lnTo>
                    <a:pt x="207518" y="45732"/>
                  </a:lnTo>
                  <a:lnTo>
                    <a:pt x="211175" y="51523"/>
                  </a:lnTo>
                  <a:lnTo>
                    <a:pt x="217081" y="55308"/>
                  </a:lnTo>
                  <a:lnTo>
                    <a:pt x="217220" y="55308"/>
                  </a:lnTo>
                  <a:lnTo>
                    <a:pt x="224904" y="56616"/>
                  </a:lnTo>
                  <a:lnTo>
                    <a:pt x="229793" y="56616"/>
                  </a:lnTo>
                  <a:lnTo>
                    <a:pt x="234365" y="55308"/>
                  </a:lnTo>
                  <a:lnTo>
                    <a:pt x="237985" y="52692"/>
                  </a:lnTo>
                  <a:lnTo>
                    <a:pt x="237985" y="51739"/>
                  </a:lnTo>
                  <a:lnTo>
                    <a:pt x="237985" y="47459"/>
                  </a:lnTo>
                  <a:lnTo>
                    <a:pt x="233705" y="50736"/>
                  </a:lnTo>
                  <a:lnTo>
                    <a:pt x="229489" y="51739"/>
                  </a:lnTo>
                  <a:lnTo>
                    <a:pt x="218376" y="51739"/>
                  </a:lnTo>
                  <a:lnTo>
                    <a:pt x="212483" y="47459"/>
                  </a:lnTo>
                  <a:lnTo>
                    <a:pt x="212483" y="39611"/>
                  </a:lnTo>
                  <a:lnTo>
                    <a:pt x="239598" y="39611"/>
                  </a:lnTo>
                  <a:lnTo>
                    <a:pt x="239598" y="35382"/>
                  </a:lnTo>
                  <a:lnTo>
                    <a:pt x="239598" y="27825"/>
                  </a:lnTo>
                  <a:close/>
                </a:path>
                <a:path w="336550" h="57150">
                  <a:moveTo>
                    <a:pt x="273926" y="3924"/>
                  </a:moveTo>
                  <a:lnTo>
                    <a:pt x="267703" y="3924"/>
                  </a:lnTo>
                  <a:lnTo>
                    <a:pt x="267703" y="55664"/>
                  </a:lnTo>
                  <a:lnTo>
                    <a:pt x="273926" y="55664"/>
                  </a:lnTo>
                  <a:lnTo>
                    <a:pt x="273926" y="3924"/>
                  </a:lnTo>
                  <a:close/>
                </a:path>
                <a:path w="336550" h="57150">
                  <a:moveTo>
                    <a:pt x="292887" y="50076"/>
                  </a:moveTo>
                  <a:lnTo>
                    <a:pt x="290918" y="48120"/>
                  </a:lnTo>
                  <a:lnTo>
                    <a:pt x="286702" y="48120"/>
                  </a:lnTo>
                  <a:lnTo>
                    <a:pt x="284734" y="50076"/>
                  </a:lnTo>
                  <a:lnTo>
                    <a:pt x="284734" y="54660"/>
                  </a:lnTo>
                  <a:lnTo>
                    <a:pt x="286702" y="56311"/>
                  </a:lnTo>
                  <a:lnTo>
                    <a:pt x="290918" y="56311"/>
                  </a:lnTo>
                  <a:lnTo>
                    <a:pt x="292887" y="54660"/>
                  </a:lnTo>
                  <a:lnTo>
                    <a:pt x="292887" y="52387"/>
                  </a:lnTo>
                  <a:lnTo>
                    <a:pt x="292887" y="50076"/>
                  </a:lnTo>
                  <a:close/>
                </a:path>
                <a:path w="336550" h="57150">
                  <a:moveTo>
                    <a:pt x="336372" y="51079"/>
                  </a:moveTo>
                  <a:lnTo>
                    <a:pt x="308267" y="51079"/>
                  </a:lnTo>
                  <a:lnTo>
                    <a:pt x="308571" y="41567"/>
                  </a:lnTo>
                  <a:lnTo>
                    <a:pt x="316763" y="36690"/>
                  </a:lnTo>
                  <a:lnTo>
                    <a:pt x="323608" y="32715"/>
                  </a:lnTo>
                  <a:lnTo>
                    <a:pt x="329831" y="28790"/>
                  </a:lnTo>
                  <a:lnTo>
                    <a:pt x="336029" y="23901"/>
                  </a:lnTo>
                  <a:lnTo>
                    <a:pt x="336029" y="7543"/>
                  </a:lnTo>
                  <a:lnTo>
                    <a:pt x="327875" y="2959"/>
                  </a:lnTo>
                  <a:lnTo>
                    <a:pt x="310883" y="2959"/>
                  </a:lnTo>
                  <a:lnTo>
                    <a:pt x="303339" y="8509"/>
                  </a:lnTo>
                  <a:lnTo>
                    <a:pt x="303339" y="19977"/>
                  </a:lnTo>
                  <a:lnTo>
                    <a:pt x="303695" y="20942"/>
                  </a:lnTo>
                  <a:lnTo>
                    <a:pt x="309575" y="21945"/>
                  </a:lnTo>
                  <a:lnTo>
                    <a:pt x="308914" y="19634"/>
                  </a:lnTo>
                  <a:lnTo>
                    <a:pt x="308914" y="12433"/>
                  </a:lnTo>
                  <a:lnTo>
                    <a:pt x="312839" y="7848"/>
                  </a:lnTo>
                  <a:lnTo>
                    <a:pt x="324916" y="7848"/>
                  </a:lnTo>
                  <a:lnTo>
                    <a:pt x="329831" y="10820"/>
                  </a:lnTo>
                  <a:lnTo>
                    <a:pt x="329831" y="22898"/>
                  </a:lnTo>
                  <a:lnTo>
                    <a:pt x="322643" y="27178"/>
                  </a:lnTo>
                  <a:lnTo>
                    <a:pt x="317728" y="30441"/>
                  </a:lnTo>
                  <a:lnTo>
                    <a:pt x="311086" y="35026"/>
                  </a:lnTo>
                  <a:lnTo>
                    <a:pt x="306006" y="40030"/>
                  </a:lnTo>
                  <a:lnTo>
                    <a:pt x="302704" y="46380"/>
                  </a:lnTo>
                  <a:lnTo>
                    <a:pt x="301383" y="55003"/>
                  </a:lnTo>
                  <a:lnTo>
                    <a:pt x="302691" y="55664"/>
                  </a:lnTo>
                  <a:lnTo>
                    <a:pt x="336372" y="55664"/>
                  </a:lnTo>
                  <a:lnTo>
                    <a:pt x="336372" y="510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25822" y="4340726"/>
              <a:ext cx="1233970" cy="6478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30398" y="4489308"/>
              <a:ext cx="620739" cy="644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30398" y="4637541"/>
              <a:ext cx="1782798" cy="6447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357119" y="4925504"/>
              <a:ext cx="542290" cy="1741170"/>
            </a:xfrm>
            <a:custGeom>
              <a:avLst/>
              <a:gdLst/>
              <a:ahLst/>
              <a:cxnLst/>
              <a:rect l="l" t="t" r="r" b="b"/>
              <a:pathLst>
                <a:path w="542290" h="1741170">
                  <a:moveTo>
                    <a:pt x="32359" y="965390"/>
                  </a:moveTo>
                  <a:lnTo>
                    <a:pt x="27787" y="965390"/>
                  </a:lnTo>
                  <a:lnTo>
                    <a:pt x="27787" y="981748"/>
                  </a:lnTo>
                  <a:lnTo>
                    <a:pt x="17983" y="981748"/>
                  </a:lnTo>
                  <a:lnTo>
                    <a:pt x="17983" y="968006"/>
                  </a:lnTo>
                  <a:lnTo>
                    <a:pt x="13728" y="968006"/>
                  </a:lnTo>
                  <a:lnTo>
                    <a:pt x="13728" y="981748"/>
                  </a:lnTo>
                  <a:lnTo>
                    <a:pt x="4902" y="981748"/>
                  </a:lnTo>
                  <a:lnTo>
                    <a:pt x="4902" y="966393"/>
                  </a:lnTo>
                  <a:lnTo>
                    <a:pt x="660" y="966393"/>
                  </a:lnTo>
                  <a:lnTo>
                    <a:pt x="660" y="987336"/>
                  </a:lnTo>
                  <a:lnTo>
                    <a:pt x="32359" y="987336"/>
                  </a:lnTo>
                  <a:lnTo>
                    <a:pt x="32359" y="965390"/>
                  </a:lnTo>
                  <a:close/>
                </a:path>
                <a:path w="542290" h="1741170">
                  <a:moveTo>
                    <a:pt x="32359" y="933678"/>
                  </a:moveTo>
                  <a:lnTo>
                    <a:pt x="22237" y="938123"/>
                  </a:lnTo>
                  <a:lnTo>
                    <a:pt x="22237" y="943152"/>
                  </a:lnTo>
                  <a:lnTo>
                    <a:pt x="22237" y="953617"/>
                  </a:lnTo>
                  <a:lnTo>
                    <a:pt x="9804" y="948385"/>
                  </a:lnTo>
                  <a:lnTo>
                    <a:pt x="22237" y="943152"/>
                  </a:lnTo>
                  <a:lnTo>
                    <a:pt x="22237" y="938123"/>
                  </a:lnTo>
                  <a:lnTo>
                    <a:pt x="330" y="947724"/>
                  </a:lnTo>
                  <a:lnTo>
                    <a:pt x="330" y="948728"/>
                  </a:lnTo>
                  <a:lnTo>
                    <a:pt x="32359" y="963129"/>
                  </a:lnTo>
                  <a:lnTo>
                    <a:pt x="32359" y="957897"/>
                  </a:lnTo>
                  <a:lnTo>
                    <a:pt x="26149" y="955268"/>
                  </a:lnTo>
                  <a:lnTo>
                    <a:pt x="26149" y="953617"/>
                  </a:lnTo>
                  <a:lnTo>
                    <a:pt x="26149" y="943152"/>
                  </a:lnTo>
                  <a:lnTo>
                    <a:pt x="26149" y="941527"/>
                  </a:lnTo>
                  <a:lnTo>
                    <a:pt x="32359" y="938911"/>
                  </a:lnTo>
                  <a:lnTo>
                    <a:pt x="32359" y="933678"/>
                  </a:lnTo>
                  <a:close/>
                </a:path>
                <a:path w="542290" h="1741170">
                  <a:moveTo>
                    <a:pt x="32359" y="920546"/>
                  </a:moveTo>
                  <a:lnTo>
                    <a:pt x="4902" y="920546"/>
                  </a:lnTo>
                  <a:lnTo>
                    <a:pt x="4902" y="910729"/>
                  </a:lnTo>
                  <a:lnTo>
                    <a:pt x="660" y="910729"/>
                  </a:lnTo>
                  <a:lnTo>
                    <a:pt x="660" y="935647"/>
                  </a:lnTo>
                  <a:lnTo>
                    <a:pt x="4902" y="935647"/>
                  </a:lnTo>
                  <a:lnTo>
                    <a:pt x="4902" y="925779"/>
                  </a:lnTo>
                  <a:lnTo>
                    <a:pt x="32359" y="925779"/>
                  </a:lnTo>
                  <a:lnTo>
                    <a:pt x="32359" y="920546"/>
                  </a:lnTo>
                  <a:close/>
                </a:path>
                <a:path w="542290" h="1741170">
                  <a:moveTo>
                    <a:pt x="32359" y="880986"/>
                  </a:moveTo>
                  <a:lnTo>
                    <a:pt x="660" y="880986"/>
                  </a:lnTo>
                  <a:lnTo>
                    <a:pt x="660" y="886523"/>
                  </a:lnTo>
                  <a:lnTo>
                    <a:pt x="13411" y="886523"/>
                  </a:lnTo>
                  <a:lnTo>
                    <a:pt x="13411" y="900925"/>
                  </a:lnTo>
                  <a:lnTo>
                    <a:pt x="660" y="900925"/>
                  </a:lnTo>
                  <a:lnTo>
                    <a:pt x="660" y="906500"/>
                  </a:lnTo>
                  <a:lnTo>
                    <a:pt x="32359" y="906500"/>
                  </a:lnTo>
                  <a:lnTo>
                    <a:pt x="32359" y="900925"/>
                  </a:lnTo>
                  <a:lnTo>
                    <a:pt x="17983" y="900925"/>
                  </a:lnTo>
                  <a:lnTo>
                    <a:pt x="17983" y="886523"/>
                  </a:lnTo>
                  <a:lnTo>
                    <a:pt x="32359" y="886523"/>
                  </a:lnTo>
                  <a:lnTo>
                    <a:pt x="32359" y="880986"/>
                  </a:lnTo>
                  <a:close/>
                </a:path>
                <a:path w="542290" h="1741170">
                  <a:moveTo>
                    <a:pt x="32359" y="851839"/>
                  </a:moveTo>
                  <a:lnTo>
                    <a:pt x="27787" y="851839"/>
                  </a:lnTo>
                  <a:lnTo>
                    <a:pt x="27787" y="868197"/>
                  </a:lnTo>
                  <a:lnTo>
                    <a:pt x="17983" y="868197"/>
                  </a:lnTo>
                  <a:lnTo>
                    <a:pt x="17983" y="854456"/>
                  </a:lnTo>
                  <a:lnTo>
                    <a:pt x="13728" y="854456"/>
                  </a:lnTo>
                  <a:lnTo>
                    <a:pt x="13728" y="868197"/>
                  </a:lnTo>
                  <a:lnTo>
                    <a:pt x="4902" y="868197"/>
                  </a:lnTo>
                  <a:lnTo>
                    <a:pt x="4902" y="852843"/>
                  </a:lnTo>
                  <a:lnTo>
                    <a:pt x="660" y="852843"/>
                  </a:lnTo>
                  <a:lnTo>
                    <a:pt x="660" y="873785"/>
                  </a:lnTo>
                  <a:lnTo>
                    <a:pt x="32359" y="873785"/>
                  </a:lnTo>
                  <a:lnTo>
                    <a:pt x="32359" y="851839"/>
                  </a:lnTo>
                  <a:close/>
                </a:path>
                <a:path w="542290" h="1741170">
                  <a:moveTo>
                    <a:pt x="32359" y="821397"/>
                  </a:moveTo>
                  <a:lnTo>
                    <a:pt x="20599" y="830897"/>
                  </a:lnTo>
                  <a:lnTo>
                    <a:pt x="18643" y="825665"/>
                  </a:lnTo>
                  <a:lnTo>
                    <a:pt x="14706" y="823353"/>
                  </a:lnTo>
                  <a:lnTo>
                    <a:pt x="4254" y="823353"/>
                  </a:lnTo>
                  <a:lnTo>
                    <a:pt x="660" y="828941"/>
                  </a:lnTo>
                  <a:lnTo>
                    <a:pt x="660" y="834529"/>
                  </a:lnTo>
                  <a:lnTo>
                    <a:pt x="660" y="846607"/>
                  </a:lnTo>
                  <a:lnTo>
                    <a:pt x="32359" y="846607"/>
                  </a:lnTo>
                  <a:lnTo>
                    <a:pt x="32359" y="841070"/>
                  </a:lnTo>
                  <a:lnTo>
                    <a:pt x="4902" y="841070"/>
                  </a:lnTo>
                  <a:lnTo>
                    <a:pt x="4902" y="831557"/>
                  </a:lnTo>
                  <a:lnTo>
                    <a:pt x="7200" y="828941"/>
                  </a:lnTo>
                  <a:lnTo>
                    <a:pt x="14389" y="828941"/>
                  </a:lnTo>
                  <a:lnTo>
                    <a:pt x="17653" y="831557"/>
                  </a:lnTo>
                  <a:lnTo>
                    <a:pt x="18313" y="837793"/>
                  </a:lnTo>
                  <a:lnTo>
                    <a:pt x="18961" y="837793"/>
                  </a:lnTo>
                  <a:lnTo>
                    <a:pt x="21247" y="836142"/>
                  </a:lnTo>
                  <a:lnTo>
                    <a:pt x="30073" y="829945"/>
                  </a:lnTo>
                  <a:lnTo>
                    <a:pt x="32359" y="827976"/>
                  </a:lnTo>
                  <a:lnTo>
                    <a:pt x="32359" y="821397"/>
                  </a:lnTo>
                  <a:close/>
                </a:path>
                <a:path w="542290" h="1741170">
                  <a:moveTo>
                    <a:pt x="32359" y="743216"/>
                  </a:moveTo>
                  <a:lnTo>
                    <a:pt x="27787" y="743216"/>
                  </a:lnTo>
                  <a:lnTo>
                    <a:pt x="27787" y="758926"/>
                  </a:lnTo>
                  <a:lnTo>
                    <a:pt x="660" y="758926"/>
                  </a:lnTo>
                  <a:lnTo>
                    <a:pt x="660" y="764463"/>
                  </a:lnTo>
                  <a:lnTo>
                    <a:pt x="32359" y="764463"/>
                  </a:lnTo>
                  <a:lnTo>
                    <a:pt x="32359" y="743216"/>
                  </a:lnTo>
                  <a:close/>
                </a:path>
                <a:path w="542290" h="1741170">
                  <a:moveTo>
                    <a:pt x="32359" y="733399"/>
                  </a:moveTo>
                  <a:lnTo>
                    <a:pt x="660" y="733399"/>
                  </a:lnTo>
                  <a:lnTo>
                    <a:pt x="660" y="738949"/>
                  </a:lnTo>
                  <a:lnTo>
                    <a:pt x="32359" y="738949"/>
                  </a:lnTo>
                  <a:lnTo>
                    <a:pt x="32359" y="733399"/>
                  </a:lnTo>
                  <a:close/>
                </a:path>
                <a:path w="542290" h="1741170">
                  <a:moveTo>
                    <a:pt x="32359" y="694093"/>
                  </a:moveTo>
                  <a:lnTo>
                    <a:pt x="330" y="694093"/>
                  </a:lnTo>
                  <a:lnTo>
                    <a:pt x="330" y="695109"/>
                  </a:lnTo>
                  <a:lnTo>
                    <a:pt x="3606" y="697369"/>
                  </a:lnTo>
                  <a:lnTo>
                    <a:pt x="15697" y="707529"/>
                  </a:lnTo>
                  <a:lnTo>
                    <a:pt x="19291" y="709803"/>
                  </a:lnTo>
                  <a:lnTo>
                    <a:pt x="12750" y="715035"/>
                  </a:lnTo>
                  <a:lnTo>
                    <a:pt x="330" y="724852"/>
                  </a:lnTo>
                  <a:lnTo>
                    <a:pt x="330" y="725855"/>
                  </a:lnTo>
                  <a:lnTo>
                    <a:pt x="32359" y="725855"/>
                  </a:lnTo>
                  <a:lnTo>
                    <a:pt x="32359" y="720623"/>
                  </a:lnTo>
                  <a:lnTo>
                    <a:pt x="13081" y="720623"/>
                  </a:lnTo>
                  <a:lnTo>
                    <a:pt x="25831" y="710463"/>
                  </a:lnTo>
                  <a:lnTo>
                    <a:pt x="25831" y="709498"/>
                  </a:lnTo>
                  <a:lnTo>
                    <a:pt x="13081" y="699338"/>
                  </a:lnTo>
                  <a:lnTo>
                    <a:pt x="32359" y="699338"/>
                  </a:lnTo>
                  <a:lnTo>
                    <a:pt x="32359" y="694093"/>
                  </a:lnTo>
                  <a:close/>
                </a:path>
                <a:path w="542290" h="1741170">
                  <a:moveTo>
                    <a:pt x="32359" y="660069"/>
                  </a:moveTo>
                  <a:lnTo>
                    <a:pt x="22237" y="664527"/>
                  </a:lnTo>
                  <a:lnTo>
                    <a:pt x="22237" y="669582"/>
                  </a:lnTo>
                  <a:lnTo>
                    <a:pt x="22237" y="680351"/>
                  </a:lnTo>
                  <a:lnTo>
                    <a:pt x="9804" y="675119"/>
                  </a:lnTo>
                  <a:lnTo>
                    <a:pt x="9804" y="674814"/>
                  </a:lnTo>
                  <a:lnTo>
                    <a:pt x="22237" y="669582"/>
                  </a:lnTo>
                  <a:lnTo>
                    <a:pt x="22237" y="664527"/>
                  </a:lnTo>
                  <a:lnTo>
                    <a:pt x="330" y="674166"/>
                  </a:lnTo>
                  <a:lnTo>
                    <a:pt x="330" y="675474"/>
                  </a:lnTo>
                  <a:lnTo>
                    <a:pt x="32359" y="689521"/>
                  </a:lnTo>
                  <a:lnTo>
                    <a:pt x="32359" y="684288"/>
                  </a:lnTo>
                  <a:lnTo>
                    <a:pt x="26149" y="682015"/>
                  </a:lnTo>
                  <a:lnTo>
                    <a:pt x="26149" y="680351"/>
                  </a:lnTo>
                  <a:lnTo>
                    <a:pt x="26149" y="669582"/>
                  </a:lnTo>
                  <a:lnTo>
                    <a:pt x="26149" y="667931"/>
                  </a:lnTo>
                  <a:lnTo>
                    <a:pt x="32359" y="665657"/>
                  </a:lnTo>
                  <a:lnTo>
                    <a:pt x="32359" y="660069"/>
                  </a:lnTo>
                  <a:close/>
                </a:path>
                <a:path w="542290" h="1741170">
                  <a:moveTo>
                    <a:pt x="32359" y="646988"/>
                  </a:moveTo>
                  <a:lnTo>
                    <a:pt x="4902" y="646988"/>
                  </a:lnTo>
                  <a:lnTo>
                    <a:pt x="4902" y="637514"/>
                  </a:lnTo>
                  <a:lnTo>
                    <a:pt x="660" y="637514"/>
                  </a:lnTo>
                  <a:lnTo>
                    <a:pt x="660" y="662038"/>
                  </a:lnTo>
                  <a:lnTo>
                    <a:pt x="4902" y="662038"/>
                  </a:lnTo>
                  <a:lnTo>
                    <a:pt x="4902" y="652564"/>
                  </a:lnTo>
                  <a:lnTo>
                    <a:pt x="32359" y="652564"/>
                  </a:lnTo>
                  <a:lnTo>
                    <a:pt x="32359" y="646988"/>
                  </a:lnTo>
                  <a:close/>
                </a:path>
                <a:path w="542290" h="1741170">
                  <a:moveTo>
                    <a:pt x="32359" y="611301"/>
                  </a:moveTo>
                  <a:lnTo>
                    <a:pt x="27787" y="611301"/>
                  </a:lnTo>
                  <a:lnTo>
                    <a:pt x="27787" y="627710"/>
                  </a:lnTo>
                  <a:lnTo>
                    <a:pt x="17983" y="627710"/>
                  </a:lnTo>
                  <a:lnTo>
                    <a:pt x="17983" y="613613"/>
                  </a:lnTo>
                  <a:lnTo>
                    <a:pt x="13728" y="613613"/>
                  </a:lnTo>
                  <a:lnTo>
                    <a:pt x="13728" y="627710"/>
                  </a:lnTo>
                  <a:lnTo>
                    <a:pt x="4902" y="627710"/>
                  </a:lnTo>
                  <a:lnTo>
                    <a:pt x="4902" y="612305"/>
                  </a:lnTo>
                  <a:lnTo>
                    <a:pt x="660" y="612305"/>
                  </a:lnTo>
                  <a:lnTo>
                    <a:pt x="660" y="633247"/>
                  </a:lnTo>
                  <a:lnTo>
                    <a:pt x="32359" y="633247"/>
                  </a:lnTo>
                  <a:lnTo>
                    <a:pt x="32359" y="611301"/>
                  </a:lnTo>
                  <a:close/>
                </a:path>
                <a:path w="542290" h="1741170">
                  <a:moveTo>
                    <a:pt x="32359" y="514756"/>
                  </a:moveTo>
                  <a:lnTo>
                    <a:pt x="22237" y="519328"/>
                  </a:lnTo>
                  <a:lnTo>
                    <a:pt x="22237" y="524624"/>
                  </a:lnTo>
                  <a:lnTo>
                    <a:pt x="22237" y="535089"/>
                  </a:lnTo>
                  <a:lnTo>
                    <a:pt x="9804" y="529856"/>
                  </a:lnTo>
                  <a:lnTo>
                    <a:pt x="22237" y="524624"/>
                  </a:lnTo>
                  <a:lnTo>
                    <a:pt x="22237" y="519328"/>
                  </a:lnTo>
                  <a:lnTo>
                    <a:pt x="330" y="529196"/>
                  </a:lnTo>
                  <a:lnTo>
                    <a:pt x="330" y="530161"/>
                  </a:lnTo>
                  <a:lnTo>
                    <a:pt x="32359" y="544563"/>
                  </a:lnTo>
                  <a:lnTo>
                    <a:pt x="32359" y="539318"/>
                  </a:lnTo>
                  <a:lnTo>
                    <a:pt x="26149" y="536702"/>
                  </a:lnTo>
                  <a:lnTo>
                    <a:pt x="26149" y="535089"/>
                  </a:lnTo>
                  <a:lnTo>
                    <a:pt x="26149" y="524624"/>
                  </a:lnTo>
                  <a:lnTo>
                    <a:pt x="26149" y="522960"/>
                  </a:lnTo>
                  <a:lnTo>
                    <a:pt x="32359" y="520344"/>
                  </a:lnTo>
                  <a:lnTo>
                    <a:pt x="32359" y="514756"/>
                  </a:lnTo>
                  <a:close/>
                </a:path>
                <a:path w="542290" h="1741170">
                  <a:moveTo>
                    <a:pt x="32359" y="502018"/>
                  </a:moveTo>
                  <a:lnTo>
                    <a:pt x="4902" y="502018"/>
                  </a:lnTo>
                  <a:lnTo>
                    <a:pt x="4902" y="492213"/>
                  </a:lnTo>
                  <a:lnTo>
                    <a:pt x="660" y="492213"/>
                  </a:lnTo>
                  <a:lnTo>
                    <a:pt x="660" y="517080"/>
                  </a:lnTo>
                  <a:lnTo>
                    <a:pt x="4902" y="517080"/>
                  </a:lnTo>
                  <a:lnTo>
                    <a:pt x="4902" y="507263"/>
                  </a:lnTo>
                  <a:lnTo>
                    <a:pt x="32359" y="507263"/>
                  </a:lnTo>
                  <a:lnTo>
                    <a:pt x="32359" y="502018"/>
                  </a:lnTo>
                  <a:close/>
                </a:path>
                <a:path w="542290" h="1741170">
                  <a:moveTo>
                    <a:pt x="32359" y="466039"/>
                  </a:moveTo>
                  <a:lnTo>
                    <a:pt x="27787" y="466039"/>
                  </a:lnTo>
                  <a:lnTo>
                    <a:pt x="27787" y="482396"/>
                  </a:lnTo>
                  <a:lnTo>
                    <a:pt x="17983" y="482396"/>
                  </a:lnTo>
                  <a:lnTo>
                    <a:pt x="17983" y="468655"/>
                  </a:lnTo>
                  <a:lnTo>
                    <a:pt x="13728" y="468655"/>
                  </a:lnTo>
                  <a:lnTo>
                    <a:pt x="13728" y="482396"/>
                  </a:lnTo>
                  <a:lnTo>
                    <a:pt x="4902" y="482396"/>
                  </a:lnTo>
                  <a:lnTo>
                    <a:pt x="4902" y="467347"/>
                  </a:lnTo>
                  <a:lnTo>
                    <a:pt x="660" y="467347"/>
                  </a:lnTo>
                  <a:lnTo>
                    <a:pt x="660" y="487934"/>
                  </a:lnTo>
                  <a:lnTo>
                    <a:pt x="32359" y="487934"/>
                  </a:lnTo>
                  <a:lnTo>
                    <a:pt x="32359" y="466039"/>
                  </a:lnTo>
                  <a:close/>
                </a:path>
                <a:path w="542290" h="1741170">
                  <a:moveTo>
                    <a:pt x="32359" y="435584"/>
                  </a:moveTo>
                  <a:lnTo>
                    <a:pt x="20599" y="445096"/>
                  </a:lnTo>
                  <a:lnTo>
                    <a:pt x="18643" y="439864"/>
                  </a:lnTo>
                  <a:lnTo>
                    <a:pt x="14706" y="437553"/>
                  </a:lnTo>
                  <a:lnTo>
                    <a:pt x="4254" y="437553"/>
                  </a:lnTo>
                  <a:lnTo>
                    <a:pt x="660" y="443128"/>
                  </a:lnTo>
                  <a:lnTo>
                    <a:pt x="660" y="449021"/>
                  </a:lnTo>
                  <a:lnTo>
                    <a:pt x="660" y="461111"/>
                  </a:lnTo>
                  <a:lnTo>
                    <a:pt x="32359" y="461111"/>
                  </a:lnTo>
                  <a:lnTo>
                    <a:pt x="32359" y="455561"/>
                  </a:lnTo>
                  <a:lnTo>
                    <a:pt x="4902" y="455561"/>
                  </a:lnTo>
                  <a:lnTo>
                    <a:pt x="4902" y="445744"/>
                  </a:lnTo>
                  <a:lnTo>
                    <a:pt x="7200" y="443128"/>
                  </a:lnTo>
                  <a:lnTo>
                    <a:pt x="14389" y="443128"/>
                  </a:lnTo>
                  <a:lnTo>
                    <a:pt x="17653" y="445744"/>
                  </a:lnTo>
                  <a:lnTo>
                    <a:pt x="18313" y="452297"/>
                  </a:lnTo>
                  <a:lnTo>
                    <a:pt x="18961" y="452297"/>
                  </a:lnTo>
                  <a:lnTo>
                    <a:pt x="21247" y="450329"/>
                  </a:lnTo>
                  <a:lnTo>
                    <a:pt x="30073" y="444093"/>
                  </a:lnTo>
                  <a:lnTo>
                    <a:pt x="32359" y="442125"/>
                  </a:lnTo>
                  <a:lnTo>
                    <a:pt x="32359" y="435584"/>
                  </a:lnTo>
                  <a:close/>
                </a:path>
                <a:path w="542290" h="1741170">
                  <a:moveTo>
                    <a:pt x="32689" y="1003998"/>
                  </a:moveTo>
                  <a:lnTo>
                    <a:pt x="660" y="991565"/>
                  </a:lnTo>
                  <a:lnTo>
                    <a:pt x="660" y="997153"/>
                  </a:lnTo>
                  <a:lnTo>
                    <a:pt x="20269" y="1004658"/>
                  </a:lnTo>
                  <a:lnTo>
                    <a:pt x="330" y="1012863"/>
                  </a:lnTo>
                  <a:lnTo>
                    <a:pt x="330" y="1013815"/>
                  </a:lnTo>
                  <a:lnTo>
                    <a:pt x="20269" y="1021664"/>
                  </a:lnTo>
                  <a:lnTo>
                    <a:pt x="660" y="1029220"/>
                  </a:lnTo>
                  <a:lnTo>
                    <a:pt x="660" y="1035100"/>
                  </a:lnTo>
                  <a:lnTo>
                    <a:pt x="32689" y="1022667"/>
                  </a:lnTo>
                  <a:lnTo>
                    <a:pt x="32689" y="1021664"/>
                  </a:lnTo>
                  <a:lnTo>
                    <a:pt x="11772" y="1013510"/>
                  </a:lnTo>
                  <a:lnTo>
                    <a:pt x="11772" y="1013167"/>
                  </a:lnTo>
                  <a:lnTo>
                    <a:pt x="32689" y="1005001"/>
                  </a:lnTo>
                  <a:lnTo>
                    <a:pt x="32689" y="1003998"/>
                  </a:lnTo>
                  <a:close/>
                </a:path>
                <a:path w="542290" h="1741170">
                  <a:moveTo>
                    <a:pt x="32689" y="775931"/>
                  </a:moveTo>
                  <a:lnTo>
                    <a:pt x="32042" y="772007"/>
                  </a:lnTo>
                  <a:lnTo>
                    <a:pt x="30734" y="769391"/>
                  </a:lnTo>
                  <a:lnTo>
                    <a:pt x="25831" y="769391"/>
                  </a:lnTo>
                  <a:lnTo>
                    <a:pt x="27457" y="772312"/>
                  </a:lnTo>
                  <a:lnTo>
                    <a:pt x="28117" y="775284"/>
                  </a:lnTo>
                  <a:lnTo>
                    <a:pt x="28117" y="785101"/>
                  </a:lnTo>
                  <a:lnTo>
                    <a:pt x="23863" y="789673"/>
                  </a:lnTo>
                  <a:lnTo>
                    <a:pt x="8826" y="789673"/>
                  </a:lnTo>
                  <a:lnTo>
                    <a:pt x="4584" y="784098"/>
                  </a:lnTo>
                  <a:lnTo>
                    <a:pt x="4584" y="775589"/>
                  </a:lnTo>
                  <a:lnTo>
                    <a:pt x="4902" y="772972"/>
                  </a:lnTo>
                  <a:lnTo>
                    <a:pt x="6210" y="770356"/>
                  </a:lnTo>
                  <a:lnTo>
                    <a:pt x="1638" y="770356"/>
                  </a:lnTo>
                  <a:lnTo>
                    <a:pt x="330" y="772668"/>
                  </a:lnTo>
                  <a:lnTo>
                    <a:pt x="0" y="776236"/>
                  </a:lnTo>
                  <a:lnTo>
                    <a:pt x="0" y="788365"/>
                  </a:lnTo>
                  <a:lnTo>
                    <a:pt x="7518" y="795223"/>
                  </a:lnTo>
                  <a:lnTo>
                    <a:pt x="25831" y="795223"/>
                  </a:lnTo>
                  <a:lnTo>
                    <a:pt x="32689" y="789330"/>
                  </a:lnTo>
                  <a:lnTo>
                    <a:pt x="32689" y="775931"/>
                  </a:lnTo>
                  <a:close/>
                </a:path>
                <a:path w="542290" h="1741170">
                  <a:moveTo>
                    <a:pt x="32689" y="555028"/>
                  </a:moveTo>
                  <a:lnTo>
                    <a:pt x="660" y="542594"/>
                  </a:lnTo>
                  <a:lnTo>
                    <a:pt x="660" y="548182"/>
                  </a:lnTo>
                  <a:lnTo>
                    <a:pt x="20269" y="555675"/>
                  </a:lnTo>
                  <a:lnTo>
                    <a:pt x="330" y="563880"/>
                  </a:lnTo>
                  <a:lnTo>
                    <a:pt x="330" y="564845"/>
                  </a:lnTo>
                  <a:lnTo>
                    <a:pt x="20269" y="572693"/>
                  </a:lnTo>
                  <a:lnTo>
                    <a:pt x="660" y="580237"/>
                  </a:lnTo>
                  <a:lnTo>
                    <a:pt x="660" y="586130"/>
                  </a:lnTo>
                  <a:lnTo>
                    <a:pt x="32689" y="573697"/>
                  </a:lnTo>
                  <a:lnTo>
                    <a:pt x="32689" y="572693"/>
                  </a:lnTo>
                  <a:lnTo>
                    <a:pt x="11772" y="564540"/>
                  </a:lnTo>
                  <a:lnTo>
                    <a:pt x="11772" y="564184"/>
                  </a:lnTo>
                  <a:lnTo>
                    <a:pt x="32689" y="556031"/>
                  </a:lnTo>
                  <a:lnTo>
                    <a:pt x="32689" y="555028"/>
                  </a:lnTo>
                  <a:close/>
                </a:path>
                <a:path w="542290" h="1741170">
                  <a:moveTo>
                    <a:pt x="289623" y="3924"/>
                  </a:moveTo>
                  <a:lnTo>
                    <a:pt x="285038" y="1663"/>
                  </a:lnTo>
                  <a:lnTo>
                    <a:pt x="274904" y="1663"/>
                  </a:lnTo>
                  <a:lnTo>
                    <a:pt x="270332" y="4584"/>
                  </a:lnTo>
                  <a:lnTo>
                    <a:pt x="270332" y="10172"/>
                  </a:lnTo>
                  <a:lnTo>
                    <a:pt x="270662" y="10820"/>
                  </a:lnTo>
                  <a:lnTo>
                    <a:pt x="270662" y="11823"/>
                  </a:lnTo>
                  <a:lnTo>
                    <a:pt x="274904" y="12484"/>
                  </a:lnTo>
                  <a:lnTo>
                    <a:pt x="274904" y="11480"/>
                  </a:lnTo>
                  <a:lnTo>
                    <a:pt x="274586" y="10820"/>
                  </a:lnTo>
                  <a:lnTo>
                    <a:pt x="274586" y="7200"/>
                  </a:lnTo>
                  <a:lnTo>
                    <a:pt x="276542" y="5232"/>
                  </a:lnTo>
                  <a:lnTo>
                    <a:pt x="282422" y="5232"/>
                  </a:lnTo>
                  <a:lnTo>
                    <a:pt x="284721" y="6553"/>
                  </a:lnTo>
                  <a:lnTo>
                    <a:pt x="284721" y="12788"/>
                  </a:lnTo>
                  <a:lnTo>
                    <a:pt x="281127" y="15100"/>
                  </a:lnTo>
                  <a:lnTo>
                    <a:pt x="278180" y="17056"/>
                  </a:lnTo>
                  <a:lnTo>
                    <a:pt x="273278" y="19977"/>
                  </a:lnTo>
                  <a:lnTo>
                    <a:pt x="269684" y="22948"/>
                  </a:lnTo>
                  <a:lnTo>
                    <a:pt x="269684" y="30454"/>
                  </a:lnTo>
                  <a:lnTo>
                    <a:pt x="270332" y="30797"/>
                  </a:lnTo>
                  <a:lnTo>
                    <a:pt x="289623" y="30797"/>
                  </a:lnTo>
                  <a:lnTo>
                    <a:pt x="289623" y="27533"/>
                  </a:lnTo>
                  <a:lnTo>
                    <a:pt x="274586" y="27533"/>
                  </a:lnTo>
                  <a:lnTo>
                    <a:pt x="275234" y="22948"/>
                  </a:lnTo>
                  <a:lnTo>
                    <a:pt x="279488" y="20637"/>
                  </a:lnTo>
                  <a:lnTo>
                    <a:pt x="283083" y="18364"/>
                  </a:lnTo>
                  <a:lnTo>
                    <a:pt x="286346" y="16052"/>
                  </a:lnTo>
                  <a:lnTo>
                    <a:pt x="289623" y="13436"/>
                  </a:lnTo>
                  <a:lnTo>
                    <a:pt x="289623" y="3924"/>
                  </a:lnTo>
                  <a:close/>
                </a:path>
                <a:path w="542290" h="1741170">
                  <a:moveTo>
                    <a:pt x="307924" y="1711528"/>
                  </a:moveTo>
                  <a:lnTo>
                    <a:pt x="302691" y="1711528"/>
                  </a:lnTo>
                  <a:lnTo>
                    <a:pt x="295833" y="1729193"/>
                  </a:lnTo>
                  <a:lnTo>
                    <a:pt x="292823" y="1721675"/>
                  </a:lnTo>
                  <a:lnTo>
                    <a:pt x="288632" y="1711198"/>
                  </a:lnTo>
                  <a:lnTo>
                    <a:pt x="287655" y="1711198"/>
                  </a:lnTo>
                  <a:lnTo>
                    <a:pt x="280466" y="1729193"/>
                  </a:lnTo>
                  <a:lnTo>
                    <a:pt x="273596" y="1711528"/>
                  </a:lnTo>
                  <a:lnTo>
                    <a:pt x="268046" y="1711528"/>
                  </a:lnTo>
                  <a:lnTo>
                    <a:pt x="279488" y="1740649"/>
                  </a:lnTo>
                  <a:lnTo>
                    <a:pt x="280466" y="1740649"/>
                  </a:lnTo>
                  <a:lnTo>
                    <a:pt x="285000" y="1729193"/>
                  </a:lnTo>
                  <a:lnTo>
                    <a:pt x="287985" y="1721675"/>
                  </a:lnTo>
                  <a:lnTo>
                    <a:pt x="295833" y="1740649"/>
                  </a:lnTo>
                  <a:lnTo>
                    <a:pt x="296481" y="1740649"/>
                  </a:lnTo>
                  <a:lnTo>
                    <a:pt x="300977" y="1729193"/>
                  </a:lnTo>
                  <a:lnTo>
                    <a:pt x="307924" y="1711528"/>
                  </a:lnTo>
                  <a:close/>
                </a:path>
                <a:path w="542290" h="1741170">
                  <a:moveTo>
                    <a:pt x="315112" y="9817"/>
                  </a:moveTo>
                  <a:lnTo>
                    <a:pt x="314007" y="5232"/>
                  </a:lnTo>
                  <a:lnTo>
                    <a:pt x="313156" y="1663"/>
                  </a:lnTo>
                  <a:lnTo>
                    <a:pt x="310540" y="1663"/>
                  </a:lnTo>
                  <a:lnTo>
                    <a:pt x="310540" y="11823"/>
                  </a:lnTo>
                  <a:lnTo>
                    <a:pt x="310540" y="21297"/>
                  </a:lnTo>
                  <a:lnTo>
                    <a:pt x="309562" y="27533"/>
                  </a:lnTo>
                  <a:lnTo>
                    <a:pt x="299097" y="27533"/>
                  </a:lnTo>
                  <a:lnTo>
                    <a:pt x="298119" y="21297"/>
                  </a:lnTo>
                  <a:lnTo>
                    <a:pt x="298157" y="11823"/>
                  </a:lnTo>
                  <a:lnTo>
                    <a:pt x="299097" y="5232"/>
                  </a:lnTo>
                  <a:lnTo>
                    <a:pt x="309562" y="5232"/>
                  </a:lnTo>
                  <a:lnTo>
                    <a:pt x="310540" y="11823"/>
                  </a:lnTo>
                  <a:lnTo>
                    <a:pt x="310540" y="1663"/>
                  </a:lnTo>
                  <a:lnTo>
                    <a:pt x="295503" y="1663"/>
                  </a:lnTo>
                  <a:lnTo>
                    <a:pt x="293535" y="9817"/>
                  </a:lnTo>
                  <a:lnTo>
                    <a:pt x="293535" y="23253"/>
                  </a:lnTo>
                  <a:lnTo>
                    <a:pt x="295503" y="31457"/>
                  </a:lnTo>
                  <a:lnTo>
                    <a:pt x="313156" y="31457"/>
                  </a:lnTo>
                  <a:lnTo>
                    <a:pt x="314058" y="27533"/>
                  </a:lnTo>
                  <a:lnTo>
                    <a:pt x="315048" y="23253"/>
                  </a:lnTo>
                  <a:lnTo>
                    <a:pt x="315112" y="9817"/>
                  </a:lnTo>
                  <a:close/>
                </a:path>
                <a:path w="542290" h="1741170">
                  <a:moveTo>
                    <a:pt x="332765" y="1968"/>
                  </a:moveTo>
                  <a:lnTo>
                    <a:pt x="332117" y="1968"/>
                  </a:lnTo>
                  <a:lnTo>
                    <a:pt x="321322" y="7861"/>
                  </a:lnTo>
                  <a:lnTo>
                    <a:pt x="321322" y="12128"/>
                  </a:lnTo>
                  <a:lnTo>
                    <a:pt x="327863" y="8864"/>
                  </a:lnTo>
                  <a:lnTo>
                    <a:pt x="327863" y="30797"/>
                  </a:lnTo>
                  <a:lnTo>
                    <a:pt x="332765" y="30797"/>
                  </a:lnTo>
                  <a:lnTo>
                    <a:pt x="332765" y="1968"/>
                  </a:lnTo>
                  <a:close/>
                </a:path>
                <a:path w="542290" h="1741170">
                  <a:moveTo>
                    <a:pt x="340614" y="1711198"/>
                  </a:moveTo>
                  <a:lnTo>
                    <a:pt x="339648" y="1711198"/>
                  </a:lnTo>
                  <a:lnTo>
                    <a:pt x="337337" y="1714144"/>
                  </a:lnTo>
                  <a:lnTo>
                    <a:pt x="328523" y="1725269"/>
                  </a:lnTo>
                  <a:lnTo>
                    <a:pt x="326224" y="1728216"/>
                  </a:lnTo>
                  <a:lnTo>
                    <a:pt x="321919" y="1722983"/>
                  </a:lnTo>
                  <a:lnTo>
                    <a:pt x="317080" y="1717090"/>
                  </a:lnTo>
                  <a:lnTo>
                    <a:pt x="312496" y="1711198"/>
                  </a:lnTo>
                  <a:lnTo>
                    <a:pt x="311518" y="1711198"/>
                  </a:lnTo>
                  <a:lnTo>
                    <a:pt x="311518" y="1740331"/>
                  </a:lnTo>
                  <a:lnTo>
                    <a:pt x="316420" y="1740331"/>
                  </a:lnTo>
                  <a:lnTo>
                    <a:pt x="316420" y="1722983"/>
                  </a:lnTo>
                  <a:lnTo>
                    <a:pt x="325577" y="1734426"/>
                  </a:lnTo>
                  <a:lnTo>
                    <a:pt x="326555" y="1734426"/>
                  </a:lnTo>
                  <a:lnTo>
                    <a:pt x="331393" y="1728216"/>
                  </a:lnTo>
                  <a:lnTo>
                    <a:pt x="335724" y="1722653"/>
                  </a:lnTo>
                  <a:lnTo>
                    <a:pt x="336029" y="1722653"/>
                  </a:lnTo>
                  <a:lnTo>
                    <a:pt x="336029" y="1729193"/>
                  </a:lnTo>
                  <a:lnTo>
                    <a:pt x="335724" y="1734108"/>
                  </a:lnTo>
                  <a:lnTo>
                    <a:pt x="335724" y="1740331"/>
                  </a:lnTo>
                  <a:lnTo>
                    <a:pt x="340614" y="1740331"/>
                  </a:lnTo>
                  <a:lnTo>
                    <a:pt x="340614" y="1722653"/>
                  </a:lnTo>
                  <a:lnTo>
                    <a:pt x="340614" y="1711198"/>
                  </a:lnTo>
                  <a:close/>
                </a:path>
                <a:path w="542290" h="1741170">
                  <a:moveTo>
                    <a:pt x="363486" y="5232"/>
                  </a:moveTo>
                  <a:lnTo>
                    <a:pt x="359257" y="1663"/>
                  </a:lnTo>
                  <a:lnTo>
                    <a:pt x="358914" y="1663"/>
                  </a:lnTo>
                  <a:lnTo>
                    <a:pt x="358914" y="7861"/>
                  </a:lnTo>
                  <a:lnTo>
                    <a:pt x="358914" y="14744"/>
                  </a:lnTo>
                  <a:lnTo>
                    <a:pt x="356641" y="16713"/>
                  </a:lnTo>
                  <a:lnTo>
                    <a:pt x="349453" y="16713"/>
                  </a:lnTo>
                  <a:lnTo>
                    <a:pt x="347497" y="14439"/>
                  </a:lnTo>
                  <a:lnTo>
                    <a:pt x="347497" y="7861"/>
                  </a:lnTo>
                  <a:lnTo>
                    <a:pt x="349453" y="5232"/>
                  </a:lnTo>
                  <a:lnTo>
                    <a:pt x="356946" y="5232"/>
                  </a:lnTo>
                  <a:lnTo>
                    <a:pt x="358914" y="7861"/>
                  </a:lnTo>
                  <a:lnTo>
                    <a:pt x="358914" y="1663"/>
                  </a:lnTo>
                  <a:lnTo>
                    <a:pt x="347141" y="1663"/>
                  </a:lnTo>
                  <a:lnTo>
                    <a:pt x="342925" y="5588"/>
                  </a:lnTo>
                  <a:lnTo>
                    <a:pt x="342925" y="16052"/>
                  </a:lnTo>
                  <a:lnTo>
                    <a:pt x="346494" y="19977"/>
                  </a:lnTo>
                  <a:lnTo>
                    <a:pt x="353034" y="19977"/>
                  </a:lnTo>
                  <a:lnTo>
                    <a:pt x="354685" y="19672"/>
                  </a:lnTo>
                  <a:lnTo>
                    <a:pt x="355993" y="19024"/>
                  </a:lnTo>
                  <a:lnTo>
                    <a:pt x="355993" y="19329"/>
                  </a:lnTo>
                  <a:lnTo>
                    <a:pt x="348805" y="30797"/>
                  </a:lnTo>
                  <a:lnTo>
                    <a:pt x="353682" y="30797"/>
                  </a:lnTo>
                  <a:lnTo>
                    <a:pt x="354990" y="28841"/>
                  </a:lnTo>
                  <a:lnTo>
                    <a:pt x="359918" y="20637"/>
                  </a:lnTo>
                  <a:lnTo>
                    <a:pt x="360984" y="19024"/>
                  </a:lnTo>
                  <a:lnTo>
                    <a:pt x="361226" y="18669"/>
                  </a:lnTo>
                  <a:lnTo>
                    <a:pt x="362356" y="16713"/>
                  </a:lnTo>
                  <a:lnTo>
                    <a:pt x="362534" y="16408"/>
                  </a:lnTo>
                  <a:lnTo>
                    <a:pt x="363486" y="13792"/>
                  </a:lnTo>
                  <a:lnTo>
                    <a:pt x="363486" y="5232"/>
                  </a:lnTo>
                  <a:close/>
                </a:path>
                <a:path w="542290" h="1741170">
                  <a:moveTo>
                    <a:pt x="376250" y="1717751"/>
                  </a:moveTo>
                  <a:lnTo>
                    <a:pt x="373761" y="1715135"/>
                  </a:lnTo>
                  <a:lnTo>
                    <a:pt x="371335" y="1712582"/>
                  </a:lnTo>
                  <a:lnTo>
                    <a:pt x="371335" y="1720037"/>
                  </a:lnTo>
                  <a:lnTo>
                    <a:pt x="371335" y="1731810"/>
                  </a:lnTo>
                  <a:lnTo>
                    <a:pt x="367411" y="1736725"/>
                  </a:lnTo>
                  <a:lnTo>
                    <a:pt x="354990" y="1736725"/>
                  </a:lnTo>
                  <a:lnTo>
                    <a:pt x="351066" y="1732140"/>
                  </a:lnTo>
                  <a:lnTo>
                    <a:pt x="351066" y="1720037"/>
                  </a:lnTo>
                  <a:lnTo>
                    <a:pt x="355333" y="1715135"/>
                  </a:lnTo>
                  <a:lnTo>
                    <a:pt x="367411" y="1715135"/>
                  </a:lnTo>
                  <a:lnTo>
                    <a:pt x="371335" y="1720037"/>
                  </a:lnTo>
                  <a:lnTo>
                    <a:pt x="371335" y="1712582"/>
                  </a:lnTo>
                  <a:lnTo>
                    <a:pt x="370027" y="1711198"/>
                  </a:lnTo>
                  <a:lnTo>
                    <a:pt x="352729" y="1711198"/>
                  </a:lnTo>
                  <a:lnTo>
                    <a:pt x="346189" y="1717751"/>
                  </a:lnTo>
                  <a:lnTo>
                    <a:pt x="346189" y="1734426"/>
                  </a:lnTo>
                  <a:lnTo>
                    <a:pt x="351726" y="1740649"/>
                  </a:lnTo>
                  <a:lnTo>
                    <a:pt x="370027" y="1740649"/>
                  </a:lnTo>
                  <a:lnTo>
                    <a:pt x="373951" y="1736725"/>
                  </a:lnTo>
                  <a:lnTo>
                    <a:pt x="376250" y="1734426"/>
                  </a:lnTo>
                  <a:lnTo>
                    <a:pt x="376250" y="1717751"/>
                  </a:lnTo>
                  <a:close/>
                </a:path>
                <a:path w="542290" h="1741170">
                  <a:moveTo>
                    <a:pt x="392252" y="1727885"/>
                  </a:moveTo>
                  <a:lnTo>
                    <a:pt x="381139" y="1727885"/>
                  </a:lnTo>
                  <a:lnTo>
                    <a:pt x="381139" y="1731162"/>
                  </a:lnTo>
                  <a:lnTo>
                    <a:pt x="392252" y="1731162"/>
                  </a:lnTo>
                  <a:lnTo>
                    <a:pt x="392252" y="1727885"/>
                  </a:lnTo>
                  <a:close/>
                </a:path>
                <a:path w="542290" h="1741170">
                  <a:moveTo>
                    <a:pt x="396824" y="15100"/>
                  </a:moveTo>
                  <a:lnTo>
                    <a:pt x="396278" y="14439"/>
                  </a:lnTo>
                  <a:lnTo>
                    <a:pt x="393242" y="10820"/>
                  </a:lnTo>
                  <a:lnTo>
                    <a:pt x="392595" y="10820"/>
                  </a:lnTo>
                  <a:lnTo>
                    <a:pt x="392595" y="19024"/>
                  </a:lnTo>
                  <a:lnTo>
                    <a:pt x="382447" y="19024"/>
                  </a:lnTo>
                  <a:lnTo>
                    <a:pt x="382790" y="16408"/>
                  </a:lnTo>
                  <a:lnTo>
                    <a:pt x="384746" y="14439"/>
                  </a:lnTo>
                  <a:lnTo>
                    <a:pt x="390283" y="14439"/>
                  </a:lnTo>
                  <a:lnTo>
                    <a:pt x="391947" y="16052"/>
                  </a:lnTo>
                  <a:lnTo>
                    <a:pt x="392595" y="19024"/>
                  </a:lnTo>
                  <a:lnTo>
                    <a:pt x="392595" y="10820"/>
                  </a:lnTo>
                  <a:lnTo>
                    <a:pt x="381787" y="10820"/>
                  </a:lnTo>
                  <a:lnTo>
                    <a:pt x="377558" y="15405"/>
                  </a:lnTo>
                  <a:lnTo>
                    <a:pt x="377558" y="26873"/>
                  </a:lnTo>
                  <a:lnTo>
                    <a:pt x="381482" y="31457"/>
                  </a:lnTo>
                  <a:lnTo>
                    <a:pt x="390944" y="31457"/>
                  </a:lnTo>
                  <a:lnTo>
                    <a:pt x="393903" y="30797"/>
                  </a:lnTo>
                  <a:lnTo>
                    <a:pt x="395859" y="29146"/>
                  </a:lnTo>
                  <a:lnTo>
                    <a:pt x="395859" y="27838"/>
                  </a:lnTo>
                  <a:lnTo>
                    <a:pt x="395859" y="25565"/>
                  </a:lnTo>
                  <a:lnTo>
                    <a:pt x="393242" y="27178"/>
                  </a:lnTo>
                  <a:lnTo>
                    <a:pt x="390944" y="27838"/>
                  </a:lnTo>
                  <a:lnTo>
                    <a:pt x="385406" y="27838"/>
                  </a:lnTo>
                  <a:lnTo>
                    <a:pt x="382447" y="25869"/>
                  </a:lnTo>
                  <a:lnTo>
                    <a:pt x="382143" y="21945"/>
                  </a:lnTo>
                  <a:lnTo>
                    <a:pt x="396824" y="21945"/>
                  </a:lnTo>
                  <a:lnTo>
                    <a:pt x="396824" y="19024"/>
                  </a:lnTo>
                  <a:lnTo>
                    <a:pt x="396824" y="15100"/>
                  </a:lnTo>
                  <a:close/>
                </a:path>
                <a:path w="542290" h="1741170">
                  <a:moveTo>
                    <a:pt x="421360" y="0"/>
                  </a:moveTo>
                  <a:lnTo>
                    <a:pt x="416775" y="0"/>
                  </a:lnTo>
                  <a:lnTo>
                    <a:pt x="416775" y="13436"/>
                  </a:lnTo>
                  <a:lnTo>
                    <a:pt x="416775" y="17716"/>
                  </a:lnTo>
                  <a:lnTo>
                    <a:pt x="416775" y="24917"/>
                  </a:lnTo>
                  <a:lnTo>
                    <a:pt x="414159" y="27533"/>
                  </a:lnTo>
                  <a:lnTo>
                    <a:pt x="406971" y="27533"/>
                  </a:lnTo>
                  <a:lnTo>
                    <a:pt x="404660" y="24917"/>
                  </a:lnTo>
                  <a:lnTo>
                    <a:pt x="404660" y="17716"/>
                  </a:lnTo>
                  <a:lnTo>
                    <a:pt x="406971" y="14744"/>
                  </a:lnTo>
                  <a:lnTo>
                    <a:pt x="414464" y="14744"/>
                  </a:lnTo>
                  <a:lnTo>
                    <a:pt x="416775" y="17716"/>
                  </a:lnTo>
                  <a:lnTo>
                    <a:pt x="416775" y="13436"/>
                  </a:lnTo>
                  <a:lnTo>
                    <a:pt x="414820" y="11480"/>
                  </a:lnTo>
                  <a:lnTo>
                    <a:pt x="412203" y="11176"/>
                  </a:lnTo>
                  <a:lnTo>
                    <a:pt x="404355" y="11176"/>
                  </a:lnTo>
                  <a:lnTo>
                    <a:pt x="400443" y="15405"/>
                  </a:lnTo>
                  <a:lnTo>
                    <a:pt x="400443" y="27533"/>
                  </a:lnTo>
                  <a:lnTo>
                    <a:pt x="404012" y="31457"/>
                  </a:lnTo>
                  <a:lnTo>
                    <a:pt x="412508" y="31457"/>
                  </a:lnTo>
                  <a:lnTo>
                    <a:pt x="415467" y="30454"/>
                  </a:lnTo>
                  <a:lnTo>
                    <a:pt x="417080" y="28181"/>
                  </a:lnTo>
                  <a:lnTo>
                    <a:pt x="417080" y="28486"/>
                  </a:lnTo>
                  <a:lnTo>
                    <a:pt x="417639" y="30454"/>
                  </a:lnTo>
                  <a:lnTo>
                    <a:pt x="417741" y="30797"/>
                  </a:lnTo>
                  <a:lnTo>
                    <a:pt x="421360" y="30797"/>
                  </a:lnTo>
                  <a:lnTo>
                    <a:pt x="421360" y="28181"/>
                  </a:lnTo>
                  <a:lnTo>
                    <a:pt x="421360" y="27533"/>
                  </a:lnTo>
                  <a:lnTo>
                    <a:pt x="421360" y="14744"/>
                  </a:lnTo>
                  <a:lnTo>
                    <a:pt x="421360" y="13436"/>
                  </a:lnTo>
                  <a:lnTo>
                    <a:pt x="421360" y="0"/>
                  </a:lnTo>
                  <a:close/>
                </a:path>
                <a:path w="542290" h="1741170">
                  <a:moveTo>
                    <a:pt x="422960" y="1711528"/>
                  </a:moveTo>
                  <a:lnTo>
                    <a:pt x="418084" y="1711528"/>
                  </a:lnTo>
                  <a:lnTo>
                    <a:pt x="418084" y="1730502"/>
                  </a:lnTo>
                  <a:lnTo>
                    <a:pt x="414159" y="1726666"/>
                  </a:lnTo>
                  <a:lnTo>
                    <a:pt x="408635" y="1721015"/>
                  </a:lnTo>
                  <a:lnTo>
                    <a:pt x="399135" y="1711198"/>
                  </a:lnTo>
                  <a:lnTo>
                    <a:pt x="398132" y="1711198"/>
                  </a:lnTo>
                  <a:lnTo>
                    <a:pt x="398132" y="1740331"/>
                  </a:lnTo>
                  <a:lnTo>
                    <a:pt x="403047" y="1740331"/>
                  </a:lnTo>
                  <a:lnTo>
                    <a:pt x="403047" y="1721015"/>
                  </a:lnTo>
                  <a:lnTo>
                    <a:pt x="407060" y="1725231"/>
                  </a:lnTo>
                  <a:lnTo>
                    <a:pt x="418172" y="1736623"/>
                  </a:lnTo>
                  <a:lnTo>
                    <a:pt x="422008" y="1740649"/>
                  </a:lnTo>
                  <a:lnTo>
                    <a:pt x="422960" y="1740649"/>
                  </a:lnTo>
                  <a:lnTo>
                    <a:pt x="422960" y="1730502"/>
                  </a:lnTo>
                  <a:lnTo>
                    <a:pt x="422960" y="1711528"/>
                  </a:lnTo>
                  <a:close/>
                </a:path>
                <a:path w="542290" h="1741170">
                  <a:moveTo>
                    <a:pt x="431469" y="11480"/>
                  </a:moveTo>
                  <a:lnTo>
                    <a:pt x="426885" y="11480"/>
                  </a:lnTo>
                  <a:lnTo>
                    <a:pt x="426885" y="30797"/>
                  </a:lnTo>
                  <a:lnTo>
                    <a:pt x="431469" y="30797"/>
                  </a:lnTo>
                  <a:lnTo>
                    <a:pt x="431469" y="11480"/>
                  </a:lnTo>
                  <a:close/>
                </a:path>
                <a:path w="542290" h="1741170">
                  <a:moveTo>
                    <a:pt x="431812" y="3924"/>
                  </a:moveTo>
                  <a:lnTo>
                    <a:pt x="430809" y="2616"/>
                  </a:lnTo>
                  <a:lnTo>
                    <a:pt x="427888" y="2616"/>
                  </a:lnTo>
                  <a:lnTo>
                    <a:pt x="426580" y="3619"/>
                  </a:lnTo>
                  <a:lnTo>
                    <a:pt x="426580" y="6553"/>
                  </a:lnTo>
                  <a:lnTo>
                    <a:pt x="427545" y="7861"/>
                  </a:lnTo>
                  <a:lnTo>
                    <a:pt x="430809" y="7861"/>
                  </a:lnTo>
                  <a:lnTo>
                    <a:pt x="431812" y="6553"/>
                  </a:lnTo>
                  <a:lnTo>
                    <a:pt x="431812" y="3924"/>
                  </a:lnTo>
                  <a:close/>
                </a:path>
                <a:path w="542290" h="1741170">
                  <a:moveTo>
                    <a:pt x="449160" y="1724939"/>
                  </a:moveTo>
                  <a:lnTo>
                    <a:pt x="448246" y="1723961"/>
                  </a:lnTo>
                  <a:lnTo>
                    <a:pt x="444881" y="1720367"/>
                  </a:lnTo>
                  <a:lnTo>
                    <a:pt x="444576" y="1720367"/>
                  </a:lnTo>
                  <a:lnTo>
                    <a:pt x="444576" y="1726907"/>
                  </a:lnTo>
                  <a:lnTo>
                    <a:pt x="444576" y="1734108"/>
                  </a:lnTo>
                  <a:lnTo>
                    <a:pt x="442264" y="1737055"/>
                  </a:lnTo>
                  <a:lnTo>
                    <a:pt x="434733" y="1737055"/>
                  </a:lnTo>
                  <a:lnTo>
                    <a:pt x="432765" y="1734108"/>
                  </a:lnTo>
                  <a:lnTo>
                    <a:pt x="432765" y="1726907"/>
                  </a:lnTo>
                  <a:lnTo>
                    <a:pt x="435076" y="1723961"/>
                  </a:lnTo>
                  <a:lnTo>
                    <a:pt x="442264" y="1723961"/>
                  </a:lnTo>
                  <a:lnTo>
                    <a:pt x="444576" y="1726907"/>
                  </a:lnTo>
                  <a:lnTo>
                    <a:pt x="444576" y="1720367"/>
                  </a:lnTo>
                  <a:lnTo>
                    <a:pt x="432460" y="1720367"/>
                  </a:lnTo>
                  <a:lnTo>
                    <a:pt x="428193" y="1724939"/>
                  </a:lnTo>
                  <a:lnTo>
                    <a:pt x="428193" y="1736394"/>
                  </a:lnTo>
                  <a:lnTo>
                    <a:pt x="432117" y="1740649"/>
                  </a:lnTo>
                  <a:lnTo>
                    <a:pt x="444881" y="1740649"/>
                  </a:lnTo>
                  <a:lnTo>
                    <a:pt x="448500" y="1737055"/>
                  </a:lnTo>
                  <a:lnTo>
                    <a:pt x="449160" y="1736394"/>
                  </a:lnTo>
                  <a:lnTo>
                    <a:pt x="449160" y="1724939"/>
                  </a:lnTo>
                  <a:close/>
                </a:path>
                <a:path w="542290" h="1741170">
                  <a:moveTo>
                    <a:pt x="449160" y="26225"/>
                  </a:moveTo>
                  <a:lnTo>
                    <a:pt x="447852" y="27178"/>
                  </a:lnTo>
                  <a:lnTo>
                    <a:pt x="446544" y="27533"/>
                  </a:lnTo>
                  <a:lnTo>
                    <a:pt x="443928" y="27533"/>
                  </a:lnTo>
                  <a:lnTo>
                    <a:pt x="443268" y="26225"/>
                  </a:lnTo>
                  <a:lnTo>
                    <a:pt x="443268" y="15100"/>
                  </a:lnTo>
                  <a:lnTo>
                    <a:pt x="448500" y="15100"/>
                  </a:lnTo>
                  <a:lnTo>
                    <a:pt x="448500" y="11480"/>
                  </a:lnTo>
                  <a:lnTo>
                    <a:pt x="443268" y="11480"/>
                  </a:lnTo>
                  <a:lnTo>
                    <a:pt x="443268" y="5232"/>
                  </a:lnTo>
                  <a:lnTo>
                    <a:pt x="442264" y="5232"/>
                  </a:lnTo>
                  <a:lnTo>
                    <a:pt x="439000" y="11480"/>
                  </a:lnTo>
                  <a:lnTo>
                    <a:pt x="435381" y="12484"/>
                  </a:lnTo>
                  <a:lnTo>
                    <a:pt x="435381" y="15100"/>
                  </a:lnTo>
                  <a:lnTo>
                    <a:pt x="438696" y="15100"/>
                  </a:lnTo>
                  <a:lnTo>
                    <a:pt x="438696" y="28486"/>
                  </a:lnTo>
                  <a:lnTo>
                    <a:pt x="439661" y="31457"/>
                  </a:lnTo>
                  <a:lnTo>
                    <a:pt x="445884" y="31457"/>
                  </a:lnTo>
                  <a:lnTo>
                    <a:pt x="447852" y="30797"/>
                  </a:lnTo>
                  <a:lnTo>
                    <a:pt x="449160" y="30149"/>
                  </a:lnTo>
                  <a:lnTo>
                    <a:pt x="449160" y="26225"/>
                  </a:lnTo>
                  <a:close/>
                </a:path>
                <a:path w="542290" h="1741170">
                  <a:moveTo>
                    <a:pt x="457657" y="11480"/>
                  </a:moveTo>
                  <a:lnTo>
                    <a:pt x="453072" y="11480"/>
                  </a:lnTo>
                  <a:lnTo>
                    <a:pt x="453072" y="30797"/>
                  </a:lnTo>
                  <a:lnTo>
                    <a:pt x="457657" y="30797"/>
                  </a:lnTo>
                  <a:lnTo>
                    <a:pt x="457657" y="11480"/>
                  </a:lnTo>
                  <a:close/>
                </a:path>
                <a:path w="542290" h="1741170">
                  <a:moveTo>
                    <a:pt x="457962" y="3924"/>
                  </a:moveTo>
                  <a:lnTo>
                    <a:pt x="456996" y="2616"/>
                  </a:lnTo>
                  <a:lnTo>
                    <a:pt x="454037" y="2616"/>
                  </a:lnTo>
                  <a:lnTo>
                    <a:pt x="452729" y="3619"/>
                  </a:lnTo>
                  <a:lnTo>
                    <a:pt x="452729" y="6553"/>
                  </a:lnTo>
                  <a:lnTo>
                    <a:pt x="453732" y="7861"/>
                  </a:lnTo>
                  <a:lnTo>
                    <a:pt x="456996" y="7861"/>
                  </a:lnTo>
                  <a:lnTo>
                    <a:pt x="457962" y="6553"/>
                  </a:lnTo>
                  <a:lnTo>
                    <a:pt x="457962" y="3924"/>
                  </a:lnTo>
                  <a:close/>
                </a:path>
                <a:path w="542290" h="1741170">
                  <a:moveTo>
                    <a:pt x="458304" y="1736394"/>
                  </a:moveTo>
                  <a:lnTo>
                    <a:pt x="456996" y="1735416"/>
                  </a:lnTo>
                  <a:lnTo>
                    <a:pt x="454037" y="1735416"/>
                  </a:lnTo>
                  <a:lnTo>
                    <a:pt x="452729" y="1736394"/>
                  </a:lnTo>
                  <a:lnTo>
                    <a:pt x="452729" y="1739341"/>
                  </a:lnTo>
                  <a:lnTo>
                    <a:pt x="454037" y="1740649"/>
                  </a:lnTo>
                  <a:lnTo>
                    <a:pt x="456996" y="1740649"/>
                  </a:lnTo>
                  <a:lnTo>
                    <a:pt x="458304" y="1739341"/>
                  </a:lnTo>
                  <a:lnTo>
                    <a:pt x="458304" y="1738033"/>
                  </a:lnTo>
                  <a:lnTo>
                    <a:pt x="458304" y="1736394"/>
                  </a:lnTo>
                  <a:close/>
                </a:path>
                <a:path w="542290" h="1741170">
                  <a:moveTo>
                    <a:pt x="482790" y="15405"/>
                  </a:moveTo>
                  <a:lnTo>
                    <a:pt x="482193" y="14744"/>
                  </a:lnTo>
                  <a:lnTo>
                    <a:pt x="478574" y="10820"/>
                  </a:lnTo>
                  <a:lnTo>
                    <a:pt x="478218" y="10820"/>
                  </a:lnTo>
                  <a:lnTo>
                    <a:pt x="478218" y="17716"/>
                  </a:lnTo>
                  <a:lnTo>
                    <a:pt x="478218" y="24561"/>
                  </a:lnTo>
                  <a:lnTo>
                    <a:pt x="475957" y="27533"/>
                  </a:lnTo>
                  <a:lnTo>
                    <a:pt x="468414" y="27533"/>
                  </a:lnTo>
                  <a:lnTo>
                    <a:pt x="466153" y="24917"/>
                  </a:lnTo>
                  <a:lnTo>
                    <a:pt x="466153" y="17716"/>
                  </a:lnTo>
                  <a:lnTo>
                    <a:pt x="468769" y="14744"/>
                  </a:lnTo>
                  <a:lnTo>
                    <a:pt x="475957" y="14744"/>
                  </a:lnTo>
                  <a:lnTo>
                    <a:pt x="478218" y="17716"/>
                  </a:lnTo>
                  <a:lnTo>
                    <a:pt x="478218" y="10820"/>
                  </a:lnTo>
                  <a:lnTo>
                    <a:pt x="466153" y="10820"/>
                  </a:lnTo>
                  <a:lnTo>
                    <a:pt x="461568" y="15405"/>
                  </a:lnTo>
                  <a:lnTo>
                    <a:pt x="461568" y="26873"/>
                  </a:lnTo>
                  <a:lnTo>
                    <a:pt x="465493" y="31457"/>
                  </a:lnTo>
                  <a:lnTo>
                    <a:pt x="478218" y="31457"/>
                  </a:lnTo>
                  <a:lnTo>
                    <a:pt x="482142" y="27533"/>
                  </a:lnTo>
                  <a:lnTo>
                    <a:pt x="482790" y="26873"/>
                  </a:lnTo>
                  <a:lnTo>
                    <a:pt x="482790" y="15405"/>
                  </a:lnTo>
                  <a:close/>
                </a:path>
                <a:path w="542290" h="1741170">
                  <a:moveTo>
                    <a:pt x="491947" y="1726247"/>
                  </a:moveTo>
                  <a:lnTo>
                    <a:pt x="490969" y="1725269"/>
                  </a:lnTo>
                  <a:lnTo>
                    <a:pt x="488683" y="1722983"/>
                  </a:lnTo>
                  <a:lnTo>
                    <a:pt x="483450" y="1722323"/>
                  </a:lnTo>
                  <a:lnTo>
                    <a:pt x="491642" y="1712506"/>
                  </a:lnTo>
                  <a:lnTo>
                    <a:pt x="491642" y="1711528"/>
                  </a:lnTo>
                  <a:lnTo>
                    <a:pt x="472986" y="1711528"/>
                  </a:lnTo>
                  <a:lnTo>
                    <a:pt x="472986" y="1715135"/>
                  </a:lnTo>
                  <a:lnTo>
                    <a:pt x="484759" y="1715135"/>
                  </a:lnTo>
                  <a:lnTo>
                    <a:pt x="476910" y="1724621"/>
                  </a:lnTo>
                  <a:lnTo>
                    <a:pt x="477570" y="1725599"/>
                  </a:lnTo>
                  <a:lnTo>
                    <a:pt x="478574" y="1725269"/>
                  </a:lnTo>
                  <a:lnTo>
                    <a:pt x="483793" y="1725269"/>
                  </a:lnTo>
                  <a:lnTo>
                    <a:pt x="487375" y="1726907"/>
                  </a:lnTo>
                  <a:lnTo>
                    <a:pt x="487375" y="1734426"/>
                  </a:lnTo>
                  <a:lnTo>
                    <a:pt x="484759" y="1737055"/>
                  </a:lnTo>
                  <a:lnTo>
                    <a:pt x="477913" y="1737055"/>
                  </a:lnTo>
                  <a:lnTo>
                    <a:pt x="474954" y="1736725"/>
                  </a:lnTo>
                  <a:lnTo>
                    <a:pt x="472033" y="1734108"/>
                  </a:lnTo>
                  <a:lnTo>
                    <a:pt x="472033" y="1738363"/>
                  </a:lnTo>
                  <a:lnTo>
                    <a:pt x="474954" y="1740331"/>
                  </a:lnTo>
                  <a:lnTo>
                    <a:pt x="478218" y="1740649"/>
                  </a:lnTo>
                  <a:lnTo>
                    <a:pt x="487070" y="1740649"/>
                  </a:lnTo>
                  <a:lnTo>
                    <a:pt x="491540" y="1737055"/>
                  </a:lnTo>
                  <a:lnTo>
                    <a:pt x="491947" y="1736725"/>
                  </a:lnTo>
                  <a:lnTo>
                    <a:pt x="491947" y="1726247"/>
                  </a:lnTo>
                  <a:close/>
                </a:path>
                <a:path w="542290" h="1741170">
                  <a:moveTo>
                    <a:pt x="505371" y="14097"/>
                  </a:moveTo>
                  <a:lnTo>
                    <a:pt x="503059" y="11176"/>
                  </a:lnTo>
                  <a:lnTo>
                    <a:pt x="495871" y="11176"/>
                  </a:lnTo>
                  <a:lnTo>
                    <a:pt x="493598" y="11823"/>
                  </a:lnTo>
                  <a:lnTo>
                    <a:pt x="491642" y="14439"/>
                  </a:lnTo>
                  <a:lnTo>
                    <a:pt x="491286" y="14439"/>
                  </a:lnTo>
                  <a:lnTo>
                    <a:pt x="491286" y="13792"/>
                  </a:lnTo>
                  <a:lnTo>
                    <a:pt x="490639" y="11823"/>
                  </a:lnTo>
                  <a:lnTo>
                    <a:pt x="490639" y="11480"/>
                  </a:lnTo>
                  <a:lnTo>
                    <a:pt x="487375" y="11480"/>
                  </a:lnTo>
                  <a:lnTo>
                    <a:pt x="487375" y="30797"/>
                  </a:lnTo>
                  <a:lnTo>
                    <a:pt x="491947" y="30797"/>
                  </a:lnTo>
                  <a:lnTo>
                    <a:pt x="491947" y="16713"/>
                  </a:lnTo>
                  <a:lnTo>
                    <a:pt x="494258" y="14744"/>
                  </a:lnTo>
                  <a:lnTo>
                    <a:pt x="499478" y="14744"/>
                  </a:lnTo>
                  <a:lnTo>
                    <a:pt x="500786" y="16713"/>
                  </a:lnTo>
                  <a:lnTo>
                    <a:pt x="500786" y="30797"/>
                  </a:lnTo>
                  <a:lnTo>
                    <a:pt x="505371" y="30797"/>
                  </a:lnTo>
                  <a:lnTo>
                    <a:pt x="505371" y="14097"/>
                  </a:lnTo>
                  <a:close/>
                </a:path>
                <a:path w="542290" h="1741170">
                  <a:moveTo>
                    <a:pt x="518096" y="1719376"/>
                  </a:moveTo>
                  <a:lnTo>
                    <a:pt x="516991" y="1714792"/>
                  </a:lnTo>
                  <a:lnTo>
                    <a:pt x="516128" y="1711198"/>
                  </a:lnTo>
                  <a:lnTo>
                    <a:pt x="513511" y="1711198"/>
                  </a:lnTo>
                  <a:lnTo>
                    <a:pt x="513511" y="1721345"/>
                  </a:lnTo>
                  <a:lnTo>
                    <a:pt x="513511" y="1730502"/>
                  </a:lnTo>
                  <a:lnTo>
                    <a:pt x="512559" y="1737055"/>
                  </a:lnTo>
                  <a:lnTo>
                    <a:pt x="501751" y="1737055"/>
                  </a:lnTo>
                  <a:lnTo>
                    <a:pt x="501091" y="1730502"/>
                  </a:lnTo>
                  <a:lnTo>
                    <a:pt x="501091" y="1721345"/>
                  </a:lnTo>
                  <a:lnTo>
                    <a:pt x="501751" y="1714792"/>
                  </a:lnTo>
                  <a:lnTo>
                    <a:pt x="512559" y="1714792"/>
                  </a:lnTo>
                  <a:lnTo>
                    <a:pt x="513511" y="1721345"/>
                  </a:lnTo>
                  <a:lnTo>
                    <a:pt x="513511" y="1711198"/>
                  </a:lnTo>
                  <a:lnTo>
                    <a:pt x="498487" y="1711198"/>
                  </a:lnTo>
                  <a:lnTo>
                    <a:pt x="496519" y="1719376"/>
                  </a:lnTo>
                  <a:lnTo>
                    <a:pt x="496519" y="1732800"/>
                  </a:lnTo>
                  <a:lnTo>
                    <a:pt x="498487" y="1740649"/>
                  </a:lnTo>
                  <a:lnTo>
                    <a:pt x="515823" y="1740649"/>
                  </a:lnTo>
                  <a:lnTo>
                    <a:pt x="516826" y="1737055"/>
                  </a:lnTo>
                  <a:lnTo>
                    <a:pt x="517994" y="1732800"/>
                  </a:lnTo>
                  <a:lnTo>
                    <a:pt x="518096" y="1719376"/>
                  </a:lnTo>
                  <a:close/>
                </a:path>
                <a:path w="542290" h="1741170">
                  <a:moveTo>
                    <a:pt x="541972" y="1726247"/>
                  </a:moveTo>
                  <a:lnTo>
                    <a:pt x="541362" y="1725599"/>
                  </a:lnTo>
                  <a:lnTo>
                    <a:pt x="539254" y="1723313"/>
                  </a:lnTo>
                  <a:lnTo>
                    <a:pt x="538353" y="1722323"/>
                  </a:lnTo>
                  <a:lnTo>
                    <a:pt x="537705" y="1722323"/>
                  </a:lnTo>
                  <a:lnTo>
                    <a:pt x="537705" y="1728216"/>
                  </a:lnTo>
                  <a:lnTo>
                    <a:pt x="537705" y="1734426"/>
                  </a:lnTo>
                  <a:lnTo>
                    <a:pt x="535432" y="1737055"/>
                  </a:lnTo>
                  <a:lnTo>
                    <a:pt x="527900" y="1737055"/>
                  </a:lnTo>
                  <a:lnTo>
                    <a:pt x="525627" y="1734426"/>
                  </a:lnTo>
                  <a:lnTo>
                    <a:pt x="525627" y="1727885"/>
                  </a:lnTo>
                  <a:lnTo>
                    <a:pt x="528243" y="1725599"/>
                  </a:lnTo>
                  <a:lnTo>
                    <a:pt x="535432" y="1725599"/>
                  </a:lnTo>
                  <a:lnTo>
                    <a:pt x="537705" y="1728216"/>
                  </a:lnTo>
                  <a:lnTo>
                    <a:pt x="537705" y="1722323"/>
                  </a:lnTo>
                  <a:lnTo>
                    <a:pt x="531812" y="1722323"/>
                  </a:lnTo>
                  <a:lnTo>
                    <a:pt x="530199" y="1722653"/>
                  </a:lnTo>
                  <a:lnTo>
                    <a:pt x="528904" y="1723313"/>
                  </a:lnTo>
                  <a:lnTo>
                    <a:pt x="536092" y="1711528"/>
                  </a:lnTo>
                  <a:lnTo>
                    <a:pt x="531164" y="1711528"/>
                  </a:lnTo>
                  <a:lnTo>
                    <a:pt x="523671" y="1723961"/>
                  </a:lnTo>
                  <a:lnTo>
                    <a:pt x="522363" y="1725930"/>
                  </a:lnTo>
                  <a:lnTo>
                    <a:pt x="521614" y="1727885"/>
                  </a:lnTo>
                  <a:lnTo>
                    <a:pt x="521487" y="1728216"/>
                  </a:lnTo>
                  <a:lnTo>
                    <a:pt x="521360" y="1737055"/>
                  </a:lnTo>
                  <a:lnTo>
                    <a:pt x="525284" y="1740649"/>
                  </a:lnTo>
                  <a:lnTo>
                    <a:pt x="537705" y="1740649"/>
                  </a:lnTo>
                  <a:lnTo>
                    <a:pt x="541972" y="1737055"/>
                  </a:lnTo>
                  <a:lnTo>
                    <a:pt x="541972" y="17262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95398" y="5960931"/>
              <a:ext cx="708329" cy="564175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9"/>
            <a:ext cx="12205335" cy="707390"/>
            <a:chOff x="-6350" y="-6349"/>
            <a:chExt cx="12205335" cy="7073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90"/>
                  </a:lnTo>
                  <a:lnTo>
                    <a:pt x="12192056" y="0"/>
                  </a:lnTo>
                  <a:lnTo>
                    <a:pt x="0" y="0"/>
                  </a:lnTo>
                  <a:lnTo>
                    <a:pt x="0" y="694689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89"/>
                  </a:lnTo>
                  <a:lnTo>
                    <a:pt x="12192056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5425">
              <a:lnSpc>
                <a:spcPct val="100000"/>
              </a:lnSpc>
              <a:spcBef>
                <a:spcPts val="100"/>
              </a:spcBef>
            </a:pPr>
            <a:r>
              <a:rPr dirty="0"/>
              <a:t>BUFR</a:t>
            </a:r>
            <a:r>
              <a:rPr spc="-60" dirty="0"/>
              <a:t> </a:t>
            </a:r>
            <a:r>
              <a:rPr dirty="0"/>
              <a:t>tools</a:t>
            </a:r>
            <a:r>
              <a:rPr spc="-6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wis2box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0362" y="772413"/>
            <a:ext cx="1125029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0" dirty="0">
                <a:latin typeface="Trebuchet MS"/>
                <a:cs typeface="Trebuchet MS"/>
              </a:rPr>
              <a:t>wis2box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data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plugins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BUFR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tools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to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enable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data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35" dirty="0">
                <a:latin typeface="Trebuchet MS"/>
                <a:cs typeface="Trebuchet MS"/>
              </a:rPr>
              <a:t>transformation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prior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to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publication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spc="-30" dirty="0">
                <a:solidFill>
                  <a:srgbClr val="0F42D2"/>
                </a:solidFill>
                <a:latin typeface="Trebuchet MS"/>
                <a:cs typeface="Trebuchet MS"/>
              </a:rPr>
              <a:t>csv2bufr</a:t>
            </a:r>
            <a:r>
              <a:rPr sz="2000" b="1" spc="-15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enables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any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system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to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prepare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data-</a:t>
            </a:r>
            <a:r>
              <a:rPr sz="2000" spc="-90" dirty="0">
                <a:latin typeface="Trebuchet MS"/>
                <a:cs typeface="Trebuchet MS"/>
              </a:rPr>
              <a:t>extract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without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needing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local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conversion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tools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spc="-40" dirty="0">
                <a:solidFill>
                  <a:srgbClr val="0F42D2"/>
                </a:solidFill>
                <a:latin typeface="Trebuchet MS"/>
                <a:cs typeface="Trebuchet MS"/>
              </a:rPr>
              <a:t>synop2bufr</a:t>
            </a:r>
            <a:r>
              <a:rPr sz="2000" b="1" spc="-16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enables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direct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publication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FM-</a:t>
            </a:r>
            <a:r>
              <a:rPr sz="2000" dirty="0">
                <a:latin typeface="Trebuchet MS"/>
                <a:cs typeface="Trebuchet MS"/>
              </a:rPr>
              <a:t>12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synop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reports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manual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observers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spc="-65" dirty="0">
                <a:solidFill>
                  <a:srgbClr val="0033CC"/>
                </a:solidFill>
                <a:latin typeface="Trebuchet MS"/>
                <a:cs typeface="Trebuchet MS"/>
              </a:rPr>
              <a:t>bufr2bufr</a:t>
            </a:r>
            <a:r>
              <a:rPr sz="2000" b="1" spc="-1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splits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bulletins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ensure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has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valid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WIGOS-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-10" dirty="0">
                <a:latin typeface="Trebuchet MS"/>
                <a:cs typeface="Trebuchet MS"/>
              </a:rPr>
              <a:t>identifier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36433" y="2137917"/>
            <a:ext cx="3951604" cy="3290570"/>
          </a:xfrm>
          <a:custGeom>
            <a:avLst/>
            <a:gdLst/>
            <a:ahLst/>
            <a:cxnLst/>
            <a:rect l="l" t="t" r="r" b="b"/>
            <a:pathLst>
              <a:path w="3951604" h="3290570">
                <a:moveTo>
                  <a:pt x="3951224" y="0"/>
                </a:moveTo>
                <a:lnTo>
                  <a:pt x="0" y="0"/>
                </a:lnTo>
                <a:lnTo>
                  <a:pt x="0" y="3290570"/>
                </a:lnTo>
                <a:lnTo>
                  <a:pt x="3951224" y="3290570"/>
                </a:lnTo>
                <a:lnTo>
                  <a:pt x="3951224" y="0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824464" y="2180589"/>
            <a:ext cx="5854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WIS</a:t>
            </a:r>
            <a:r>
              <a:rPr sz="1400" b="1" i="1" spc="-25" dirty="0">
                <a:solidFill>
                  <a:srgbClr val="0F243E"/>
                </a:solidFill>
                <a:latin typeface="Calibri"/>
                <a:cs typeface="Calibri"/>
              </a:rPr>
              <a:t> 2.0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35440" y="4408449"/>
            <a:ext cx="2122805" cy="452755"/>
          </a:xfrm>
          <a:custGeom>
            <a:avLst/>
            <a:gdLst/>
            <a:ahLst/>
            <a:cxnLst/>
            <a:rect l="l" t="t" r="r" b="b"/>
            <a:pathLst>
              <a:path w="2122804" h="452754">
                <a:moveTo>
                  <a:pt x="2122804" y="0"/>
                </a:moveTo>
                <a:lnTo>
                  <a:pt x="0" y="0"/>
                </a:lnTo>
                <a:lnTo>
                  <a:pt x="0" y="452602"/>
                </a:lnTo>
                <a:lnTo>
                  <a:pt x="2122804" y="452602"/>
                </a:lnTo>
                <a:lnTo>
                  <a:pt x="2122804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156697" y="4488941"/>
            <a:ext cx="1122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Global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Cache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2373" y="2137917"/>
            <a:ext cx="6733540" cy="3290570"/>
          </a:xfrm>
          <a:custGeom>
            <a:avLst/>
            <a:gdLst/>
            <a:ahLst/>
            <a:cxnLst/>
            <a:rect l="l" t="t" r="r" b="b"/>
            <a:pathLst>
              <a:path w="6733540" h="3290570">
                <a:moveTo>
                  <a:pt x="6733032" y="0"/>
                </a:moveTo>
                <a:lnTo>
                  <a:pt x="0" y="0"/>
                </a:lnTo>
                <a:lnTo>
                  <a:pt x="0" y="3290570"/>
                </a:lnTo>
                <a:lnTo>
                  <a:pt x="6733032" y="3290570"/>
                </a:lnTo>
                <a:lnTo>
                  <a:pt x="6733032" y="0"/>
                </a:lnTo>
                <a:close/>
              </a:path>
            </a:pathLst>
          </a:custGeom>
          <a:solidFill>
            <a:srgbClr val="F1DC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48502" y="2166874"/>
            <a:ext cx="13582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National</a:t>
            </a:r>
            <a:r>
              <a:rPr sz="1400" b="1" i="1" spc="-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F243E"/>
                </a:solidFill>
                <a:latin typeface="Calibri"/>
                <a:cs typeface="Calibri"/>
              </a:rPr>
              <a:t>Segment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22997" y="2273680"/>
            <a:ext cx="2809875" cy="2032635"/>
          </a:xfrm>
          <a:custGeom>
            <a:avLst/>
            <a:gdLst/>
            <a:ahLst/>
            <a:cxnLst/>
            <a:rect l="l" t="t" r="r" b="b"/>
            <a:pathLst>
              <a:path w="2809875" h="2032635">
                <a:moveTo>
                  <a:pt x="2809748" y="0"/>
                </a:moveTo>
                <a:lnTo>
                  <a:pt x="0" y="0"/>
                </a:lnTo>
                <a:lnTo>
                  <a:pt x="0" y="2032635"/>
                </a:lnTo>
                <a:lnTo>
                  <a:pt x="2809748" y="2032635"/>
                </a:lnTo>
                <a:lnTo>
                  <a:pt x="2809748" y="0"/>
                </a:lnTo>
                <a:close/>
              </a:path>
            </a:pathLst>
          </a:custGeom>
          <a:solidFill>
            <a:srgbClr val="EBF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90319" y="2352801"/>
            <a:ext cx="3816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F243E"/>
                </a:solidFill>
                <a:latin typeface="Calibri"/>
                <a:cs typeface="Calibri"/>
              </a:rPr>
              <a:t>Field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22997" y="4473156"/>
            <a:ext cx="2809875" cy="852805"/>
          </a:xfrm>
          <a:custGeom>
            <a:avLst/>
            <a:gdLst/>
            <a:ahLst/>
            <a:cxnLst/>
            <a:rect l="l" t="t" r="r" b="b"/>
            <a:pathLst>
              <a:path w="2809875" h="852804">
                <a:moveTo>
                  <a:pt x="2809748" y="0"/>
                </a:moveTo>
                <a:lnTo>
                  <a:pt x="0" y="0"/>
                </a:lnTo>
                <a:lnTo>
                  <a:pt x="0" y="852589"/>
                </a:lnTo>
                <a:lnTo>
                  <a:pt x="2809748" y="852589"/>
                </a:lnTo>
                <a:lnTo>
                  <a:pt x="2809748" y="0"/>
                </a:lnTo>
                <a:close/>
              </a:path>
            </a:pathLst>
          </a:custGeom>
          <a:solidFill>
            <a:srgbClr val="EBF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90319" y="4483989"/>
            <a:ext cx="1010919" cy="431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5"/>
              </a:spcBef>
            </a:pPr>
            <a:r>
              <a:rPr sz="1400" b="1" dirty="0">
                <a:solidFill>
                  <a:srgbClr val="0F243E"/>
                </a:solidFill>
                <a:latin typeface="Calibri"/>
                <a:cs typeface="Calibri"/>
              </a:rPr>
              <a:t>Server,</a:t>
            </a:r>
            <a:r>
              <a:rPr sz="1400" b="1" spc="-4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F243E"/>
                </a:solidFill>
                <a:latin typeface="Calibri"/>
                <a:cs typeface="Calibri"/>
              </a:rPr>
              <a:t>Cloud </a:t>
            </a:r>
            <a:r>
              <a:rPr sz="1400" b="1" dirty="0">
                <a:solidFill>
                  <a:srgbClr val="0F243E"/>
                </a:solidFill>
                <a:latin typeface="Calibri"/>
                <a:cs typeface="Calibri"/>
              </a:rPr>
              <a:t>or</a:t>
            </a:r>
            <a:r>
              <a:rPr sz="1400" b="1" spc="-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F243E"/>
                </a:solidFill>
                <a:latin typeface="Calibri"/>
                <a:cs typeface="Calibri"/>
              </a:rPr>
              <a:t>Satellite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81122" y="3582136"/>
            <a:ext cx="981075" cy="370205"/>
          </a:xfrm>
          <a:custGeom>
            <a:avLst/>
            <a:gdLst/>
            <a:ahLst/>
            <a:cxnLst/>
            <a:rect l="l" t="t" r="r" b="b"/>
            <a:pathLst>
              <a:path w="981075" h="370204">
                <a:moveTo>
                  <a:pt x="980681" y="0"/>
                </a:moveTo>
                <a:lnTo>
                  <a:pt x="0" y="0"/>
                </a:lnTo>
                <a:lnTo>
                  <a:pt x="0" y="370103"/>
                </a:lnTo>
                <a:lnTo>
                  <a:pt x="980681" y="370103"/>
                </a:lnTo>
                <a:lnTo>
                  <a:pt x="980681" y="0"/>
                </a:lnTo>
                <a:close/>
              </a:path>
            </a:pathLst>
          </a:custGeom>
          <a:solidFill>
            <a:srgbClr val="E6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67304" y="3546475"/>
            <a:ext cx="698500" cy="40132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5890" marR="5080" indent="-123825">
              <a:lnSpc>
                <a:spcPts val="1400"/>
              </a:lnSpc>
              <a:spcBef>
                <a:spcPts val="275"/>
              </a:spcBef>
            </a:pPr>
            <a:r>
              <a:rPr sz="1300" b="1" dirty="0">
                <a:solidFill>
                  <a:srgbClr val="0F243E"/>
                </a:solidFill>
                <a:latin typeface="Calibri"/>
                <a:cs typeface="Calibri"/>
              </a:rPr>
              <a:t>AWS</a:t>
            </a:r>
            <a:r>
              <a:rPr sz="1300" b="1" spc="-2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F243E"/>
                </a:solidFill>
                <a:latin typeface="Calibri"/>
                <a:cs typeface="Calibri"/>
              </a:rPr>
              <a:t>data </a:t>
            </a:r>
            <a:r>
              <a:rPr sz="1300" b="1" spc="-10" dirty="0">
                <a:solidFill>
                  <a:srgbClr val="0F243E"/>
                </a:solidFill>
                <a:latin typeface="Calibri"/>
                <a:cs typeface="Calibri"/>
              </a:rPr>
              <a:t>logger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75482" y="4781524"/>
            <a:ext cx="886460" cy="370205"/>
          </a:xfrm>
          <a:custGeom>
            <a:avLst/>
            <a:gdLst/>
            <a:ahLst/>
            <a:cxnLst/>
            <a:rect l="l" t="t" r="r" b="b"/>
            <a:pathLst>
              <a:path w="886460" h="370204">
                <a:moveTo>
                  <a:pt x="886358" y="0"/>
                </a:moveTo>
                <a:lnTo>
                  <a:pt x="0" y="0"/>
                </a:lnTo>
                <a:lnTo>
                  <a:pt x="0" y="370103"/>
                </a:lnTo>
                <a:lnTo>
                  <a:pt x="886358" y="370103"/>
                </a:lnTo>
                <a:lnTo>
                  <a:pt x="886358" y="0"/>
                </a:lnTo>
                <a:close/>
              </a:path>
            </a:pathLst>
          </a:custGeom>
          <a:solidFill>
            <a:srgbClr val="E6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58489" y="4746116"/>
            <a:ext cx="607695" cy="40132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8890">
              <a:lnSpc>
                <a:spcPts val="1400"/>
              </a:lnSpc>
              <a:spcBef>
                <a:spcPts val="275"/>
              </a:spcBef>
            </a:pPr>
            <a:r>
              <a:rPr sz="1300" b="1" spc="-10" dirty="0">
                <a:solidFill>
                  <a:srgbClr val="0F243E"/>
                </a:solidFill>
                <a:latin typeface="Calibri"/>
                <a:cs typeface="Calibri"/>
              </a:rPr>
              <a:t>External provider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45710" y="3468230"/>
            <a:ext cx="1543685" cy="600075"/>
          </a:xfrm>
          <a:custGeom>
            <a:avLst/>
            <a:gdLst/>
            <a:ahLst/>
            <a:cxnLst/>
            <a:rect l="l" t="t" r="r" b="b"/>
            <a:pathLst>
              <a:path w="1543685" h="600075">
                <a:moveTo>
                  <a:pt x="1543685" y="0"/>
                </a:moveTo>
                <a:lnTo>
                  <a:pt x="0" y="0"/>
                </a:lnTo>
                <a:lnTo>
                  <a:pt x="0" y="599833"/>
                </a:lnTo>
                <a:lnTo>
                  <a:pt x="1543685" y="599833"/>
                </a:lnTo>
                <a:lnTo>
                  <a:pt x="1543685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45710" y="3434588"/>
            <a:ext cx="1543685" cy="6235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60985" marR="165100" algn="ctr">
              <a:lnSpc>
                <a:spcPts val="1510"/>
              </a:lnSpc>
              <a:spcBef>
                <a:spcPts val="295"/>
              </a:spcBef>
            </a:pPr>
            <a:r>
              <a:rPr sz="1400" b="1" dirty="0">
                <a:solidFill>
                  <a:srgbClr val="0F243E"/>
                </a:solidFill>
                <a:latin typeface="Calibri"/>
                <a:cs typeface="Calibri"/>
              </a:rPr>
              <a:t>Data</a:t>
            </a:r>
            <a:r>
              <a:rPr sz="1400" b="1" spc="-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F243E"/>
                </a:solidFill>
                <a:latin typeface="Calibri"/>
                <a:cs typeface="Calibri"/>
              </a:rPr>
              <a:t>collection </a:t>
            </a:r>
            <a:r>
              <a:rPr sz="1400" b="1" dirty="0">
                <a:solidFill>
                  <a:srgbClr val="0F243E"/>
                </a:solidFill>
                <a:latin typeface="Calibri"/>
                <a:cs typeface="Calibri"/>
              </a:rPr>
              <a:t>and</a:t>
            </a:r>
            <a:r>
              <a:rPr sz="1400" b="1" spc="-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F243E"/>
                </a:solidFill>
                <a:latin typeface="Calibri"/>
                <a:cs typeface="Calibri"/>
              </a:rPr>
              <a:t>processing system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14083" y="3549726"/>
            <a:ext cx="1971039" cy="435609"/>
            <a:chOff x="6514083" y="3549726"/>
            <a:chExt cx="1971039" cy="435609"/>
          </a:xfrm>
        </p:grpSpPr>
        <p:sp>
          <p:nvSpPr>
            <p:cNvPr id="24" name="object 24"/>
            <p:cNvSpPr/>
            <p:nvPr/>
          </p:nvSpPr>
          <p:spPr>
            <a:xfrm>
              <a:off x="6526783" y="3562426"/>
              <a:ext cx="1945639" cy="410209"/>
            </a:xfrm>
            <a:custGeom>
              <a:avLst/>
              <a:gdLst/>
              <a:ahLst/>
              <a:cxnLst/>
              <a:rect l="l" t="t" r="r" b="b"/>
              <a:pathLst>
                <a:path w="1945640" h="410210">
                  <a:moveTo>
                    <a:pt x="1945385" y="0"/>
                  </a:moveTo>
                  <a:lnTo>
                    <a:pt x="0" y="0"/>
                  </a:lnTo>
                  <a:lnTo>
                    <a:pt x="0" y="409752"/>
                  </a:lnTo>
                  <a:lnTo>
                    <a:pt x="1945385" y="409752"/>
                  </a:lnTo>
                  <a:lnTo>
                    <a:pt x="1945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6783" y="3562426"/>
              <a:ext cx="1945639" cy="410209"/>
            </a:xfrm>
            <a:custGeom>
              <a:avLst/>
              <a:gdLst/>
              <a:ahLst/>
              <a:cxnLst/>
              <a:rect l="l" t="t" r="r" b="b"/>
              <a:pathLst>
                <a:path w="1945640" h="410210">
                  <a:moveTo>
                    <a:pt x="0" y="409752"/>
                  </a:moveTo>
                  <a:lnTo>
                    <a:pt x="1945385" y="409752"/>
                  </a:lnTo>
                  <a:lnTo>
                    <a:pt x="1945385" y="0"/>
                  </a:lnTo>
                  <a:lnTo>
                    <a:pt x="0" y="0"/>
                  </a:lnTo>
                  <a:lnTo>
                    <a:pt x="0" y="409752"/>
                  </a:lnTo>
                  <a:close/>
                </a:path>
              </a:pathLst>
            </a:custGeom>
            <a:ln w="25400">
              <a:solidFill>
                <a:srgbClr val="0F4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39483" y="3602863"/>
            <a:ext cx="1907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42D2"/>
                </a:solidFill>
                <a:latin typeface="Calibri"/>
                <a:cs typeface="Calibri"/>
              </a:rPr>
              <a:t>WIS2</a:t>
            </a:r>
            <a:r>
              <a:rPr sz="1800" b="1" spc="-15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F42D2"/>
                </a:solidFill>
                <a:latin typeface="Calibri"/>
                <a:cs typeface="Calibri"/>
              </a:rPr>
              <a:t>in</a:t>
            </a:r>
            <a:r>
              <a:rPr sz="1800" b="1" spc="-20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F42D2"/>
                </a:solidFill>
                <a:latin typeface="Calibri"/>
                <a:cs typeface="Calibri"/>
              </a:rPr>
              <a:t>a </a:t>
            </a:r>
            <a:r>
              <a:rPr sz="1800" b="1" spc="-25" dirty="0">
                <a:solidFill>
                  <a:srgbClr val="0F42D2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07809" y="3541483"/>
            <a:ext cx="4750435" cy="453390"/>
            <a:chOff x="6607809" y="3541483"/>
            <a:chExt cx="4750435" cy="45339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7809" y="3600665"/>
              <a:ext cx="389559" cy="3564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231121" y="3541483"/>
              <a:ext cx="2127250" cy="453390"/>
            </a:xfrm>
            <a:custGeom>
              <a:avLst/>
              <a:gdLst/>
              <a:ahLst/>
              <a:cxnLst/>
              <a:rect l="l" t="t" r="r" b="b"/>
              <a:pathLst>
                <a:path w="2127250" h="453389">
                  <a:moveTo>
                    <a:pt x="2126996" y="0"/>
                  </a:moveTo>
                  <a:lnTo>
                    <a:pt x="0" y="0"/>
                  </a:lnTo>
                  <a:lnTo>
                    <a:pt x="0" y="453174"/>
                  </a:lnTo>
                  <a:lnTo>
                    <a:pt x="2126996" y="453174"/>
                  </a:lnTo>
                  <a:lnTo>
                    <a:pt x="2126996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92943" y="3622040"/>
            <a:ext cx="1186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Global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Broker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594727" y="2178685"/>
            <a:ext cx="3763645" cy="2615565"/>
            <a:chOff x="7594727" y="2178685"/>
            <a:chExt cx="3763645" cy="2615565"/>
          </a:xfrm>
        </p:grpSpPr>
        <p:sp>
          <p:nvSpPr>
            <p:cNvPr id="32" name="object 32"/>
            <p:cNvSpPr/>
            <p:nvPr/>
          </p:nvSpPr>
          <p:spPr>
            <a:xfrm>
              <a:off x="9343203" y="3644275"/>
              <a:ext cx="277495" cy="260350"/>
            </a:xfrm>
            <a:custGeom>
              <a:avLst/>
              <a:gdLst/>
              <a:ahLst/>
              <a:cxnLst/>
              <a:rect l="l" t="t" r="r" b="b"/>
              <a:pathLst>
                <a:path w="277495" h="260350">
                  <a:moveTo>
                    <a:pt x="178262" y="176528"/>
                  </a:moveTo>
                  <a:lnTo>
                    <a:pt x="157727" y="176528"/>
                  </a:lnTo>
                  <a:lnTo>
                    <a:pt x="196770" y="215593"/>
                  </a:lnTo>
                  <a:lnTo>
                    <a:pt x="193317" y="224657"/>
                  </a:lnTo>
                  <a:lnTo>
                    <a:pt x="192903" y="234204"/>
                  </a:lnTo>
                  <a:lnTo>
                    <a:pt x="195483" y="243320"/>
                  </a:lnTo>
                  <a:lnTo>
                    <a:pt x="195527" y="243475"/>
                  </a:lnTo>
                  <a:lnTo>
                    <a:pt x="201190" y="251710"/>
                  </a:lnTo>
                  <a:lnTo>
                    <a:pt x="210905" y="258136"/>
                  </a:lnTo>
                  <a:lnTo>
                    <a:pt x="222001" y="260278"/>
                  </a:lnTo>
                  <a:lnTo>
                    <a:pt x="233097" y="258136"/>
                  </a:lnTo>
                  <a:lnTo>
                    <a:pt x="242812" y="251710"/>
                  </a:lnTo>
                  <a:lnTo>
                    <a:pt x="249235" y="241990"/>
                  </a:lnTo>
                  <a:lnTo>
                    <a:pt x="251376" y="230888"/>
                  </a:lnTo>
                  <a:lnTo>
                    <a:pt x="249235" y="219785"/>
                  </a:lnTo>
                  <a:lnTo>
                    <a:pt x="242812" y="210065"/>
                  </a:lnTo>
                  <a:lnTo>
                    <a:pt x="236555" y="205643"/>
                  </a:lnTo>
                  <a:lnTo>
                    <a:pt x="207084" y="205643"/>
                  </a:lnTo>
                  <a:lnTo>
                    <a:pt x="178262" y="176528"/>
                  </a:lnTo>
                  <a:close/>
                </a:path>
                <a:path w="277495" h="260350">
                  <a:moveTo>
                    <a:pt x="51509" y="201404"/>
                  </a:moveTo>
                  <a:lnTo>
                    <a:pt x="42352" y="204030"/>
                  </a:lnTo>
                  <a:lnTo>
                    <a:pt x="34335" y="209697"/>
                  </a:lnTo>
                  <a:lnTo>
                    <a:pt x="27913" y="219417"/>
                  </a:lnTo>
                  <a:lnTo>
                    <a:pt x="25772" y="230519"/>
                  </a:lnTo>
                  <a:lnTo>
                    <a:pt x="27913" y="241621"/>
                  </a:lnTo>
                  <a:lnTo>
                    <a:pt x="34335" y="251341"/>
                  </a:lnTo>
                  <a:lnTo>
                    <a:pt x="44050" y="257767"/>
                  </a:lnTo>
                  <a:lnTo>
                    <a:pt x="55146" y="259910"/>
                  </a:lnTo>
                  <a:lnTo>
                    <a:pt x="66242" y="257767"/>
                  </a:lnTo>
                  <a:lnTo>
                    <a:pt x="75957" y="251341"/>
                  </a:lnTo>
                  <a:lnTo>
                    <a:pt x="81510" y="243475"/>
                  </a:lnTo>
                  <a:lnTo>
                    <a:pt x="81620" y="243320"/>
                  </a:lnTo>
                  <a:lnTo>
                    <a:pt x="84231" y="234204"/>
                  </a:lnTo>
                  <a:lnTo>
                    <a:pt x="83830" y="224657"/>
                  </a:lnTo>
                  <a:lnTo>
                    <a:pt x="80377" y="215593"/>
                  </a:lnTo>
                  <a:lnTo>
                    <a:pt x="90690" y="205274"/>
                  </a:lnTo>
                  <a:lnTo>
                    <a:pt x="70064" y="205274"/>
                  </a:lnTo>
                  <a:lnTo>
                    <a:pt x="61011" y="201819"/>
                  </a:lnTo>
                  <a:lnTo>
                    <a:pt x="51509" y="201404"/>
                  </a:lnTo>
                  <a:close/>
                </a:path>
                <a:path w="277495" h="260350">
                  <a:moveTo>
                    <a:pt x="225799" y="201819"/>
                  </a:moveTo>
                  <a:lnTo>
                    <a:pt x="224583" y="201819"/>
                  </a:lnTo>
                  <a:lnTo>
                    <a:pt x="216137" y="202188"/>
                  </a:lnTo>
                  <a:lnTo>
                    <a:pt x="207084" y="205643"/>
                  </a:lnTo>
                  <a:lnTo>
                    <a:pt x="236555" y="205643"/>
                  </a:lnTo>
                  <a:lnTo>
                    <a:pt x="234795" y="204399"/>
                  </a:lnTo>
                  <a:lnTo>
                    <a:pt x="225799" y="201819"/>
                  </a:lnTo>
                  <a:close/>
                </a:path>
                <a:path w="277495" h="260350">
                  <a:moveTo>
                    <a:pt x="91776" y="119860"/>
                  </a:moveTo>
                  <a:lnTo>
                    <a:pt x="52963" y="119860"/>
                  </a:lnTo>
                  <a:lnTo>
                    <a:pt x="101372" y="139675"/>
                  </a:lnTo>
                  <a:lnTo>
                    <a:pt x="101004" y="141149"/>
                  </a:lnTo>
                  <a:lnTo>
                    <a:pt x="101004" y="152573"/>
                  </a:lnTo>
                  <a:lnTo>
                    <a:pt x="103582" y="160313"/>
                  </a:lnTo>
                  <a:lnTo>
                    <a:pt x="108370" y="166578"/>
                  </a:lnTo>
                  <a:lnTo>
                    <a:pt x="70064" y="205274"/>
                  </a:lnTo>
                  <a:lnTo>
                    <a:pt x="90690" y="205274"/>
                  </a:lnTo>
                  <a:lnTo>
                    <a:pt x="119420" y="176528"/>
                  </a:lnTo>
                  <a:lnTo>
                    <a:pt x="178262" y="176528"/>
                  </a:lnTo>
                  <a:lnTo>
                    <a:pt x="168777" y="166946"/>
                  </a:lnTo>
                  <a:lnTo>
                    <a:pt x="173565" y="160681"/>
                  </a:lnTo>
                  <a:lnTo>
                    <a:pt x="176144" y="153311"/>
                  </a:lnTo>
                  <a:lnTo>
                    <a:pt x="176052" y="141149"/>
                  </a:lnTo>
                  <a:lnTo>
                    <a:pt x="175775" y="140043"/>
                  </a:lnTo>
                  <a:lnTo>
                    <a:pt x="208850" y="126505"/>
                  </a:lnTo>
                  <a:lnTo>
                    <a:pt x="170691" y="126505"/>
                  </a:lnTo>
                  <a:lnTo>
                    <a:pt x="170345" y="126039"/>
                  </a:lnTo>
                  <a:lnTo>
                    <a:pt x="106529" y="126039"/>
                  </a:lnTo>
                  <a:lnTo>
                    <a:pt x="91776" y="119860"/>
                  </a:lnTo>
                  <a:close/>
                </a:path>
                <a:path w="277495" h="260350">
                  <a:moveTo>
                    <a:pt x="157727" y="176528"/>
                  </a:moveTo>
                  <a:lnTo>
                    <a:pt x="119420" y="176528"/>
                  </a:lnTo>
                  <a:lnTo>
                    <a:pt x="124945" y="179845"/>
                  </a:lnTo>
                  <a:lnTo>
                    <a:pt x="131207" y="181688"/>
                  </a:lnTo>
                  <a:lnTo>
                    <a:pt x="145940" y="181688"/>
                  </a:lnTo>
                  <a:lnTo>
                    <a:pt x="152202" y="179845"/>
                  </a:lnTo>
                  <a:lnTo>
                    <a:pt x="157727" y="176528"/>
                  </a:lnTo>
                  <a:close/>
                </a:path>
                <a:path w="277495" h="260350">
                  <a:moveTo>
                    <a:pt x="270417" y="120229"/>
                  </a:moveTo>
                  <a:lnTo>
                    <a:pt x="224486" y="120229"/>
                  </a:lnTo>
                  <a:lnTo>
                    <a:pt x="231307" y="126718"/>
                  </a:lnTo>
                  <a:lnTo>
                    <a:pt x="239911" y="130738"/>
                  </a:lnTo>
                  <a:lnTo>
                    <a:pt x="249413" y="131855"/>
                  </a:lnTo>
                  <a:lnTo>
                    <a:pt x="259019" y="129724"/>
                  </a:lnTo>
                  <a:lnTo>
                    <a:pt x="268590" y="123004"/>
                  </a:lnTo>
                  <a:lnTo>
                    <a:pt x="270417" y="120229"/>
                  </a:lnTo>
                  <a:close/>
                </a:path>
                <a:path w="277495" h="260350">
                  <a:moveTo>
                    <a:pt x="29432" y="72520"/>
                  </a:moveTo>
                  <a:lnTo>
                    <a:pt x="17847" y="74812"/>
                  </a:lnTo>
                  <a:lnTo>
                    <a:pt x="18172" y="74812"/>
                  </a:lnTo>
                  <a:lnTo>
                    <a:pt x="8851" y="80928"/>
                  </a:lnTo>
                  <a:lnTo>
                    <a:pt x="2290" y="90659"/>
                  </a:lnTo>
                  <a:lnTo>
                    <a:pt x="0" y="102199"/>
                  </a:lnTo>
                  <a:lnTo>
                    <a:pt x="2198" y="113324"/>
                  </a:lnTo>
                  <a:lnTo>
                    <a:pt x="8402" y="122791"/>
                  </a:lnTo>
                  <a:lnTo>
                    <a:pt x="18128" y="129356"/>
                  </a:lnTo>
                  <a:lnTo>
                    <a:pt x="27734" y="131538"/>
                  </a:lnTo>
                  <a:lnTo>
                    <a:pt x="37236" y="130507"/>
                  </a:lnTo>
                  <a:lnTo>
                    <a:pt x="45840" y="126505"/>
                  </a:lnTo>
                  <a:lnTo>
                    <a:pt x="52663" y="119860"/>
                  </a:lnTo>
                  <a:lnTo>
                    <a:pt x="91776" y="119860"/>
                  </a:lnTo>
                  <a:lnTo>
                    <a:pt x="59013" y="106138"/>
                  </a:lnTo>
                  <a:lnTo>
                    <a:pt x="58792" y="96896"/>
                  </a:lnTo>
                  <a:lnTo>
                    <a:pt x="58783" y="96527"/>
                  </a:lnTo>
                  <a:lnTo>
                    <a:pt x="55514" y="87573"/>
                  </a:lnTo>
                  <a:lnTo>
                    <a:pt x="49483" y="80070"/>
                  </a:lnTo>
                  <a:lnTo>
                    <a:pt x="40965" y="74812"/>
                  </a:lnTo>
                  <a:lnTo>
                    <a:pt x="29432" y="72520"/>
                  </a:lnTo>
                  <a:close/>
                </a:path>
                <a:path w="277495" h="260350">
                  <a:moveTo>
                    <a:pt x="247715" y="72889"/>
                  </a:moveTo>
                  <a:lnTo>
                    <a:pt x="218260" y="102199"/>
                  </a:lnTo>
                  <a:lnTo>
                    <a:pt x="218134" y="106507"/>
                  </a:lnTo>
                  <a:lnTo>
                    <a:pt x="170385" y="126505"/>
                  </a:lnTo>
                  <a:lnTo>
                    <a:pt x="208850" y="126505"/>
                  </a:lnTo>
                  <a:lnTo>
                    <a:pt x="224184" y="120229"/>
                  </a:lnTo>
                  <a:lnTo>
                    <a:pt x="270417" y="120229"/>
                  </a:lnTo>
                  <a:lnTo>
                    <a:pt x="274811" y="113555"/>
                  </a:lnTo>
                  <a:lnTo>
                    <a:pt x="277096" y="102516"/>
                  </a:lnTo>
                  <a:lnTo>
                    <a:pt x="274857" y="91028"/>
                  </a:lnTo>
                  <a:lnTo>
                    <a:pt x="268296" y="81296"/>
                  </a:lnTo>
                  <a:lnTo>
                    <a:pt x="258975" y="75181"/>
                  </a:lnTo>
                  <a:lnTo>
                    <a:pt x="259300" y="75181"/>
                  </a:lnTo>
                  <a:lnTo>
                    <a:pt x="247715" y="72889"/>
                  </a:lnTo>
                  <a:close/>
                </a:path>
                <a:path w="277495" h="260350">
                  <a:moveTo>
                    <a:pt x="138573" y="0"/>
                  </a:moveTo>
                  <a:lnTo>
                    <a:pt x="127132" y="2326"/>
                  </a:lnTo>
                  <a:lnTo>
                    <a:pt x="117762" y="8660"/>
                  </a:lnTo>
                  <a:lnTo>
                    <a:pt x="111432" y="18035"/>
                  </a:lnTo>
                  <a:lnTo>
                    <a:pt x="109107" y="29482"/>
                  </a:lnTo>
                  <a:lnTo>
                    <a:pt x="110799" y="39203"/>
                  </a:lnTo>
                  <a:lnTo>
                    <a:pt x="115460" y="47541"/>
                  </a:lnTo>
                  <a:lnTo>
                    <a:pt x="122470" y="53944"/>
                  </a:lnTo>
                  <a:lnTo>
                    <a:pt x="131207" y="57860"/>
                  </a:lnTo>
                  <a:lnTo>
                    <a:pt x="131207" y="108718"/>
                  </a:lnTo>
                  <a:lnTo>
                    <a:pt x="123570" y="110958"/>
                  </a:lnTo>
                  <a:lnTo>
                    <a:pt x="116796" y="114752"/>
                  </a:lnTo>
                  <a:lnTo>
                    <a:pt x="111058" y="119860"/>
                  </a:lnTo>
                  <a:lnTo>
                    <a:pt x="106529" y="126039"/>
                  </a:lnTo>
                  <a:lnTo>
                    <a:pt x="170345" y="126039"/>
                  </a:lnTo>
                  <a:lnTo>
                    <a:pt x="166037" y="120229"/>
                  </a:lnTo>
                  <a:lnTo>
                    <a:pt x="160213" y="115121"/>
                  </a:lnTo>
                  <a:lnTo>
                    <a:pt x="153422" y="111326"/>
                  </a:lnTo>
                  <a:lnTo>
                    <a:pt x="145940" y="109086"/>
                  </a:lnTo>
                  <a:lnTo>
                    <a:pt x="145940" y="57860"/>
                  </a:lnTo>
                  <a:lnTo>
                    <a:pt x="154676" y="53944"/>
                  </a:lnTo>
                  <a:lnTo>
                    <a:pt x="161686" y="47541"/>
                  </a:lnTo>
                  <a:lnTo>
                    <a:pt x="166348" y="39203"/>
                  </a:lnTo>
                  <a:lnTo>
                    <a:pt x="168040" y="29482"/>
                  </a:lnTo>
                  <a:lnTo>
                    <a:pt x="165715" y="18035"/>
                  </a:lnTo>
                  <a:lnTo>
                    <a:pt x="159384" y="8660"/>
                  </a:lnTo>
                  <a:lnTo>
                    <a:pt x="150015" y="2326"/>
                  </a:lnTo>
                  <a:lnTo>
                    <a:pt x="138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 descr="A picture containing text, balloon, transport, aircraft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4727" y="2178685"/>
              <a:ext cx="708545" cy="7085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69076" y="4477474"/>
              <a:ext cx="225384" cy="31620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235440" y="2686011"/>
              <a:ext cx="2122805" cy="453390"/>
            </a:xfrm>
            <a:custGeom>
              <a:avLst/>
              <a:gdLst/>
              <a:ahLst/>
              <a:cxnLst/>
              <a:rect l="l" t="t" r="r" b="b"/>
              <a:pathLst>
                <a:path w="2122804" h="453389">
                  <a:moveTo>
                    <a:pt x="2122804" y="0"/>
                  </a:moveTo>
                  <a:lnTo>
                    <a:pt x="0" y="0"/>
                  </a:lnTo>
                  <a:lnTo>
                    <a:pt x="0" y="453174"/>
                  </a:lnTo>
                  <a:lnTo>
                    <a:pt x="2122804" y="453174"/>
                  </a:lnTo>
                  <a:lnTo>
                    <a:pt x="2122804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839706" y="2644520"/>
            <a:ext cx="1440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Global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Discovery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Catalogue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881122" y="2770739"/>
            <a:ext cx="6790055" cy="2266315"/>
            <a:chOff x="2881122" y="2770739"/>
            <a:chExt cx="6790055" cy="2266315"/>
          </a:xfrm>
        </p:grpSpPr>
        <p:sp>
          <p:nvSpPr>
            <p:cNvPr id="38" name="object 38"/>
            <p:cNvSpPr/>
            <p:nvPr/>
          </p:nvSpPr>
          <p:spPr>
            <a:xfrm>
              <a:off x="9322083" y="2770739"/>
              <a:ext cx="348615" cy="311150"/>
            </a:xfrm>
            <a:custGeom>
              <a:avLst/>
              <a:gdLst/>
              <a:ahLst/>
              <a:cxnLst/>
              <a:rect l="l" t="t" r="r" b="b"/>
              <a:pathLst>
                <a:path w="348615" h="311150">
                  <a:moveTo>
                    <a:pt x="206967" y="0"/>
                  </a:moveTo>
                  <a:lnTo>
                    <a:pt x="25128" y="63117"/>
                  </a:lnTo>
                  <a:lnTo>
                    <a:pt x="11898" y="101262"/>
                  </a:lnTo>
                  <a:lnTo>
                    <a:pt x="11977" y="108792"/>
                  </a:lnTo>
                  <a:lnTo>
                    <a:pt x="12613" y="114192"/>
                  </a:lnTo>
                  <a:lnTo>
                    <a:pt x="14087" y="120309"/>
                  </a:lnTo>
                  <a:lnTo>
                    <a:pt x="9913" y="124619"/>
                  </a:lnTo>
                  <a:lnTo>
                    <a:pt x="5290" y="131867"/>
                  </a:lnTo>
                  <a:lnTo>
                    <a:pt x="1543" y="142463"/>
                  </a:lnTo>
                  <a:lnTo>
                    <a:pt x="0" y="156817"/>
                  </a:lnTo>
                  <a:lnTo>
                    <a:pt x="816" y="167585"/>
                  </a:lnTo>
                  <a:lnTo>
                    <a:pt x="906" y="168576"/>
                  </a:lnTo>
                  <a:lnTo>
                    <a:pt x="3614" y="179789"/>
                  </a:lnTo>
                  <a:lnTo>
                    <a:pt x="8116" y="190509"/>
                  </a:lnTo>
                  <a:lnTo>
                    <a:pt x="14155" y="200163"/>
                  </a:lnTo>
                  <a:lnTo>
                    <a:pt x="14243" y="200726"/>
                  </a:lnTo>
                  <a:lnTo>
                    <a:pt x="12612" y="207078"/>
                  </a:lnTo>
                  <a:lnTo>
                    <a:pt x="11818" y="213682"/>
                  </a:lnTo>
                  <a:lnTo>
                    <a:pt x="11898" y="220309"/>
                  </a:lnTo>
                  <a:lnTo>
                    <a:pt x="22472" y="257579"/>
                  </a:lnTo>
                  <a:lnTo>
                    <a:pt x="153258" y="310950"/>
                  </a:lnTo>
                  <a:lnTo>
                    <a:pt x="155252" y="310950"/>
                  </a:lnTo>
                  <a:lnTo>
                    <a:pt x="175407" y="302802"/>
                  </a:lnTo>
                  <a:lnTo>
                    <a:pt x="154253" y="302802"/>
                  </a:lnTo>
                  <a:lnTo>
                    <a:pt x="29600" y="253728"/>
                  </a:lnTo>
                  <a:lnTo>
                    <a:pt x="19724" y="213682"/>
                  </a:lnTo>
                  <a:lnTo>
                    <a:pt x="20623" y="207078"/>
                  </a:lnTo>
                  <a:lnTo>
                    <a:pt x="22507" y="200726"/>
                  </a:lnTo>
                  <a:lnTo>
                    <a:pt x="22937" y="199376"/>
                  </a:lnTo>
                  <a:lnTo>
                    <a:pt x="22613" y="197902"/>
                  </a:lnTo>
                  <a:lnTo>
                    <a:pt x="7941" y="156817"/>
                  </a:lnTo>
                  <a:lnTo>
                    <a:pt x="9738" y="142849"/>
                  </a:lnTo>
                  <a:lnTo>
                    <a:pt x="22219" y="124354"/>
                  </a:lnTo>
                  <a:lnTo>
                    <a:pt x="22966" y="122465"/>
                  </a:lnTo>
                  <a:lnTo>
                    <a:pt x="22444" y="120706"/>
                  </a:lnTo>
                  <a:lnTo>
                    <a:pt x="20649" y="114384"/>
                  </a:lnTo>
                  <a:lnTo>
                    <a:pt x="19901" y="108792"/>
                  </a:lnTo>
                  <a:lnTo>
                    <a:pt x="19961" y="99979"/>
                  </a:lnTo>
                  <a:lnTo>
                    <a:pt x="21006" y="87922"/>
                  </a:lnTo>
                  <a:lnTo>
                    <a:pt x="21022" y="87739"/>
                  </a:lnTo>
                  <a:lnTo>
                    <a:pt x="23676" y="78613"/>
                  </a:lnTo>
                  <a:lnTo>
                    <a:pt x="23727" y="78438"/>
                  </a:lnTo>
                  <a:lnTo>
                    <a:pt x="26743" y="72792"/>
                  </a:lnTo>
                  <a:lnTo>
                    <a:pt x="28849" y="70230"/>
                  </a:lnTo>
                  <a:lnTo>
                    <a:pt x="206409" y="8267"/>
                  </a:lnTo>
                  <a:lnTo>
                    <a:pt x="229308" y="8267"/>
                  </a:lnTo>
                  <a:lnTo>
                    <a:pt x="207823" y="330"/>
                  </a:lnTo>
                  <a:lnTo>
                    <a:pt x="206967" y="0"/>
                  </a:lnTo>
                  <a:close/>
                </a:path>
                <a:path w="348615" h="311150">
                  <a:moveTo>
                    <a:pt x="341504" y="225292"/>
                  </a:moveTo>
                  <a:lnTo>
                    <a:pt x="318063" y="225292"/>
                  </a:lnTo>
                  <a:lnTo>
                    <a:pt x="332705" y="230583"/>
                  </a:lnTo>
                  <a:lnTo>
                    <a:pt x="154253" y="302802"/>
                  </a:lnTo>
                  <a:lnTo>
                    <a:pt x="175407" y="302802"/>
                  </a:lnTo>
                  <a:lnTo>
                    <a:pt x="347478" y="233239"/>
                  </a:lnTo>
                  <a:lnTo>
                    <a:pt x="348470" y="230927"/>
                  </a:lnTo>
                  <a:lnTo>
                    <a:pt x="347214" y="227839"/>
                  </a:lnTo>
                  <a:lnTo>
                    <a:pt x="346387" y="227019"/>
                  </a:lnTo>
                  <a:lnTo>
                    <a:pt x="341504" y="225292"/>
                  </a:lnTo>
                  <a:close/>
                </a:path>
                <a:path w="348615" h="311150">
                  <a:moveTo>
                    <a:pt x="35879" y="196658"/>
                  </a:moveTo>
                  <a:lnTo>
                    <a:pt x="33579" y="197660"/>
                  </a:lnTo>
                  <a:lnTo>
                    <a:pt x="32594" y="200163"/>
                  </a:lnTo>
                  <a:lnTo>
                    <a:pt x="32501" y="242465"/>
                  </a:lnTo>
                  <a:lnTo>
                    <a:pt x="33496" y="243930"/>
                  </a:lnTo>
                  <a:lnTo>
                    <a:pt x="153753" y="291304"/>
                  </a:lnTo>
                  <a:lnTo>
                    <a:pt x="154808" y="291304"/>
                  </a:lnTo>
                  <a:lnTo>
                    <a:pt x="175442" y="282961"/>
                  </a:lnTo>
                  <a:lnTo>
                    <a:pt x="154252" y="282961"/>
                  </a:lnTo>
                  <a:lnTo>
                    <a:pt x="40726" y="238237"/>
                  </a:lnTo>
                  <a:lnTo>
                    <a:pt x="40427" y="238237"/>
                  </a:lnTo>
                  <a:lnTo>
                    <a:pt x="40427" y="207078"/>
                  </a:lnTo>
                  <a:lnTo>
                    <a:pt x="62336" y="207078"/>
                  </a:lnTo>
                  <a:lnTo>
                    <a:pt x="35879" y="196658"/>
                  </a:lnTo>
                  <a:close/>
                </a:path>
                <a:path w="348615" h="311150">
                  <a:moveTo>
                    <a:pt x="323847" y="186477"/>
                  </a:moveTo>
                  <a:lnTo>
                    <a:pt x="315915" y="186477"/>
                  </a:lnTo>
                  <a:lnTo>
                    <a:pt x="315915" y="217597"/>
                  </a:lnTo>
                  <a:lnTo>
                    <a:pt x="154252" y="282961"/>
                  </a:lnTo>
                  <a:lnTo>
                    <a:pt x="175442" y="282961"/>
                  </a:lnTo>
                  <a:lnTo>
                    <a:pt x="318063" y="225292"/>
                  </a:lnTo>
                  <a:lnTo>
                    <a:pt x="341504" y="225292"/>
                  </a:lnTo>
                  <a:lnTo>
                    <a:pt x="323847" y="219026"/>
                  </a:lnTo>
                  <a:lnTo>
                    <a:pt x="323847" y="186477"/>
                  </a:lnTo>
                  <a:close/>
                </a:path>
                <a:path w="348615" h="311150">
                  <a:moveTo>
                    <a:pt x="62336" y="207078"/>
                  </a:moveTo>
                  <a:lnTo>
                    <a:pt x="40704" y="207078"/>
                  </a:lnTo>
                  <a:lnTo>
                    <a:pt x="153753" y="251622"/>
                  </a:lnTo>
                  <a:lnTo>
                    <a:pt x="154808" y="251622"/>
                  </a:lnTo>
                  <a:lnTo>
                    <a:pt x="175441" y="243278"/>
                  </a:lnTo>
                  <a:lnTo>
                    <a:pt x="154252" y="243278"/>
                  </a:lnTo>
                  <a:lnTo>
                    <a:pt x="62336" y="207078"/>
                  </a:lnTo>
                  <a:close/>
                </a:path>
                <a:path w="348615" h="311150">
                  <a:moveTo>
                    <a:pt x="343394" y="171139"/>
                  </a:moveTo>
                  <a:lnTo>
                    <a:pt x="308366" y="171139"/>
                  </a:lnTo>
                  <a:lnTo>
                    <a:pt x="325268" y="173917"/>
                  </a:lnTo>
                  <a:lnTo>
                    <a:pt x="154252" y="243278"/>
                  </a:lnTo>
                  <a:lnTo>
                    <a:pt x="175441" y="243278"/>
                  </a:lnTo>
                  <a:lnTo>
                    <a:pt x="315915" y="186477"/>
                  </a:lnTo>
                  <a:lnTo>
                    <a:pt x="323847" y="186477"/>
                  </a:lnTo>
                  <a:lnTo>
                    <a:pt x="323847" y="183223"/>
                  </a:lnTo>
                  <a:lnTo>
                    <a:pt x="343115" y="175071"/>
                  </a:lnTo>
                  <a:lnTo>
                    <a:pt x="344074" y="172743"/>
                  </a:lnTo>
                  <a:lnTo>
                    <a:pt x="343394" y="171139"/>
                  </a:lnTo>
                  <a:close/>
                </a:path>
                <a:path w="348615" h="311150">
                  <a:moveTo>
                    <a:pt x="24090" y="132575"/>
                  </a:moveTo>
                  <a:lnTo>
                    <a:pt x="23882" y="132575"/>
                  </a:lnTo>
                  <a:lnTo>
                    <a:pt x="21681" y="133534"/>
                  </a:lnTo>
                  <a:lnTo>
                    <a:pt x="20696" y="136037"/>
                  </a:lnTo>
                  <a:lnTo>
                    <a:pt x="20603" y="178973"/>
                  </a:lnTo>
                  <a:lnTo>
                    <a:pt x="21598" y="180438"/>
                  </a:lnTo>
                  <a:lnTo>
                    <a:pt x="153578" y="232422"/>
                  </a:lnTo>
                  <a:lnTo>
                    <a:pt x="154623" y="232422"/>
                  </a:lnTo>
                  <a:lnTo>
                    <a:pt x="175520" y="224092"/>
                  </a:lnTo>
                  <a:lnTo>
                    <a:pt x="154084" y="224092"/>
                  </a:lnTo>
                  <a:lnTo>
                    <a:pt x="28535" y="174638"/>
                  </a:lnTo>
                  <a:lnTo>
                    <a:pt x="28535" y="142849"/>
                  </a:lnTo>
                  <a:lnTo>
                    <a:pt x="50220" y="142849"/>
                  </a:lnTo>
                  <a:lnTo>
                    <a:pt x="24090" y="132575"/>
                  </a:lnTo>
                  <a:close/>
                </a:path>
                <a:path w="348615" h="311150">
                  <a:moveTo>
                    <a:pt x="311893" y="131867"/>
                  </a:moveTo>
                  <a:lnTo>
                    <a:pt x="303954" y="131867"/>
                  </a:lnTo>
                  <a:lnTo>
                    <a:pt x="303961" y="164337"/>
                  </a:lnTo>
                  <a:lnTo>
                    <a:pt x="154084" y="224092"/>
                  </a:lnTo>
                  <a:lnTo>
                    <a:pt x="175520" y="224092"/>
                  </a:lnTo>
                  <a:lnTo>
                    <a:pt x="308366" y="171139"/>
                  </a:lnTo>
                  <a:lnTo>
                    <a:pt x="343394" y="171139"/>
                  </a:lnTo>
                  <a:lnTo>
                    <a:pt x="342686" y="169469"/>
                  </a:lnTo>
                  <a:lnTo>
                    <a:pt x="341529" y="168577"/>
                  </a:lnTo>
                  <a:lnTo>
                    <a:pt x="311893" y="163676"/>
                  </a:lnTo>
                  <a:lnTo>
                    <a:pt x="311893" y="131867"/>
                  </a:lnTo>
                  <a:close/>
                </a:path>
                <a:path w="348615" h="311150">
                  <a:moveTo>
                    <a:pt x="50220" y="142849"/>
                  </a:moveTo>
                  <a:lnTo>
                    <a:pt x="28535" y="142849"/>
                  </a:lnTo>
                  <a:lnTo>
                    <a:pt x="153753" y="192098"/>
                  </a:lnTo>
                  <a:lnTo>
                    <a:pt x="154808" y="192098"/>
                  </a:lnTo>
                  <a:lnTo>
                    <a:pt x="175445" y="183755"/>
                  </a:lnTo>
                  <a:lnTo>
                    <a:pt x="154252" y="183755"/>
                  </a:lnTo>
                  <a:lnTo>
                    <a:pt x="50220" y="142849"/>
                  </a:lnTo>
                  <a:close/>
                </a:path>
                <a:path w="348615" h="311150">
                  <a:moveTo>
                    <a:pt x="341519" y="106246"/>
                  </a:moveTo>
                  <a:lnTo>
                    <a:pt x="318063" y="106246"/>
                  </a:lnTo>
                  <a:lnTo>
                    <a:pt x="332704" y="111537"/>
                  </a:lnTo>
                  <a:lnTo>
                    <a:pt x="154252" y="183755"/>
                  </a:lnTo>
                  <a:lnTo>
                    <a:pt x="175445" y="183755"/>
                  </a:lnTo>
                  <a:lnTo>
                    <a:pt x="303790" y="131867"/>
                  </a:lnTo>
                  <a:lnTo>
                    <a:pt x="311893" y="131867"/>
                  </a:lnTo>
                  <a:lnTo>
                    <a:pt x="311893" y="128583"/>
                  </a:lnTo>
                  <a:lnTo>
                    <a:pt x="347478" y="114192"/>
                  </a:lnTo>
                  <a:lnTo>
                    <a:pt x="348469" y="111881"/>
                  </a:lnTo>
                  <a:lnTo>
                    <a:pt x="347214" y="108792"/>
                  </a:lnTo>
                  <a:lnTo>
                    <a:pt x="346387" y="107972"/>
                  </a:lnTo>
                  <a:lnTo>
                    <a:pt x="341519" y="106246"/>
                  </a:lnTo>
                  <a:close/>
                </a:path>
                <a:path w="348615" h="311150">
                  <a:moveTo>
                    <a:pt x="35879" y="77611"/>
                  </a:moveTo>
                  <a:lnTo>
                    <a:pt x="33579" y="78613"/>
                  </a:lnTo>
                  <a:lnTo>
                    <a:pt x="32594" y="81117"/>
                  </a:lnTo>
                  <a:lnTo>
                    <a:pt x="32501" y="123418"/>
                  </a:lnTo>
                  <a:lnTo>
                    <a:pt x="33496" y="124883"/>
                  </a:lnTo>
                  <a:lnTo>
                    <a:pt x="153753" y="172257"/>
                  </a:lnTo>
                  <a:lnTo>
                    <a:pt x="154808" y="172257"/>
                  </a:lnTo>
                  <a:lnTo>
                    <a:pt x="175441" y="163914"/>
                  </a:lnTo>
                  <a:lnTo>
                    <a:pt x="154252" y="163914"/>
                  </a:lnTo>
                  <a:lnTo>
                    <a:pt x="40427" y="119073"/>
                  </a:lnTo>
                  <a:lnTo>
                    <a:pt x="40427" y="87922"/>
                  </a:lnTo>
                  <a:lnTo>
                    <a:pt x="62059" y="87922"/>
                  </a:lnTo>
                  <a:lnTo>
                    <a:pt x="35879" y="77611"/>
                  </a:lnTo>
                  <a:close/>
                </a:path>
                <a:path w="348615" h="311150">
                  <a:moveTo>
                    <a:pt x="323847" y="67430"/>
                  </a:moveTo>
                  <a:lnTo>
                    <a:pt x="315915" y="67430"/>
                  </a:lnTo>
                  <a:lnTo>
                    <a:pt x="315915" y="98551"/>
                  </a:lnTo>
                  <a:lnTo>
                    <a:pt x="154252" y="163914"/>
                  </a:lnTo>
                  <a:lnTo>
                    <a:pt x="175441" y="163914"/>
                  </a:lnTo>
                  <a:lnTo>
                    <a:pt x="318063" y="106246"/>
                  </a:lnTo>
                  <a:lnTo>
                    <a:pt x="341519" y="106246"/>
                  </a:lnTo>
                  <a:lnTo>
                    <a:pt x="323847" y="99979"/>
                  </a:lnTo>
                  <a:lnTo>
                    <a:pt x="323847" y="67430"/>
                  </a:lnTo>
                  <a:close/>
                </a:path>
                <a:path w="348615" h="311150">
                  <a:moveTo>
                    <a:pt x="62059" y="87922"/>
                  </a:moveTo>
                  <a:lnTo>
                    <a:pt x="40427" y="87922"/>
                  </a:lnTo>
                  <a:lnTo>
                    <a:pt x="153753" y="132575"/>
                  </a:lnTo>
                  <a:lnTo>
                    <a:pt x="154807" y="132575"/>
                  </a:lnTo>
                  <a:lnTo>
                    <a:pt x="175138" y="124354"/>
                  </a:lnTo>
                  <a:lnTo>
                    <a:pt x="154563" y="124354"/>
                  </a:lnTo>
                  <a:lnTo>
                    <a:pt x="62059" y="87922"/>
                  </a:lnTo>
                  <a:close/>
                </a:path>
                <a:path w="348615" h="311150">
                  <a:moveTo>
                    <a:pt x="229308" y="8267"/>
                  </a:moveTo>
                  <a:lnTo>
                    <a:pt x="206409" y="8267"/>
                  </a:lnTo>
                  <a:lnTo>
                    <a:pt x="328672" y="53442"/>
                  </a:lnTo>
                  <a:lnTo>
                    <a:pt x="153951" y="124354"/>
                  </a:lnTo>
                  <a:lnTo>
                    <a:pt x="175138" y="124354"/>
                  </a:lnTo>
                  <a:lnTo>
                    <a:pt x="315915" y="67430"/>
                  </a:lnTo>
                  <a:lnTo>
                    <a:pt x="323847" y="67430"/>
                  </a:lnTo>
                  <a:lnTo>
                    <a:pt x="323847" y="64176"/>
                  </a:lnTo>
                  <a:lnTo>
                    <a:pt x="343115" y="56024"/>
                  </a:lnTo>
                  <a:lnTo>
                    <a:pt x="344041" y="53696"/>
                  </a:lnTo>
                  <a:lnTo>
                    <a:pt x="342785" y="50667"/>
                  </a:lnTo>
                  <a:lnTo>
                    <a:pt x="341958" y="49880"/>
                  </a:lnTo>
                  <a:lnTo>
                    <a:pt x="229308" y="82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7232" y="3668268"/>
              <a:ext cx="594398" cy="23317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089269" y="3729355"/>
              <a:ext cx="437515" cy="76200"/>
            </a:xfrm>
            <a:custGeom>
              <a:avLst/>
              <a:gdLst/>
              <a:ahLst/>
              <a:cxnLst/>
              <a:rect l="l" t="t" r="r" b="b"/>
              <a:pathLst>
                <a:path w="437515" h="76200">
                  <a:moveTo>
                    <a:pt x="361314" y="0"/>
                  </a:moveTo>
                  <a:lnTo>
                    <a:pt x="361441" y="76200"/>
                  </a:lnTo>
                  <a:lnTo>
                    <a:pt x="412021" y="50698"/>
                  </a:lnTo>
                  <a:lnTo>
                    <a:pt x="374142" y="50698"/>
                  </a:lnTo>
                  <a:lnTo>
                    <a:pt x="374018" y="26035"/>
                  </a:lnTo>
                  <a:lnTo>
                    <a:pt x="374015" y="25298"/>
                  </a:lnTo>
                  <a:lnTo>
                    <a:pt x="412252" y="25298"/>
                  </a:lnTo>
                  <a:lnTo>
                    <a:pt x="361314" y="0"/>
                  </a:lnTo>
                  <a:close/>
                </a:path>
                <a:path w="437515" h="76200">
                  <a:moveTo>
                    <a:pt x="361357" y="25298"/>
                  </a:moveTo>
                  <a:lnTo>
                    <a:pt x="0" y="26035"/>
                  </a:lnTo>
                  <a:lnTo>
                    <a:pt x="0" y="51435"/>
                  </a:lnTo>
                  <a:lnTo>
                    <a:pt x="361399" y="50698"/>
                  </a:lnTo>
                  <a:lnTo>
                    <a:pt x="361357" y="25298"/>
                  </a:lnTo>
                  <a:close/>
                </a:path>
                <a:path w="437515" h="76200">
                  <a:moveTo>
                    <a:pt x="412252" y="25298"/>
                  </a:moveTo>
                  <a:lnTo>
                    <a:pt x="374015" y="25298"/>
                  </a:lnTo>
                  <a:lnTo>
                    <a:pt x="374018" y="26035"/>
                  </a:lnTo>
                  <a:lnTo>
                    <a:pt x="374142" y="50698"/>
                  </a:lnTo>
                  <a:lnTo>
                    <a:pt x="412021" y="50698"/>
                  </a:lnTo>
                  <a:lnTo>
                    <a:pt x="437514" y="37846"/>
                  </a:lnTo>
                  <a:lnTo>
                    <a:pt x="412252" y="2529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144" y="3668293"/>
              <a:ext cx="841273" cy="23467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61816" y="3729990"/>
              <a:ext cx="683895" cy="76200"/>
            </a:xfrm>
            <a:custGeom>
              <a:avLst/>
              <a:gdLst/>
              <a:ahLst/>
              <a:cxnLst/>
              <a:rect l="l" t="t" r="r" b="b"/>
              <a:pathLst>
                <a:path w="683895" h="76200">
                  <a:moveTo>
                    <a:pt x="607695" y="0"/>
                  </a:moveTo>
                  <a:lnTo>
                    <a:pt x="607568" y="76200"/>
                  </a:lnTo>
                  <a:lnTo>
                    <a:pt x="658452" y="50800"/>
                  </a:lnTo>
                  <a:lnTo>
                    <a:pt x="620268" y="50800"/>
                  </a:lnTo>
                  <a:lnTo>
                    <a:pt x="620395" y="25400"/>
                  </a:lnTo>
                  <a:lnTo>
                    <a:pt x="658495" y="25400"/>
                  </a:lnTo>
                  <a:lnTo>
                    <a:pt x="607695" y="0"/>
                  </a:lnTo>
                  <a:close/>
                </a:path>
                <a:path w="683895" h="76200">
                  <a:moveTo>
                    <a:pt x="0" y="24511"/>
                  </a:moveTo>
                  <a:lnTo>
                    <a:pt x="0" y="49911"/>
                  </a:lnTo>
                  <a:lnTo>
                    <a:pt x="620267" y="50800"/>
                  </a:lnTo>
                  <a:lnTo>
                    <a:pt x="607610" y="50800"/>
                  </a:lnTo>
                  <a:lnTo>
                    <a:pt x="607652" y="25400"/>
                  </a:lnTo>
                  <a:lnTo>
                    <a:pt x="620395" y="25400"/>
                  </a:lnTo>
                  <a:lnTo>
                    <a:pt x="0" y="24511"/>
                  </a:lnTo>
                  <a:close/>
                </a:path>
                <a:path w="683895" h="76200">
                  <a:moveTo>
                    <a:pt x="658495" y="25400"/>
                  </a:moveTo>
                  <a:lnTo>
                    <a:pt x="620395" y="25400"/>
                  </a:lnTo>
                  <a:lnTo>
                    <a:pt x="620268" y="50800"/>
                  </a:lnTo>
                  <a:lnTo>
                    <a:pt x="658452" y="50800"/>
                  </a:lnTo>
                  <a:lnTo>
                    <a:pt x="683895" y="38100"/>
                  </a:lnTo>
                  <a:lnTo>
                    <a:pt x="658495" y="2540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9144" y="3968508"/>
              <a:ext cx="1612391" cy="106831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861816" y="4068064"/>
              <a:ext cx="1494155" cy="911225"/>
            </a:xfrm>
            <a:custGeom>
              <a:avLst/>
              <a:gdLst/>
              <a:ahLst/>
              <a:cxnLst/>
              <a:rect l="l" t="t" r="r" b="b"/>
              <a:pathLst>
                <a:path w="1494154" h="911225">
                  <a:moveTo>
                    <a:pt x="1442974" y="885825"/>
                  </a:moveTo>
                  <a:lnTo>
                    <a:pt x="0" y="885825"/>
                  </a:lnTo>
                  <a:lnTo>
                    <a:pt x="0" y="911225"/>
                  </a:lnTo>
                  <a:lnTo>
                    <a:pt x="1462659" y="911225"/>
                  </a:lnTo>
                  <a:lnTo>
                    <a:pt x="1468374" y="905510"/>
                  </a:lnTo>
                  <a:lnTo>
                    <a:pt x="1468374" y="898525"/>
                  </a:lnTo>
                  <a:lnTo>
                    <a:pt x="1442974" y="898525"/>
                  </a:lnTo>
                  <a:lnTo>
                    <a:pt x="1442974" y="885825"/>
                  </a:lnTo>
                  <a:close/>
                </a:path>
                <a:path w="1494154" h="911225">
                  <a:moveTo>
                    <a:pt x="1468374" y="63500"/>
                  </a:moveTo>
                  <a:lnTo>
                    <a:pt x="1442974" y="63500"/>
                  </a:lnTo>
                  <a:lnTo>
                    <a:pt x="1442974" y="898525"/>
                  </a:lnTo>
                  <a:lnTo>
                    <a:pt x="1455674" y="885825"/>
                  </a:lnTo>
                  <a:lnTo>
                    <a:pt x="1468374" y="885825"/>
                  </a:lnTo>
                  <a:lnTo>
                    <a:pt x="1468374" y="63500"/>
                  </a:lnTo>
                  <a:close/>
                </a:path>
                <a:path w="1494154" h="911225">
                  <a:moveTo>
                    <a:pt x="1468374" y="885825"/>
                  </a:moveTo>
                  <a:lnTo>
                    <a:pt x="1455674" y="885825"/>
                  </a:lnTo>
                  <a:lnTo>
                    <a:pt x="1442974" y="898525"/>
                  </a:lnTo>
                  <a:lnTo>
                    <a:pt x="1468374" y="898525"/>
                  </a:lnTo>
                  <a:lnTo>
                    <a:pt x="1468374" y="885825"/>
                  </a:lnTo>
                  <a:close/>
                </a:path>
                <a:path w="1494154" h="911225">
                  <a:moveTo>
                    <a:pt x="1455674" y="0"/>
                  </a:moveTo>
                  <a:lnTo>
                    <a:pt x="1417574" y="76200"/>
                  </a:lnTo>
                  <a:lnTo>
                    <a:pt x="1442974" y="76200"/>
                  </a:lnTo>
                  <a:lnTo>
                    <a:pt x="1442974" y="63500"/>
                  </a:lnTo>
                  <a:lnTo>
                    <a:pt x="1487424" y="63500"/>
                  </a:lnTo>
                  <a:lnTo>
                    <a:pt x="1455674" y="0"/>
                  </a:lnTo>
                  <a:close/>
                </a:path>
                <a:path w="1494154" h="911225">
                  <a:moveTo>
                    <a:pt x="1487424" y="63500"/>
                  </a:moveTo>
                  <a:lnTo>
                    <a:pt x="1468374" y="63500"/>
                  </a:lnTo>
                  <a:lnTo>
                    <a:pt x="1468374" y="76200"/>
                  </a:lnTo>
                  <a:lnTo>
                    <a:pt x="1493774" y="76200"/>
                  </a:lnTo>
                  <a:lnTo>
                    <a:pt x="1487424" y="6350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81122" y="3097250"/>
              <a:ext cx="981075" cy="370205"/>
            </a:xfrm>
            <a:custGeom>
              <a:avLst/>
              <a:gdLst/>
              <a:ahLst/>
              <a:cxnLst/>
              <a:rect l="l" t="t" r="r" b="b"/>
              <a:pathLst>
                <a:path w="981075" h="370204">
                  <a:moveTo>
                    <a:pt x="980681" y="0"/>
                  </a:moveTo>
                  <a:lnTo>
                    <a:pt x="0" y="0"/>
                  </a:lnTo>
                  <a:lnTo>
                    <a:pt x="0" y="370103"/>
                  </a:lnTo>
                  <a:lnTo>
                    <a:pt x="980681" y="370103"/>
                  </a:lnTo>
                  <a:lnTo>
                    <a:pt x="980681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102355" y="3061461"/>
            <a:ext cx="626110" cy="40132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39370">
              <a:lnSpc>
                <a:spcPts val="1400"/>
              </a:lnSpc>
              <a:spcBef>
                <a:spcPts val="275"/>
              </a:spcBef>
            </a:pPr>
            <a:r>
              <a:rPr sz="1300" b="1" spc="-10" dirty="0">
                <a:solidFill>
                  <a:srgbClr val="0F243E"/>
                </a:solidFill>
                <a:latin typeface="Calibri"/>
                <a:cs typeface="Calibri"/>
              </a:rPr>
              <a:t>Manual observer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80286" y="2748026"/>
            <a:ext cx="9128760" cy="2353310"/>
            <a:chOff x="1280286" y="2748026"/>
            <a:chExt cx="9128760" cy="2353310"/>
          </a:xfrm>
        </p:grpSpPr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9144" y="3247682"/>
              <a:ext cx="1612391" cy="35505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861816" y="3269615"/>
              <a:ext cx="1494155" cy="198755"/>
            </a:xfrm>
            <a:custGeom>
              <a:avLst/>
              <a:gdLst/>
              <a:ahLst/>
              <a:cxnLst/>
              <a:rect l="l" t="t" r="r" b="b"/>
              <a:pathLst>
                <a:path w="1494154" h="198754">
                  <a:moveTo>
                    <a:pt x="762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494154" h="198754">
                  <a:moveTo>
                    <a:pt x="177800" y="0"/>
                  </a:moveTo>
                  <a:lnTo>
                    <a:pt x="101600" y="0"/>
                  </a:lnTo>
                  <a:lnTo>
                    <a:pt x="101600" y="25400"/>
                  </a:lnTo>
                  <a:lnTo>
                    <a:pt x="177800" y="25400"/>
                  </a:lnTo>
                  <a:lnTo>
                    <a:pt x="177800" y="0"/>
                  </a:lnTo>
                  <a:close/>
                </a:path>
                <a:path w="1494154" h="198754">
                  <a:moveTo>
                    <a:pt x="279400" y="0"/>
                  </a:moveTo>
                  <a:lnTo>
                    <a:pt x="203200" y="0"/>
                  </a:lnTo>
                  <a:lnTo>
                    <a:pt x="203200" y="25400"/>
                  </a:lnTo>
                  <a:lnTo>
                    <a:pt x="279400" y="25400"/>
                  </a:lnTo>
                  <a:lnTo>
                    <a:pt x="279400" y="0"/>
                  </a:lnTo>
                  <a:close/>
                </a:path>
                <a:path w="1494154" h="198754">
                  <a:moveTo>
                    <a:pt x="381000" y="0"/>
                  </a:moveTo>
                  <a:lnTo>
                    <a:pt x="304800" y="0"/>
                  </a:lnTo>
                  <a:lnTo>
                    <a:pt x="304800" y="25400"/>
                  </a:lnTo>
                  <a:lnTo>
                    <a:pt x="381000" y="25400"/>
                  </a:lnTo>
                  <a:lnTo>
                    <a:pt x="381000" y="0"/>
                  </a:lnTo>
                  <a:close/>
                </a:path>
                <a:path w="1494154" h="198754">
                  <a:moveTo>
                    <a:pt x="48260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482600" y="25400"/>
                  </a:lnTo>
                  <a:lnTo>
                    <a:pt x="482600" y="0"/>
                  </a:lnTo>
                  <a:close/>
                </a:path>
                <a:path w="1494154" h="198754">
                  <a:moveTo>
                    <a:pt x="58420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584200" y="25400"/>
                  </a:lnTo>
                  <a:lnTo>
                    <a:pt x="584200" y="0"/>
                  </a:lnTo>
                  <a:close/>
                </a:path>
                <a:path w="1494154" h="198754">
                  <a:moveTo>
                    <a:pt x="685800" y="0"/>
                  </a:moveTo>
                  <a:lnTo>
                    <a:pt x="609600" y="0"/>
                  </a:lnTo>
                  <a:lnTo>
                    <a:pt x="609600" y="25400"/>
                  </a:lnTo>
                  <a:lnTo>
                    <a:pt x="685800" y="25400"/>
                  </a:lnTo>
                  <a:lnTo>
                    <a:pt x="685800" y="0"/>
                  </a:lnTo>
                  <a:close/>
                </a:path>
                <a:path w="1494154" h="198754">
                  <a:moveTo>
                    <a:pt x="787400" y="0"/>
                  </a:moveTo>
                  <a:lnTo>
                    <a:pt x="711200" y="0"/>
                  </a:lnTo>
                  <a:lnTo>
                    <a:pt x="711200" y="25400"/>
                  </a:lnTo>
                  <a:lnTo>
                    <a:pt x="787400" y="25400"/>
                  </a:lnTo>
                  <a:lnTo>
                    <a:pt x="787400" y="0"/>
                  </a:lnTo>
                  <a:close/>
                </a:path>
                <a:path w="1494154" h="198754">
                  <a:moveTo>
                    <a:pt x="889000" y="0"/>
                  </a:moveTo>
                  <a:lnTo>
                    <a:pt x="812800" y="0"/>
                  </a:lnTo>
                  <a:lnTo>
                    <a:pt x="812800" y="25400"/>
                  </a:lnTo>
                  <a:lnTo>
                    <a:pt x="889000" y="25400"/>
                  </a:lnTo>
                  <a:lnTo>
                    <a:pt x="889000" y="0"/>
                  </a:lnTo>
                  <a:close/>
                </a:path>
                <a:path w="1494154" h="198754">
                  <a:moveTo>
                    <a:pt x="990600" y="0"/>
                  </a:moveTo>
                  <a:lnTo>
                    <a:pt x="914400" y="0"/>
                  </a:lnTo>
                  <a:lnTo>
                    <a:pt x="914400" y="25400"/>
                  </a:lnTo>
                  <a:lnTo>
                    <a:pt x="990600" y="25400"/>
                  </a:lnTo>
                  <a:lnTo>
                    <a:pt x="990600" y="0"/>
                  </a:lnTo>
                  <a:close/>
                </a:path>
                <a:path w="1494154" h="198754">
                  <a:moveTo>
                    <a:pt x="1092200" y="0"/>
                  </a:moveTo>
                  <a:lnTo>
                    <a:pt x="1016000" y="0"/>
                  </a:lnTo>
                  <a:lnTo>
                    <a:pt x="1016000" y="25400"/>
                  </a:lnTo>
                  <a:lnTo>
                    <a:pt x="1092200" y="25400"/>
                  </a:lnTo>
                  <a:lnTo>
                    <a:pt x="1092200" y="0"/>
                  </a:lnTo>
                  <a:close/>
                </a:path>
                <a:path w="1494154" h="198754">
                  <a:moveTo>
                    <a:pt x="1193800" y="0"/>
                  </a:moveTo>
                  <a:lnTo>
                    <a:pt x="1117600" y="0"/>
                  </a:lnTo>
                  <a:lnTo>
                    <a:pt x="1117600" y="25400"/>
                  </a:lnTo>
                  <a:lnTo>
                    <a:pt x="1193800" y="25400"/>
                  </a:lnTo>
                  <a:lnTo>
                    <a:pt x="1193800" y="0"/>
                  </a:lnTo>
                  <a:close/>
                </a:path>
                <a:path w="1494154" h="198754">
                  <a:moveTo>
                    <a:pt x="1295400" y="0"/>
                  </a:moveTo>
                  <a:lnTo>
                    <a:pt x="1219200" y="0"/>
                  </a:lnTo>
                  <a:lnTo>
                    <a:pt x="1219200" y="25400"/>
                  </a:lnTo>
                  <a:lnTo>
                    <a:pt x="1295400" y="25400"/>
                  </a:lnTo>
                  <a:lnTo>
                    <a:pt x="1295400" y="0"/>
                  </a:lnTo>
                  <a:close/>
                </a:path>
                <a:path w="1494154" h="198754">
                  <a:moveTo>
                    <a:pt x="1397000" y="0"/>
                  </a:moveTo>
                  <a:lnTo>
                    <a:pt x="1320800" y="0"/>
                  </a:lnTo>
                  <a:lnTo>
                    <a:pt x="1320800" y="25400"/>
                  </a:lnTo>
                  <a:lnTo>
                    <a:pt x="1397000" y="25400"/>
                  </a:lnTo>
                  <a:lnTo>
                    <a:pt x="1397000" y="0"/>
                  </a:lnTo>
                  <a:close/>
                </a:path>
                <a:path w="1494154" h="198754">
                  <a:moveTo>
                    <a:pt x="1442974" y="12700"/>
                  </a:moveTo>
                  <a:lnTo>
                    <a:pt x="1442974" y="55625"/>
                  </a:lnTo>
                  <a:lnTo>
                    <a:pt x="1468374" y="55625"/>
                  </a:lnTo>
                  <a:lnTo>
                    <a:pt x="1468374" y="25400"/>
                  </a:lnTo>
                  <a:lnTo>
                    <a:pt x="1455674" y="25400"/>
                  </a:lnTo>
                  <a:lnTo>
                    <a:pt x="1442974" y="12700"/>
                  </a:lnTo>
                  <a:close/>
                </a:path>
                <a:path w="1494154" h="198754">
                  <a:moveTo>
                    <a:pt x="1462659" y="0"/>
                  </a:moveTo>
                  <a:lnTo>
                    <a:pt x="1422400" y="0"/>
                  </a:lnTo>
                  <a:lnTo>
                    <a:pt x="1422400" y="25400"/>
                  </a:lnTo>
                  <a:lnTo>
                    <a:pt x="1442974" y="25400"/>
                  </a:lnTo>
                  <a:lnTo>
                    <a:pt x="1442974" y="12700"/>
                  </a:lnTo>
                  <a:lnTo>
                    <a:pt x="1468374" y="12700"/>
                  </a:lnTo>
                  <a:lnTo>
                    <a:pt x="1468374" y="5714"/>
                  </a:lnTo>
                  <a:lnTo>
                    <a:pt x="1462659" y="0"/>
                  </a:lnTo>
                  <a:close/>
                </a:path>
                <a:path w="1494154" h="198754">
                  <a:moveTo>
                    <a:pt x="1468374" y="12700"/>
                  </a:moveTo>
                  <a:lnTo>
                    <a:pt x="1442974" y="12700"/>
                  </a:lnTo>
                  <a:lnTo>
                    <a:pt x="1455674" y="25400"/>
                  </a:lnTo>
                  <a:lnTo>
                    <a:pt x="1468374" y="25400"/>
                  </a:lnTo>
                  <a:lnTo>
                    <a:pt x="1468374" y="12700"/>
                  </a:lnTo>
                  <a:close/>
                </a:path>
                <a:path w="1494154" h="198754">
                  <a:moveTo>
                    <a:pt x="1442974" y="122427"/>
                  </a:moveTo>
                  <a:lnTo>
                    <a:pt x="1417574" y="122427"/>
                  </a:lnTo>
                  <a:lnTo>
                    <a:pt x="1455674" y="198627"/>
                  </a:lnTo>
                  <a:lnTo>
                    <a:pt x="1487424" y="135127"/>
                  </a:lnTo>
                  <a:lnTo>
                    <a:pt x="1442974" y="135127"/>
                  </a:lnTo>
                  <a:lnTo>
                    <a:pt x="1442974" y="122427"/>
                  </a:lnTo>
                  <a:close/>
                </a:path>
                <a:path w="1494154" h="198754">
                  <a:moveTo>
                    <a:pt x="1468374" y="81025"/>
                  </a:moveTo>
                  <a:lnTo>
                    <a:pt x="1442974" y="81025"/>
                  </a:lnTo>
                  <a:lnTo>
                    <a:pt x="1442974" y="135127"/>
                  </a:lnTo>
                  <a:lnTo>
                    <a:pt x="1468374" y="135127"/>
                  </a:lnTo>
                  <a:lnTo>
                    <a:pt x="1468374" y="81025"/>
                  </a:lnTo>
                  <a:close/>
                </a:path>
                <a:path w="1494154" h="198754">
                  <a:moveTo>
                    <a:pt x="1493774" y="122427"/>
                  </a:moveTo>
                  <a:lnTo>
                    <a:pt x="1468374" y="122427"/>
                  </a:lnTo>
                  <a:lnTo>
                    <a:pt x="1468374" y="135127"/>
                  </a:lnTo>
                  <a:lnTo>
                    <a:pt x="1487424" y="135127"/>
                  </a:lnTo>
                  <a:lnTo>
                    <a:pt x="1493774" y="12242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75747" y="3895344"/>
              <a:ext cx="233172" cy="5715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256901" y="3994658"/>
              <a:ext cx="76835" cy="414020"/>
            </a:xfrm>
            <a:custGeom>
              <a:avLst/>
              <a:gdLst/>
              <a:ahLst/>
              <a:cxnLst/>
              <a:rect l="l" t="t" r="r" b="b"/>
              <a:pathLst>
                <a:path w="76834" h="414020">
                  <a:moveTo>
                    <a:pt x="50800" y="63500"/>
                  </a:moveTo>
                  <a:lnTo>
                    <a:pt x="25400" y="63627"/>
                  </a:lnTo>
                  <a:lnTo>
                    <a:pt x="27177" y="413893"/>
                  </a:lnTo>
                  <a:lnTo>
                    <a:pt x="52578" y="413893"/>
                  </a:lnTo>
                  <a:lnTo>
                    <a:pt x="50865" y="76454"/>
                  </a:lnTo>
                  <a:lnTo>
                    <a:pt x="50800" y="63500"/>
                  </a:lnTo>
                  <a:close/>
                </a:path>
                <a:path w="76834" h="414020">
                  <a:moveTo>
                    <a:pt x="37719" y="0"/>
                  </a:moveTo>
                  <a:lnTo>
                    <a:pt x="62" y="76326"/>
                  </a:lnTo>
                  <a:lnTo>
                    <a:pt x="0" y="76454"/>
                  </a:lnTo>
                  <a:lnTo>
                    <a:pt x="25464" y="76326"/>
                  </a:lnTo>
                  <a:lnTo>
                    <a:pt x="25400" y="63627"/>
                  </a:lnTo>
                  <a:lnTo>
                    <a:pt x="69840" y="63500"/>
                  </a:lnTo>
                  <a:lnTo>
                    <a:pt x="37719" y="0"/>
                  </a:lnTo>
                  <a:close/>
                </a:path>
                <a:path w="76834" h="414020">
                  <a:moveTo>
                    <a:pt x="69840" y="63500"/>
                  </a:moveTo>
                  <a:lnTo>
                    <a:pt x="50800" y="63500"/>
                  </a:lnTo>
                  <a:lnTo>
                    <a:pt x="50865" y="76326"/>
                  </a:lnTo>
                  <a:lnTo>
                    <a:pt x="76328" y="76326"/>
                  </a:lnTo>
                  <a:lnTo>
                    <a:pt x="69904" y="63627"/>
                  </a:lnTo>
                  <a:lnTo>
                    <a:pt x="69840" y="6350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75747" y="3116554"/>
              <a:ext cx="233172" cy="55933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257028" y="3139313"/>
              <a:ext cx="76200" cy="402590"/>
            </a:xfrm>
            <a:custGeom>
              <a:avLst/>
              <a:gdLst/>
              <a:ahLst/>
              <a:cxnLst/>
              <a:rect l="l" t="t" r="r" b="b"/>
              <a:pathLst>
                <a:path w="76200" h="402589">
                  <a:moveTo>
                    <a:pt x="0" y="325754"/>
                  </a:moveTo>
                  <a:lnTo>
                    <a:pt x="37592" y="402209"/>
                  </a:lnTo>
                  <a:lnTo>
                    <a:pt x="69872" y="338709"/>
                  </a:lnTo>
                  <a:lnTo>
                    <a:pt x="25272" y="338709"/>
                  </a:lnTo>
                  <a:lnTo>
                    <a:pt x="25339" y="325923"/>
                  </a:lnTo>
                  <a:lnTo>
                    <a:pt x="0" y="325754"/>
                  </a:lnTo>
                  <a:close/>
                </a:path>
                <a:path w="76200" h="402589">
                  <a:moveTo>
                    <a:pt x="25339" y="325923"/>
                  </a:moveTo>
                  <a:lnTo>
                    <a:pt x="25272" y="338709"/>
                  </a:lnTo>
                  <a:lnTo>
                    <a:pt x="50673" y="338709"/>
                  </a:lnTo>
                  <a:lnTo>
                    <a:pt x="50739" y="326093"/>
                  </a:lnTo>
                  <a:lnTo>
                    <a:pt x="25339" y="325923"/>
                  </a:lnTo>
                  <a:close/>
                </a:path>
                <a:path w="76200" h="402589">
                  <a:moveTo>
                    <a:pt x="50739" y="326093"/>
                  </a:moveTo>
                  <a:lnTo>
                    <a:pt x="50673" y="338709"/>
                  </a:lnTo>
                  <a:lnTo>
                    <a:pt x="69872" y="338709"/>
                  </a:lnTo>
                  <a:lnTo>
                    <a:pt x="76200" y="326263"/>
                  </a:lnTo>
                  <a:lnTo>
                    <a:pt x="50739" y="326093"/>
                  </a:lnTo>
                  <a:close/>
                </a:path>
                <a:path w="76200" h="402589">
                  <a:moveTo>
                    <a:pt x="52450" y="0"/>
                  </a:moveTo>
                  <a:lnTo>
                    <a:pt x="27050" y="0"/>
                  </a:lnTo>
                  <a:lnTo>
                    <a:pt x="25340" y="325754"/>
                  </a:lnTo>
                  <a:lnTo>
                    <a:pt x="25339" y="325923"/>
                  </a:lnTo>
                  <a:lnTo>
                    <a:pt x="50739" y="326093"/>
                  </a:lnTo>
                  <a:lnTo>
                    <a:pt x="5245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0286" y="2748026"/>
              <a:ext cx="1001636" cy="137185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96895" y="3732276"/>
              <a:ext cx="493814" cy="136855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39822" y="3754501"/>
              <a:ext cx="335915" cy="1250315"/>
            </a:xfrm>
            <a:custGeom>
              <a:avLst/>
              <a:gdLst/>
              <a:ahLst/>
              <a:cxnLst/>
              <a:rect l="l" t="t" r="r" b="b"/>
              <a:pathLst>
                <a:path w="335914" h="1250314">
                  <a:moveTo>
                    <a:pt x="259460" y="1173988"/>
                  </a:moveTo>
                  <a:lnTo>
                    <a:pt x="259460" y="1250188"/>
                  </a:lnTo>
                  <a:lnTo>
                    <a:pt x="310260" y="1224788"/>
                  </a:lnTo>
                  <a:lnTo>
                    <a:pt x="272160" y="1224788"/>
                  </a:lnTo>
                  <a:lnTo>
                    <a:pt x="272160" y="1199388"/>
                  </a:lnTo>
                  <a:lnTo>
                    <a:pt x="310260" y="1199388"/>
                  </a:lnTo>
                  <a:lnTo>
                    <a:pt x="259460" y="1173988"/>
                  </a:lnTo>
                  <a:close/>
                </a:path>
                <a:path w="335914" h="1250314">
                  <a:moveTo>
                    <a:pt x="241300" y="0"/>
                  </a:moveTo>
                  <a:lnTo>
                    <a:pt x="5714" y="0"/>
                  </a:lnTo>
                  <a:lnTo>
                    <a:pt x="0" y="5715"/>
                  </a:lnTo>
                  <a:lnTo>
                    <a:pt x="0" y="1219073"/>
                  </a:lnTo>
                  <a:lnTo>
                    <a:pt x="5714" y="1224788"/>
                  </a:lnTo>
                  <a:lnTo>
                    <a:pt x="259460" y="1224788"/>
                  </a:lnTo>
                  <a:lnTo>
                    <a:pt x="259460" y="1212088"/>
                  </a:lnTo>
                  <a:lnTo>
                    <a:pt x="25400" y="1212088"/>
                  </a:lnTo>
                  <a:lnTo>
                    <a:pt x="12700" y="1199388"/>
                  </a:lnTo>
                  <a:lnTo>
                    <a:pt x="25400" y="1199388"/>
                  </a:lnTo>
                  <a:lnTo>
                    <a:pt x="25400" y="25400"/>
                  </a:lnTo>
                  <a:lnTo>
                    <a:pt x="12700" y="25400"/>
                  </a:lnTo>
                  <a:lnTo>
                    <a:pt x="25400" y="12700"/>
                  </a:lnTo>
                  <a:lnTo>
                    <a:pt x="241300" y="12700"/>
                  </a:lnTo>
                  <a:lnTo>
                    <a:pt x="241300" y="0"/>
                  </a:lnTo>
                  <a:close/>
                </a:path>
                <a:path w="335914" h="1250314">
                  <a:moveTo>
                    <a:pt x="310260" y="1199388"/>
                  </a:moveTo>
                  <a:lnTo>
                    <a:pt x="272160" y="1199388"/>
                  </a:lnTo>
                  <a:lnTo>
                    <a:pt x="272160" y="1224788"/>
                  </a:lnTo>
                  <a:lnTo>
                    <a:pt x="310260" y="1224788"/>
                  </a:lnTo>
                  <a:lnTo>
                    <a:pt x="335660" y="1212088"/>
                  </a:lnTo>
                  <a:lnTo>
                    <a:pt x="310260" y="1199388"/>
                  </a:lnTo>
                  <a:close/>
                </a:path>
                <a:path w="335914" h="1250314">
                  <a:moveTo>
                    <a:pt x="25400" y="1199388"/>
                  </a:moveTo>
                  <a:lnTo>
                    <a:pt x="12700" y="1199388"/>
                  </a:lnTo>
                  <a:lnTo>
                    <a:pt x="25400" y="1212088"/>
                  </a:lnTo>
                  <a:lnTo>
                    <a:pt x="25400" y="1199388"/>
                  </a:lnTo>
                  <a:close/>
                </a:path>
                <a:path w="335914" h="1250314">
                  <a:moveTo>
                    <a:pt x="259460" y="1199388"/>
                  </a:moveTo>
                  <a:lnTo>
                    <a:pt x="25400" y="1199388"/>
                  </a:lnTo>
                  <a:lnTo>
                    <a:pt x="25400" y="1212088"/>
                  </a:lnTo>
                  <a:lnTo>
                    <a:pt x="259460" y="1212088"/>
                  </a:lnTo>
                  <a:lnTo>
                    <a:pt x="259460" y="1199388"/>
                  </a:lnTo>
                  <a:close/>
                </a:path>
                <a:path w="335914" h="1250314">
                  <a:moveTo>
                    <a:pt x="25400" y="12700"/>
                  </a:moveTo>
                  <a:lnTo>
                    <a:pt x="12700" y="25400"/>
                  </a:lnTo>
                  <a:lnTo>
                    <a:pt x="25400" y="25400"/>
                  </a:lnTo>
                  <a:lnTo>
                    <a:pt x="25400" y="12700"/>
                  </a:lnTo>
                  <a:close/>
                </a:path>
                <a:path w="335914" h="1250314">
                  <a:moveTo>
                    <a:pt x="241300" y="12700"/>
                  </a:moveTo>
                  <a:lnTo>
                    <a:pt x="25400" y="12700"/>
                  </a:lnTo>
                  <a:lnTo>
                    <a:pt x="25400" y="25400"/>
                  </a:lnTo>
                  <a:lnTo>
                    <a:pt x="241300" y="25400"/>
                  </a:lnTo>
                  <a:lnTo>
                    <a:pt x="241300" y="1270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3043" y="2881884"/>
              <a:ext cx="929627" cy="101955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472169" y="2904236"/>
              <a:ext cx="772795" cy="862965"/>
            </a:xfrm>
            <a:custGeom>
              <a:avLst/>
              <a:gdLst/>
              <a:ahLst/>
              <a:cxnLst/>
              <a:rect l="l" t="t" r="r" b="b"/>
              <a:pathLst>
                <a:path w="772795" h="862964">
                  <a:moveTo>
                    <a:pt x="22351" y="780795"/>
                  </a:moveTo>
                  <a:lnTo>
                    <a:pt x="0" y="862964"/>
                  </a:lnTo>
                  <a:lnTo>
                    <a:pt x="79248" y="831595"/>
                  </a:lnTo>
                  <a:lnTo>
                    <a:pt x="70855" y="824102"/>
                  </a:lnTo>
                  <a:lnTo>
                    <a:pt x="51815" y="824102"/>
                  </a:lnTo>
                  <a:lnTo>
                    <a:pt x="32893" y="807212"/>
                  </a:lnTo>
                  <a:lnTo>
                    <a:pt x="41341" y="797751"/>
                  </a:lnTo>
                  <a:lnTo>
                    <a:pt x="22351" y="780795"/>
                  </a:lnTo>
                  <a:close/>
                </a:path>
                <a:path w="772795" h="862964">
                  <a:moveTo>
                    <a:pt x="41341" y="797751"/>
                  </a:moveTo>
                  <a:lnTo>
                    <a:pt x="32893" y="807212"/>
                  </a:lnTo>
                  <a:lnTo>
                    <a:pt x="51815" y="824102"/>
                  </a:lnTo>
                  <a:lnTo>
                    <a:pt x="60262" y="814644"/>
                  </a:lnTo>
                  <a:lnTo>
                    <a:pt x="41341" y="797751"/>
                  </a:lnTo>
                  <a:close/>
                </a:path>
                <a:path w="772795" h="862964">
                  <a:moveTo>
                    <a:pt x="60262" y="814644"/>
                  </a:moveTo>
                  <a:lnTo>
                    <a:pt x="51815" y="824102"/>
                  </a:lnTo>
                  <a:lnTo>
                    <a:pt x="70855" y="824102"/>
                  </a:lnTo>
                  <a:lnTo>
                    <a:pt x="60262" y="814644"/>
                  </a:lnTo>
                  <a:close/>
                </a:path>
                <a:path w="772795" h="862964">
                  <a:moveTo>
                    <a:pt x="753745" y="0"/>
                  </a:moveTo>
                  <a:lnTo>
                    <a:pt x="41341" y="797751"/>
                  </a:lnTo>
                  <a:lnTo>
                    <a:pt x="60262" y="814644"/>
                  </a:lnTo>
                  <a:lnTo>
                    <a:pt x="772668" y="16890"/>
                  </a:lnTo>
                  <a:lnTo>
                    <a:pt x="753745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53043" y="3668242"/>
              <a:ext cx="929627" cy="103329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472169" y="3767201"/>
              <a:ext cx="772795" cy="876300"/>
            </a:xfrm>
            <a:custGeom>
              <a:avLst/>
              <a:gdLst/>
              <a:ahLst/>
              <a:cxnLst/>
              <a:rect l="l" t="t" r="r" b="b"/>
              <a:pathLst>
                <a:path w="772795" h="876300">
                  <a:moveTo>
                    <a:pt x="59924" y="48875"/>
                  </a:moveTo>
                  <a:lnTo>
                    <a:pt x="40784" y="65680"/>
                  </a:lnTo>
                  <a:lnTo>
                    <a:pt x="753618" y="875919"/>
                  </a:lnTo>
                  <a:lnTo>
                    <a:pt x="772795" y="859155"/>
                  </a:lnTo>
                  <a:lnTo>
                    <a:pt x="59924" y="48875"/>
                  </a:lnTo>
                  <a:close/>
                </a:path>
                <a:path w="772795" h="876300">
                  <a:moveTo>
                    <a:pt x="0" y="0"/>
                  </a:moveTo>
                  <a:lnTo>
                    <a:pt x="21716" y="82423"/>
                  </a:lnTo>
                  <a:lnTo>
                    <a:pt x="40784" y="65680"/>
                  </a:lnTo>
                  <a:lnTo>
                    <a:pt x="32384" y="56134"/>
                  </a:lnTo>
                  <a:lnTo>
                    <a:pt x="51561" y="39369"/>
                  </a:lnTo>
                  <a:lnTo>
                    <a:pt x="70749" y="39369"/>
                  </a:lnTo>
                  <a:lnTo>
                    <a:pt x="78994" y="32131"/>
                  </a:lnTo>
                  <a:lnTo>
                    <a:pt x="0" y="0"/>
                  </a:lnTo>
                  <a:close/>
                </a:path>
                <a:path w="772795" h="876300">
                  <a:moveTo>
                    <a:pt x="51561" y="39369"/>
                  </a:moveTo>
                  <a:lnTo>
                    <a:pt x="32384" y="56134"/>
                  </a:lnTo>
                  <a:lnTo>
                    <a:pt x="40784" y="65680"/>
                  </a:lnTo>
                  <a:lnTo>
                    <a:pt x="59924" y="48875"/>
                  </a:lnTo>
                  <a:lnTo>
                    <a:pt x="51561" y="39369"/>
                  </a:lnTo>
                  <a:close/>
                </a:path>
                <a:path w="772795" h="876300">
                  <a:moveTo>
                    <a:pt x="70749" y="39369"/>
                  </a:moveTo>
                  <a:lnTo>
                    <a:pt x="51561" y="39369"/>
                  </a:lnTo>
                  <a:lnTo>
                    <a:pt x="59924" y="48875"/>
                  </a:lnTo>
                  <a:lnTo>
                    <a:pt x="70749" y="393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715247" y="3586988"/>
            <a:ext cx="3829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solidFill>
                  <a:srgbClr val="943735"/>
                </a:solidFill>
                <a:latin typeface="Calibri"/>
                <a:cs typeface="Calibri"/>
              </a:rPr>
              <a:t>MQTT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493519" y="3019005"/>
            <a:ext cx="9211310" cy="2790825"/>
            <a:chOff x="1493519" y="3019005"/>
            <a:chExt cx="9211310" cy="2790825"/>
          </a:xfrm>
        </p:grpSpPr>
        <p:sp>
          <p:nvSpPr>
            <p:cNvPr id="63" name="object 63"/>
            <p:cNvSpPr/>
            <p:nvPr/>
          </p:nvSpPr>
          <p:spPr>
            <a:xfrm>
              <a:off x="8637015" y="3160394"/>
              <a:ext cx="234950" cy="255270"/>
            </a:xfrm>
            <a:custGeom>
              <a:avLst/>
              <a:gdLst/>
              <a:ahLst/>
              <a:cxnLst/>
              <a:rect l="l" t="t" r="r" b="b"/>
              <a:pathLst>
                <a:path w="234950" h="255270">
                  <a:moveTo>
                    <a:pt x="12573" y="182371"/>
                  </a:moveTo>
                  <a:lnTo>
                    <a:pt x="11175" y="182371"/>
                  </a:lnTo>
                  <a:lnTo>
                    <a:pt x="10540" y="182625"/>
                  </a:lnTo>
                  <a:lnTo>
                    <a:pt x="4952" y="187197"/>
                  </a:lnTo>
                  <a:lnTo>
                    <a:pt x="3682" y="188340"/>
                  </a:lnTo>
                  <a:lnTo>
                    <a:pt x="2666" y="189483"/>
                  </a:lnTo>
                  <a:lnTo>
                    <a:pt x="2031" y="190372"/>
                  </a:lnTo>
                  <a:lnTo>
                    <a:pt x="1269" y="191262"/>
                  </a:lnTo>
                  <a:lnTo>
                    <a:pt x="761" y="192024"/>
                  </a:lnTo>
                  <a:lnTo>
                    <a:pt x="380" y="192785"/>
                  </a:lnTo>
                  <a:lnTo>
                    <a:pt x="126" y="193420"/>
                  </a:lnTo>
                  <a:lnTo>
                    <a:pt x="0" y="194817"/>
                  </a:lnTo>
                  <a:lnTo>
                    <a:pt x="507" y="195579"/>
                  </a:lnTo>
                  <a:lnTo>
                    <a:pt x="59689" y="254762"/>
                  </a:lnTo>
                  <a:lnTo>
                    <a:pt x="60451" y="255269"/>
                  </a:lnTo>
                  <a:lnTo>
                    <a:pt x="61975" y="255269"/>
                  </a:lnTo>
                  <a:lnTo>
                    <a:pt x="73025" y="244220"/>
                  </a:lnTo>
                  <a:lnTo>
                    <a:pt x="73025" y="242696"/>
                  </a:lnTo>
                  <a:lnTo>
                    <a:pt x="72770" y="242315"/>
                  </a:lnTo>
                  <a:lnTo>
                    <a:pt x="72389" y="242062"/>
                  </a:lnTo>
                  <a:lnTo>
                    <a:pt x="47116" y="216662"/>
                  </a:lnTo>
                  <a:lnTo>
                    <a:pt x="57970" y="205866"/>
                  </a:lnTo>
                  <a:lnTo>
                    <a:pt x="36322" y="205866"/>
                  </a:lnTo>
                  <a:lnTo>
                    <a:pt x="13080" y="182625"/>
                  </a:lnTo>
                  <a:lnTo>
                    <a:pt x="13334" y="182625"/>
                  </a:lnTo>
                  <a:lnTo>
                    <a:pt x="12573" y="182371"/>
                  </a:lnTo>
                  <a:close/>
                </a:path>
                <a:path w="234950" h="255270">
                  <a:moveTo>
                    <a:pt x="96138" y="193420"/>
                  </a:moveTo>
                  <a:lnTo>
                    <a:pt x="70738" y="193420"/>
                  </a:lnTo>
                  <a:lnTo>
                    <a:pt x="95249" y="217931"/>
                  </a:lnTo>
                  <a:lnTo>
                    <a:pt x="95969" y="218693"/>
                  </a:lnTo>
                  <a:lnTo>
                    <a:pt x="96138" y="218947"/>
                  </a:lnTo>
                  <a:lnTo>
                    <a:pt x="96647" y="219075"/>
                  </a:lnTo>
                  <a:lnTo>
                    <a:pt x="98043" y="219075"/>
                  </a:lnTo>
                  <a:lnTo>
                    <a:pt x="98678" y="218693"/>
                  </a:lnTo>
                  <a:lnTo>
                    <a:pt x="98932" y="218693"/>
                  </a:lnTo>
                  <a:lnTo>
                    <a:pt x="100075" y="217931"/>
                  </a:lnTo>
                  <a:lnTo>
                    <a:pt x="101091" y="217169"/>
                  </a:lnTo>
                  <a:lnTo>
                    <a:pt x="101980" y="216534"/>
                  </a:lnTo>
                  <a:lnTo>
                    <a:pt x="106552" y="211962"/>
                  </a:lnTo>
                  <a:lnTo>
                    <a:pt x="107187" y="211074"/>
                  </a:lnTo>
                  <a:lnTo>
                    <a:pt x="107950" y="210184"/>
                  </a:lnTo>
                  <a:lnTo>
                    <a:pt x="108457" y="209295"/>
                  </a:lnTo>
                  <a:lnTo>
                    <a:pt x="108711" y="208660"/>
                  </a:lnTo>
                  <a:lnTo>
                    <a:pt x="109092" y="208025"/>
                  </a:lnTo>
                  <a:lnTo>
                    <a:pt x="108965" y="206120"/>
                  </a:lnTo>
                  <a:lnTo>
                    <a:pt x="108584" y="205866"/>
                  </a:lnTo>
                  <a:lnTo>
                    <a:pt x="96138" y="193420"/>
                  </a:lnTo>
                  <a:close/>
                </a:path>
                <a:path w="234950" h="255270">
                  <a:moveTo>
                    <a:pt x="85344" y="182625"/>
                  </a:moveTo>
                  <a:lnTo>
                    <a:pt x="59437" y="182625"/>
                  </a:lnTo>
                  <a:lnTo>
                    <a:pt x="36322" y="205866"/>
                  </a:lnTo>
                  <a:lnTo>
                    <a:pt x="57970" y="205866"/>
                  </a:lnTo>
                  <a:lnTo>
                    <a:pt x="70484" y="193420"/>
                  </a:lnTo>
                  <a:lnTo>
                    <a:pt x="96138" y="193420"/>
                  </a:lnTo>
                  <a:lnTo>
                    <a:pt x="85344" y="182625"/>
                  </a:lnTo>
                  <a:close/>
                </a:path>
                <a:path w="234950" h="255270">
                  <a:moveTo>
                    <a:pt x="59689" y="182371"/>
                  </a:moveTo>
                  <a:lnTo>
                    <a:pt x="12826" y="182371"/>
                  </a:lnTo>
                  <a:lnTo>
                    <a:pt x="13080" y="182625"/>
                  </a:lnTo>
                  <a:lnTo>
                    <a:pt x="59437" y="182625"/>
                  </a:lnTo>
                  <a:lnTo>
                    <a:pt x="59689" y="182371"/>
                  </a:lnTo>
                  <a:close/>
                </a:path>
                <a:path w="234950" h="255270">
                  <a:moveTo>
                    <a:pt x="49402" y="146684"/>
                  </a:moveTo>
                  <a:lnTo>
                    <a:pt x="46291" y="146684"/>
                  </a:lnTo>
                  <a:lnTo>
                    <a:pt x="45974" y="146812"/>
                  </a:lnTo>
                  <a:lnTo>
                    <a:pt x="45211" y="147319"/>
                  </a:lnTo>
                  <a:lnTo>
                    <a:pt x="43433" y="148843"/>
                  </a:lnTo>
                  <a:lnTo>
                    <a:pt x="42290" y="149732"/>
                  </a:lnTo>
                  <a:lnTo>
                    <a:pt x="41020" y="151002"/>
                  </a:lnTo>
                  <a:lnTo>
                    <a:pt x="39877" y="152272"/>
                  </a:lnTo>
                  <a:lnTo>
                    <a:pt x="38861" y="153288"/>
                  </a:lnTo>
                  <a:lnTo>
                    <a:pt x="38100" y="154304"/>
                  </a:lnTo>
                  <a:lnTo>
                    <a:pt x="37337" y="155193"/>
                  </a:lnTo>
                  <a:lnTo>
                    <a:pt x="36829" y="155955"/>
                  </a:lnTo>
                  <a:lnTo>
                    <a:pt x="36575" y="156590"/>
                  </a:lnTo>
                  <a:lnTo>
                    <a:pt x="36194" y="157225"/>
                  </a:lnTo>
                  <a:lnTo>
                    <a:pt x="36194" y="158750"/>
                  </a:lnTo>
                  <a:lnTo>
                    <a:pt x="36449" y="159130"/>
                  </a:lnTo>
                  <a:lnTo>
                    <a:pt x="59689" y="182371"/>
                  </a:lnTo>
                  <a:lnTo>
                    <a:pt x="85089" y="182371"/>
                  </a:lnTo>
                  <a:lnTo>
                    <a:pt x="49529" y="146812"/>
                  </a:lnTo>
                  <a:lnTo>
                    <a:pt x="49402" y="146684"/>
                  </a:lnTo>
                  <a:close/>
                </a:path>
                <a:path w="234950" h="255270">
                  <a:moveTo>
                    <a:pt x="108679" y="130428"/>
                  </a:moveTo>
                  <a:lnTo>
                    <a:pt x="83057" y="130428"/>
                  </a:lnTo>
                  <a:lnTo>
                    <a:pt x="133603" y="180847"/>
                  </a:lnTo>
                  <a:lnTo>
                    <a:pt x="133857" y="181228"/>
                  </a:lnTo>
                  <a:lnTo>
                    <a:pt x="136186" y="181228"/>
                  </a:lnTo>
                  <a:lnTo>
                    <a:pt x="136821" y="180847"/>
                  </a:lnTo>
                  <a:lnTo>
                    <a:pt x="137794" y="180212"/>
                  </a:lnTo>
                  <a:lnTo>
                    <a:pt x="138810" y="179450"/>
                  </a:lnTo>
                  <a:lnTo>
                    <a:pt x="139700" y="178815"/>
                  </a:lnTo>
                  <a:lnTo>
                    <a:pt x="141985" y="176529"/>
                  </a:lnTo>
                  <a:lnTo>
                    <a:pt x="143255" y="175387"/>
                  </a:lnTo>
                  <a:lnTo>
                    <a:pt x="144144" y="174243"/>
                  </a:lnTo>
                  <a:lnTo>
                    <a:pt x="145668" y="172465"/>
                  </a:lnTo>
                  <a:lnTo>
                    <a:pt x="146176" y="171576"/>
                  </a:lnTo>
                  <a:lnTo>
                    <a:pt x="146430" y="170941"/>
                  </a:lnTo>
                  <a:lnTo>
                    <a:pt x="146811" y="170306"/>
                  </a:lnTo>
                  <a:lnTo>
                    <a:pt x="146684" y="168401"/>
                  </a:lnTo>
                  <a:lnTo>
                    <a:pt x="146303" y="168147"/>
                  </a:lnTo>
                  <a:lnTo>
                    <a:pt x="108679" y="130428"/>
                  </a:lnTo>
                  <a:close/>
                </a:path>
                <a:path w="234950" h="255270">
                  <a:moveTo>
                    <a:pt x="48090" y="145668"/>
                  </a:moveTo>
                  <a:lnTo>
                    <a:pt x="39623" y="145668"/>
                  </a:lnTo>
                  <a:lnTo>
                    <a:pt x="54864" y="146684"/>
                  </a:lnTo>
                  <a:lnTo>
                    <a:pt x="46397" y="146684"/>
                  </a:lnTo>
                  <a:lnTo>
                    <a:pt x="48090" y="145668"/>
                  </a:lnTo>
                  <a:close/>
                </a:path>
                <a:path w="234950" h="255270">
                  <a:moveTo>
                    <a:pt x="102996" y="91058"/>
                  </a:moveTo>
                  <a:lnTo>
                    <a:pt x="101599" y="91058"/>
                  </a:lnTo>
                  <a:lnTo>
                    <a:pt x="56641" y="136016"/>
                  </a:lnTo>
                  <a:lnTo>
                    <a:pt x="56641" y="138175"/>
                  </a:lnTo>
                  <a:lnTo>
                    <a:pt x="56895" y="138810"/>
                  </a:lnTo>
                  <a:lnTo>
                    <a:pt x="57403" y="139445"/>
                  </a:lnTo>
                  <a:lnTo>
                    <a:pt x="57911" y="140207"/>
                  </a:lnTo>
                  <a:lnTo>
                    <a:pt x="59308" y="141858"/>
                  </a:lnTo>
                  <a:lnTo>
                    <a:pt x="60325" y="142747"/>
                  </a:lnTo>
                  <a:lnTo>
                    <a:pt x="61213" y="143763"/>
                  </a:lnTo>
                  <a:lnTo>
                    <a:pt x="62102" y="144525"/>
                  </a:lnTo>
                  <a:lnTo>
                    <a:pt x="62864" y="145033"/>
                  </a:lnTo>
                  <a:lnTo>
                    <a:pt x="63626" y="145668"/>
                  </a:lnTo>
                  <a:lnTo>
                    <a:pt x="63499" y="145668"/>
                  </a:lnTo>
                  <a:lnTo>
                    <a:pt x="65531" y="146684"/>
                  </a:lnTo>
                  <a:lnTo>
                    <a:pt x="66801" y="146684"/>
                  </a:lnTo>
                  <a:lnTo>
                    <a:pt x="83057" y="130428"/>
                  </a:lnTo>
                  <a:lnTo>
                    <a:pt x="108679" y="130428"/>
                  </a:lnTo>
                  <a:lnTo>
                    <a:pt x="95884" y="117601"/>
                  </a:lnTo>
                  <a:lnTo>
                    <a:pt x="111505" y="101980"/>
                  </a:lnTo>
                  <a:lnTo>
                    <a:pt x="111759" y="101600"/>
                  </a:lnTo>
                  <a:lnTo>
                    <a:pt x="112013" y="101345"/>
                  </a:lnTo>
                  <a:lnTo>
                    <a:pt x="112013" y="99949"/>
                  </a:lnTo>
                  <a:lnTo>
                    <a:pt x="111759" y="99313"/>
                  </a:lnTo>
                  <a:lnTo>
                    <a:pt x="111505" y="98805"/>
                  </a:lnTo>
                  <a:lnTo>
                    <a:pt x="111125" y="98170"/>
                  </a:lnTo>
                  <a:lnTo>
                    <a:pt x="110489" y="97408"/>
                  </a:lnTo>
                  <a:lnTo>
                    <a:pt x="109981" y="96646"/>
                  </a:lnTo>
                  <a:lnTo>
                    <a:pt x="106425" y="93090"/>
                  </a:lnTo>
                  <a:lnTo>
                    <a:pt x="105663" y="92582"/>
                  </a:lnTo>
                  <a:lnTo>
                    <a:pt x="104901" y="91947"/>
                  </a:lnTo>
                  <a:lnTo>
                    <a:pt x="104478" y="91693"/>
                  </a:lnTo>
                  <a:lnTo>
                    <a:pt x="102996" y="91058"/>
                  </a:lnTo>
                  <a:close/>
                </a:path>
                <a:path w="234950" h="255270">
                  <a:moveTo>
                    <a:pt x="158241" y="80899"/>
                  </a:moveTo>
                  <a:lnTo>
                    <a:pt x="132587" y="80899"/>
                  </a:lnTo>
                  <a:lnTo>
                    <a:pt x="182497" y="130682"/>
                  </a:lnTo>
                  <a:lnTo>
                    <a:pt x="183218" y="131444"/>
                  </a:lnTo>
                  <a:lnTo>
                    <a:pt x="183472" y="131825"/>
                  </a:lnTo>
                  <a:lnTo>
                    <a:pt x="185292" y="131825"/>
                  </a:lnTo>
                  <a:lnTo>
                    <a:pt x="185927" y="131444"/>
                  </a:lnTo>
                  <a:lnTo>
                    <a:pt x="186118" y="131444"/>
                  </a:lnTo>
                  <a:lnTo>
                    <a:pt x="187451" y="130682"/>
                  </a:lnTo>
                  <a:lnTo>
                    <a:pt x="189229" y="129158"/>
                  </a:lnTo>
                  <a:lnTo>
                    <a:pt x="190373" y="128269"/>
                  </a:lnTo>
                  <a:lnTo>
                    <a:pt x="191515" y="127000"/>
                  </a:lnTo>
                  <a:lnTo>
                    <a:pt x="193801" y="124713"/>
                  </a:lnTo>
                  <a:lnTo>
                    <a:pt x="194436" y="123825"/>
                  </a:lnTo>
                  <a:lnTo>
                    <a:pt x="195199" y="122808"/>
                  </a:lnTo>
                  <a:lnTo>
                    <a:pt x="195706" y="122046"/>
                  </a:lnTo>
                  <a:lnTo>
                    <a:pt x="196087" y="121412"/>
                  </a:lnTo>
                  <a:lnTo>
                    <a:pt x="196214" y="118871"/>
                  </a:lnTo>
                  <a:lnTo>
                    <a:pt x="158241" y="80899"/>
                  </a:lnTo>
                  <a:close/>
                </a:path>
                <a:path w="234950" h="255270">
                  <a:moveTo>
                    <a:pt x="153288" y="41655"/>
                  </a:moveTo>
                  <a:lnTo>
                    <a:pt x="151002" y="41655"/>
                  </a:lnTo>
                  <a:lnTo>
                    <a:pt x="150833" y="41909"/>
                  </a:lnTo>
                  <a:lnTo>
                    <a:pt x="150749" y="42037"/>
                  </a:lnTo>
                  <a:lnTo>
                    <a:pt x="106172" y="86487"/>
                  </a:lnTo>
                  <a:lnTo>
                    <a:pt x="106044" y="86867"/>
                  </a:lnTo>
                  <a:lnTo>
                    <a:pt x="106044" y="88137"/>
                  </a:lnTo>
                  <a:lnTo>
                    <a:pt x="106299" y="88645"/>
                  </a:lnTo>
                  <a:lnTo>
                    <a:pt x="106552" y="89280"/>
                  </a:lnTo>
                  <a:lnTo>
                    <a:pt x="107039" y="90042"/>
                  </a:lnTo>
                  <a:lnTo>
                    <a:pt x="107568" y="90677"/>
                  </a:lnTo>
                  <a:lnTo>
                    <a:pt x="107822" y="91058"/>
                  </a:lnTo>
                  <a:lnTo>
                    <a:pt x="108330" y="91693"/>
                  </a:lnTo>
                  <a:lnTo>
                    <a:pt x="111632" y="94995"/>
                  </a:lnTo>
                  <a:lnTo>
                    <a:pt x="112394" y="95503"/>
                  </a:lnTo>
                  <a:lnTo>
                    <a:pt x="113156" y="96138"/>
                  </a:lnTo>
                  <a:lnTo>
                    <a:pt x="113982" y="96646"/>
                  </a:lnTo>
                  <a:lnTo>
                    <a:pt x="114934" y="97027"/>
                  </a:lnTo>
                  <a:lnTo>
                    <a:pt x="116458" y="97027"/>
                  </a:lnTo>
                  <a:lnTo>
                    <a:pt x="132587" y="80899"/>
                  </a:lnTo>
                  <a:lnTo>
                    <a:pt x="158241" y="80899"/>
                  </a:lnTo>
                  <a:lnTo>
                    <a:pt x="145414" y="68071"/>
                  </a:lnTo>
                  <a:lnTo>
                    <a:pt x="161035" y="52324"/>
                  </a:lnTo>
                  <a:lnTo>
                    <a:pt x="161416" y="52069"/>
                  </a:lnTo>
                  <a:lnTo>
                    <a:pt x="161289" y="49783"/>
                  </a:lnTo>
                  <a:lnTo>
                    <a:pt x="160654" y="48513"/>
                  </a:lnTo>
                  <a:lnTo>
                    <a:pt x="160019" y="47878"/>
                  </a:lnTo>
                  <a:lnTo>
                    <a:pt x="159511" y="47116"/>
                  </a:lnTo>
                  <a:lnTo>
                    <a:pt x="158750" y="46227"/>
                  </a:lnTo>
                  <a:lnTo>
                    <a:pt x="156844" y="44322"/>
                  </a:lnTo>
                  <a:lnTo>
                    <a:pt x="155193" y="42925"/>
                  </a:lnTo>
                  <a:lnTo>
                    <a:pt x="154431" y="42417"/>
                  </a:lnTo>
                  <a:lnTo>
                    <a:pt x="153797" y="41909"/>
                  </a:lnTo>
                  <a:lnTo>
                    <a:pt x="153288" y="41655"/>
                  </a:lnTo>
                  <a:close/>
                </a:path>
                <a:path w="234950" h="255270">
                  <a:moveTo>
                    <a:pt x="203073" y="0"/>
                  </a:moveTo>
                  <a:lnTo>
                    <a:pt x="200151" y="380"/>
                  </a:lnTo>
                  <a:lnTo>
                    <a:pt x="197230" y="1396"/>
                  </a:lnTo>
                  <a:lnTo>
                    <a:pt x="194309" y="2285"/>
                  </a:lnTo>
                  <a:lnTo>
                    <a:pt x="191769" y="3428"/>
                  </a:lnTo>
                  <a:lnTo>
                    <a:pt x="187198" y="6476"/>
                  </a:lnTo>
                  <a:lnTo>
                    <a:pt x="185419" y="7874"/>
                  </a:lnTo>
                  <a:lnTo>
                    <a:pt x="183895" y="9016"/>
                  </a:lnTo>
                  <a:lnTo>
                    <a:pt x="180848" y="11810"/>
                  </a:lnTo>
                  <a:lnTo>
                    <a:pt x="163449" y="29209"/>
                  </a:lnTo>
                  <a:lnTo>
                    <a:pt x="162813" y="30606"/>
                  </a:lnTo>
                  <a:lnTo>
                    <a:pt x="162813" y="33654"/>
                  </a:lnTo>
                  <a:lnTo>
                    <a:pt x="163343" y="34925"/>
                  </a:lnTo>
                  <a:lnTo>
                    <a:pt x="163449" y="35178"/>
                  </a:lnTo>
                  <a:lnTo>
                    <a:pt x="221741" y="93471"/>
                  </a:lnTo>
                  <a:lnTo>
                    <a:pt x="222123" y="93599"/>
                  </a:lnTo>
                  <a:lnTo>
                    <a:pt x="223519" y="93599"/>
                  </a:lnTo>
                  <a:lnTo>
                    <a:pt x="232663" y="85597"/>
                  </a:lnTo>
                  <a:lnTo>
                    <a:pt x="233425" y="84581"/>
                  </a:lnTo>
                  <a:lnTo>
                    <a:pt x="233933" y="83819"/>
                  </a:lnTo>
                  <a:lnTo>
                    <a:pt x="234187" y="83184"/>
                  </a:lnTo>
                  <a:lnTo>
                    <a:pt x="234568" y="82550"/>
                  </a:lnTo>
                  <a:lnTo>
                    <a:pt x="234441" y="80644"/>
                  </a:lnTo>
                  <a:lnTo>
                    <a:pt x="234060" y="80390"/>
                  </a:lnTo>
                  <a:lnTo>
                    <a:pt x="214122" y="60325"/>
                  </a:lnTo>
                  <a:lnTo>
                    <a:pt x="219328" y="55117"/>
                  </a:lnTo>
                  <a:lnTo>
                    <a:pt x="223519" y="51053"/>
                  </a:lnTo>
                  <a:lnTo>
                    <a:pt x="223900" y="50545"/>
                  </a:lnTo>
                  <a:lnTo>
                    <a:pt x="204215" y="50545"/>
                  </a:lnTo>
                  <a:lnTo>
                    <a:pt x="183006" y="29337"/>
                  </a:lnTo>
                  <a:lnTo>
                    <a:pt x="189737" y="22605"/>
                  </a:lnTo>
                  <a:lnTo>
                    <a:pt x="191134" y="21335"/>
                  </a:lnTo>
                  <a:lnTo>
                    <a:pt x="192531" y="20319"/>
                  </a:lnTo>
                  <a:lnTo>
                    <a:pt x="193773" y="19303"/>
                  </a:lnTo>
                  <a:lnTo>
                    <a:pt x="194479" y="18922"/>
                  </a:lnTo>
                  <a:lnTo>
                    <a:pt x="195579" y="18414"/>
                  </a:lnTo>
                  <a:lnTo>
                    <a:pt x="197357" y="18033"/>
                  </a:lnTo>
                  <a:lnTo>
                    <a:pt x="198786" y="17652"/>
                  </a:lnTo>
                  <a:lnTo>
                    <a:pt x="229408" y="17652"/>
                  </a:lnTo>
                  <a:lnTo>
                    <a:pt x="228473" y="15493"/>
                  </a:lnTo>
                  <a:lnTo>
                    <a:pt x="225932" y="11810"/>
                  </a:lnTo>
                  <a:lnTo>
                    <a:pt x="222376" y="8381"/>
                  </a:lnTo>
                  <a:lnTo>
                    <a:pt x="219836" y="5841"/>
                  </a:lnTo>
                  <a:lnTo>
                    <a:pt x="217169" y="3809"/>
                  </a:lnTo>
                  <a:lnTo>
                    <a:pt x="214375" y="2539"/>
                  </a:lnTo>
                  <a:lnTo>
                    <a:pt x="211708" y="1142"/>
                  </a:lnTo>
                  <a:lnTo>
                    <a:pt x="208787" y="380"/>
                  </a:lnTo>
                  <a:lnTo>
                    <a:pt x="207454" y="380"/>
                  </a:lnTo>
                  <a:lnTo>
                    <a:pt x="203073" y="0"/>
                  </a:lnTo>
                  <a:close/>
                </a:path>
                <a:path w="234950" h="255270">
                  <a:moveTo>
                    <a:pt x="229408" y="17652"/>
                  </a:moveTo>
                  <a:lnTo>
                    <a:pt x="201167" y="17652"/>
                  </a:lnTo>
                  <a:lnTo>
                    <a:pt x="203885" y="18414"/>
                  </a:lnTo>
                  <a:lnTo>
                    <a:pt x="205612" y="18922"/>
                  </a:lnTo>
                  <a:lnTo>
                    <a:pt x="207772" y="20319"/>
                  </a:lnTo>
                  <a:lnTo>
                    <a:pt x="209930" y="22605"/>
                  </a:lnTo>
                  <a:lnTo>
                    <a:pt x="211581" y="24129"/>
                  </a:lnTo>
                  <a:lnTo>
                    <a:pt x="212851" y="25907"/>
                  </a:lnTo>
                  <a:lnTo>
                    <a:pt x="213740" y="27685"/>
                  </a:lnTo>
                  <a:lnTo>
                    <a:pt x="214756" y="29590"/>
                  </a:lnTo>
                  <a:lnTo>
                    <a:pt x="215047" y="30606"/>
                  </a:lnTo>
                  <a:lnTo>
                    <a:pt x="215137" y="36956"/>
                  </a:lnTo>
                  <a:lnTo>
                    <a:pt x="214249" y="38862"/>
                  </a:lnTo>
                  <a:lnTo>
                    <a:pt x="213486" y="40766"/>
                  </a:lnTo>
                  <a:lnTo>
                    <a:pt x="212248" y="42417"/>
                  </a:lnTo>
                  <a:lnTo>
                    <a:pt x="211835" y="42925"/>
                  </a:lnTo>
                  <a:lnTo>
                    <a:pt x="204215" y="50545"/>
                  </a:lnTo>
                  <a:lnTo>
                    <a:pt x="223900" y="50545"/>
                  </a:lnTo>
                  <a:lnTo>
                    <a:pt x="226472" y="47116"/>
                  </a:lnTo>
                  <a:lnTo>
                    <a:pt x="226948" y="46227"/>
                  </a:lnTo>
                  <a:lnTo>
                    <a:pt x="228600" y="42925"/>
                  </a:lnTo>
                  <a:lnTo>
                    <a:pt x="230758" y="38862"/>
                  </a:lnTo>
                  <a:lnTo>
                    <a:pt x="231828" y="35178"/>
                  </a:lnTo>
                  <a:lnTo>
                    <a:pt x="231901" y="34925"/>
                  </a:lnTo>
                  <a:lnTo>
                    <a:pt x="232131" y="31368"/>
                  </a:lnTo>
                  <a:lnTo>
                    <a:pt x="232246" y="29590"/>
                  </a:lnTo>
                  <a:lnTo>
                    <a:pt x="232369" y="27685"/>
                  </a:lnTo>
                  <a:lnTo>
                    <a:pt x="232409" y="27050"/>
                  </a:lnTo>
                  <a:lnTo>
                    <a:pt x="231648" y="23113"/>
                  </a:lnTo>
                  <a:lnTo>
                    <a:pt x="230124" y="19303"/>
                  </a:lnTo>
                  <a:lnTo>
                    <a:pt x="229408" y="17652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788908" y="3972686"/>
              <a:ext cx="259715" cy="229870"/>
            </a:xfrm>
            <a:custGeom>
              <a:avLst/>
              <a:gdLst/>
              <a:ahLst/>
              <a:cxnLst/>
              <a:rect l="l" t="t" r="r" b="b"/>
              <a:pathLst>
                <a:path w="259715" h="229870">
                  <a:moveTo>
                    <a:pt x="229235" y="157480"/>
                  </a:moveTo>
                  <a:lnTo>
                    <a:pt x="223266" y="157480"/>
                  </a:lnTo>
                  <a:lnTo>
                    <a:pt x="221742" y="160019"/>
                  </a:lnTo>
                  <a:lnTo>
                    <a:pt x="167259" y="217169"/>
                  </a:lnTo>
                  <a:lnTo>
                    <a:pt x="166877" y="218439"/>
                  </a:lnTo>
                  <a:lnTo>
                    <a:pt x="166750" y="219709"/>
                  </a:lnTo>
                  <a:lnTo>
                    <a:pt x="167132" y="220980"/>
                  </a:lnTo>
                  <a:lnTo>
                    <a:pt x="167386" y="220980"/>
                  </a:lnTo>
                  <a:lnTo>
                    <a:pt x="169545" y="223519"/>
                  </a:lnTo>
                  <a:lnTo>
                    <a:pt x="171831" y="226059"/>
                  </a:lnTo>
                  <a:lnTo>
                    <a:pt x="174244" y="228600"/>
                  </a:lnTo>
                  <a:lnTo>
                    <a:pt x="176022" y="229869"/>
                  </a:lnTo>
                  <a:lnTo>
                    <a:pt x="180086" y="229869"/>
                  </a:lnTo>
                  <a:lnTo>
                    <a:pt x="199644" y="209550"/>
                  </a:lnTo>
                  <a:lnTo>
                    <a:pt x="223139" y="209550"/>
                  </a:lnTo>
                  <a:lnTo>
                    <a:pt x="221107" y="208280"/>
                  </a:lnTo>
                  <a:lnTo>
                    <a:pt x="219201" y="208280"/>
                  </a:lnTo>
                  <a:lnTo>
                    <a:pt x="217170" y="207009"/>
                  </a:lnTo>
                  <a:lnTo>
                    <a:pt x="215138" y="204469"/>
                  </a:lnTo>
                  <a:lnTo>
                    <a:pt x="209169" y="199389"/>
                  </a:lnTo>
                  <a:lnTo>
                    <a:pt x="229743" y="177800"/>
                  </a:lnTo>
                  <a:lnTo>
                    <a:pt x="250063" y="177800"/>
                  </a:lnTo>
                  <a:lnTo>
                    <a:pt x="248793" y="176530"/>
                  </a:lnTo>
                  <a:lnTo>
                    <a:pt x="247396" y="175259"/>
                  </a:lnTo>
                  <a:lnTo>
                    <a:pt x="245872" y="172719"/>
                  </a:lnTo>
                  <a:lnTo>
                    <a:pt x="229235" y="157480"/>
                  </a:lnTo>
                  <a:close/>
                </a:path>
                <a:path w="259715" h="229870">
                  <a:moveTo>
                    <a:pt x="250063" y="177800"/>
                  </a:moveTo>
                  <a:lnTo>
                    <a:pt x="229743" y="177800"/>
                  </a:lnTo>
                  <a:lnTo>
                    <a:pt x="236727" y="184150"/>
                  </a:lnTo>
                  <a:lnTo>
                    <a:pt x="237998" y="185419"/>
                  </a:lnTo>
                  <a:lnTo>
                    <a:pt x="239014" y="186689"/>
                  </a:lnTo>
                  <a:lnTo>
                    <a:pt x="240157" y="187959"/>
                  </a:lnTo>
                  <a:lnTo>
                    <a:pt x="241046" y="189230"/>
                  </a:lnTo>
                  <a:lnTo>
                    <a:pt x="242062" y="193039"/>
                  </a:lnTo>
                  <a:lnTo>
                    <a:pt x="241935" y="195580"/>
                  </a:lnTo>
                  <a:lnTo>
                    <a:pt x="241426" y="196850"/>
                  </a:lnTo>
                  <a:lnTo>
                    <a:pt x="240792" y="199389"/>
                  </a:lnTo>
                  <a:lnTo>
                    <a:pt x="239522" y="201930"/>
                  </a:lnTo>
                  <a:lnTo>
                    <a:pt x="237363" y="204469"/>
                  </a:lnTo>
                  <a:lnTo>
                    <a:pt x="235839" y="205739"/>
                  </a:lnTo>
                  <a:lnTo>
                    <a:pt x="230505" y="209550"/>
                  </a:lnTo>
                  <a:lnTo>
                    <a:pt x="199644" y="209550"/>
                  </a:lnTo>
                  <a:lnTo>
                    <a:pt x="205105" y="214630"/>
                  </a:lnTo>
                  <a:lnTo>
                    <a:pt x="209296" y="218439"/>
                  </a:lnTo>
                  <a:lnTo>
                    <a:pt x="213487" y="220980"/>
                  </a:lnTo>
                  <a:lnTo>
                    <a:pt x="217550" y="223519"/>
                  </a:lnTo>
                  <a:lnTo>
                    <a:pt x="225678" y="226059"/>
                  </a:lnTo>
                  <a:lnTo>
                    <a:pt x="237490" y="226059"/>
                  </a:lnTo>
                  <a:lnTo>
                    <a:pt x="241173" y="223519"/>
                  </a:lnTo>
                  <a:lnTo>
                    <a:pt x="244983" y="222250"/>
                  </a:lnTo>
                  <a:lnTo>
                    <a:pt x="248539" y="219709"/>
                  </a:lnTo>
                  <a:lnTo>
                    <a:pt x="251968" y="215900"/>
                  </a:lnTo>
                  <a:lnTo>
                    <a:pt x="254381" y="213359"/>
                  </a:lnTo>
                  <a:lnTo>
                    <a:pt x="256286" y="210819"/>
                  </a:lnTo>
                  <a:lnTo>
                    <a:pt x="258825" y="204469"/>
                  </a:lnTo>
                  <a:lnTo>
                    <a:pt x="259461" y="201930"/>
                  </a:lnTo>
                  <a:lnTo>
                    <a:pt x="259461" y="195580"/>
                  </a:lnTo>
                  <a:lnTo>
                    <a:pt x="259207" y="193039"/>
                  </a:lnTo>
                  <a:lnTo>
                    <a:pt x="257175" y="187959"/>
                  </a:lnTo>
                  <a:lnTo>
                    <a:pt x="255905" y="185419"/>
                  </a:lnTo>
                  <a:lnTo>
                    <a:pt x="254253" y="182880"/>
                  </a:lnTo>
                  <a:lnTo>
                    <a:pt x="252730" y="180339"/>
                  </a:lnTo>
                  <a:lnTo>
                    <a:pt x="251333" y="179069"/>
                  </a:lnTo>
                  <a:lnTo>
                    <a:pt x="250063" y="177800"/>
                  </a:lnTo>
                  <a:close/>
                </a:path>
                <a:path w="259715" h="229870">
                  <a:moveTo>
                    <a:pt x="169799" y="101600"/>
                  </a:moveTo>
                  <a:lnTo>
                    <a:pt x="168528" y="102869"/>
                  </a:lnTo>
                  <a:lnTo>
                    <a:pt x="166750" y="102869"/>
                  </a:lnTo>
                  <a:lnTo>
                    <a:pt x="165989" y="104139"/>
                  </a:lnTo>
                  <a:lnTo>
                    <a:pt x="162560" y="106680"/>
                  </a:lnTo>
                  <a:lnTo>
                    <a:pt x="161290" y="109219"/>
                  </a:lnTo>
                  <a:lnTo>
                    <a:pt x="160782" y="109219"/>
                  </a:lnTo>
                  <a:lnTo>
                    <a:pt x="160400" y="110489"/>
                  </a:lnTo>
                  <a:lnTo>
                    <a:pt x="160147" y="110489"/>
                  </a:lnTo>
                  <a:lnTo>
                    <a:pt x="159893" y="111759"/>
                  </a:lnTo>
                  <a:lnTo>
                    <a:pt x="159893" y="113030"/>
                  </a:lnTo>
                  <a:lnTo>
                    <a:pt x="160400" y="113030"/>
                  </a:lnTo>
                  <a:lnTo>
                    <a:pt x="176657" y="128269"/>
                  </a:lnTo>
                  <a:lnTo>
                    <a:pt x="127762" y="180339"/>
                  </a:lnTo>
                  <a:lnTo>
                    <a:pt x="127253" y="181609"/>
                  </a:lnTo>
                  <a:lnTo>
                    <a:pt x="127253" y="182880"/>
                  </a:lnTo>
                  <a:lnTo>
                    <a:pt x="127381" y="182880"/>
                  </a:lnTo>
                  <a:lnTo>
                    <a:pt x="127762" y="184150"/>
                  </a:lnTo>
                  <a:lnTo>
                    <a:pt x="128016" y="184150"/>
                  </a:lnTo>
                  <a:lnTo>
                    <a:pt x="128650" y="185419"/>
                  </a:lnTo>
                  <a:lnTo>
                    <a:pt x="131064" y="187959"/>
                  </a:lnTo>
                  <a:lnTo>
                    <a:pt x="133603" y="190500"/>
                  </a:lnTo>
                  <a:lnTo>
                    <a:pt x="135763" y="191769"/>
                  </a:lnTo>
                  <a:lnTo>
                    <a:pt x="136651" y="191769"/>
                  </a:lnTo>
                  <a:lnTo>
                    <a:pt x="137414" y="193039"/>
                  </a:lnTo>
                  <a:lnTo>
                    <a:pt x="140970" y="193039"/>
                  </a:lnTo>
                  <a:lnTo>
                    <a:pt x="189865" y="140969"/>
                  </a:lnTo>
                  <a:lnTo>
                    <a:pt x="210678" y="140969"/>
                  </a:lnTo>
                  <a:lnTo>
                    <a:pt x="170561" y="102869"/>
                  </a:lnTo>
                  <a:lnTo>
                    <a:pt x="169799" y="101600"/>
                  </a:lnTo>
                  <a:close/>
                </a:path>
                <a:path w="259715" h="229870">
                  <a:moveTo>
                    <a:pt x="210678" y="140969"/>
                  </a:moveTo>
                  <a:lnTo>
                    <a:pt x="189865" y="140969"/>
                  </a:lnTo>
                  <a:lnTo>
                    <a:pt x="206248" y="156209"/>
                  </a:lnTo>
                  <a:lnTo>
                    <a:pt x="209169" y="156209"/>
                  </a:lnTo>
                  <a:lnTo>
                    <a:pt x="209803" y="154939"/>
                  </a:lnTo>
                  <a:lnTo>
                    <a:pt x="210439" y="154939"/>
                  </a:lnTo>
                  <a:lnTo>
                    <a:pt x="212090" y="153669"/>
                  </a:lnTo>
                  <a:lnTo>
                    <a:pt x="213868" y="151130"/>
                  </a:lnTo>
                  <a:lnTo>
                    <a:pt x="215265" y="149859"/>
                  </a:lnTo>
                  <a:lnTo>
                    <a:pt x="216153" y="148589"/>
                  </a:lnTo>
                  <a:lnTo>
                    <a:pt x="216408" y="147319"/>
                  </a:lnTo>
                  <a:lnTo>
                    <a:pt x="216535" y="146050"/>
                  </a:lnTo>
                  <a:lnTo>
                    <a:pt x="216026" y="146050"/>
                  </a:lnTo>
                  <a:lnTo>
                    <a:pt x="210678" y="140969"/>
                  </a:lnTo>
                  <a:close/>
                </a:path>
                <a:path w="259715" h="229870">
                  <a:moveTo>
                    <a:pt x="119380" y="54609"/>
                  </a:moveTo>
                  <a:lnTo>
                    <a:pt x="116332" y="54609"/>
                  </a:lnTo>
                  <a:lnTo>
                    <a:pt x="114935" y="55880"/>
                  </a:lnTo>
                  <a:lnTo>
                    <a:pt x="114173" y="55880"/>
                  </a:lnTo>
                  <a:lnTo>
                    <a:pt x="111506" y="59689"/>
                  </a:lnTo>
                  <a:lnTo>
                    <a:pt x="110744" y="59689"/>
                  </a:lnTo>
                  <a:lnTo>
                    <a:pt x="110236" y="60959"/>
                  </a:lnTo>
                  <a:lnTo>
                    <a:pt x="109600" y="62230"/>
                  </a:lnTo>
                  <a:lnTo>
                    <a:pt x="109220" y="62230"/>
                  </a:lnTo>
                  <a:lnTo>
                    <a:pt x="109093" y="63500"/>
                  </a:lnTo>
                  <a:lnTo>
                    <a:pt x="108966" y="64769"/>
                  </a:lnTo>
                  <a:lnTo>
                    <a:pt x="109347" y="64769"/>
                  </a:lnTo>
                  <a:lnTo>
                    <a:pt x="125475" y="81280"/>
                  </a:lnTo>
                  <a:lnTo>
                    <a:pt x="76708" y="133350"/>
                  </a:lnTo>
                  <a:lnTo>
                    <a:pt x="76326" y="133350"/>
                  </a:lnTo>
                  <a:lnTo>
                    <a:pt x="76200" y="134619"/>
                  </a:lnTo>
                  <a:lnTo>
                    <a:pt x="76962" y="135889"/>
                  </a:lnTo>
                  <a:lnTo>
                    <a:pt x="77470" y="137159"/>
                  </a:lnTo>
                  <a:lnTo>
                    <a:pt x="80010" y="139700"/>
                  </a:lnTo>
                  <a:lnTo>
                    <a:pt x="83693" y="143509"/>
                  </a:lnTo>
                  <a:lnTo>
                    <a:pt x="84582" y="143509"/>
                  </a:lnTo>
                  <a:lnTo>
                    <a:pt x="85471" y="144780"/>
                  </a:lnTo>
                  <a:lnTo>
                    <a:pt x="86360" y="144780"/>
                  </a:lnTo>
                  <a:lnTo>
                    <a:pt x="87630" y="146050"/>
                  </a:lnTo>
                  <a:lnTo>
                    <a:pt x="89535" y="146050"/>
                  </a:lnTo>
                  <a:lnTo>
                    <a:pt x="89789" y="144780"/>
                  </a:lnTo>
                  <a:lnTo>
                    <a:pt x="138684" y="92709"/>
                  </a:lnTo>
                  <a:lnTo>
                    <a:pt x="159833" y="92709"/>
                  </a:lnTo>
                  <a:lnTo>
                    <a:pt x="119380" y="54609"/>
                  </a:lnTo>
                  <a:close/>
                </a:path>
                <a:path w="259715" h="229870">
                  <a:moveTo>
                    <a:pt x="59996" y="46989"/>
                  </a:moveTo>
                  <a:lnTo>
                    <a:pt x="38100" y="46989"/>
                  </a:lnTo>
                  <a:lnTo>
                    <a:pt x="62357" y="69850"/>
                  </a:lnTo>
                  <a:lnTo>
                    <a:pt x="37846" y="96519"/>
                  </a:lnTo>
                  <a:lnTo>
                    <a:pt x="37465" y="96519"/>
                  </a:lnTo>
                  <a:lnTo>
                    <a:pt x="37338" y="97789"/>
                  </a:lnTo>
                  <a:lnTo>
                    <a:pt x="38100" y="100330"/>
                  </a:lnTo>
                  <a:lnTo>
                    <a:pt x="38608" y="100330"/>
                  </a:lnTo>
                  <a:lnTo>
                    <a:pt x="40132" y="102869"/>
                  </a:lnTo>
                  <a:lnTo>
                    <a:pt x="42418" y="104139"/>
                  </a:lnTo>
                  <a:lnTo>
                    <a:pt x="44831" y="106680"/>
                  </a:lnTo>
                  <a:lnTo>
                    <a:pt x="46609" y="107950"/>
                  </a:lnTo>
                  <a:lnTo>
                    <a:pt x="47371" y="107950"/>
                  </a:lnTo>
                  <a:lnTo>
                    <a:pt x="48133" y="109219"/>
                  </a:lnTo>
                  <a:lnTo>
                    <a:pt x="50926" y="109219"/>
                  </a:lnTo>
                  <a:lnTo>
                    <a:pt x="97891" y="58419"/>
                  </a:lnTo>
                  <a:lnTo>
                    <a:pt x="72771" y="58419"/>
                  </a:lnTo>
                  <a:lnTo>
                    <a:pt x="59996" y="46989"/>
                  </a:lnTo>
                  <a:close/>
                </a:path>
                <a:path w="259715" h="229870">
                  <a:moveTo>
                    <a:pt x="157480" y="107950"/>
                  </a:moveTo>
                  <a:lnTo>
                    <a:pt x="155194" y="107950"/>
                  </a:lnTo>
                  <a:lnTo>
                    <a:pt x="156845" y="109219"/>
                  </a:lnTo>
                  <a:lnTo>
                    <a:pt x="157480" y="107950"/>
                  </a:lnTo>
                  <a:close/>
                </a:path>
                <a:path w="259715" h="229870">
                  <a:moveTo>
                    <a:pt x="159833" y="92709"/>
                  </a:moveTo>
                  <a:lnTo>
                    <a:pt x="138684" y="92709"/>
                  </a:lnTo>
                  <a:lnTo>
                    <a:pt x="154813" y="107950"/>
                  </a:lnTo>
                  <a:lnTo>
                    <a:pt x="157988" y="107950"/>
                  </a:lnTo>
                  <a:lnTo>
                    <a:pt x="159385" y="106680"/>
                  </a:lnTo>
                  <a:lnTo>
                    <a:pt x="160147" y="106680"/>
                  </a:lnTo>
                  <a:lnTo>
                    <a:pt x="160909" y="105409"/>
                  </a:lnTo>
                  <a:lnTo>
                    <a:pt x="161798" y="104139"/>
                  </a:lnTo>
                  <a:lnTo>
                    <a:pt x="162814" y="104139"/>
                  </a:lnTo>
                  <a:lnTo>
                    <a:pt x="163575" y="102869"/>
                  </a:lnTo>
                  <a:lnTo>
                    <a:pt x="164084" y="101600"/>
                  </a:lnTo>
                  <a:lnTo>
                    <a:pt x="164719" y="101600"/>
                  </a:lnTo>
                  <a:lnTo>
                    <a:pt x="165481" y="99059"/>
                  </a:lnTo>
                  <a:lnTo>
                    <a:pt x="165481" y="97789"/>
                  </a:lnTo>
                  <a:lnTo>
                    <a:pt x="165226" y="97789"/>
                  </a:lnTo>
                  <a:lnTo>
                    <a:pt x="159833" y="92709"/>
                  </a:lnTo>
                  <a:close/>
                </a:path>
                <a:path w="259715" h="229870">
                  <a:moveTo>
                    <a:pt x="12446" y="73659"/>
                  </a:moveTo>
                  <a:lnTo>
                    <a:pt x="11430" y="73659"/>
                  </a:lnTo>
                  <a:lnTo>
                    <a:pt x="12065" y="74930"/>
                  </a:lnTo>
                  <a:lnTo>
                    <a:pt x="12446" y="73659"/>
                  </a:lnTo>
                  <a:close/>
                </a:path>
                <a:path w="259715" h="229870">
                  <a:moveTo>
                    <a:pt x="61214" y="0"/>
                  </a:moveTo>
                  <a:lnTo>
                    <a:pt x="57785" y="0"/>
                  </a:lnTo>
                  <a:lnTo>
                    <a:pt x="508" y="60959"/>
                  </a:lnTo>
                  <a:lnTo>
                    <a:pt x="0" y="62230"/>
                  </a:lnTo>
                  <a:lnTo>
                    <a:pt x="126" y="63500"/>
                  </a:lnTo>
                  <a:lnTo>
                    <a:pt x="508" y="64769"/>
                  </a:lnTo>
                  <a:lnTo>
                    <a:pt x="762" y="64769"/>
                  </a:lnTo>
                  <a:lnTo>
                    <a:pt x="2159" y="66039"/>
                  </a:lnTo>
                  <a:lnTo>
                    <a:pt x="2794" y="67309"/>
                  </a:lnTo>
                  <a:lnTo>
                    <a:pt x="3810" y="68580"/>
                  </a:lnTo>
                  <a:lnTo>
                    <a:pt x="6476" y="71119"/>
                  </a:lnTo>
                  <a:lnTo>
                    <a:pt x="7493" y="71119"/>
                  </a:lnTo>
                  <a:lnTo>
                    <a:pt x="8509" y="72389"/>
                  </a:lnTo>
                  <a:lnTo>
                    <a:pt x="9398" y="72389"/>
                  </a:lnTo>
                  <a:lnTo>
                    <a:pt x="10160" y="73659"/>
                  </a:lnTo>
                  <a:lnTo>
                    <a:pt x="13589" y="73659"/>
                  </a:lnTo>
                  <a:lnTo>
                    <a:pt x="38100" y="46989"/>
                  </a:lnTo>
                  <a:lnTo>
                    <a:pt x="59996" y="46989"/>
                  </a:lnTo>
                  <a:lnTo>
                    <a:pt x="48641" y="36830"/>
                  </a:lnTo>
                  <a:lnTo>
                    <a:pt x="70866" y="12700"/>
                  </a:lnTo>
                  <a:lnTo>
                    <a:pt x="71247" y="12700"/>
                  </a:lnTo>
                  <a:lnTo>
                    <a:pt x="71374" y="10159"/>
                  </a:lnTo>
                  <a:lnTo>
                    <a:pt x="70612" y="8889"/>
                  </a:lnTo>
                  <a:lnTo>
                    <a:pt x="70103" y="8889"/>
                  </a:lnTo>
                  <a:lnTo>
                    <a:pt x="67564" y="5080"/>
                  </a:lnTo>
                  <a:lnTo>
                    <a:pt x="63881" y="2539"/>
                  </a:lnTo>
                  <a:lnTo>
                    <a:pt x="62992" y="1269"/>
                  </a:lnTo>
                  <a:lnTo>
                    <a:pt x="62102" y="1269"/>
                  </a:lnTo>
                  <a:lnTo>
                    <a:pt x="61214" y="0"/>
                  </a:lnTo>
                  <a:close/>
                </a:path>
                <a:path w="259715" h="229870">
                  <a:moveTo>
                    <a:pt x="97282" y="34289"/>
                  </a:moveTo>
                  <a:lnTo>
                    <a:pt x="95758" y="34289"/>
                  </a:lnTo>
                  <a:lnTo>
                    <a:pt x="94996" y="35559"/>
                  </a:lnTo>
                  <a:lnTo>
                    <a:pt x="72771" y="58419"/>
                  </a:lnTo>
                  <a:lnTo>
                    <a:pt x="97891" y="58419"/>
                  </a:lnTo>
                  <a:lnTo>
                    <a:pt x="108458" y="46989"/>
                  </a:lnTo>
                  <a:lnTo>
                    <a:pt x="108585" y="45719"/>
                  </a:lnTo>
                  <a:lnTo>
                    <a:pt x="108203" y="44450"/>
                  </a:lnTo>
                  <a:lnTo>
                    <a:pt x="107950" y="44450"/>
                  </a:lnTo>
                  <a:lnTo>
                    <a:pt x="106552" y="41909"/>
                  </a:lnTo>
                  <a:lnTo>
                    <a:pt x="105918" y="41909"/>
                  </a:lnTo>
                  <a:lnTo>
                    <a:pt x="103632" y="39369"/>
                  </a:lnTo>
                  <a:lnTo>
                    <a:pt x="101219" y="36830"/>
                  </a:lnTo>
                  <a:lnTo>
                    <a:pt x="100202" y="36830"/>
                  </a:lnTo>
                  <a:lnTo>
                    <a:pt x="99314" y="35559"/>
                  </a:lnTo>
                  <a:lnTo>
                    <a:pt x="98551" y="35559"/>
                  </a:lnTo>
                  <a:lnTo>
                    <a:pt x="97282" y="34289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469879" y="3974579"/>
              <a:ext cx="234670" cy="56084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0552174" y="3998086"/>
              <a:ext cx="76200" cy="402590"/>
            </a:xfrm>
            <a:custGeom>
              <a:avLst/>
              <a:gdLst/>
              <a:ahLst/>
              <a:cxnLst/>
              <a:rect l="l" t="t" r="r" b="b"/>
              <a:pathLst>
                <a:path w="76200" h="402589">
                  <a:moveTo>
                    <a:pt x="25213" y="326135"/>
                  </a:moveTo>
                  <a:lnTo>
                    <a:pt x="0" y="326135"/>
                  </a:lnTo>
                  <a:lnTo>
                    <a:pt x="37593" y="402208"/>
                  </a:lnTo>
                  <a:lnTo>
                    <a:pt x="69704" y="338836"/>
                  </a:lnTo>
                  <a:lnTo>
                    <a:pt x="50547" y="338836"/>
                  </a:lnTo>
                  <a:lnTo>
                    <a:pt x="25147" y="338708"/>
                  </a:lnTo>
                  <a:lnTo>
                    <a:pt x="25213" y="326135"/>
                  </a:lnTo>
                  <a:close/>
                </a:path>
                <a:path w="76200" h="402589">
                  <a:moveTo>
                    <a:pt x="52325" y="0"/>
                  </a:moveTo>
                  <a:lnTo>
                    <a:pt x="26924" y="0"/>
                  </a:lnTo>
                  <a:lnTo>
                    <a:pt x="25213" y="326135"/>
                  </a:lnTo>
                  <a:lnTo>
                    <a:pt x="25147" y="338708"/>
                  </a:lnTo>
                  <a:lnTo>
                    <a:pt x="50547" y="338836"/>
                  </a:lnTo>
                  <a:lnTo>
                    <a:pt x="52325" y="0"/>
                  </a:lnTo>
                  <a:close/>
                </a:path>
                <a:path w="76200" h="402589">
                  <a:moveTo>
                    <a:pt x="50614" y="326135"/>
                  </a:moveTo>
                  <a:lnTo>
                    <a:pt x="50547" y="338836"/>
                  </a:lnTo>
                  <a:lnTo>
                    <a:pt x="69704" y="338836"/>
                  </a:lnTo>
                  <a:lnTo>
                    <a:pt x="76074" y="326263"/>
                  </a:lnTo>
                  <a:lnTo>
                    <a:pt x="50614" y="326135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54639" y="3019005"/>
              <a:ext cx="234670" cy="58525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0535792" y="3118230"/>
              <a:ext cx="76200" cy="428625"/>
            </a:xfrm>
            <a:custGeom>
              <a:avLst/>
              <a:gdLst/>
              <a:ahLst/>
              <a:cxnLst/>
              <a:rect l="l" t="t" r="r" b="b"/>
              <a:pathLst>
                <a:path w="76200" h="4286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428371"/>
                  </a:lnTo>
                  <a:lnTo>
                    <a:pt x="50800" y="428371"/>
                  </a:lnTo>
                  <a:lnTo>
                    <a:pt x="50800" y="63500"/>
                  </a:lnTo>
                  <a:close/>
                </a:path>
                <a:path w="76200" h="4286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86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53043" y="3668267"/>
              <a:ext cx="915936" cy="23317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472169" y="3729227"/>
              <a:ext cx="759460" cy="76200"/>
            </a:xfrm>
            <a:custGeom>
              <a:avLst/>
              <a:gdLst/>
              <a:ahLst/>
              <a:cxnLst/>
              <a:rect l="l" t="t" r="r" b="b"/>
              <a:pathLst>
                <a:path w="759459" h="76200">
                  <a:moveTo>
                    <a:pt x="76326" y="0"/>
                  </a:moveTo>
                  <a:lnTo>
                    <a:pt x="0" y="37973"/>
                  </a:lnTo>
                  <a:lnTo>
                    <a:pt x="76200" y="76200"/>
                  </a:lnTo>
                  <a:lnTo>
                    <a:pt x="76242" y="50813"/>
                  </a:lnTo>
                  <a:lnTo>
                    <a:pt x="63500" y="50813"/>
                  </a:lnTo>
                  <a:lnTo>
                    <a:pt x="63500" y="25414"/>
                  </a:lnTo>
                  <a:lnTo>
                    <a:pt x="76284" y="25414"/>
                  </a:lnTo>
                  <a:lnTo>
                    <a:pt x="76326" y="0"/>
                  </a:lnTo>
                  <a:close/>
                </a:path>
                <a:path w="759459" h="76200">
                  <a:moveTo>
                    <a:pt x="76284" y="25414"/>
                  </a:moveTo>
                  <a:lnTo>
                    <a:pt x="76242" y="50813"/>
                  </a:lnTo>
                  <a:lnTo>
                    <a:pt x="758951" y="51562"/>
                  </a:lnTo>
                  <a:lnTo>
                    <a:pt x="758951" y="26162"/>
                  </a:lnTo>
                  <a:lnTo>
                    <a:pt x="76284" y="25414"/>
                  </a:lnTo>
                  <a:close/>
                </a:path>
                <a:path w="759459" h="76200">
                  <a:moveTo>
                    <a:pt x="76284" y="25414"/>
                  </a:moveTo>
                  <a:lnTo>
                    <a:pt x="63500" y="25414"/>
                  </a:lnTo>
                  <a:lnTo>
                    <a:pt x="63500" y="50813"/>
                  </a:lnTo>
                  <a:lnTo>
                    <a:pt x="76242" y="50813"/>
                  </a:lnTo>
                  <a:lnTo>
                    <a:pt x="76284" y="25414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33143" y="5266944"/>
              <a:ext cx="5661659" cy="46026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93519" y="5248655"/>
              <a:ext cx="5719572" cy="56084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81149" y="5295112"/>
              <a:ext cx="5570728" cy="369328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1581150" y="5295112"/>
            <a:ext cx="5570855" cy="36957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/>
                <a:cs typeface="Calibri"/>
              </a:rPr>
              <a:t>Different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data-formats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uploaded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National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Segment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7904988" y="5222747"/>
            <a:ext cx="3183890" cy="561340"/>
            <a:chOff x="7904988" y="5222747"/>
            <a:chExt cx="3183890" cy="561340"/>
          </a:xfrm>
        </p:grpSpPr>
        <p:pic>
          <p:nvPicPr>
            <p:cNvPr id="76" name="object 7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46136" y="5242559"/>
              <a:ext cx="3127248" cy="46026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904988" y="5222747"/>
              <a:ext cx="3183636" cy="56084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93507" y="5270347"/>
              <a:ext cx="3036824" cy="369328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7993506" y="5270347"/>
            <a:ext cx="3037205" cy="36957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b="1" spc="-10" dirty="0">
                <a:latin typeface="Calibri"/>
                <a:cs typeface="Calibri"/>
              </a:rPr>
              <a:t>BUFR-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published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WIS2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316223" y="2590038"/>
            <a:ext cx="5503545" cy="1849755"/>
            <a:chOff x="3316223" y="2590038"/>
            <a:chExt cx="5503545" cy="1849755"/>
          </a:xfrm>
        </p:grpSpPr>
        <p:sp>
          <p:nvSpPr>
            <p:cNvPr id="81" name="object 81"/>
            <p:cNvSpPr/>
            <p:nvPr/>
          </p:nvSpPr>
          <p:spPr>
            <a:xfrm>
              <a:off x="8311641" y="3957701"/>
              <a:ext cx="508000" cy="481965"/>
            </a:xfrm>
            <a:custGeom>
              <a:avLst/>
              <a:gdLst/>
              <a:ahLst/>
              <a:cxnLst/>
              <a:rect l="l" t="t" r="r" b="b"/>
              <a:pathLst>
                <a:path w="508000" h="481964">
                  <a:moveTo>
                    <a:pt x="159003" y="0"/>
                  </a:moveTo>
                  <a:lnTo>
                    <a:pt x="0" y="190881"/>
                  </a:lnTo>
                  <a:lnTo>
                    <a:pt x="348868" y="481584"/>
                  </a:lnTo>
                  <a:lnTo>
                    <a:pt x="507873" y="290703"/>
                  </a:lnTo>
                  <a:lnTo>
                    <a:pt x="15900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359013" y="4021582"/>
              <a:ext cx="394970" cy="372110"/>
            </a:xfrm>
            <a:custGeom>
              <a:avLst/>
              <a:gdLst/>
              <a:ahLst/>
              <a:cxnLst/>
              <a:rect l="l" t="t" r="r" b="b"/>
              <a:pathLst>
                <a:path w="394970" h="372110">
                  <a:moveTo>
                    <a:pt x="378205" y="246380"/>
                  </a:moveTo>
                  <a:lnTo>
                    <a:pt x="347725" y="246380"/>
                  </a:lnTo>
                  <a:lnTo>
                    <a:pt x="359028" y="256540"/>
                  </a:lnTo>
                  <a:lnTo>
                    <a:pt x="360679" y="257810"/>
                  </a:lnTo>
                  <a:lnTo>
                    <a:pt x="361950" y="259080"/>
                  </a:lnTo>
                  <a:lnTo>
                    <a:pt x="364108" y="261620"/>
                  </a:lnTo>
                  <a:lnTo>
                    <a:pt x="364870" y="262890"/>
                  </a:lnTo>
                  <a:lnTo>
                    <a:pt x="367410" y="265430"/>
                  </a:lnTo>
                  <a:lnTo>
                    <a:pt x="368553" y="269240"/>
                  </a:lnTo>
                  <a:lnTo>
                    <a:pt x="367791" y="276860"/>
                  </a:lnTo>
                  <a:lnTo>
                    <a:pt x="366267" y="279400"/>
                  </a:lnTo>
                  <a:lnTo>
                    <a:pt x="363473" y="283210"/>
                  </a:lnTo>
                  <a:lnTo>
                    <a:pt x="361695" y="285750"/>
                  </a:lnTo>
                  <a:lnTo>
                    <a:pt x="359790" y="287020"/>
                  </a:lnTo>
                  <a:lnTo>
                    <a:pt x="355472" y="289560"/>
                  </a:lnTo>
                  <a:lnTo>
                    <a:pt x="312038" y="289560"/>
                  </a:lnTo>
                  <a:lnTo>
                    <a:pt x="318261" y="294640"/>
                  </a:lnTo>
                  <a:lnTo>
                    <a:pt x="320420" y="295910"/>
                  </a:lnTo>
                  <a:lnTo>
                    <a:pt x="321944" y="298450"/>
                  </a:lnTo>
                  <a:lnTo>
                    <a:pt x="323087" y="299720"/>
                  </a:lnTo>
                  <a:lnTo>
                    <a:pt x="324103" y="302260"/>
                  </a:lnTo>
                  <a:lnTo>
                    <a:pt x="324738" y="304800"/>
                  </a:lnTo>
                  <a:lnTo>
                    <a:pt x="324865" y="311150"/>
                  </a:lnTo>
                  <a:lnTo>
                    <a:pt x="324230" y="314960"/>
                  </a:lnTo>
                  <a:lnTo>
                    <a:pt x="323722" y="317500"/>
                  </a:lnTo>
                  <a:lnTo>
                    <a:pt x="322833" y="320040"/>
                  </a:lnTo>
                  <a:lnTo>
                    <a:pt x="321944" y="323850"/>
                  </a:lnTo>
                  <a:lnTo>
                    <a:pt x="312419" y="353060"/>
                  </a:lnTo>
                  <a:lnTo>
                    <a:pt x="312038" y="354330"/>
                  </a:lnTo>
                  <a:lnTo>
                    <a:pt x="312038" y="356870"/>
                  </a:lnTo>
                  <a:lnTo>
                    <a:pt x="313054" y="358140"/>
                  </a:lnTo>
                  <a:lnTo>
                    <a:pt x="313816" y="359410"/>
                  </a:lnTo>
                  <a:lnTo>
                    <a:pt x="315086" y="360680"/>
                  </a:lnTo>
                  <a:lnTo>
                    <a:pt x="316229" y="361950"/>
                  </a:lnTo>
                  <a:lnTo>
                    <a:pt x="317880" y="363220"/>
                  </a:lnTo>
                  <a:lnTo>
                    <a:pt x="320039" y="365760"/>
                  </a:lnTo>
                  <a:lnTo>
                    <a:pt x="322579" y="367030"/>
                  </a:lnTo>
                  <a:lnTo>
                    <a:pt x="327659" y="370840"/>
                  </a:lnTo>
                  <a:lnTo>
                    <a:pt x="328929" y="372110"/>
                  </a:lnTo>
                  <a:lnTo>
                    <a:pt x="333247" y="372110"/>
                  </a:lnTo>
                  <a:lnTo>
                    <a:pt x="333628" y="370840"/>
                  </a:lnTo>
                  <a:lnTo>
                    <a:pt x="334136" y="370840"/>
                  </a:lnTo>
                  <a:lnTo>
                    <a:pt x="334517" y="369570"/>
                  </a:lnTo>
                  <a:lnTo>
                    <a:pt x="335533" y="368300"/>
                  </a:lnTo>
                  <a:lnTo>
                    <a:pt x="337057" y="363220"/>
                  </a:lnTo>
                  <a:lnTo>
                    <a:pt x="344931" y="336550"/>
                  </a:lnTo>
                  <a:lnTo>
                    <a:pt x="345820" y="334010"/>
                  </a:lnTo>
                  <a:lnTo>
                    <a:pt x="346582" y="331470"/>
                  </a:lnTo>
                  <a:lnTo>
                    <a:pt x="347090" y="328930"/>
                  </a:lnTo>
                  <a:lnTo>
                    <a:pt x="347725" y="325120"/>
                  </a:lnTo>
                  <a:lnTo>
                    <a:pt x="347852" y="316230"/>
                  </a:lnTo>
                  <a:lnTo>
                    <a:pt x="347471" y="313690"/>
                  </a:lnTo>
                  <a:lnTo>
                    <a:pt x="346963" y="312420"/>
                  </a:lnTo>
                  <a:lnTo>
                    <a:pt x="346328" y="309880"/>
                  </a:lnTo>
                  <a:lnTo>
                    <a:pt x="345439" y="308610"/>
                  </a:lnTo>
                  <a:lnTo>
                    <a:pt x="374014" y="308610"/>
                  </a:lnTo>
                  <a:lnTo>
                    <a:pt x="377189" y="306070"/>
                  </a:lnTo>
                  <a:lnTo>
                    <a:pt x="380237" y="304800"/>
                  </a:lnTo>
                  <a:lnTo>
                    <a:pt x="383158" y="302260"/>
                  </a:lnTo>
                  <a:lnTo>
                    <a:pt x="385952" y="298450"/>
                  </a:lnTo>
                  <a:lnTo>
                    <a:pt x="389127" y="294640"/>
                  </a:lnTo>
                  <a:lnTo>
                    <a:pt x="394504" y="276860"/>
                  </a:lnTo>
                  <a:lnTo>
                    <a:pt x="394334" y="274320"/>
                  </a:lnTo>
                  <a:lnTo>
                    <a:pt x="393953" y="270510"/>
                  </a:lnTo>
                  <a:lnTo>
                    <a:pt x="392683" y="266700"/>
                  </a:lnTo>
                  <a:lnTo>
                    <a:pt x="390651" y="262890"/>
                  </a:lnTo>
                  <a:lnTo>
                    <a:pt x="388619" y="257810"/>
                  </a:lnTo>
                  <a:lnTo>
                    <a:pt x="385952" y="254000"/>
                  </a:lnTo>
                  <a:lnTo>
                    <a:pt x="382396" y="250190"/>
                  </a:lnTo>
                  <a:lnTo>
                    <a:pt x="378205" y="246380"/>
                  </a:lnTo>
                  <a:close/>
                </a:path>
                <a:path w="394970" h="372110">
                  <a:moveTo>
                    <a:pt x="342900" y="217170"/>
                  </a:moveTo>
                  <a:lnTo>
                    <a:pt x="338962" y="217170"/>
                  </a:lnTo>
                  <a:lnTo>
                    <a:pt x="337057" y="218440"/>
                  </a:lnTo>
                  <a:lnTo>
                    <a:pt x="335279" y="220980"/>
                  </a:lnTo>
                  <a:lnTo>
                    <a:pt x="260857" y="309880"/>
                  </a:lnTo>
                  <a:lnTo>
                    <a:pt x="260350" y="311150"/>
                  </a:lnTo>
                  <a:lnTo>
                    <a:pt x="260095" y="311150"/>
                  </a:lnTo>
                  <a:lnTo>
                    <a:pt x="260095" y="312420"/>
                  </a:lnTo>
                  <a:lnTo>
                    <a:pt x="260350" y="313690"/>
                  </a:lnTo>
                  <a:lnTo>
                    <a:pt x="260857" y="314960"/>
                  </a:lnTo>
                  <a:lnTo>
                    <a:pt x="261492" y="314960"/>
                  </a:lnTo>
                  <a:lnTo>
                    <a:pt x="262254" y="316230"/>
                  </a:lnTo>
                  <a:lnTo>
                    <a:pt x="263397" y="317500"/>
                  </a:lnTo>
                  <a:lnTo>
                    <a:pt x="264667" y="318770"/>
                  </a:lnTo>
                  <a:lnTo>
                    <a:pt x="266191" y="320040"/>
                  </a:lnTo>
                  <a:lnTo>
                    <a:pt x="270128" y="323850"/>
                  </a:lnTo>
                  <a:lnTo>
                    <a:pt x="271779" y="325120"/>
                  </a:lnTo>
                  <a:lnTo>
                    <a:pt x="273176" y="325120"/>
                  </a:lnTo>
                  <a:lnTo>
                    <a:pt x="274573" y="326390"/>
                  </a:lnTo>
                  <a:lnTo>
                    <a:pt x="275716" y="327660"/>
                  </a:lnTo>
                  <a:lnTo>
                    <a:pt x="280796" y="327660"/>
                  </a:lnTo>
                  <a:lnTo>
                    <a:pt x="312038" y="289560"/>
                  </a:lnTo>
                  <a:lnTo>
                    <a:pt x="345693" y="289560"/>
                  </a:lnTo>
                  <a:lnTo>
                    <a:pt x="340359" y="287020"/>
                  </a:lnTo>
                  <a:lnTo>
                    <a:pt x="337565" y="285750"/>
                  </a:lnTo>
                  <a:lnTo>
                    <a:pt x="324484" y="274320"/>
                  </a:lnTo>
                  <a:lnTo>
                    <a:pt x="347725" y="246380"/>
                  </a:lnTo>
                  <a:lnTo>
                    <a:pt x="378205" y="246380"/>
                  </a:lnTo>
                  <a:lnTo>
                    <a:pt x="376554" y="245110"/>
                  </a:lnTo>
                  <a:lnTo>
                    <a:pt x="374522" y="242570"/>
                  </a:lnTo>
                  <a:lnTo>
                    <a:pt x="371855" y="241300"/>
                  </a:lnTo>
                  <a:lnTo>
                    <a:pt x="346455" y="219710"/>
                  </a:lnTo>
                  <a:lnTo>
                    <a:pt x="344804" y="218440"/>
                  </a:lnTo>
                  <a:lnTo>
                    <a:pt x="342900" y="217170"/>
                  </a:lnTo>
                  <a:close/>
                </a:path>
                <a:path w="394970" h="372110">
                  <a:moveTo>
                    <a:pt x="367410" y="309880"/>
                  </a:moveTo>
                  <a:lnTo>
                    <a:pt x="353059" y="309880"/>
                  </a:lnTo>
                  <a:lnTo>
                    <a:pt x="356742" y="311150"/>
                  </a:lnTo>
                  <a:lnTo>
                    <a:pt x="363981" y="311150"/>
                  </a:lnTo>
                  <a:lnTo>
                    <a:pt x="367410" y="309880"/>
                  </a:lnTo>
                  <a:close/>
                </a:path>
                <a:path w="394970" h="372110">
                  <a:moveTo>
                    <a:pt x="374014" y="308610"/>
                  </a:moveTo>
                  <a:lnTo>
                    <a:pt x="345439" y="308610"/>
                  </a:lnTo>
                  <a:lnTo>
                    <a:pt x="349376" y="309880"/>
                  </a:lnTo>
                  <a:lnTo>
                    <a:pt x="370839" y="309880"/>
                  </a:lnTo>
                  <a:lnTo>
                    <a:pt x="374014" y="308610"/>
                  </a:lnTo>
                  <a:close/>
                </a:path>
                <a:path w="394970" h="372110">
                  <a:moveTo>
                    <a:pt x="271525" y="157480"/>
                  </a:moveTo>
                  <a:lnTo>
                    <a:pt x="267588" y="157480"/>
                  </a:lnTo>
                  <a:lnTo>
                    <a:pt x="265683" y="158750"/>
                  </a:lnTo>
                  <a:lnTo>
                    <a:pt x="189483" y="250190"/>
                  </a:lnTo>
                  <a:lnTo>
                    <a:pt x="189102" y="251460"/>
                  </a:lnTo>
                  <a:lnTo>
                    <a:pt x="188848" y="251460"/>
                  </a:lnTo>
                  <a:lnTo>
                    <a:pt x="188848" y="252730"/>
                  </a:lnTo>
                  <a:lnTo>
                    <a:pt x="189102" y="254000"/>
                  </a:lnTo>
                  <a:lnTo>
                    <a:pt x="189610" y="255270"/>
                  </a:lnTo>
                  <a:lnTo>
                    <a:pt x="190118" y="255270"/>
                  </a:lnTo>
                  <a:lnTo>
                    <a:pt x="192150" y="257810"/>
                  </a:lnTo>
                  <a:lnTo>
                    <a:pt x="194817" y="260350"/>
                  </a:lnTo>
                  <a:lnTo>
                    <a:pt x="198754" y="264160"/>
                  </a:lnTo>
                  <a:lnTo>
                    <a:pt x="200405" y="265430"/>
                  </a:lnTo>
                  <a:lnTo>
                    <a:pt x="203200" y="266700"/>
                  </a:lnTo>
                  <a:lnTo>
                    <a:pt x="204469" y="267970"/>
                  </a:lnTo>
                  <a:lnTo>
                    <a:pt x="209550" y="267970"/>
                  </a:lnTo>
                  <a:lnTo>
                    <a:pt x="240156" y="231140"/>
                  </a:lnTo>
                  <a:lnTo>
                    <a:pt x="273138" y="231140"/>
                  </a:lnTo>
                  <a:lnTo>
                    <a:pt x="253491" y="214630"/>
                  </a:lnTo>
                  <a:lnTo>
                    <a:pt x="275589" y="187960"/>
                  </a:lnTo>
                  <a:lnTo>
                    <a:pt x="308948" y="187960"/>
                  </a:lnTo>
                  <a:lnTo>
                    <a:pt x="274954" y="160020"/>
                  </a:lnTo>
                  <a:lnTo>
                    <a:pt x="273303" y="158750"/>
                  </a:lnTo>
                  <a:lnTo>
                    <a:pt x="271525" y="157480"/>
                  </a:lnTo>
                  <a:close/>
                </a:path>
                <a:path w="394970" h="372110">
                  <a:moveTo>
                    <a:pt x="273138" y="231140"/>
                  </a:moveTo>
                  <a:lnTo>
                    <a:pt x="240156" y="231140"/>
                  </a:lnTo>
                  <a:lnTo>
                    <a:pt x="270255" y="255270"/>
                  </a:lnTo>
                  <a:lnTo>
                    <a:pt x="270763" y="256540"/>
                  </a:lnTo>
                  <a:lnTo>
                    <a:pt x="273176" y="256540"/>
                  </a:lnTo>
                  <a:lnTo>
                    <a:pt x="273938" y="255270"/>
                  </a:lnTo>
                  <a:lnTo>
                    <a:pt x="274827" y="255270"/>
                  </a:lnTo>
                  <a:lnTo>
                    <a:pt x="276732" y="254000"/>
                  </a:lnTo>
                  <a:lnTo>
                    <a:pt x="278764" y="251460"/>
                  </a:lnTo>
                  <a:lnTo>
                    <a:pt x="281304" y="248920"/>
                  </a:lnTo>
                  <a:lnTo>
                    <a:pt x="282320" y="247650"/>
                  </a:lnTo>
                  <a:lnTo>
                    <a:pt x="283082" y="246380"/>
                  </a:lnTo>
                  <a:lnTo>
                    <a:pt x="283717" y="245110"/>
                  </a:lnTo>
                  <a:lnTo>
                    <a:pt x="284225" y="243840"/>
                  </a:lnTo>
                  <a:lnTo>
                    <a:pt x="284479" y="243840"/>
                  </a:lnTo>
                  <a:lnTo>
                    <a:pt x="284606" y="241300"/>
                  </a:lnTo>
                  <a:lnTo>
                    <a:pt x="284098" y="240030"/>
                  </a:lnTo>
                  <a:lnTo>
                    <a:pt x="283717" y="240030"/>
                  </a:lnTo>
                  <a:lnTo>
                    <a:pt x="273138" y="231140"/>
                  </a:lnTo>
                  <a:close/>
                </a:path>
                <a:path w="394970" h="372110">
                  <a:moveTo>
                    <a:pt x="169925" y="72390"/>
                  </a:moveTo>
                  <a:lnTo>
                    <a:pt x="165353" y="72390"/>
                  </a:lnTo>
                  <a:lnTo>
                    <a:pt x="164845" y="73660"/>
                  </a:lnTo>
                  <a:lnTo>
                    <a:pt x="115061" y="133350"/>
                  </a:lnTo>
                  <a:lnTo>
                    <a:pt x="109727" y="138430"/>
                  </a:lnTo>
                  <a:lnTo>
                    <a:pt x="106044" y="144780"/>
                  </a:lnTo>
                  <a:lnTo>
                    <a:pt x="104012" y="151130"/>
                  </a:lnTo>
                  <a:lnTo>
                    <a:pt x="101853" y="157480"/>
                  </a:lnTo>
                  <a:lnTo>
                    <a:pt x="101345" y="162560"/>
                  </a:lnTo>
                  <a:lnTo>
                    <a:pt x="101218" y="163830"/>
                  </a:lnTo>
                  <a:lnTo>
                    <a:pt x="102742" y="175260"/>
                  </a:lnTo>
                  <a:lnTo>
                    <a:pt x="105028" y="181610"/>
                  </a:lnTo>
                  <a:lnTo>
                    <a:pt x="108584" y="186690"/>
                  </a:lnTo>
                  <a:lnTo>
                    <a:pt x="112267" y="193040"/>
                  </a:lnTo>
                  <a:lnTo>
                    <a:pt x="117093" y="198120"/>
                  </a:lnTo>
                  <a:lnTo>
                    <a:pt x="123316" y="203200"/>
                  </a:lnTo>
                  <a:lnTo>
                    <a:pt x="129920" y="208280"/>
                  </a:lnTo>
                  <a:lnTo>
                    <a:pt x="136397" y="213360"/>
                  </a:lnTo>
                  <a:lnTo>
                    <a:pt x="149478" y="218440"/>
                  </a:lnTo>
                  <a:lnTo>
                    <a:pt x="168147" y="218440"/>
                  </a:lnTo>
                  <a:lnTo>
                    <a:pt x="200270" y="194310"/>
                  </a:lnTo>
                  <a:lnTo>
                    <a:pt x="150748" y="194310"/>
                  </a:lnTo>
                  <a:lnTo>
                    <a:pt x="144144" y="191770"/>
                  </a:lnTo>
                  <a:lnTo>
                    <a:pt x="140969" y="190500"/>
                  </a:lnTo>
                  <a:lnTo>
                    <a:pt x="137794" y="187960"/>
                  </a:lnTo>
                  <a:lnTo>
                    <a:pt x="134746" y="185420"/>
                  </a:lnTo>
                  <a:lnTo>
                    <a:pt x="132333" y="181610"/>
                  </a:lnTo>
                  <a:lnTo>
                    <a:pt x="130555" y="179070"/>
                  </a:lnTo>
                  <a:lnTo>
                    <a:pt x="128904" y="176530"/>
                  </a:lnTo>
                  <a:lnTo>
                    <a:pt x="127888" y="172720"/>
                  </a:lnTo>
                  <a:lnTo>
                    <a:pt x="127380" y="166370"/>
                  </a:lnTo>
                  <a:lnTo>
                    <a:pt x="128015" y="162560"/>
                  </a:lnTo>
                  <a:lnTo>
                    <a:pt x="130809" y="154940"/>
                  </a:lnTo>
                  <a:lnTo>
                    <a:pt x="133222" y="151130"/>
                  </a:lnTo>
                  <a:lnTo>
                    <a:pt x="136525" y="147320"/>
                  </a:lnTo>
                  <a:lnTo>
                    <a:pt x="184911" y="90170"/>
                  </a:lnTo>
                  <a:lnTo>
                    <a:pt x="185292" y="88900"/>
                  </a:lnTo>
                  <a:lnTo>
                    <a:pt x="185546" y="88900"/>
                  </a:lnTo>
                  <a:lnTo>
                    <a:pt x="185546" y="87630"/>
                  </a:lnTo>
                  <a:lnTo>
                    <a:pt x="185292" y="86360"/>
                  </a:lnTo>
                  <a:lnTo>
                    <a:pt x="184657" y="85090"/>
                  </a:lnTo>
                  <a:lnTo>
                    <a:pt x="184150" y="85090"/>
                  </a:lnTo>
                  <a:lnTo>
                    <a:pt x="183260" y="83820"/>
                  </a:lnTo>
                  <a:lnTo>
                    <a:pt x="180975" y="81280"/>
                  </a:lnTo>
                  <a:lnTo>
                    <a:pt x="179450" y="80010"/>
                  </a:lnTo>
                  <a:lnTo>
                    <a:pt x="177545" y="77470"/>
                  </a:lnTo>
                  <a:lnTo>
                    <a:pt x="173862" y="74930"/>
                  </a:lnTo>
                  <a:lnTo>
                    <a:pt x="171068" y="73660"/>
                  </a:lnTo>
                  <a:lnTo>
                    <a:pt x="169925" y="72390"/>
                  </a:lnTo>
                  <a:close/>
                </a:path>
                <a:path w="394970" h="372110">
                  <a:moveTo>
                    <a:pt x="308948" y="187960"/>
                  </a:moveTo>
                  <a:lnTo>
                    <a:pt x="275589" y="187960"/>
                  </a:lnTo>
                  <a:lnTo>
                    <a:pt x="307720" y="214630"/>
                  </a:lnTo>
                  <a:lnTo>
                    <a:pt x="308101" y="215900"/>
                  </a:lnTo>
                  <a:lnTo>
                    <a:pt x="310641" y="215900"/>
                  </a:lnTo>
                  <a:lnTo>
                    <a:pt x="312165" y="214630"/>
                  </a:lnTo>
                  <a:lnTo>
                    <a:pt x="313054" y="213360"/>
                  </a:lnTo>
                  <a:lnTo>
                    <a:pt x="315086" y="212090"/>
                  </a:lnTo>
                  <a:lnTo>
                    <a:pt x="316229" y="210820"/>
                  </a:lnTo>
                  <a:lnTo>
                    <a:pt x="318769" y="208280"/>
                  </a:lnTo>
                  <a:lnTo>
                    <a:pt x="319785" y="207010"/>
                  </a:lnTo>
                  <a:lnTo>
                    <a:pt x="320420" y="205740"/>
                  </a:lnTo>
                  <a:lnTo>
                    <a:pt x="321182" y="204470"/>
                  </a:lnTo>
                  <a:lnTo>
                    <a:pt x="322198" y="201930"/>
                  </a:lnTo>
                  <a:lnTo>
                    <a:pt x="322325" y="200660"/>
                  </a:lnTo>
                  <a:lnTo>
                    <a:pt x="322198" y="200660"/>
                  </a:lnTo>
                  <a:lnTo>
                    <a:pt x="322071" y="199390"/>
                  </a:lnTo>
                  <a:lnTo>
                    <a:pt x="321817" y="199390"/>
                  </a:lnTo>
                  <a:lnTo>
                    <a:pt x="321309" y="198120"/>
                  </a:lnTo>
                  <a:lnTo>
                    <a:pt x="308948" y="187960"/>
                  </a:lnTo>
                  <a:close/>
                </a:path>
                <a:path w="394970" h="372110">
                  <a:moveTo>
                    <a:pt x="228472" y="121920"/>
                  </a:moveTo>
                  <a:lnTo>
                    <a:pt x="227075" y="121920"/>
                  </a:lnTo>
                  <a:lnTo>
                    <a:pt x="226440" y="123190"/>
                  </a:lnTo>
                  <a:lnTo>
                    <a:pt x="225425" y="123190"/>
                  </a:lnTo>
                  <a:lnTo>
                    <a:pt x="176148" y="182880"/>
                  </a:lnTo>
                  <a:lnTo>
                    <a:pt x="173227" y="186690"/>
                  </a:lnTo>
                  <a:lnTo>
                    <a:pt x="170179" y="189230"/>
                  </a:lnTo>
                  <a:lnTo>
                    <a:pt x="163829" y="193040"/>
                  </a:lnTo>
                  <a:lnTo>
                    <a:pt x="160527" y="194310"/>
                  </a:lnTo>
                  <a:lnTo>
                    <a:pt x="200270" y="194310"/>
                  </a:lnTo>
                  <a:lnTo>
                    <a:pt x="245236" y="139700"/>
                  </a:lnTo>
                  <a:lnTo>
                    <a:pt x="245617" y="139700"/>
                  </a:lnTo>
                  <a:lnTo>
                    <a:pt x="245744" y="137160"/>
                  </a:lnTo>
                  <a:lnTo>
                    <a:pt x="245109" y="135890"/>
                  </a:lnTo>
                  <a:lnTo>
                    <a:pt x="244601" y="134620"/>
                  </a:lnTo>
                  <a:lnTo>
                    <a:pt x="240029" y="130810"/>
                  </a:lnTo>
                  <a:lnTo>
                    <a:pt x="238125" y="128270"/>
                  </a:lnTo>
                  <a:lnTo>
                    <a:pt x="236219" y="127000"/>
                  </a:lnTo>
                  <a:lnTo>
                    <a:pt x="234441" y="125730"/>
                  </a:lnTo>
                  <a:lnTo>
                    <a:pt x="233044" y="124460"/>
                  </a:lnTo>
                  <a:lnTo>
                    <a:pt x="231647" y="124460"/>
                  </a:lnTo>
                  <a:lnTo>
                    <a:pt x="230504" y="123190"/>
                  </a:lnTo>
                  <a:lnTo>
                    <a:pt x="228472" y="121920"/>
                  </a:lnTo>
                  <a:close/>
                </a:path>
                <a:path w="394970" h="372110">
                  <a:moveTo>
                    <a:pt x="81914" y="0"/>
                  </a:moveTo>
                  <a:lnTo>
                    <a:pt x="77977" y="0"/>
                  </a:lnTo>
                  <a:lnTo>
                    <a:pt x="76072" y="1270"/>
                  </a:lnTo>
                  <a:lnTo>
                    <a:pt x="74167" y="3810"/>
                  </a:lnTo>
                  <a:lnTo>
                    <a:pt x="2666" y="88900"/>
                  </a:lnTo>
                  <a:lnTo>
                    <a:pt x="888" y="91440"/>
                  </a:lnTo>
                  <a:lnTo>
                    <a:pt x="0" y="93980"/>
                  </a:lnTo>
                  <a:lnTo>
                    <a:pt x="380" y="95250"/>
                  </a:lnTo>
                  <a:lnTo>
                    <a:pt x="507" y="96520"/>
                  </a:lnTo>
                  <a:lnTo>
                    <a:pt x="634" y="97790"/>
                  </a:lnTo>
                  <a:lnTo>
                    <a:pt x="1650" y="99060"/>
                  </a:lnTo>
                  <a:lnTo>
                    <a:pt x="3301" y="100330"/>
                  </a:lnTo>
                  <a:lnTo>
                    <a:pt x="29463" y="121920"/>
                  </a:lnTo>
                  <a:lnTo>
                    <a:pt x="33527" y="125730"/>
                  </a:lnTo>
                  <a:lnTo>
                    <a:pt x="40893" y="130810"/>
                  </a:lnTo>
                  <a:lnTo>
                    <a:pt x="44450" y="132080"/>
                  </a:lnTo>
                  <a:lnTo>
                    <a:pt x="48132" y="134620"/>
                  </a:lnTo>
                  <a:lnTo>
                    <a:pt x="59181" y="138430"/>
                  </a:lnTo>
                  <a:lnTo>
                    <a:pt x="73659" y="138430"/>
                  </a:lnTo>
                  <a:lnTo>
                    <a:pt x="80517" y="135890"/>
                  </a:lnTo>
                  <a:lnTo>
                    <a:pt x="83946" y="133350"/>
                  </a:lnTo>
                  <a:lnTo>
                    <a:pt x="87248" y="132080"/>
                  </a:lnTo>
                  <a:lnTo>
                    <a:pt x="90296" y="128270"/>
                  </a:lnTo>
                  <a:lnTo>
                    <a:pt x="93217" y="125730"/>
                  </a:lnTo>
                  <a:lnTo>
                    <a:pt x="96011" y="121920"/>
                  </a:lnTo>
                  <a:lnTo>
                    <a:pt x="98043" y="118110"/>
                  </a:lnTo>
                  <a:lnTo>
                    <a:pt x="99313" y="115570"/>
                  </a:lnTo>
                  <a:lnTo>
                    <a:pt x="56768" y="115570"/>
                  </a:lnTo>
                  <a:lnTo>
                    <a:pt x="51942" y="113030"/>
                  </a:lnTo>
                  <a:lnTo>
                    <a:pt x="49656" y="113030"/>
                  </a:lnTo>
                  <a:lnTo>
                    <a:pt x="46989" y="110490"/>
                  </a:lnTo>
                  <a:lnTo>
                    <a:pt x="44195" y="107950"/>
                  </a:lnTo>
                  <a:lnTo>
                    <a:pt x="29844" y="96520"/>
                  </a:lnTo>
                  <a:lnTo>
                    <a:pt x="53085" y="68580"/>
                  </a:lnTo>
                  <a:lnTo>
                    <a:pt x="86486" y="68580"/>
                  </a:lnTo>
                  <a:lnTo>
                    <a:pt x="81914" y="67310"/>
                  </a:lnTo>
                  <a:lnTo>
                    <a:pt x="79375" y="66040"/>
                  </a:lnTo>
                  <a:lnTo>
                    <a:pt x="76453" y="63500"/>
                  </a:lnTo>
                  <a:lnTo>
                    <a:pt x="65277" y="54610"/>
                  </a:lnTo>
                  <a:lnTo>
                    <a:pt x="86613" y="27940"/>
                  </a:lnTo>
                  <a:lnTo>
                    <a:pt x="116077" y="27940"/>
                  </a:lnTo>
                  <a:lnTo>
                    <a:pt x="110108" y="22860"/>
                  </a:lnTo>
                  <a:lnTo>
                    <a:pt x="85343" y="2540"/>
                  </a:lnTo>
                  <a:lnTo>
                    <a:pt x="83692" y="1270"/>
                  </a:lnTo>
                  <a:lnTo>
                    <a:pt x="81914" y="0"/>
                  </a:lnTo>
                  <a:close/>
                </a:path>
                <a:path w="394970" h="372110">
                  <a:moveTo>
                    <a:pt x="116077" y="27940"/>
                  </a:moveTo>
                  <a:lnTo>
                    <a:pt x="86613" y="27940"/>
                  </a:lnTo>
                  <a:lnTo>
                    <a:pt x="96646" y="36830"/>
                  </a:lnTo>
                  <a:lnTo>
                    <a:pt x="99694" y="39370"/>
                  </a:lnTo>
                  <a:lnTo>
                    <a:pt x="101980" y="41910"/>
                  </a:lnTo>
                  <a:lnTo>
                    <a:pt x="103377" y="44450"/>
                  </a:lnTo>
                  <a:lnTo>
                    <a:pt x="104775" y="45720"/>
                  </a:lnTo>
                  <a:lnTo>
                    <a:pt x="105663" y="48260"/>
                  </a:lnTo>
                  <a:lnTo>
                    <a:pt x="106044" y="49530"/>
                  </a:lnTo>
                  <a:lnTo>
                    <a:pt x="106171" y="54610"/>
                  </a:lnTo>
                  <a:lnTo>
                    <a:pt x="105409" y="55880"/>
                  </a:lnTo>
                  <a:lnTo>
                    <a:pt x="104775" y="58420"/>
                  </a:lnTo>
                  <a:lnTo>
                    <a:pt x="103631" y="60960"/>
                  </a:lnTo>
                  <a:lnTo>
                    <a:pt x="101980" y="62230"/>
                  </a:lnTo>
                  <a:lnTo>
                    <a:pt x="100456" y="64770"/>
                  </a:lnTo>
                  <a:lnTo>
                    <a:pt x="98805" y="66040"/>
                  </a:lnTo>
                  <a:lnTo>
                    <a:pt x="94995" y="67310"/>
                  </a:lnTo>
                  <a:lnTo>
                    <a:pt x="92963" y="68580"/>
                  </a:lnTo>
                  <a:lnTo>
                    <a:pt x="53085" y="68580"/>
                  </a:lnTo>
                  <a:lnTo>
                    <a:pt x="65023" y="78740"/>
                  </a:lnTo>
                  <a:lnTo>
                    <a:pt x="68579" y="81280"/>
                  </a:lnTo>
                  <a:lnTo>
                    <a:pt x="71246" y="83820"/>
                  </a:lnTo>
                  <a:lnTo>
                    <a:pt x="74802" y="88900"/>
                  </a:lnTo>
                  <a:lnTo>
                    <a:pt x="75818" y="91440"/>
                  </a:lnTo>
                  <a:lnTo>
                    <a:pt x="76580" y="95250"/>
                  </a:lnTo>
                  <a:lnTo>
                    <a:pt x="76580" y="99060"/>
                  </a:lnTo>
                  <a:lnTo>
                    <a:pt x="70103" y="110490"/>
                  </a:lnTo>
                  <a:lnTo>
                    <a:pt x="68071" y="113030"/>
                  </a:lnTo>
                  <a:lnTo>
                    <a:pt x="65912" y="113030"/>
                  </a:lnTo>
                  <a:lnTo>
                    <a:pt x="63753" y="114300"/>
                  </a:lnTo>
                  <a:lnTo>
                    <a:pt x="61467" y="115570"/>
                  </a:lnTo>
                  <a:lnTo>
                    <a:pt x="99313" y="115570"/>
                  </a:lnTo>
                  <a:lnTo>
                    <a:pt x="100456" y="111760"/>
                  </a:lnTo>
                  <a:lnTo>
                    <a:pt x="101091" y="107950"/>
                  </a:lnTo>
                  <a:lnTo>
                    <a:pt x="100964" y="101600"/>
                  </a:lnTo>
                  <a:lnTo>
                    <a:pt x="100202" y="97790"/>
                  </a:lnTo>
                  <a:lnTo>
                    <a:pt x="98932" y="93980"/>
                  </a:lnTo>
                  <a:lnTo>
                    <a:pt x="95757" y="87630"/>
                  </a:lnTo>
                  <a:lnTo>
                    <a:pt x="93471" y="85090"/>
                  </a:lnTo>
                  <a:lnTo>
                    <a:pt x="112648" y="85090"/>
                  </a:lnTo>
                  <a:lnTo>
                    <a:pt x="117475" y="82550"/>
                  </a:lnTo>
                  <a:lnTo>
                    <a:pt x="119760" y="81280"/>
                  </a:lnTo>
                  <a:lnTo>
                    <a:pt x="121919" y="78740"/>
                  </a:lnTo>
                  <a:lnTo>
                    <a:pt x="123951" y="76200"/>
                  </a:lnTo>
                  <a:lnTo>
                    <a:pt x="127507" y="72390"/>
                  </a:lnTo>
                  <a:lnTo>
                    <a:pt x="129793" y="68580"/>
                  </a:lnTo>
                  <a:lnTo>
                    <a:pt x="132079" y="59690"/>
                  </a:lnTo>
                  <a:lnTo>
                    <a:pt x="131952" y="54610"/>
                  </a:lnTo>
                  <a:lnTo>
                    <a:pt x="129666" y="45720"/>
                  </a:lnTo>
                  <a:lnTo>
                    <a:pt x="127507" y="41910"/>
                  </a:lnTo>
                  <a:lnTo>
                    <a:pt x="124078" y="36830"/>
                  </a:lnTo>
                  <a:lnTo>
                    <a:pt x="120776" y="33020"/>
                  </a:lnTo>
                  <a:lnTo>
                    <a:pt x="116077" y="27940"/>
                  </a:lnTo>
                  <a:close/>
                </a:path>
                <a:path w="394970" h="372110">
                  <a:moveTo>
                    <a:pt x="107441" y="86360"/>
                  </a:moveTo>
                  <a:lnTo>
                    <a:pt x="99059" y="86360"/>
                  </a:lnTo>
                  <a:lnTo>
                    <a:pt x="101853" y="87630"/>
                  </a:lnTo>
                  <a:lnTo>
                    <a:pt x="104647" y="87630"/>
                  </a:lnTo>
                  <a:lnTo>
                    <a:pt x="107441" y="86360"/>
                  </a:lnTo>
                  <a:close/>
                </a:path>
                <a:path w="394970" h="372110">
                  <a:moveTo>
                    <a:pt x="112648" y="85090"/>
                  </a:moveTo>
                  <a:lnTo>
                    <a:pt x="93471" y="85090"/>
                  </a:lnTo>
                  <a:lnTo>
                    <a:pt x="96265" y="86360"/>
                  </a:lnTo>
                  <a:lnTo>
                    <a:pt x="109981" y="86360"/>
                  </a:lnTo>
                  <a:lnTo>
                    <a:pt x="112648" y="850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16223" y="2833116"/>
              <a:ext cx="4297680" cy="86410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3358768" y="2855976"/>
              <a:ext cx="4178935" cy="706755"/>
            </a:xfrm>
            <a:custGeom>
              <a:avLst/>
              <a:gdLst/>
              <a:ahLst/>
              <a:cxnLst/>
              <a:rect l="l" t="t" r="r" b="b"/>
              <a:pathLst>
                <a:path w="4178934" h="706754">
                  <a:moveTo>
                    <a:pt x="25400" y="165100"/>
                  </a:moveTo>
                  <a:lnTo>
                    <a:pt x="0" y="165100"/>
                  </a:lnTo>
                  <a:lnTo>
                    <a:pt x="0" y="241300"/>
                  </a:lnTo>
                  <a:lnTo>
                    <a:pt x="25400" y="241300"/>
                  </a:lnTo>
                  <a:lnTo>
                    <a:pt x="25400" y="165100"/>
                  </a:lnTo>
                  <a:close/>
                </a:path>
                <a:path w="4178934" h="706754">
                  <a:moveTo>
                    <a:pt x="25400" y="63500"/>
                  </a:moveTo>
                  <a:lnTo>
                    <a:pt x="0" y="63500"/>
                  </a:lnTo>
                  <a:lnTo>
                    <a:pt x="0" y="139700"/>
                  </a:lnTo>
                  <a:lnTo>
                    <a:pt x="25400" y="139700"/>
                  </a:lnTo>
                  <a:lnTo>
                    <a:pt x="25400" y="63500"/>
                  </a:lnTo>
                  <a:close/>
                </a:path>
                <a:path w="4178934" h="706754">
                  <a:moveTo>
                    <a:pt x="63500" y="0"/>
                  </a:moveTo>
                  <a:lnTo>
                    <a:pt x="5714" y="0"/>
                  </a:lnTo>
                  <a:lnTo>
                    <a:pt x="0" y="5714"/>
                  </a:lnTo>
                  <a:lnTo>
                    <a:pt x="0" y="38100"/>
                  </a:lnTo>
                  <a:lnTo>
                    <a:pt x="25400" y="38100"/>
                  </a:lnTo>
                  <a:lnTo>
                    <a:pt x="25400" y="25400"/>
                  </a:lnTo>
                  <a:lnTo>
                    <a:pt x="12700" y="25400"/>
                  </a:lnTo>
                  <a:lnTo>
                    <a:pt x="25400" y="12700"/>
                  </a:lnTo>
                  <a:lnTo>
                    <a:pt x="63500" y="12700"/>
                  </a:lnTo>
                  <a:lnTo>
                    <a:pt x="63500" y="0"/>
                  </a:lnTo>
                  <a:close/>
                </a:path>
                <a:path w="4178934" h="706754">
                  <a:moveTo>
                    <a:pt x="25400" y="12700"/>
                  </a:moveTo>
                  <a:lnTo>
                    <a:pt x="12700" y="25400"/>
                  </a:lnTo>
                  <a:lnTo>
                    <a:pt x="25400" y="25400"/>
                  </a:lnTo>
                  <a:lnTo>
                    <a:pt x="25400" y="12700"/>
                  </a:lnTo>
                  <a:close/>
                </a:path>
                <a:path w="4178934" h="706754">
                  <a:moveTo>
                    <a:pt x="63500" y="12700"/>
                  </a:moveTo>
                  <a:lnTo>
                    <a:pt x="25400" y="12700"/>
                  </a:lnTo>
                  <a:lnTo>
                    <a:pt x="25400" y="25400"/>
                  </a:lnTo>
                  <a:lnTo>
                    <a:pt x="63500" y="25400"/>
                  </a:lnTo>
                  <a:lnTo>
                    <a:pt x="63500" y="12700"/>
                  </a:lnTo>
                  <a:close/>
                </a:path>
                <a:path w="4178934" h="706754">
                  <a:moveTo>
                    <a:pt x="165100" y="0"/>
                  </a:moveTo>
                  <a:lnTo>
                    <a:pt x="88900" y="0"/>
                  </a:lnTo>
                  <a:lnTo>
                    <a:pt x="88900" y="25400"/>
                  </a:lnTo>
                  <a:lnTo>
                    <a:pt x="165100" y="25400"/>
                  </a:lnTo>
                  <a:lnTo>
                    <a:pt x="165100" y="0"/>
                  </a:lnTo>
                  <a:close/>
                </a:path>
                <a:path w="4178934" h="706754">
                  <a:moveTo>
                    <a:pt x="266700" y="0"/>
                  </a:moveTo>
                  <a:lnTo>
                    <a:pt x="190500" y="0"/>
                  </a:lnTo>
                  <a:lnTo>
                    <a:pt x="190500" y="25400"/>
                  </a:lnTo>
                  <a:lnTo>
                    <a:pt x="266700" y="25400"/>
                  </a:lnTo>
                  <a:lnTo>
                    <a:pt x="266700" y="0"/>
                  </a:lnTo>
                  <a:close/>
                </a:path>
                <a:path w="4178934" h="706754">
                  <a:moveTo>
                    <a:pt x="368300" y="0"/>
                  </a:moveTo>
                  <a:lnTo>
                    <a:pt x="292100" y="0"/>
                  </a:lnTo>
                  <a:lnTo>
                    <a:pt x="292100" y="25400"/>
                  </a:lnTo>
                  <a:lnTo>
                    <a:pt x="368300" y="25400"/>
                  </a:lnTo>
                  <a:lnTo>
                    <a:pt x="368300" y="0"/>
                  </a:lnTo>
                  <a:close/>
                </a:path>
                <a:path w="4178934" h="706754">
                  <a:moveTo>
                    <a:pt x="469900" y="0"/>
                  </a:moveTo>
                  <a:lnTo>
                    <a:pt x="393700" y="0"/>
                  </a:lnTo>
                  <a:lnTo>
                    <a:pt x="393700" y="25400"/>
                  </a:lnTo>
                  <a:lnTo>
                    <a:pt x="469900" y="25400"/>
                  </a:lnTo>
                  <a:lnTo>
                    <a:pt x="469900" y="0"/>
                  </a:lnTo>
                  <a:close/>
                </a:path>
                <a:path w="4178934" h="706754">
                  <a:moveTo>
                    <a:pt x="571500" y="0"/>
                  </a:moveTo>
                  <a:lnTo>
                    <a:pt x="495300" y="0"/>
                  </a:lnTo>
                  <a:lnTo>
                    <a:pt x="495300" y="25400"/>
                  </a:lnTo>
                  <a:lnTo>
                    <a:pt x="571500" y="25400"/>
                  </a:lnTo>
                  <a:lnTo>
                    <a:pt x="571500" y="0"/>
                  </a:lnTo>
                  <a:close/>
                </a:path>
                <a:path w="4178934" h="706754">
                  <a:moveTo>
                    <a:pt x="673100" y="0"/>
                  </a:moveTo>
                  <a:lnTo>
                    <a:pt x="596900" y="0"/>
                  </a:lnTo>
                  <a:lnTo>
                    <a:pt x="596900" y="25400"/>
                  </a:lnTo>
                  <a:lnTo>
                    <a:pt x="673100" y="25400"/>
                  </a:lnTo>
                  <a:lnTo>
                    <a:pt x="673100" y="0"/>
                  </a:lnTo>
                  <a:close/>
                </a:path>
                <a:path w="4178934" h="706754">
                  <a:moveTo>
                    <a:pt x="774700" y="0"/>
                  </a:moveTo>
                  <a:lnTo>
                    <a:pt x="698500" y="0"/>
                  </a:lnTo>
                  <a:lnTo>
                    <a:pt x="698500" y="25400"/>
                  </a:lnTo>
                  <a:lnTo>
                    <a:pt x="774700" y="25400"/>
                  </a:lnTo>
                  <a:lnTo>
                    <a:pt x="774700" y="0"/>
                  </a:lnTo>
                  <a:close/>
                </a:path>
                <a:path w="4178934" h="706754">
                  <a:moveTo>
                    <a:pt x="876300" y="0"/>
                  </a:moveTo>
                  <a:lnTo>
                    <a:pt x="800100" y="0"/>
                  </a:lnTo>
                  <a:lnTo>
                    <a:pt x="800100" y="25400"/>
                  </a:lnTo>
                  <a:lnTo>
                    <a:pt x="876300" y="25400"/>
                  </a:lnTo>
                  <a:lnTo>
                    <a:pt x="876300" y="0"/>
                  </a:lnTo>
                  <a:close/>
                </a:path>
                <a:path w="4178934" h="706754">
                  <a:moveTo>
                    <a:pt x="977900" y="0"/>
                  </a:moveTo>
                  <a:lnTo>
                    <a:pt x="901700" y="0"/>
                  </a:lnTo>
                  <a:lnTo>
                    <a:pt x="901700" y="25400"/>
                  </a:lnTo>
                  <a:lnTo>
                    <a:pt x="977900" y="25400"/>
                  </a:lnTo>
                  <a:lnTo>
                    <a:pt x="977900" y="0"/>
                  </a:lnTo>
                  <a:close/>
                </a:path>
                <a:path w="4178934" h="706754">
                  <a:moveTo>
                    <a:pt x="1079500" y="0"/>
                  </a:moveTo>
                  <a:lnTo>
                    <a:pt x="1003300" y="0"/>
                  </a:lnTo>
                  <a:lnTo>
                    <a:pt x="1003300" y="25400"/>
                  </a:lnTo>
                  <a:lnTo>
                    <a:pt x="1079500" y="25400"/>
                  </a:lnTo>
                  <a:lnTo>
                    <a:pt x="1079500" y="0"/>
                  </a:lnTo>
                  <a:close/>
                </a:path>
                <a:path w="4178934" h="706754">
                  <a:moveTo>
                    <a:pt x="1181100" y="0"/>
                  </a:moveTo>
                  <a:lnTo>
                    <a:pt x="1104900" y="0"/>
                  </a:lnTo>
                  <a:lnTo>
                    <a:pt x="1104900" y="25400"/>
                  </a:lnTo>
                  <a:lnTo>
                    <a:pt x="1181100" y="25400"/>
                  </a:lnTo>
                  <a:lnTo>
                    <a:pt x="1181100" y="0"/>
                  </a:lnTo>
                  <a:close/>
                </a:path>
                <a:path w="4178934" h="706754">
                  <a:moveTo>
                    <a:pt x="1282700" y="0"/>
                  </a:moveTo>
                  <a:lnTo>
                    <a:pt x="1206500" y="0"/>
                  </a:lnTo>
                  <a:lnTo>
                    <a:pt x="1206500" y="25400"/>
                  </a:lnTo>
                  <a:lnTo>
                    <a:pt x="1282700" y="25400"/>
                  </a:lnTo>
                  <a:lnTo>
                    <a:pt x="1282700" y="0"/>
                  </a:lnTo>
                  <a:close/>
                </a:path>
                <a:path w="4178934" h="706754">
                  <a:moveTo>
                    <a:pt x="1384300" y="0"/>
                  </a:moveTo>
                  <a:lnTo>
                    <a:pt x="1308100" y="0"/>
                  </a:lnTo>
                  <a:lnTo>
                    <a:pt x="1308100" y="25400"/>
                  </a:lnTo>
                  <a:lnTo>
                    <a:pt x="1384300" y="25400"/>
                  </a:lnTo>
                  <a:lnTo>
                    <a:pt x="1384300" y="0"/>
                  </a:lnTo>
                  <a:close/>
                </a:path>
                <a:path w="4178934" h="706754">
                  <a:moveTo>
                    <a:pt x="1485900" y="0"/>
                  </a:moveTo>
                  <a:lnTo>
                    <a:pt x="1409700" y="0"/>
                  </a:lnTo>
                  <a:lnTo>
                    <a:pt x="1409700" y="25400"/>
                  </a:lnTo>
                  <a:lnTo>
                    <a:pt x="1485900" y="25400"/>
                  </a:lnTo>
                  <a:lnTo>
                    <a:pt x="1485900" y="0"/>
                  </a:lnTo>
                  <a:close/>
                </a:path>
                <a:path w="4178934" h="706754">
                  <a:moveTo>
                    <a:pt x="1587500" y="0"/>
                  </a:moveTo>
                  <a:lnTo>
                    <a:pt x="1511300" y="0"/>
                  </a:lnTo>
                  <a:lnTo>
                    <a:pt x="1511300" y="25400"/>
                  </a:lnTo>
                  <a:lnTo>
                    <a:pt x="1587500" y="25400"/>
                  </a:lnTo>
                  <a:lnTo>
                    <a:pt x="1587500" y="0"/>
                  </a:lnTo>
                  <a:close/>
                </a:path>
                <a:path w="4178934" h="706754">
                  <a:moveTo>
                    <a:pt x="1689100" y="0"/>
                  </a:moveTo>
                  <a:lnTo>
                    <a:pt x="1612900" y="0"/>
                  </a:lnTo>
                  <a:lnTo>
                    <a:pt x="1612900" y="25400"/>
                  </a:lnTo>
                  <a:lnTo>
                    <a:pt x="1689100" y="25400"/>
                  </a:lnTo>
                  <a:lnTo>
                    <a:pt x="1689100" y="0"/>
                  </a:lnTo>
                  <a:close/>
                </a:path>
                <a:path w="4178934" h="706754">
                  <a:moveTo>
                    <a:pt x="1790700" y="0"/>
                  </a:moveTo>
                  <a:lnTo>
                    <a:pt x="1714500" y="0"/>
                  </a:lnTo>
                  <a:lnTo>
                    <a:pt x="1714500" y="25400"/>
                  </a:lnTo>
                  <a:lnTo>
                    <a:pt x="1790700" y="25400"/>
                  </a:lnTo>
                  <a:lnTo>
                    <a:pt x="1790700" y="0"/>
                  </a:lnTo>
                  <a:close/>
                </a:path>
                <a:path w="4178934" h="706754">
                  <a:moveTo>
                    <a:pt x="1892300" y="0"/>
                  </a:moveTo>
                  <a:lnTo>
                    <a:pt x="1816100" y="0"/>
                  </a:lnTo>
                  <a:lnTo>
                    <a:pt x="1816100" y="25400"/>
                  </a:lnTo>
                  <a:lnTo>
                    <a:pt x="1892300" y="25400"/>
                  </a:lnTo>
                  <a:lnTo>
                    <a:pt x="1892300" y="0"/>
                  </a:lnTo>
                  <a:close/>
                </a:path>
                <a:path w="4178934" h="706754">
                  <a:moveTo>
                    <a:pt x="1993900" y="0"/>
                  </a:moveTo>
                  <a:lnTo>
                    <a:pt x="1917700" y="0"/>
                  </a:lnTo>
                  <a:lnTo>
                    <a:pt x="1917700" y="25400"/>
                  </a:lnTo>
                  <a:lnTo>
                    <a:pt x="1993900" y="25400"/>
                  </a:lnTo>
                  <a:lnTo>
                    <a:pt x="1993900" y="0"/>
                  </a:lnTo>
                  <a:close/>
                </a:path>
                <a:path w="4178934" h="706754">
                  <a:moveTo>
                    <a:pt x="2095500" y="0"/>
                  </a:moveTo>
                  <a:lnTo>
                    <a:pt x="2019300" y="0"/>
                  </a:lnTo>
                  <a:lnTo>
                    <a:pt x="2019300" y="25400"/>
                  </a:lnTo>
                  <a:lnTo>
                    <a:pt x="2095500" y="25400"/>
                  </a:lnTo>
                  <a:lnTo>
                    <a:pt x="2095500" y="0"/>
                  </a:lnTo>
                  <a:close/>
                </a:path>
                <a:path w="4178934" h="706754">
                  <a:moveTo>
                    <a:pt x="2197100" y="0"/>
                  </a:moveTo>
                  <a:lnTo>
                    <a:pt x="2120900" y="0"/>
                  </a:lnTo>
                  <a:lnTo>
                    <a:pt x="2120900" y="25400"/>
                  </a:lnTo>
                  <a:lnTo>
                    <a:pt x="2197100" y="25400"/>
                  </a:lnTo>
                  <a:lnTo>
                    <a:pt x="2197100" y="0"/>
                  </a:lnTo>
                  <a:close/>
                </a:path>
                <a:path w="4178934" h="706754">
                  <a:moveTo>
                    <a:pt x="2298700" y="0"/>
                  </a:moveTo>
                  <a:lnTo>
                    <a:pt x="2222500" y="0"/>
                  </a:lnTo>
                  <a:lnTo>
                    <a:pt x="2222500" y="25400"/>
                  </a:lnTo>
                  <a:lnTo>
                    <a:pt x="2298700" y="25400"/>
                  </a:lnTo>
                  <a:lnTo>
                    <a:pt x="2298700" y="0"/>
                  </a:lnTo>
                  <a:close/>
                </a:path>
                <a:path w="4178934" h="706754">
                  <a:moveTo>
                    <a:pt x="2400300" y="0"/>
                  </a:moveTo>
                  <a:lnTo>
                    <a:pt x="2324100" y="0"/>
                  </a:lnTo>
                  <a:lnTo>
                    <a:pt x="2324100" y="25400"/>
                  </a:lnTo>
                  <a:lnTo>
                    <a:pt x="2400300" y="25400"/>
                  </a:lnTo>
                  <a:lnTo>
                    <a:pt x="2400300" y="0"/>
                  </a:lnTo>
                  <a:close/>
                </a:path>
                <a:path w="4178934" h="706754">
                  <a:moveTo>
                    <a:pt x="2501900" y="0"/>
                  </a:moveTo>
                  <a:lnTo>
                    <a:pt x="2425700" y="0"/>
                  </a:lnTo>
                  <a:lnTo>
                    <a:pt x="2425700" y="25400"/>
                  </a:lnTo>
                  <a:lnTo>
                    <a:pt x="2501900" y="25400"/>
                  </a:lnTo>
                  <a:lnTo>
                    <a:pt x="2501900" y="0"/>
                  </a:lnTo>
                  <a:close/>
                </a:path>
                <a:path w="4178934" h="706754">
                  <a:moveTo>
                    <a:pt x="2603500" y="0"/>
                  </a:moveTo>
                  <a:lnTo>
                    <a:pt x="2527300" y="0"/>
                  </a:lnTo>
                  <a:lnTo>
                    <a:pt x="2527300" y="25400"/>
                  </a:lnTo>
                  <a:lnTo>
                    <a:pt x="2603500" y="25400"/>
                  </a:lnTo>
                  <a:lnTo>
                    <a:pt x="2603500" y="0"/>
                  </a:lnTo>
                  <a:close/>
                </a:path>
                <a:path w="4178934" h="706754">
                  <a:moveTo>
                    <a:pt x="2705100" y="0"/>
                  </a:moveTo>
                  <a:lnTo>
                    <a:pt x="2628900" y="0"/>
                  </a:lnTo>
                  <a:lnTo>
                    <a:pt x="2628900" y="25400"/>
                  </a:lnTo>
                  <a:lnTo>
                    <a:pt x="2705100" y="25400"/>
                  </a:lnTo>
                  <a:lnTo>
                    <a:pt x="2705100" y="0"/>
                  </a:lnTo>
                  <a:close/>
                </a:path>
                <a:path w="4178934" h="706754">
                  <a:moveTo>
                    <a:pt x="2806700" y="0"/>
                  </a:moveTo>
                  <a:lnTo>
                    <a:pt x="2730500" y="0"/>
                  </a:lnTo>
                  <a:lnTo>
                    <a:pt x="2730500" y="25400"/>
                  </a:lnTo>
                  <a:lnTo>
                    <a:pt x="2806700" y="25400"/>
                  </a:lnTo>
                  <a:lnTo>
                    <a:pt x="2806700" y="0"/>
                  </a:lnTo>
                  <a:close/>
                </a:path>
                <a:path w="4178934" h="706754">
                  <a:moveTo>
                    <a:pt x="2908300" y="0"/>
                  </a:moveTo>
                  <a:lnTo>
                    <a:pt x="2832100" y="0"/>
                  </a:lnTo>
                  <a:lnTo>
                    <a:pt x="2832100" y="25400"/>
                  </a:lnTo>
                  <a:lnTo>
                    <a:pt x="2908300" y="25400"/>
                  </a:lnTo>
                  <a:lnTo>
                    <a:pt x="2908300" y="0"/>
                  </a:lnTo>
                  <a:close/>
                </a:path>
                <a:path w="4178934" h="706754">
                  <a:moveTo>
                    <a:pt x="3009900" y="0"/>
                  </a:moveTo>
                  <a:lnTo>
                    <a:pt x="2933700" y="0"/>
                  </a:lnTo>
                  <a:lnTo>
                    <a:pt x="2933700" y="25400"/>
                  </a:lnTo>
                  <a:lnTo>
                    <a:pt x="3009900" y="25400"/>
                  </a:lnTo>
                  <a:lnTo>
                    <a:pt x="3009900" y="0"/>
                  </a:lnTo>
                  <a:close/>
                </a:path>
                <a:path w="4178934" h="706754">
                  <a:moveTo>
                    <a:pt x="3111500" y="0"/>
                  </a:moveTo>
                  <a:lnTo>
                    <a:pt x="3035300" y="0"/>
                  </a:lnTo>
                  <a:lnTo>
                    <a:pt x="3035300" y="25400"/>
                  </a:lnTo>
                  <a:lnTo>
                    <a:pt x="3111500" y="25400"/>
                  </a:lnTo>
                  <a:lnTo>
                    <a:pt x="3111500" y="0"/>
                  </a:lnTo>
                  <a:close/>
                </a:path>
                <a:path w="4178934" h="706754">
                  <a:moveTo>
                    <a:pt x="3213100" y="0"/>
                  </a:moveTo>
                  <a:lnTo>
                    <a:pt x="3136900" y="0"/>
                  </a:lnTo>
                  <a:lnTo>
                    <a:pt x="3136900" y="25400"/>
                  </a:lnTo>
                  <a:lnTo>
                    <a:pt x="3213100" y="25400"/>
                  </a:lnTo>
                  <a:lnTo>
                    <a:pt x="3213100" y="0"/>
                  </a:lnTo>
                  <a:close/>
                </a:path>
                <a:path w="4178934" h="706754">
                  <a:moveTo>
                    <a:pt x="3314700" y="0"/>
                  </a:moveTo>
                  <a:lnTo>
                    <a:pt x="3238500" y="0"/>
                  </a:lnTo>
                  <a:lnTo>
                    <a:pt x="3238500" y="25400"/>
                  </a:lnTo>
                  <a:lnTo>
                    <a:pt x="3314700" y="25400"/>
                  </a:lnTo>
                  <a:lnTo>
                    <a:pt x="3314700" y="0"/>
                  </a:lnTo>
                  <a:close/>
                </a:path>
                <a:path w="4178934" h="706754">
                  <a:moveTo>
                    <a:pt x="3416300" y="0"/>
                  </a:moveTo>
                  <a:lnTo>
                    <a:pt x="3340100" y="0"/>
                  </a:lnTo>
                  <a:lnTo>
                    <a:pt x="3340100" y="25400"/>
                  </a:lnTo>
                  <a:lnTo>
                    <a:pt x="3416300" y="25400"/>
                  </a:lnTo>
                  <a:lnTo>
                    <a:pt x="3416300" y="0"/>
                  </a:lnTo>
                  <a:close/>
                </a:path>
                <a:path w="4178934" h="706754">
                  <a:moveTo>
                    <a:pt x="3517900" y="0"/>
                  </a:moveTo>
                  <a:lnTo>
                    <a:pt x="3441700" y="0"/>
                  </a:lnTo>
                  <a:lnTo>
                    <a:pt x="3441700" y="25400"/>
                  </a:lnTo>
                  <a:lnTo>
                    <a:pt x="3517900" y="25400"/>
                  </a:lnTo>
                  <a:lnTo>
                    <a:pt x="3517900" y="0"/>
                  </a:lnTo>
                  <a:close/>
                </a:path>
                <a:path w="4178934" h="706754">
                  <a:moveTo>
                    <a:pt x="3619500" y="0"/>
                  </a:moveTo>
                  <a:lnTo>
                    <a:pt x="3543300" y="0"/>
                  </a:lnTo>
                  <a:lnTo>
                    <a:pt x="3543300" y="25400"/>
                  </a:lnTo>
                  <a:lnTo>
                    <a:pt x="3619500" y="25400"/>
                  </a:lnTo>
                  <a:lnTo>
                    <a:pt x="3619500" y="0"/>
                  </a:lnTo>
                  <a:close/>
                </a:path>
                <a:path w="4178934" h="706754">
                  <a:moveTo>
                    <a:pt x="3721100" y="0"/>
                  </a:moveTo>
                  <a:lnTo>
                    <a:pt x="3644900" y="0"/>
                  </a:lnTo>
                  <a:lnTo>
                    <a:pt x="3644900" y="25400"/>
                  </a:lnTo>
                  <a:lnTo>
                    <a:pt x="3721100" y="25400"/>
                  </a:lnTo>
                  <a:lnTo>
                    <a:pt x="3721100" y="0"/>
                  </a:lnTo>
                  <a:close/>
                </a:path>
                <a:path w="4178934" h="706754">
                  <a:moveTo>
                    <a:pt x="3822700" y="0"/>
                  </a:moveTo>
                  <a:lnTo>
                    <a:pt x="3746500" y="0"/>
                  </a:lnTo>
                  <a:lnTo>
                    <a:pt x="3746500" y="25400"/>
                  </a:lnTo>
                  <a:lnTo>
                    <a:pt x="3822700" y="25400"/>
                  </a:lnTo>
                  <a:lnTo>
                    <a:pt x="3822700" y="0"/>
                  </a:lnTo>
                  <a:close/>
                </a:path>
                <a:path w="4178934" h="706754">
                  <a:moveTo>
                    <a:pt x="3924300" y="0"/>
                  </a:moveTo>
                  <a:lnTo>
                    <a:pt x="3848100" y="0"/>
                  </a:lnTo>
                  <a:lnTo>
                    <a:pt x="3848100" y="25400"/>
                  </a:lnTo>
                  <a:lnTo>
                    <a:pt x="3924300" y="25400"/>
                  </a:lnTo>
                  <a:lnTo>
                    <a:pt x="3924300" y="0"/>
                  </a:lnTo>
                  <a:close/>
                </a:path>
                <a:path w="4178934" h="706754">
                  <a:moveTo>
                    <a:pt x="4025900" y="0"/>
                  </a:moveTo>
                  <a:lnTo>
                    <a:pt x="3949700" y="0"/>
                  </a:lnTo>
                  <a:lnTo>
                    <a:pt x="3949700" y="25400"/>
                  </a:lnTo>
                  <a:lnTo>
                    <a:pt x="4025900" y="25400"/>
                  </a:lnTo>
                  <a:lnTo>
                    <a:pt x="4025900" y="0"/>
                  </a:lnTo>
                  <a:close/>
                </a:path>
                <a:path w="4178934" h="706754">
                  <a:moveTo>
                    <a:pt x="4127500" y="0"/>
                  </a:moveTo>
                  <a:lnTo>
                    <a:pt x="4051300" y="0"/>
                  </a:lnTo>
                  <a:lnTo>
                    <a:pt x="4051300" y="25400"/>
                  </a:lnTo>
                  <a:lnTo>
                    <a:pt x="4127500" y="25400"/>
                  </a:lnTo>
                  <a:lnTo>
                    <a:pt x="4127500" y="0"/>
                  </a:lnTo>
                  <a:close/>
                </a:path>
                <a:path w="4178934" h="706754">
                  <a:moveTo>
                    <a:pt x="4153407" y="24891"/>
                  </a:moveTo>
                  <a:lnTo>
                    <a:pt x="4128007" y="24891"/>
                  </a:lnTo>
                  <a:lnTo>
                    <a:pt x="4128007" y="101091"/>
                  </a:lnTo>
                  <a:lnTo>
                    <a:pt x="4153407" y="101091"/>
                  </a:lnTo>
                  <a:lnTo>
                    <a:pt x="4153407" y="24891"/>
                  </a:lnTo>
                  <a:close/>
                </a:path>
                <a:path w="4178934" h="706754">
                  <a:moveTo>
                    <a:pt x="4153407" y="126491"/>
                  </a:moveTo>
                  <a:lnTo>
                    <a:pt x="4128007" y="126491"/>
                  </a:lnTo>
                  <a:lnTo>
                    <a:pt x="4128007" y="202691"/>
                  </a:lnTo>
                  <a:lnTo>
                    <a:pt x="4153407" y="202691"/>
                  </a:lnTo>
                  <a:lnTo>
                    <a:pt x="4153407" y="126491"/>
                  </a:lnTo>
                  <a:close/>
                </a:path>
                <a:path w="4178934" h="706754">
                  <a:moveTo>
                    <a:pt x="4153407" y="228091"/>
                  </a:moveTo>
                  <a:lnTo>
                    <a:pt x="4128007" y="228091"/>
                  </a:lnTo>
                  <a:lnTo>
                    <a:pt x="4128007" y="304291"/>
                  </a:lnTo>
                  <a:lnTo>
                    <a:pt x="4153407" y="304291"/>
                  </a:lnTo>
                  <a:lnTo>
                    <a:pt x="4153407" y="228091"/>
                  </a:lnTo>
                  <a:close/>
                </a:path>
                <a:path w="4178934" h="706754">
                  <a:moveTo>
                    <a:pt x="4153407" y="329691"/>
                  </a:moveTo>
                  <a:lnTo>
                    <a:pt x="4128007" y="329691"/>
                  </a:lnTo>
                  <a:lnTo>
                    <a:pt x="4128007" y="405891"/>
                  </a:lnTo>
                  <a:lnTo>
                    <a:pt x="4153407" y="405891"/>
                  </a:lnTo>
                  <a:lnTo>
                    <a:pt x="4153407" y="329691"/>
                  </a:lnTo>
                  <a:close/>
                </a:path>
                <a:path w="4178934" h="706754">
                  <a:moveTo>
                    <a:pt x="4153407" y="431291"/>
                  </a:moveTo>
                  <a:lnTo>
                    <a:pt x="4128007" y="431291"/>
                  </a:lnTo>
                  <a:lnTo>
                    <a:pt x="4128007" y="507491"/>
                  </a:lnTo>
                  <a:lnTo>
                    <a:pt x="4153407" y="507491"/>
                  </a:lnTo>
                  <a:lnTo>
                    <a:pt x="4153407" y="431291"/>
                  </a:lnTo>
                  <a:close/>
                </a:path>
                <a:path w="4178934" h="706754">
                  <a:moveTo>
                    <a:pt x="4153407" y="532891"/>
                  </a:moveTo>
                  <a:lnTo>
                    <a:pt x="4128007" y="532891"/>
                  </a:lnTo>
                  <a:lnTo>
                    <a:pt x="4128007" y="609091"/>
                  </a:lnTo>
                  <a:lnTo>
                    <a:pt x="4153407" y="609091"/>
                  </a:lnTo>
                  <a:lnTo>
                    <a:pt x="4153407" y="532891"/>
                  </a:lnTo>
                  <a:close/>
                </a:path>
                <a:path w="4178934" h="706754">
                  <a:moveTo>
                    <a:pt x="4178807" y="630174"/>
                  </a:moveTo>
                  <a:lnTo>
                    <a:pt x="4102607" y="630174"/>
                  </a:lnTo>
                  <a:lnTo>
                    <a:pt x="4140707" y="706374"/>
                  </a:lnTo>
                  <a:lnTo>
                    <a:pt x="4172457" y="642874"/>
                  </a:lnTo>
                  <a:lnTo>
                    <a:pt x="4128007" y="642874"/>
                  </a:lnTo>
                  <a:lnTo>
                    <a:pt x="4128007" y="634491"/>
                  </a:lnTo>
                  <a:lnTo>
                    <a:pt x="4176649" y="634491"/>
                  </a:lnTo>
                  <a:lnTo>
                    <a:pt x="4178807" y="630174"/>
                  </a:lnTo>
                  <a:close/>
                </a:path>
                <a:path w="4178934" h="706754">
                  <a:moveTo>
                    <a:pt x="4153407" y="634491"/>
                  </a:moveTo>
                  <a:lnTo>
                    <a:pt x="4128007" y="634491"/>
                  </a:lnTo>
                  <a:lnTo>
                    <a:pt x="4128007" y="642874"/>
                  </a:lnTo>
                  <a:lnTo>
                    <a:pt x="4153407" y="642874"/>
                  </a:lnTo>
                  <a:lnTo>
                    <a:pt x="4153407" y="634491"/>
                  </a:lnTo>
                  <a:close/>
                </a:path>
                <a:path w="4178934" h="706754">
                  <a:moveTo>
                    <a:pt x="4176649" y="634491"/>
                  </a:moveTo>
                  <a:lnTo>
                    <a:pt x="4153407" y="634491"/>
                  </a:lnTo>
                  <a:lnTo>
                    <a:pt x="4153407" y="642874"/>
                  </a:lnTo>
                  <a:lnTo>
                    <a:pt x="4172457" y="642874"/>
                  </a:lnTo>
                  <a:lnTo>
                    <a:pt x="4176649" y="634491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642614" y="2590037"/>
              <a:ext cx="536575" cy="248920"/>
            </a:xfrm>
            <a:custGeom>
              <a:avLst/>
              <a:gdLst/>
              <a:ahLst/>
              <a:cxnLst/>
              <a:rect l="l" t="t" r="r" b="b"/>
              <a:pathLst>
                <a:path w="536575" h="248919">
                  <a:moveTo>
                    <a:pt x="536448" y="0"/>
                  </a:moveTo>
                  <a:lnTo>
                    <a:pt x="332232" y="0"/>
                  </a:lnTo>
                  <a:lnTo>
                    <a:pt x="269748" y="0"/>
                  </a:lnTo>
                  <a:lnTo>
                    <a:pt x="0" y="0"/>
                  </a:lnTo>
                  <a:lnTo>
                    <a:pt x="0" y="248412"/>
                  </a:lnTo>
                  <a:lnTo>
                    <a:pt x="269748" y="248412"/>
                  </a:lnTo>
                  <a:lnTo>
                    <a:pt x="332232" y="248412"/>
                  </a:lnTo>
                  <a:lnTo>
                    <a:pt x="536448" y="248412"/>
                  </a:lnTo>
                  <a:lnTo>
                    <a:pt x="5364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6135878" y="3801998"/>
            <a:ext cx="335915" cy="248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60"/>
              </a:lnSpc>
            </a:pPr>
            <a:r>
              <a:rPr sz="1600" b="1" spc="-25" dirty="0">
                <a:latin typeface="Calibri"/>
                <a:cs typeface="Calibri"/>
              </a:rPr>
              <a:t>CSV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87" name="object 87"/>
          <p:cNvSpPr txBox="1"/>
          <p:nvPr/>
        </p:nvSpPr>
        <p:spPr>
          <a:xfrm>
            <a:off x="3630295" y="2570225"/>
            <a:ext cx="562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FM-</a:t>
            </a:r>
            <a:r>
              <a:rPr sz="1600" b="1" spc="-25" dirty="0">
                <a:latin typeface="Calibri"/>
                <a:cs typeface="Calibri"/>
              </a:rPr>
              <a:t>12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765425">
              <a:lnSpc>
                <a:spcPct val="100000"/>
              </a:lnSpc>
              <a:spcBef>
                <a:spcPts val="100"/>
              </a:spcBef>
            </a:pPr>
            <a:r>
              <a:rPr dirty="0"/>
              <a:t>BUFR</a:t>
            </a:r>
            <a:r>
              <a:rPr spc="-60" dirty="0"/>
              <a:t> </a:t>
            </a:r>
            <a:r>
              <a:rPr dirty="0"/>
              <a:t>tools</a:t>
            </a:r>
            <a:r>
              <a:rPr spc="-6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wis2box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62904" y="6357010"/>
            <a:ext cx="203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2252" y="1190320"/>
            <a:ext cx="1013206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333333"/>
                </a:solidFill>
                <a:latin typeface="Trebuchet MS"/>
                <a:cs typeface="Trebuchet MS"/>
              </a:rPr>
              <a:t>‘wis2box-</a:t>
            </a:r>
            <a:r>
              <a:rPr sz="2000" b="1" spc="-55" dirty="0">
                <a:solidFill>
                  <a:srgbClr val="333333"/>
                </a:solidFill>
                <a:latin typeface="Trebuchet MS"/>
                <a:cs typeface="Trebuchet MS"/>
              </a:rPr>
              <a:t>api’</a:t>
            </a:r>
            <a:r>
              <a:rPr sz="2000" b="1" spc="-2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35" dirty="0">
                <a:solidFill>
                  <a:srgbClr val="333333"/>
                </a:solidFill>
                <a:latin typeface="Trebuchet MS"/>
                <a:cs typeface="Trebuchet MS"/>
              </a:rPr>
              <a:t>container</a:t>
            </a:r>
            <a:r>
              <a:rPr sz="2000" b="1" spc="-1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50" dirty="0">
                <a:solidFill>
                  <a:srgbClr val="333333"/>
                </a:solidFill>
                <a:latin typeface="Trebuchet MS"/>
                <a:cs typeface="Trebuchet MS"/>
              </a:rPr>
              <a:t>is</a:t>
            </a:r>
            <a:r>
              <a:rPr sz="2000" b="1" spc="-1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based</a:t>
            </a:r>
            <a:r>
              <a:rPr sz="2000" b="1" spc="-1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333333"/>
                </a:solidFill>
                <a:latin typeface="Trebuchet MS"/>
                <a:cs typeface="Trebuchet MS"/>
              </a:rPr>
              <a:t>on</a:t>
            </a:r>
            <a:r>
              <a:rPr sz="2000" b="1" spc="-1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a</a:t>
            </a:r>
            <a:r>
              <a:rPr sz="2000" b="1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rebuchet MS"/>
                <a:cs typeface="Trebuchet MS"/>
              </a:rPr>
              <a:t>Docker</a:t>
            </a:r>
            <a:r>
              <a:rPr sz="2000" b="1" spc="-17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rebuchet MS"/>
                <a:cs typeface="Trebuchet MS"/>
              </a:rPr>
              <a:t>image</a:t>
            </a:r>
            <a:r>
              <a:rPr sz="2000" b="1" spc="-1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333333"/>
                </a:solidFill>
                <a:latin typeface="Trebuchet MS"/>
                <a:cs typeface="Trebuchet MS"/>
              </a:rPr>
              <a:t>containing</a:t>
            </a:r>
            <a:r>
              <a:rPr sz="2000" b="1" u="sng" spc="-1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spc="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ecCodes</a:t>
            </a:r>
            <a:r>
              <a:rPr sz="2000" b="1" spc="-165" dirty="0">
                <a:solidFill>
                  <a:srgbClr val="0462C1"/>
                </a:solidFill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333333"/>
                </a:solidFill>
                <a:latin typeface="Trebuchet MS"/>
                <a:cs typeface="Trebuchet MS"/>
              </a:rPr>
              <a:t>software</a:t>
            </a:r>
            <a:r>
              <a:rPr sz="2000" b="1" spc="-1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rebuchet MS"/>
                <a:cs typeface="Trebuchet MS"/>
              </a:rPr>
              <a:t>library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220" dirty="0">
                <a:solidFill>
                  <a:srgbClr val="333333"/>
                </a:solidFill>
                <a:latin typeface="Trebuchet MS"/>
                <a:cs typeface="Trebuchet MS"/>
              </a:rPr>
              <a:t>…</a:t>
            </a:r>
            <a:r>
              <a:rPr sz="2000" b="1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65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2000" b="1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35" dirty="0">
                <a:solidFill>
                  <a:srgbClr val="333333"/>
                </a:solidFill>
                <a:latin typeface="Trebuchet MS"/>
                <a:cs typeface="Trebuchet MS"/>
              </a:rPr>
              <a:t>container</a:t>
            </a:r>
            <a:r>
              <a:rPr sz="2000" b="1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also</a:t>
            </a:r>
            <a:r>
              <a:rPr sz="2000" b="1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includes</a:t>
            </a:r>
            <a:r>
              <a:rPr sz="2000" b="1" spc="-1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35" dirty="0">
                <a:solidFill>
                  <a:srgbClr val="333333"/>
                </a:solidFill>
                <a:latin typeface="Trebuchet MS"/>
                <a:cs typeface="Trebuchet MS"/>
              </a:rPr>
              <a:t>several</a:t>
            </a:r>
            <a:r>
              <a:rPr sz="2000" b="1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rebuchet MS"/>
                <a:cs typeface="Trebuchet MS"/>
              </a:rPr>
              <a:t>BUFR-</a:t>
            </a:r>
            <a:r>
              <a:rPr sz="2000" b="1" spc="-25" dirty="0">
                <a:solidFill>
                  <a:srgbClr val="333333"/>
                </a:solidFill>
                <a:latin typeface="Trebuchet MS"/>
                <a:cs typeface="Trebuchet MS"/>
              </a:rPr>
              <a:t>conversion</a:t>
            </a:r>
            <a:r>
              <a:rPr sz="2000" b="1" spc="-15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tools</a:t>
            </a:r>
            <a:r>
              <a:rPr sz="2000" b="1" spc="-1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45" dirty="0">
                <a:solidFill>
                  <a:srgbClr val="333333"/>
                </a:solidFill>
                <a:latin typeface="Trebuchet MS"/>
                <a:cs typeface="Trebuchet MS"/>
              </a:rPr>
              <a:t>that</a:t>
            </a:r>
            <a:r>
              <a:rPr sz="2000" b="1" spc="-1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60" dirty="0">
                <a:solidFill>
                  <a:srgbClr val="333333"/>
                </a:solidFill>
                <a:latin typeface="Trebuchet MS"/>
                <a:cs typeface="Trebuchet MS"/>
              </a:rPr>
              <a:t>work</a:t>
            </a:r>
            <a:r>
              <a:rPr sz="2000" b="1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65" dirty="0">
                <a:solidFill>
                  <a:srgbClr val="333333"/>
                </a:solidFill>
                <a:latin typeface="Trebuchet MS"/>
                <a:cs typeface="Trebuchet MS"/>
              </a:rPr>
              <a:t>with</a:t>
            </a:r>
            <a:r>
              <a:rPr sz="2000" b="1" spc="-1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35" dirty="0">
                <a:solidFill>
                  <a:srgbClr val="333333"/>
                </a:solidFill>
                <a:latin typeface="Trebuchet MS"/>
                <a:cs typeface="Trebuchet MS"/>
              </a:rPr>
              <a:t>ecCodes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10096" y="3381463"/>
            <a:ext cx="1835785" cy="652145"/>
          </a:xfrm>
          <a:custGeom>
            <a:avLst/>
            <a:gdLst/>
            <a:ahLst/>
            <a:cxnLst/>
            <a:rect l="l" t="t" r="r" b="b"/>
            <a:pathLst>
              <a:path w="1835784" h="652145">
                <a:moveTo>
                  <a:pt x="1835657" y="0"/>
                </a:moveTo>
                <a:lnTo>
                  <a:pt x="0" y="0"/>
                </a:lnTo>
                <a:lnTo>
                  <a:pt x="0" y="651802"/>
                </a:lnTo>
                <a:lnTo>
                  <a:pt x="1835657" y="651802"/>
                </a:lnTo>
                <a:lnTo>
                  <a:pt x="1835657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10096" y="3381463"/>
            <a:ext cx="1835785" cy="652145"/>
          </a:xfrm>
          <a:prstGeom prst="rect">
            <a:avLst/>
          </a:prstGeom>
          <a:ln w="19050">
            <a:solidFill>
              <a:srgbClr val="4471C4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solidFill>
                  <a:srgbClr val="004F9F"/>
                </a:solidFill>
                <a:latin typeface="Calibri"/>
                <a:cs typeface="Calibri"/>
              </a:rPr>
              <a:t>wis2box-</a:t>
            </a:r>
            <a:r>
              <a:rPr sz="1800" b="1" spc="-25" dirty="0">
                <a:solidFill>
                  <a:srgbClr val="004F9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0553" y="2790317"/>
            <a:ext cx="1735455" cy="1167765"/>
            <a:chOff x="6210553" y="2790317"/>
            <a:chExt cx="1735455" cy="1167765"/>
          </a:xfrm>
        </p:grpSpPr>
        <p:pic>
          <p:nvPicPr>
            <p:cNvPr id="11" name="object 11" descr="opengeospatial - YouTub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8668" y="3381273"/>
              <a:ext cx="307060" cy="307060"/>
            </a:xfrm>
            <a:prstGeom prst="rect">
              <a:avLst/>
            </a:prstGeom>
          </p:spPr>
        </p:pic>
        <p:pic>
          <p:nvPicPr>
            <p:cNvPr id="12" name="object 12" descr="Home - pygeoapi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0553" y="3738054"/>
              <a:ext cx="803617" cy="2196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85787" y="2790316"/>
              <a:ext cx="179705" cy="608965"/>
            </a:xfrm>
            <a:custGeom>
              <a:avLst/>
              <a:gdLst/>
              <a:ahLst/>
              <a:cxnLst/>
              <a:rect l="l" t="t" r="r" b="b"/>
              <a:pathLst>
                <a:path w="179704" h="608964">
                  <a:moveTo>
                    <a:pt x="76200" y="532638"/>
                  </a:moveTo>
                  <a:lnTo>
                    <a:pt x="47625" y="532638"/>
                  </a:lnTo>
                  <a:lnTo>
                    <a:pt x="47625" y="14351"/>
                  </a:lnTo>
                  <a:lnTo>
                    <a:pt x="28575" y="14351"/>
                  </a:lnTo>
                  <a:lnTo>
                    <a:pt x="28575" y="532638"/>
                  </a:lnTo>
                  <a:lnTo>
                    <a:pt x="0" y="532638"/>
                  </a:lnTo>
                  <a:lnTo>
                    <a:pt x="38100" y="608838"/>
                  </a:lnTo>
                  <a:lnTo>
                    <a:pt x="69850" y="545338"/>
                  </a:lnTo>
                  <a:lnTo>
                    <a:pt x="76200" y="532638"/>
                  </a:lnTo>
                  <a:close/>
                </a:path>
                <a:path w="179704" h="608964">
                  <a:moveTo>
                    <a:pt x="179578" y="76200"/>
                  </a:moveTo>
                  <a:lnTo>
                    <a:pt x="173228" y="63500"/>
                  </a:lnTo>
                  <a:lnTo>
                    <a:pt x="141478" y="0"/>
                  </a:lnTo>
                  <a:lnTo>
                    <a:pt x="103378" y="76200"/>
                  </a:lnTo>
                  <a:lnTo>
                    <a:pt x="131953" y="76200"/>
                  </a:lnTo>
                  <a:lnTo>
                    <a:pt x="131953" y="580898"/>
                  </a:lnTo>
                  <a:lnTo>
                    <a:pt x="151003" y="580898"/>
                  </a:lnTo>
                  <a:lnTo>
                    <a:pt x="151003" y="76200"/>
                  </a:lnTo>
                  <a:lnTo>
                    <a:pt x="17957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93685" y="2860040"/>
            <a:ext cx="9861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Request</a:t>
            </a:r>
            <a:r>
              <a:rPr sz="9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wis2box-</a:t>
            </a:r>
            <a:r>
              <a:rPr sz="900" spc="-25" dirty="0">
                <a:solidFill>
                  <a:srgbClr val="0D0D0D"/>
                </a:solidFill>
                <a:latin typeface="Calibri"/>
                <a:cs typeface="Calibri"/>
              </a:rPr>
              <a:t>api</a:t>
            </a:r>
            <a:r>
              <a:rPr sz="900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use</a:t>
            </a: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BUFR</a:t>
            </a:r>
            <a:r>
              <a:rPr sz="9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tools</a:t>
            </a:r>
            <a:r>
              <a:rPr sz="900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9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transformation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81928" y="1950808"/>
            <a:ext cx="2634615" cy="831215"/>
          </a:xfrm>
          <a:custGeom>
            <a:avLst/>
            <a:gdLst/>
            <a:ahLst/>
            <a:cxnLst/>
            <a:rect l="l" t="t" r="r" b="b"/>
            <a:pathLst>
              <a:path w="2634615" h="831214">
                <a:moveTo>
                  <a:pt x="2634106" y="0"/>
                </a:moveTo>
                <a:lnTo>
                  <a:pt x="0" y="0"/>
                </a:lnTo>
                <a:lnTo>
                  <a:pt x="0" y="830999"/>
                </a:lnTo>
                <a:lnTo>
                  <a:pt x="2634106" y="830999"/>
                </a:lnTo>
                <a:lnTo>
                  <a:pt x="2634106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81928" y="1950808"/>
            <a:ext cx="2634615" cy="831215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155065" marR="42545" indent="-441959" algn="just">
              <a:lnSpc>
                <a:spcPct val="100000"/>
              </a:lnSpc>
              <a:spcBef>
                <a:spcPts val="70"/>
              </a:spcBef>
            </a:pPr>
            <a:r>
              <a:rPr sz="1600" b="1" spc="-20" dirty="0">
                <a:solidFill>
                  <a:srgbClr val="0D0D0D"/>
                </a:solidFill>
                <a:latin typeface="Calibri"/>
                <a:cs typeface="Calibri"/>
              </a:rPr>
              <a:t>wis2box-</a:t>
            </a:r>
            <a:r>
              <a:rPr sz="1600" b="1" spc="-10" dirty="0">
                <a:solidFill>
                  <a:srgbClr val="0D0D0D"/>
                </a:solidFill>
                <a:latin typeface="Calibri"/>
                <a:cs typeface="Calibri"/>
              </a:rPr>
              <a:t>management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Transform</a:t>
            </a:r>
            <a:r>
              <a:rPr sz="1600" i="1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0D0D0D"/>
                </a:solidFill>
                <a:latin typeface="Calibri"/>
                <a:cs typeface="Calibri"/>
              </a:rPr>
              <a:t>using </a:t>
            </a:r>
            <a:r>
              <a:rPr sz="1600" i="1" dirty="0">
                <a:solidFill>
                  <a:srgbClr val="0D0D0D"/>
                </a:solidFill>
                <a:latin typeface="Calibri"/>
                <a:cs typeface="Calibri"/>
              </a:rPr>
              <a:t>2bufr</a:t>
            </a:r>
            <a:r>
              <a:rPr sz="1600" i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sz="1600" i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plugin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88609" y="1967102"/>
            <a:ext cx="1600200" cy="2021205"/>
            <a:chOff x="5888609" y="1967102"/>
            <a:chExt cx="1600200" cy="2021205"/>
          </a:xfrm>
        </p:grpSpPr>
        <p:pic>
          <p:nvPicPr>
            <p:cNvPr id="18" name="object 18" descr="Input, system, operation, process, insert icon - Download on Iconfinder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8609" y="1967102"/>
              <a:ext cx="692607" cy="6925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5307" y="3688333"/>
              <a:ext cx="333019" cy="29971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810382" y="4373371"/>
            <a:ext cx="791400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BUFR</a:t>
            </a:r>
            <a:r>
              <a:rPr sz="2000" b="1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tools</a:t>
            </a:r>
            <a:r>
              <a:rPr sz="2000" b="1" spc="-1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used</a:t>
            </a:r>
            <a:r>
              <a:rPr sz="2000" b="1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60" dirty="0">
                <a:solidFill>
                  <a:srgbClr val="333333"/>
                </a:solidFill>
                <a:latin typeface="Trebuchet MS"/>
                <a:cs typeface="Trebuchet MS"/>
              </a:rPr>
              <a:t>within</a:t>
            </a:r>
            <a:r>
              <a:rPr sz="2000" b="1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45" dirty="0">
                <a:solidFill>
                  <a:srgbClr val="333333"/>
                </a:solidFill>
                <a:latin typeface="Trebuchet MS"/>
                <a:cs typeface="Trebuchet MS"/>
              </a:rPr>
              <a:t>wis2box-</a:t>
            </a:r>
            <a:r>
              <a:rPr sz="2000" b="1" spc="-20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r>
              <a:rPr sz="2000" b="1" spc="-17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333333"/>
                </a:solidFill>
                <a:latin typeface="Trebuchet MS"/>
                <a:cs typeface="Trebuchet MS"/>
              </a:rPr>
              <a:t>available</a:t>
            </a:r>
            <a:r>
              <a:rPr sz="2000" b="1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55" dirty="0">
                <a:solidFill>
                  <a:srgbClr val="333333"/>
                </a:solidFill>
                <a:latin typeface="Trebuchet MS"/>
                <a:cs typeface="Trebuchet MS"/>
              </a:rPr>
              <a:t>to</a:t>
            </a:r>
            <a:r>
              <a:rPr sz="2000" b="1" spc="-1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333333"/>
                </a:solidFill>
                <a:latin typeface="Trebuchet MS"/>
                <a:cs typeface="Trebuchet MS"/>
              </a:rPr>
              <a:t>be</a:t>
            </a:r>
            <a:r>
              <a:rPr sz="2000" b="1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33333"/>
                </a:solidFill>
                <a:latin typeface="Trebuchet MS"/>
                <a:cs typeface="Trebuchet MS"/>
              </a:rPr>
              <a:t>used</a:t>
            </a:r>
            <a:r>
              <a:rPr sz="2000" b="1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Trebuchet MS"/>
                <a:cs typeface="Trebuchet MS"/>
              </a:rPr>
              <a:t>standalone: </a:t>
            </a:r>
            <a:r>
              <a:rPr sz="2000" u="sng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https://github.com/World-</a:t>
            </a:r>
            <a:r>
              <a:rPr sz="20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Meteorological-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Organization/csv2bufr</a:t>
            </a:r>
            <a:r>
              <a:rPr sz="2000" spc="-10" dirty="0">
                <a:solidFill>
                  <a:srgbClr val="0462C1"/>
                </a:solidFill>
                <a:latin typeface="Trebuchet MS"/>
                <a:cs typeface="Trebuchet MS"/>
              </a:rPr>
              <a:t> </a:t>
            </a:r>
            <a:r>
              <a:rPr sz="2000" u="sng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8"/>
              </a:rPr>
              <a:t>https://github.com/World-</a:t>
            </a:r>
            <a:r>
              <a:rPr sz="20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8"/>
              </a:rPr>
              <a:t>Meteorological-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8"/>
              </a:rPr>
              <a:t>Organization/synop2bufr</a:t>
            </a:r>
            <a:r>
              <a:rPr sz="2000" spc="-10" dirty="0">
                <a:solidFill>
                  <a:srgbClr val="0462C1"/>
                </a:solidFill>
                <a:latin typeface="Trebuchet MS"/>
                <a:cs typeface="Trebuchet MS"/>
              </a:rPr>
              <a:t> </a:t>
            </a:r>
            <a:r>
              <a:rPr sz="2000" u="sng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9"/>
              </a:rPr>
              <a:t>https://github.com/World-</a:t>
            </a:r>
            <a:r>
              <a:rPr sz="20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9"/>
              </a:rPr>
              <a:t>Meteorological-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9"/>
              </a:rPr>
              <a:t>Organization/bufr2geojson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752" y="1072931"/>
            <a:ext cx="893222" cy="828091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Trebuchet MS"/>
                <a:cs typeface="Trebuchet MS"/>
              </a:rPr>
              <a:t>Station</a:t>
            </a:r>
            <a:r>
              <a:rPr spc="-275" dirty="0">
                <a:latin typeface="Trebuchet MS"/>
                <a:cs typeface="Trebuchet MS"/>
              </a:rPr>
              <a:t> </a:t>
            </a:r>
            <a:r>
              <a:rPr spc="-25" dirty="0">
                <a:latin typeface="Trebuchet MS"/>
                <a:cs typeface="Trebuchet MS"/>
              </a:rPr>
              <a:t>metadata</a:t>
            </a:r>
            <a:r>
              <a:rPr spc="-25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used</a:t>
            </a:r>
            <a:r>
              <a:rPr spc="-254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in</a:t>
            </a:r>
            <a:r>
              <a:rPr spc="-270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transformation</a:t>
            </a:r>
            <a:r>
              <a:rPr spc="-265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to</a:t>
            </a:r>
            <a:r>
              <a:rPr spc="-280" dirty="0">
                <a:latin typeface="Trebuchet MS"/>
                <a:cs typeface="Trebuchet MS"/>
              </a:rPr>
              <a:t> </a:t>
            </a:r>
            <a:r>
              <a:rPr spc="-20" dirty="0">
                <a:latin typeface="Trebuchet MS"/>
                <a:cs typeface="Trebuchet MS"/>
              </a:rPr>
              <a:t>BUFR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95680" y="917295"/>
            <a:ext cx="10981055" cy="42932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(bufr2bufr)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Splits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by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bulletin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check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65" dirty="0">
                <a:latin typeface="Trebuchet MS"/>
                <a:cs typeface="Trebuchet MS"/>
              </a:rPr>
              <a:t>WIGOS-</a:t>
            </a:r>
            <a:r>
              <a:rPr sz="2000" b="1" spc="-25" dirty="0">
                <a:latin typeface="Trebuchet MS"/>
                <a:cs typeface="Trebuchet MS"/>
              </a:rPr>
              <a:t>station-</a:t>
            </a:r>
            <a:r>
              <a:rPr sz="2000" b="1" spc="70" dirty="0">
                <a:latin typeface="Trebuchet MS"/>
                <a:cs typeface="Trebuchet MS"/>
              </a:rPr>
              <a:t>ID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-55" dirty="0">
                <a:latin typeface="Trebuchet MS"/>
                <a:cs typeface="Trebuchet MS"/>
              </a:rPr>
              <a:t>list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associated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topic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0" dirty="0">
                <a:latin typeface="Trebuchet MS"/>
                <a:cs typeface="Trebuchet MS"/>
              </a:rPr>
              <a:t>If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WIGOS-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50" dirty="0">
                <a:latin typeface="Trebuchet MS"/>
                <a:cs typeface="Trebuchet MS"/>
              </a:rPr>
              <a:t>ID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missing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add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it </a:t>
            </a:r>
            <a:r>
              <a:rPr sz="2000" spc="-95" dirty="0">
                <a:latin typeface="Trebuchet MS"/>
                <a:cs typeface="Trebuchet MS"/>
              </a:rPr>
              <a:t>(by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matching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traditional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identifier)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30" dirty="0">
                <a:latin typeface="Trebuchet MS"/>
                <a:cs typeface="Trebuchet MS"/>
              </a:rPr>
              <a:t>if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location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elevation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missing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input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values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metadata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u="sng" spc="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CSV</a:t>
            </a:r>
            <a:r>
              <a:rPr sz="20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sz="20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(csv2bufr)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Check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65" dirty="0">
                <a:latin typeface="Trebuchet MS"/>
                <a:cs typeface="Trebuchet MS"/>
              </a:rPr>
              <a:t>WIGOS-</a:t>
            </a:r>
            <a:r>
              <a:rPr sz="2000" b="1" spc="-25" dirty="0">
                <a:latin typeface="Trebuchet MS"/>
                <a:cs typeface="Trebuchet MS"/>
              </a:rPr>
              <a:t>station-</a:t>
            </a:r>
            <a:r>
              <a:rPr sz="2000" b="1" spc="70" dirty="0">
                <a:latin typeface="Trebuchet MS"/>
                <a:cs typeface="Trebuchet MS"/>
              </a:rPr>
              <a:t>ID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input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-55" dirty="0">
                <a:latin typeface="Trebuchet MS"/>
                <a:cs typeface="Trebuchet MS"/>
              </a:rPr>
              <a:t>list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associated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topic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40" dirty="0">
                <a:latin typeface="Trebuchet MS"/>
                <a:cs typeface="Trebuchet MS"/>
              </a:rPr>
              <a:t>For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fixed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land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stations: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check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input-</a:t>
            </a:r>
            <a:r>
              <a:rPr sz="2000" spc="-50" dirty="0">
                <a:latin typeface="Trebuchet MS"/>
                <a:cs typeface="Trebuchet MS"/>
              </a:rPr>
              <a:t>data-</a:t>
            </a:r>
            <a:r>
              <a:rPr sz="2000" spc="-40" dirty="0">
                <a:latin typeface="Trebuchet MS"/>
                <a:cs typeface="Trebuchet MS"/>
              </a:rPr>
              <a:t>location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than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1km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metadata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location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FM-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12</a:t>
            </a:r>
            <a:r>
              <a:rPr sz="2000" u="sng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sz="20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(synop2bufr)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Trebuchet MS"/>
                <a:cs typeface="Trebuchet MS"/>
              </a:rPr>
              <a:t>Add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65" dirty="0">
                <a:latin typeface="Trebuchet MS"/>
                <a:cs typeface="Trebuchet MS"/>
              </a:rPr>
              <a:t>WIGOS-</a:t>
            </a:r>
            <a:r>
              <a:rPr sz="2000" b="1" spc="-25" dirty="0">
                <a:latin typeface="Trebuchet MS"/>
                <a:cs typeface="Trebuchet MS"/>
              </a:rPr>
              <a:t>station-</a:t>
            </a:r>
            <a:r>
              <a:rPr sz="2000" b="1" spc="-20" dirty="0">
                <a:latin typeface="Trebuchet MS"/>
                <a:cs typeface="Trebuchet MS"/>
              </a:rPr>
              <a:t>ID</a:t>
            </a:r>
            <a:r>
              <a:rPr sz="2000" spc="-20" dirty="0">
                <a:latin typeface="Trebuchet MS"/>
                <a:cs typeface="Trebuchet MS"/>
              </a:rPr>
              <a:t>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derived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by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matching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traditional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identifier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FM-</a:t>
            </a:r>
            <a:r>
              <a:rPr sz="2000" dirty="0">
                <a:latin typeface="Trebuchet MS"/>
                <a:cs typeface="Trebuchet MS"/>
              </a:rPr>
              <a:t>12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input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Add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latitude,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longitude</a:t>
            </a:r>
            <a:r>
              <a:rPr sz="2000" spc="-50" dirty="0">
                <a:latin typeface="Trebuchet MS"/>
                <a:cs typeface="Trebuchet MS"/>
              </a:rPr>
              <a:t>,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altitude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barometer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height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above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sea-</a:t>
            </a:r>
            <a:r>
              <a:rPr sz="2000" spc="-70" dirty="0">
                <a:latin typeface="Trebuchet MS"/>
                <a:cs typeface="Trebuchet MS"/>
              </a:rPr>
              <a:t>level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content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1952625">
              <a:lnSpc>
                <a:spcPct val="100000"/>
              </a:lnSpc>
              <a:spcBef>
                <a:spcPts val="100"/>
              </a:spcBef>
            </a:pPr>
            <a:r>
              <a:rPr dirty="0"/>
              <a:t>wis2box</a:t>
            </a:r>
            <a:r>
              <a:rPr spc="-70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plugins:</a:t>
            </a:r>
            <a:r>
              <a:rPr spc="-85" dirty="0"/>
              <a:t> </a:t>
            </a:r>
            <a:r>
              <a:rPr spc="-10" dirty="0"/>
              <a:t>bufr2bufr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53686" y="4971706"/>
            <a:ext cx="7656195" cy="156972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7465" rIns="0" bIns="0" rtlCol="0">
            <a:spAutoFit/>
          </a:bodyPr>
          <a:lstStyle/>
          <a:p>
            <a:pPr marR="6918325" algn="r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latin typeface="Calibri"/>
                <a:cs typeface="Calibri"/>
              </a:rPr>
              <a:t>plugins:</a:t>
            </a:r>
            <a:endParaRPr sz="1200">
              <a:latin typeface="Calibri"/>
              <a:cs typeface="Calibri"/>
            </a:endParaRPr>
          </a:p>
          <a:p>
            <a:pPr marR="6891655" algn="r">
              <a:lnSpc>
                <a:spcPct val="100000"/>
              </a:lnSpc>
            </a:pPr>
            <a:r>
              <a:rPr sz="1200" b="1" spc="-20" dirty="0">
                <a:latin typeface="Calibri"/>
                <a:cs typeface="Calibri"/>
              </a:rPr>
              <a:t>bin:</a:t>
            </a:r>
            <a:endParaRPr sz="1200">
              <a:latin typeface="Calibri"/>
              <a:cs typeface="Calibri"/>
            </a:endParaRPr>
          </a:p>
          <a:p>
            <a:pPr marL="719455" marR="3759835" indent="-68580">
              <a:lnSpc>
                <a:spcPct val="100000"/>
              </a:lnSpc>
              <a:buChar char="-"/>
              <a:tabLst>
                <a:tab pos="719455" algn="l"/>
                <a:tab pos="731520" algn="l"/>
              </a:tabLst>
            </a:pPr>
            <a:r>
              <a:rPr sz="1200" b="1" dirty="0">
                <a:latin typeface="Calibri"/>
                <a:cs typeface="Calibri"/>
              </a:rPr>
              <a:t>	plugin: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wis2box.data.bufr4.ObservationDataBUFR </a:t>
            </a:r>
            <a:r>
              <a:rPr sz="1200" b="1" dirty="0">
                <a:latin typeface="Calibri"/>
                <a:cs typeface="Calibri"/>
              </a:rPr>
              <a:t>notify:</a:t>
            </a:r>
            <a:r>
              <a:rPr sz="1200" b="1" spc="-20" dirty="0">
                <a:latin typeface="Calibri"/>
                <a:cs typeface="Calibri"/>
              </a:rPr>
              <a:t> true</a:t>
            </a:r>
            <a:endParaRPr sz="1200">
              <a:latin typeface="Calibri"/>
              <a:cs typeface="Calibri"/>
            </a:endParaRPr>
          </a:p>
          <a:p>
            <a:pPr marL="719455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file-pattern: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‘^.*\.bin$’</a:t>
            </a:r>
            <a:endParaRPr sz="12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Calibri"/>
                <a:cs typeface="Calibri"/>
              </a:rPr>
              <a:t>bufr4:</a:t>
            </a:r>
            <a:endParaRPr sz="1200">
              <a:latin typeface="Calibri"/>
              <a:cs typeface="Calibri"/>
            </a:endParaRPr>
          </a:p>
          <a:p>
            <a:pPr marL="719455" marR="2607310" indent="-68580">
              <a:lnSpc>
                <a:spcPct val="100000"/>
              </a:lnSpc>
              <a:buChar char="-"/>
              <a:tabLst>
                <a:tab pos="719455" algn="l"/>
                <a:tab pos="731520" algn="l"/>
              </a:tabLst>
            </a:pPr>
            <a:r>
              <a:rPr sz="1200" b="1" dirty="0">
                <a:latin typeface="Calibri"/>
                <a:cs typeface="Calibri"/>
              </a:rPr>
              <a:t>	plugin: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wis2box.data.bufr2geojson.ObservationDataBUFR2GeoJSON file-pattern: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’</a:t>
            </a:r>
            <a:r>
              <a:rPr sz="1200" b="1" spc="1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^WIGOS_(\d-\d+-\d+-\w+)_.*\.bufr4$’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56238" y="2268408"/>
          <a:ext cx="697230" cy="461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669667" y="2479929"/>
            <a:ext cx="2038985" cy="76200"/>
          </a:xfrm>
          <a:custGeom>
            <a:avLst/>
            <a:gdLst/>
            <a:ahLst/>
            <a:cxnLst/>
            <a:rect l="l" t="t" r="r" b="b"/>
            <a:pathLst>
              <a:path w="2038985" h="76200">
                <a:moveTo>
                  <a:pt x="1962658" y="0"/>
                </a:moveTo>
                <a:lnTo>
                  <a:pt x="1962583" y="22351"/>
                </a:lnTo>
                <a:lnTo>
                  <a:pt x="1962530" y="38354"/>
                </a:lnTo>
                <a:lnTo>
                  <a:pt x="1962404" y="76200"/>
                </a:lnTo>
                <a:lnTo>
                  <a:pt x="2020033" y="47625"/>
                </a:lnTo>
                <a:lnTo>
                  <a:pt x="1975104" y="47625"/>
                </a:lnTo>
                <a:lnTo>
                  <a:pt x="1975231" y="28575"/>
                </a:lnTo>
                <a:lnTo>
                  <a:pt x="2019334" y="28575"/>
                </a:lnTo>
                <a:lnTo>
                  <a:pt x="1962658" y="0"/>
                </a:lnTo>
                <a:close/>
              </a:path>
              <a:path w="2038985" h="76200">
                <a:moveTo>
                  <a:pt x="126" y="22351"/>
                </a:moveTo>
                <a:lnTo>
                  <a:pt x="0" y="41401"/>
                </a:lnTo>
                <a:lnTo>
                  <a:pt x="1975103" y="47625"/>
                </a:lnTo>
                <a:lnTo>
                  <a:pt x="1962499" y="47625"/>
                </a:lnTo>
                <a:lnTo>
                  <a:pt x="1962562" y="28575"/>
                </a:lnTo>
                <a:lnTo>
                  <a:pt x="1975230" y="28575"/>
                </a:lnTo>
                <a:lnTo>
                  <a:pt x="126" y="22351"/>
                </a:lnTo>
                <a:close/>
              </a:path>
              <a:path w="2038985" h="76200">
                <a:moveTo>
                  <a:pt x="2019334" y="28575"/>
                </a:moveTo>
                <a:lnTo>
                  <a:pt x="1975231" y="28575"/>
                </a:lnTo>
                <a:lnTo>
                  <a:pt x="1975104" y="47625"/>
                </a:lnTo>
                <a:lnTo>
                  <a:pt x="2020033" y="47625"/>
                </a:lnTo>
                <a:lnTo>
                  <a:pt x="2038731" y="38354"/>
                </a:lnTo>
                <a:lnTo>
                  <a:pt x="2019334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622671" y="2053031"/>
            <a:ext cx="1966595" cy="935990"/>
            <a:chOff x="5622671" y="2053031"/>
            <a:chExt cx="1966595" cy="935990"/>
          </a:xfrm>
        </p:grpSpPr>
        <p:sp>
          <p:nvSpPr>
            <p:cNvPr id="10" name="object 10"/>
            <p:cNvSpPr/>
            <p:nvPr/>
          </p:nvSpPr>
          <p:spPr>
            <a:xfrm>
              <a:off x="5622671" y="2486152"/>
              <a:ext cx="1457325" cy="76200"/>
            </a:xfrm>
            <a:custGeom>
              <a:avLst/>
              <a:gdLst/>
              <a:ahLst/>
              <a:cxnLst/>
              <a:rect l="l" t="t" r="r" b="b"/>
              <a:pathLst>
                <a:path w="1457325" h="76200">
                  <a:moveTo>
                    <a:pt x="1380998" y="0"/>
                  </a:moveTo>
                  <a:lnTo>
                    <a:pt x="1380617" y="76200"/>
                  </a:lnTo>
                  <a:lnTo>
                    <a:pt x="1438279" y="47751"/>
                  </a:lnTo>
                  <a:lnTo>
                    <a:pt x="1393444" y="47751"/>
                  </a:lnTo>
                  <a:lnTo>
                    <a:pt x="1393571" y="28701"/>
                  </a:lnTo>
                  <a:lnTo>
                    <a:pt x="1437738" y="28701"/>
                  </a:lnTo>
                  <a:lnTo>
                    <a:pt x="1380998" y="0"/>
                  </a:lnTo>
                  <a:close/>
                </a:path>
                <a:path w="1457325" h="76200">
                  <a:moveTo>
                    <a:pt x="126" y="22606"/>
                  </a:moveTo>
                  <a:lnTo>
                    <a:pt x="0" y="41656"/>
                  </a:lnTo>
                  <a:lnTo>
                    <a:pt x="1393443" y="47751"/>
                  </a:lnTo>
                  <a:lnTo>
                    <a:pt x="1380759" y="47751"/>
                  </a:lnTo>
                  <a:lnTo>
                    <a:pt x="1380854" y="28701"/>
                  </a:lnTo>
                  <a:lnTo>
                    <a:pt x="1393571" y="28701"/>
                  </a:lnTo>
                  <a:lnTo>
                    <a:pt x="126" y="22606"/>
                  </a:lnTo>
                  <a:close/>
                </a:path>
                <a:path w="1457325" h="76200">
                  <a:moveTo>
                    <a:pt x="1437738" y="28701"/>
                  </a:moveTo>
                  <a:lnTo>
                    <a:pt x="1393571" y="28701"/>
                  </a:lnTo>
                  <a:lnTo>
                    <a:pt x="1393444" y="47751"/>
                  </a:lnTo>
                  <a:lnTo>
                    <a:pt x="1438279" y="47751"/>
                  </a:lnTo>
                  <a:lnTo>
                    <a:pt x="1457071" y="38481"/>
                  </a:lnTo>
                  <a:lnTo>
                    <a:pt x="1437738" y="2870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0001" y="2053031"/>
              <a:ext cx="312788" cy="4374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6465" y="2551506"/>
              <a:ext cx="312788" cy="43743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139310" y="1241297"/>
            <a:ext cx="2093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47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BUFR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processing (extraction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 of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subsets)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9378" y="1245234"/>
            <a:ext cx="2579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File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 containing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one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more</a:t>
            </a:r>
            <a:endParaRPr sz="18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BUFR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subsets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15450" y="1679194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bufr2geojson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35543" y="2479420"/>
            <a:ext cx="1416050" cy="76200"/>
          </a:xfrm>
          <a:custGeom>
            <a:avLst/>
            <a:gdLst/>
            <a:ahLst/>
            <a:cxnLst/>
            <a:rect l="l" t="t" r="r" b="b"/>
            <a:pathLst>
              <a:path w="1416050" h="76200">
                <a:moveTo>
                  <a:pt x="1339723" y="0"/>
                </a:moveTo>
                <a:lnTo>
                  <a:pt x="1338960" y="76200"/>
                </a:lnTo>
                <a:lnTo>
                  <a:pt x="1397308" y="47751"/>
                </a:lnTo>
                <a:lnTo>
                  <a:pt x="1351914" y="47751"/>
                </a:lnTo>
                <a:lnTo>
                  <a:pt x="1352033" y="38862"/>
                </a:lnTo>
                <a:lnTo>
                  <a:pt x="1352077" y="35559"/>
                </a:lnTo>
                <a:lnTo>
                  <a:pt x="1352169" y="28701"/>
                </a:lnTo>
                <a:lnTo>
                  <a:pt x="1395720" y="28701"/>
                </a:lnTo>
                <a:lnTo>
                  <a:pt x="1339723" y="0"/>
                </a:lnTo>
                <a:close/>
              </a:path>
              <a:path w="1416050" h="76200">
                <a:moveTo>
                  <a:pt x="126" y="16509"/>
                </a:moveTo>
                <a:lnTo>
                  <a:pt x="0" y="35559"/>
                </a:lnTo>
                <a:lnTo>
                  <a:pt x="1351914" y="47751"/>
                </a:lnTo>
                <a:lnTo>
                  <a:pt x="1339245" y="47751"/>
                </a:lnTo>
                <a:lnTo>
                  <a:pt x="1339367" y="35559"/>
                </a:lnTo>
                <a:lnTo>
                  <a:pt x="1339435" y="28701"/>
                </a:lnTo>
                <a:lnTo>
                  <a:pt x="1352169" y="28701"/>
                </a:lnTo>
                <a:lnTo>
                  <a:pt x="126" y="16509"/>
                </a:lnTo>
                <a:close/>
              </a:path>
              <a:path w="1416050" h="76200">
                <a:moveTo>
                  <a:pt x="1395720" y="28701"/>
                </a:moveTo>
                <a:lnTo>
                  <a:pt x="1352169" y="28701"/>
                </a:lnTo>
                <a:lnTo>
                  <a:pt x="1352077" y="35559"/>
                </a:lnTo>
                <a:lnTo>
                  <a:pt x="1352033" y="38862"/>
                </a:lnTo>
                <a:lnTo>
                  <a:pt x="1351914" y="47751"/>
                </a:lnTo>
                <a:lnTo>
                  <a:pt x="1397308" y="47751"/>
                </a:lnTo>
                <a:lnTo>
                  <a:pt x="1415541" y="38862"/>
                </a:lnTo>
                <a:lnTo>
                  <a:pt x="1395720" y="2870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447021" y="4089653"/>
            <a:ext cx="9963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333E50"/>
                </a:solidFill>
                <a:latin typeface="Calibri"/>
                <a:cs typeface="Calibri"/>
              </a:rPr>
              <a:t>GeoJSON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927208" y="3075304"/>
            <a:ext cx="76200" cy="904240"/>
          </a:xfrm>
          <a:custGeom>
            <a:avLst/>
            <a:gdLst/>
            <a:ahLst/>
            <a:cxnLst/>
            <a:rect l="l" t="t" r="r" b="b"/>
            <a:pathLst>
              <a:path w="76200" h="904239">
                <a:moveTo>
                  <a:pt x="28575" y="827786"/>
                </a:moveTo>
                <a:lnTo>
                  <a:pt x="0" y="827786"/>
                </a:lnTo>
                <a:lnTo>
                  <a:pt x="38100" y="903986"/>
                </a:lnTo>
                <a:lnTo>
                  <a:pt x="69850" y="840486"/>
                </a:lnTo>
                <a:lnTo>
                  <a:pt x="28575" y="840486"/>
                </a:lnTo>
                <a:lnTo>
                  <a:pt x="28575" y="827786"/>
                </a:lnTo>
                <a:close/>
              </a:path>
              <a:path w="76200" h="904239">
                <a:moveTo>
                  <a:pt x="47625" y="0"/>
                </a:moveTo>
                <a:lnTo>
                  <a:pt x="28575" y="0"/>
                </a:lnTo>
                <a:lnTo>
                  <a:pt x="28575" y="840486"/>
                </a:lnTo>
                <a:lnTo>
                  <a:pt x="47625" y="840486"/>
                </a:lnTo>
                <a:lnTo>
                  <a:pt x="47625" y="0"/>
                </a:lnTo>
                <a:close/>
              </a:path>
              <a:path w="76200" h="904239">
                <a:moveTo>
                  <a:pt x="76200" y="827786"/>
                </a:moveTo>
                <a:lnTo>
                  <a:pt x="47625" y="827786"/>
                </a:lnTo>
                <a:lnTo>
                  <a:pt x="47625" y="840486"/>
                </a:lnTo>
                <a:lnTo>
                  <a:pt x="69850" y="840486"/>
                </a:lnTo>
                <a:lnTo>
                  <a:pt x="76200" y="82778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98842" y="3098419"/>
            <a:ext cx="76200" cy="593725"/>
          </a:xfrm>
          <a:custGeom>
            <a:avLst/>
            <a:gdLst/>
            <a:ahLst/>
            <a:cxnLst/>
            <a:rect l="l" t="t" r="r" b="b"/>
            <a:pathLst>
              <a:path w="76200" h="593725">
                <a:moveTo>
                  <a:pt x="28575" y="517016"/>
                </a:moveTo>
                <a:lnTo>
                  <a:pt x="0" y="517016"/>
                </a:lnTo>
                <a:lnTo>
                  <a:pt x="38100" y="593216"/>
                </a:lnTo>
                <a:lnTo>
                  <a:pt x="69850" y="529716"/>
                </a:lnTo>
                <a:lnTo>
                  <a:pt x="28575" y="529716"/>
                </a:lnTo>
                <a:lnTo>
                  <a:pt x="28575" y="517016"/>
                </a:lnTo>
                <a:close/>
              </a:path>
              <a:path w="76200" h="593725">
                <a:moveTo>
                  <a:pt x="47625" y="0"/>
                </a:moveTo>
                <a:lnTo>
                  <a:pt x="28575" y="0"/>
                </a:lnTo>
                <a:lnTo>
                  <a:pt x="28575" y="529716"/>
                </a:lnTo>
                <a:lnTo>
                  <a:pt x="47625" y="529716"/>
                </a:lnTo>
                <a:lnTo>
                  <a:pt x="47625" y="0"/>
                </a:lnTo>
                <a:close/>
              </a:path>
              <a:path w="76200" h="593725">
                <a:moveTo>
                  <a:pt x="76200" y="517016"/>
                </a:moveTo>
                <a:lnTo>
                  <a:pt x="47625" y="517016"/>
                </a:lnTo>
                <a:lnTo>
                  <a:pt x="47625" y="529716"/>
                </a:lnTo>
                <a:lnTo>
                  <a:pt x="69850" y="529716"/>
                </a:lnTo>
                <a:lnTo>
                  <a:pt x="76200" y="5170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84679" y="3022942"/>
            <a:ext cx="546735" cy="735330"/>
          </a:xfrm>
          <a:custGeom>
            <a:avLst/>
            <a:gdLst/>
            <a:ahLst/>
            <a:cxnLst/>
            <a:rect l="l" t="t" r="r" b="b"/>
            <a:pathLst>
              <a:path w="546735" h="735329">
                <a:moveTo>
                  <a:pt x="480288" y="621880"/>
                </a:moveTo>
                <a:lnTo>
                  <a:pt x="478802" y="614553"/>
                </a:lnTo>
                <a:lnTo>
                  <a:pt x="474764" y="608558"/>
                </a:lnTo>
                <a:lnTo>
                  <a:pt x="468782" y="604520"/>
                </a:lnTo>
                <a:lnTo>
                  <a:pt x="461454" y="603046"/>
                </a:lnTo>
                <a:lnTo>
                  <a:pt x="454113" y="604520"/>
                </a:lnTo>
                <a:lnTo>
                  <a:pt x="448132" y="608558"/>
                </a:lnTo>
                <a:lnTo>
                  <a:pt x="444093" y="614553"/>
                </a:lnTo>
                <a:lnTo>
                  <a:pt x="442620" y="621880"/>
                </a:lnTo>
                <a:lnTo>
                  <a:pt x="444093" y="629221"/>
                </a:lnTo>
                <a:lnTo>
                  <a:pt x="448132" y="635215"/>
                </a:lnTo>
                <a:lnTo>
                  <a:pt x="454113" y="639254"/>
                </a:lnTo>
                <a:lnTo>
                  <a:pt x="461454" y="640727"/>
                </a:lnTo>
                <a:lnTo>
                  <a:pt x="468782" y="639254"/>
                </a:lnTo>
                <a:lnTo>
                  <a:pt x="474764" y="635215"/>
                </a:lnTo>
                <a:lnTo>
                  <a:pt x="478802" y="629221"/>
                </a:lnTo>
                <a:lnTo>
                  <a:pt x="480288" y="621880"/>
                </a:lnTo>
                <a:close/>
              </a:path>
              <a:path w="546735" h="735329">
                <a:moveTo>
                  <a:pt x="480288" y="433438"/>
                </a:moveTo>
                <a:lnTo>
                  <a:pt x="478802" y="426097"/>
                </a:lnTo>
                <a:lnTo>
                  <a:pt x="474764" y="420116"/>
                </a:lnTo>
                <a:lnTo>
                  <a:pt x="468782" y="416077"/>
                </a:lnTo>
                <a:lnTo>
                  <a:pt x="461454" y="414591"/>
                </a:lnTo>
                <a:lnTo>
                  <a:pt x="454113" y="416077"/>
                </a:lnTo>
                <a:lnTo>
                  <a:pt x="448132" y="420116"/>
                </a:lnTo>
                <a:lnTo>
                  <a:pt x="444093" y="426097"/>
                </a:lnTo>
                <a:lnTo>
                  <a:pt x="442620" y="433438"/>
                </a:lnTo>
                <a:lnTo>
                  <a:pt x="444093" y="440766"/>
                </a:lnTo>
                <a:lnTo>
                  <a:pt x="448132" y="446760"/>
                </a:lnTo>
                <a:lnTo>
                  <a:pt x="454113" y="450799"/>
                </a:lnTo>
                <a:lnTo>
                  <a:pt x="461454" y="452285"/>
                </a:lnTo>
                <a:lnTo>
                  <a:pt x="468782" y="450799"/>
                </a:lnTo>
                <a:lnTo>
                  <a:pt x="474764" y="446760"/>
                </a:lnTo>
                <a:lnTo>
                  <a:pt x="478802" y="440766"/>
                </a:lnTo>
                <a:lnTo>
                  <a:pt x="480288" y="433438"/>
                </a:lnTo>
                <a:close/>
              </a:path>
              <a:path w="546735" h="735329">
                <a:moveTo>
                  <a:pt x="480288" y="244983"/>
                </a:moveTo>
                <a:lnTo>
                  <a:pt x="478802" y="237655"/>
                </a:lnTo>
                <a:lnTo>
                  <a:pt x="474764" y="231660"/>
                </a:lnTo>
                <a:lnTo>
                  <a:pt x="468782" y="227622"/>
                </a:lnTo>
                <a:lnTo>
                  <a:pt x="461454" y="226136"/>
                </a:lnTo>
                <a:lnTo>
                  <a:pt x="454113" y="227622"/>
                </a:lnTo>
                <a:lnTo>
                  <a:pt x="448132" y="231660"/>
                </a:lnTo>
                <a:lnTo>
                  <a:pt x="444093" y="237655"/>
                </a:lnTo>
                <a:lnTo>
                  <a:pt x="442620" y="244983"/>
                </a:lnTo>
                <a:lnTo>
                  <a:pt x="444093" y="252323"/>
                </a:lnTo>
                <a:lnTo>
                  <a:pt x="448132" y="258305"/>
                </a:lnTo>
                <a:lnTo>
                  <a:pt x="454113" y="262343"/>
                </a:lnTo>
                <a:lnTo>
                  <a:pt x="461454" y="263829"/>
                </a:lnTo>
                <a:lnTo>
                  <a:pt x="468782" y="262343"/>
                </a:lnTo>
                <a:lnTo>
                  <a:pt x="474764" y="258305"/>
                </a:lnTo>
                <a:lnTo>
                  <a:pt x="478802" y="252323"/>
                </a:lnTo>
                <a:lnTo>
                  <a:pt x="480288" y="244983"/>
                </a:lnTo>
                <a:close/>
              </a:path>
              <a:path w="546735" h="735329">
                <a:moveTo>
                  <a:pt x="546201" y="84797"/>
                </a:moveTo>
                <a:lnTo>
                  <a:pt x="538022" y="62763"/>
                </a:lnTo>
                <a:lnTo>
                  <a:pt x="527367" y="53949"/>
                </a:lnTo>
                <a:lnTo>
                  <a:pt x="527367" y="84797"/>
                </a:lnTo>
                <a:lnTo>
                  <a:pt x="527367" y="117398"/>
                </a:lnTo>
                <a:lnTo>
                  <a:pt x="527367" y="650151"/>
                </a:lnTo>
                <a:lnTo>
                  <a:pt x="518642" y="665835"/>
                </a:lnTo>
                <a:lnTo>
                  <a:pt x="454812" y="694791"/>
                </a:lnTo>
                <a:lnTo>
                  <a:pt x="403707" y="705916"/>
                </a:lnTo>
                <a:lnTo>
                  <a:pt x="342468" y="713384"/>
                </a:lnTo>
                <a:lnTo>
                  <a:pt x="273100" y="716114"/>
                </a:lnTo>
                <a:lnTo>
                  <a:pt x="203733" y="713384"/>
                </a:lnTo>
                <a:lnTo>
                  <a:pt x="142494" y="705916"/>
                </a:lnTo>
                <a:lnTo>
                  <a:pt x="91389" y="694791"/>
                </a:lnTo>
                <a:lnTo>
                  <a:pt x="52412" y="681075"/>
                </a:lnTo>
                <a:lnTo>
                  <a:pt x="18834" y="650151"/>
                </a:lnTo>
                <a:lnTo>
                  <a:pt x="18834" y="494309"/>
                </a:lnTo>
                <a:lnTo>
                  <a:pt x="51739" y="512826"/>
                </a:lnTo>
                <a:lnTo>
                  <a:pt x="97015" y="527418"/>
                </a:lnTo>
                <a:lnTo>
                  <a:pt x="151269" y="537959"/>
                </a:lnTo>
                <a:lnTo>
                  <a:pt x="211099" y="544347"/>
                </a:lnTo>
                <a:lnTo>
                  <a:pt x="273100" y="546506"/>
                </a:lnTo>
                <a:lnTo>
                  <a:pt x="335114" y="544347"/>
                </a:lnTo>
                <a:lnTo>
                  <a:pt x="394931" y="537959"/>
                </a:lnTo>
                <a:lnTo>
                  <a:pt x="447916" y="527659"/>
                </a:lnTo>
                <a:lnTo>
                  <a:pt x="449186" y="527418"/>
                </a:lnTo>
                <a:lnTo>
                  <a:pt x="494461" y="512826"/>
                </a:lnTo>
                <a:lnTo>
                  <a:pt x="527367" y="494309"/>
                </a:lnTo>
                <a:lnTo>
                  <a:pt x="527367" y="461708"/>
                </a:lnTo>
                <a:lnTo>
                  <a:pt x="518642" y="477380"/>
                </a:lnTo>
                <a:lnTo>
                  <a:pt x="493788" y="492620"/>
                </a:lnTo>
                <a:lnTo>
                  <a:pt x="454812" y="506336"/>
                </a:lnTo>
                <a:lnTo>
                  <a:pt x="403707" y="517474"/>
                </a:lnTo>
                <a:lnTo>
                  <a:pt x="342468" y="524929"/>
                </a:lnTo>
                <a:lnTo>
                  <a:pt x="273100" y="527659"/>
                </a:lnTo>
                <a:lnTo>
                  <a:pt x="203733" y="524929"/>
                </a:lnTo>
                <a:lnTo>
                  <a:pt x="142494" y="517474"/>
                </a:lnTo>
                <a:lnTo>
                  <a:pt x="91389" y="506336"/>
                </a:lnTo>
                <a:lnTo>
                  <a:pt x="52412" y="492620"/>
                </a:lnTo>
                <a:lnTo>
                  <a:pt x="18834" y="461708"/>
                </a:lnTo>
                <a:lnTo>
                  <a:pt x="18834" y="305854"/>
                </a:lnTo>
                <a:lnTo>
                  <a:pt x="51739" y="324383"/>
                </a:lnTo>
                <a:lnTo>
                  <a:pt x="97015" y="338963"/>
                </a:lnTo>
                <a:lnTo>
                  <a:pt x="151269" y="349504"/>
                </a:lnTo>
                <a:lnTo>
                  <a:pt x="211099" y="355904"/>
                </a:lnTo>
                <a:lnTo>
                  <a:pt x="273100" y="358051"/>
                </a:lnTo>
                <a:lnTo>
                  <a:pt x="335114" y="355904"/>
                </a:lnTo>
                <a:lnTo>
                  <a:pt x="394931" y="349504"/>
                </a:lnTo>
                <a:lnTo>
                  <a:pt x="447916" y="339204"/>
                </a:lnTo>
                <a:lnTo>
                  <a:pt x="449186" y="338963"/>
                </a:lnTo>
                <a:lnTo>
                  <a:pt x="494461" y="324383"/>
                </a:lnTo>
                <a:lnTo>
                  <a:pt x="527367" y="305854"/>
                </a:lnTo>
                <a:lnTo>
                  <a:pt x="527367" y="273253"/>
                </a:lnTo>
                <a:lnTo>
                  <a:pt x="518642" y="288937"/>
                </a:lnTo>
                <a:lnTo>
                  <a:pt x="493788" y="304177"/>
                </a:lnTo>
                <a:lnTo>
                  <a:pt x="454812" y="317893"/>
                </a:lnTo>
                <a:lnTo>
                  <a:pt x="403707" y="329018"/>
                </a:lnTo>
                <a:lnTo>
                  <a:pt x="342468" y="336486"/>
                </a:lnTo>
                <a:lnTo>
                  <a:pt x="273100" y="339204"/>
                </a:lnTo>
                <a:lnTo>
                  <a:pt x="203733" y="336486"/>
                </a:lnTo>
                <a:lnTo>
                  <a:pt x="142494" y="329018"/>
                </a:lnTo>
                <a:lnTo>
                  <a:pt x="91389" y="317893"/>
                </a:lnTo>
                <a:lnTo>
                  <a:pt x="52412" y="304165"/>
                </a:lnTo>
                <a:lnTo>
                  <a:pt x="18834" y="273253"/>
                </a:lnTo>
                <a:lnTo>
                  <a:pt x="18834" y="117398"/>
                </a:lnTo>
                <a:lnTo>
                  <a:pt x="51739" y="135928"/>
                </a:lnTo>
                <a:lnTo>
                  <a:pt x="97015" y="150507"/>
                </a:lnTo>
                <a:lnTo>
                  <a:pt x="151269" y="161048"/>
                </a:lnTo>
                <a:lnTo>
                  <a:pt x="211099" y="167449"/>
                </a:lnTo>
                <a:lnTo>
                  <a:pt x="273100" y="169608"/>
                </a:lnTo>
                <a:lnTo>
                  <a:pt x="335114" y="167449"/>
                </a:lnTo>
                <a:lnTo>
                  <a:pt x="394931" y="161048"/>
                </a:lnTo>
                <a:lnTo>
                  <a:pt x="447916" y="150761"/>
                </a:lnTo>
                <a:lnTo>
                  <a:pt x="494461" y="135928"/>
                </a:lnTo>
                <a:lnTo>
                  <a:pt x="527367" y="117398"/>
                </a:lnTo>
                <a:lnTo>
                  <a:pt x="527367" y="84797"/>
                </a:lnTo>
                <a:lnTo>
                  <a:pt x="518642" y="100482"/>
                </a:lnTo>
                <a:lnTo>
                  <a:pt x="493788" y="115722"/>
                </a:lnTo>
                <a:lnTo>
                  <a:pt x="454812" y="129438"/>
                </a:lnTo>
                <a:lnTo>
                  <a:pt x="403707" y="140563"/>
                </a:lnTo>
                <a:lnTo>
                  <a:pt x="342468" y="148031"/>
                </a:lnTo>
                <a:lnTo>
                  <a:pt x="273100" y="150761"/>
                </a:lnTo>
                <a:lnTo>
                  <a:pt x="203733" y="148031"/>
                </a:lnTo>
                <a:lnTo>
                  <a:pt x="142494" y="140563"/>
                </a:lnTo>
                <a:lnTo>
                  <a:pt x="91389" y="129438"/>
                </a:lnTo>
                <a:lnTo>
                  <a:pt x="57188" y="117398"/>
                </a:lnTo>
                <a:lnTo>
                  <a:pt x="52412" y="115722"/>
                </a:lnTo>
                <a:lnTo>
                  <a:pt x="27559" y="100482"/>
                </a:lnTo>
                <a:lnTo>
                  <a:pt x="18834" y="84797"/>
                </a:lnTo>
                <a:lnTo>
                  <a:pt x="27559" y="69113"/>
                </a:lnTo>
                <a:lnTo>
                  <a:pt x="91389" y="40157"/>
                </a:lnTo>
                <a:lnTo>
                  <a:pt x="142494" y="29032"/>
                </a:lnTo>
                <a:lnTo>
                  <a:pt x="203733" y="21564"/>
                </a:lnTo>
                <a:lnTo>
                  <a:pt x="273100" y="18846"/>
                </a:lnTo>
                <a:lnTo>
                  <a:pt x="342468" y="21564"/>
                </a:lnTo>
                <a:lnTo>
                  <a:pt x="403707" y="29032"/>
                </a:lnTo>
                <a:lnTo>
                  <a:pt x="454812" y="40157"/>
                </a:lnTo>
                <a:lnTo>
                  <a:pt x="493788" y="53873"/>
                </a:lnTo>
                <a:lnTo>
                  <a:pt x="527367" y="84797"/>
                </a:lnTo>
                <a:lnTo>
                  <a:pt x="527367" y="53949"/>
                </a:lnTo>
                <a:lnTo>
                  <a:pt x="515226" y="43903"/>
                </a:lnTo>
                <a:lnTo>
                  <a:pt x="480402" y="28295"/>
                </a:lnTo>
                <a:lnTo>
                  <a:pt x="446316" y="18846"/>
                </a:lnTo>
                <a:lnTo>
                  <a:pt x="436181" y="16027"/>
                </a:lnTo>
                <a:lnTo>
                  <a:pt x="385140" y="7175"/>
                </a:lnTo>
                <a:lnTo>
                  <a:pt x="329920" y="1803"/>
                </a:lnTo>
                <a:lnTo>
                  <a:pt x="273100" y="0"/>
                </a:lnTo>
                <a:lnTo>
                  <a:pt x="216281" y="1803"/>
                </a:lnTo>
                <a:lnTo>
                  <a:pt x="161061" y="7175"/>
                </a:lnTo>
                <a:lnTo>
                  <a:pt x="110020" y="16027"/>
                </a:lnTo>
                <a:lnTo>
                  <a:pt x="65798" y="28295"/>
                </a:lnTo>
                <a:lnTo>
                  <a:pt x="30975" y="43903"/>
                </a:lnTo>
                <a:lnTo>
                  <a:pt x="0" y="84797"/>
                </a:lnTo>
                <a:lnTo>
                  <a:pt x="0" y="650151"/>
                </a:lnTo>
                <a:lnTo>
                  <a:pt x="30975" y="691057"/>
                </a:lnTo>
                <a:lnTo>
                  <a:pt x="65798" y="706653"/>
                </a:lnTo>
                <a:lnTo>
                  <a:pt x="110032" y="718921"/>
                </a:lnTo>
                <a:lnTo>
                  <a:pt x="161061" y="727786"/>
                </a:lnTo>
                <a:lnTo>
                  <a:pt x="216281" y="733145"/>
                </a:lnTo>
                <a:lnTo>
                  <a:pt x="273100" y="734961"/>
                </a:lnTo>
                <a:lnTo>
                  <a:pt x="329920" y="733145"/>
                </a:lnTo>
                <a:lnTo>
                  <a:pt x="385140" y="727786"/>
                </a:lnTo>
                <a:lnTo>
                  <a:pt x="436181" y="718921"/>
                </a:lnTo>
                <a:lnTo>
                  <a:pt x="480402" y="706653"/>
                </a:lnTo>
                <a:lnTo>
                  <a:pt x="515226" y="691057"/>
                </a:lnTo>
                <a:lnTo>
                  <a:pt x="546201" y="650151"/>
                </a:lnTo>
                <a:lnTo>
                  <a:pt x="546201" y="494309"/>
                </a:lnTo>
                <a:lnTo>
                  <a:pt x="546201" y="305854"/>
                </a:lnTo>
                <a:lnTo>
                  <a:pt x="546201" y="117398"/>
                </a:lnTo>
                <a:lnTo>
                  <a:pt x="546201" y="84797"/>
                </a:lnTo>
                <a:close/>
              </a:path>
            </a:pathLst>
          </a:custGeom>
          <a:solidFill>
            <a:srgbClr val="313D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10433" y="2735452"/>
            <a:ext cx="1874520" cy="652780"/>
          </a:xfrm>
          <a:custGeom>
            <a:avLst/>
            <a:gdLst/>
            <a:ahLst/>
            <a:cxnLst/>
            <a:rect l="l" t="t" r="r" b="b"/>
            <a:pathLst>
              <a:path w="1874520" h="652779">
                <a:moveTo>
                  <a:pt x="1799324" y="27065"/>
                </a:moveTo>
                <a:lnTo>
                  <a:pt x="0" y="634746"/>
                </a:lnTo>
                <a:lnTo>
                  <a:pt x="6096" y="652780"/>
                </a:lnTo>
                <a:lnTo>
                  <a:pt x="1805411" y="45102"/>
                </a:lnTo>
                <a:lnTo>
                  <a:pt x="1799324" y="27065"/>
                </a:lnTo>
                <a:close/>
              </a:path>
              <a:path w="1874520" h="652779">
                <a:moveTo>
                  <a:pt x="1863335" y="22987"/>
                </a:moveTo>
                <a:lnTo>
                  <a:pt x="1811401" y="22987"/>
                </a:lnTo>
                <a:lnTo>
                  <a:pt x="1817496" y="41021"/>
                </a:lnTo>
                <a:lnTo>
                  <a:pt x="1805411" y="45102"/>
                </a:lnTo>
                <a:lnTo>
                  <a:pt x="1814576" y="72262"/>
                </a:lnTo>
                <a:lnTo>
                  <a:pt x="1863335" y="22987"/>
                </a:lnTo>
                <a:close/>
              </a:path>
              <a:path w="1874520" h="652779">
                <a:moveTo>
                  <a:pt x="1811401" y="22987"/>
                </a:moveTo>
                <a:lnTo>
                  <a:pt x="1799324" y="27065"/>
                </a:lnTo>
                <a:lnTo>
                  <a:pt x="1805411" y="45102"/>
                </a:lnTo>
                <a:lnTo>
                  <a:pt x="1817496" y="41021"/>
                </a:lnTo>
                <a:lnTo>
                  <a:pt x="1811401" y="22987"/>
                </a:lnTo>
                <a:close/>
              </a:path>
              <a:path w="1874520" h="652779">
                <a:moveTo>
                  <a:pt x="1790192" y="0"/>
                </a:moveTo>
                <a:lnTo>
                  <a:pt x="1799324" y="27065"/>
                </a:lnTo>
                <a:lnTo>
                  <a:pt x="1811401" y="22987"/>
                </a:lnTo>
                <a:lnTo>
                  <a:pt x="1863335" y="22987"/>
                </a:lnTo>
                <a:lnTo>
                  <a:pt x="1874520" y="11684"/>
                </a:lnTo>
                <a:lnTo>
                  <a:pt x="17901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56410" y="3860038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Station</a:t>
            </a:r>
            <a:r>
              <a:rPr sz="18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list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38594" y="3755669"/>
            <a:ext cx="1837055" cy="755650"/>
          </a:xfrm>
          <a:custGeom>
            <a:avLst/>
            <a:gdLst/>
            <a:ahLst/>
            <a:cxnLst/>
            <a:rect l="l" t="t" r="r" b="b"/>
            <a:pathLst>
              <a:path w="1837054" h="755650">
                <a:moveTo>
                  <a:pt x="1836674" y="0"/>
                </a:moveTo>
                <a:lnTo>
                  <a:pt x="0" y="0"/>
                </a:lnTo>
                <a:lnTo>
                  <a:pt x="0" y="755243"/>
                </a:lnTo>
                <a:lnTo>
                  <a:pt x="1836674" y="755243"/>
                </a:lnTo>
                <a:lnTo>
                  <a:pt x="183667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38594" y="3755669"/>
            <a:ext cx="1837055" cy="7556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55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WIS</a:t>
            </a:r>
            <a:r>
              <a:rPr sz="1400" b="1" i="1" spc="-25" dirty="0">
                <a:solidFill>
                  <a:srgbClr val="0F243E"/>
                </a:solidFill>
                <a:latin typeface="Calibri"/>
                <a:cs typeface="Calibri"/>
              </a:rPr>
              <a:t> 2.0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5" name="object 25" descr="A picture containing text, balloon, transport, aircraft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5402" y="3782186"/>
            <a:ext cx="708545" cy="708532"/>
          </a:xfrm>
          <a:prstGeom prst="rect">
            <a:avLst/>
          </a:prstGeom>
        </p:spPr>
      </p:pic>
      <p:pic>
        <p:nvPicPr>
          <p:cNvPr id="26" name="object 26" descr="Input, system, operation, process, insert icon - Download on Iconfind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66656" y="2054644"/>
            <a:ext cx="754849" cy="754811"/>
          </a:xfrm>
          <a:prstGeom prst="rect">
            <a:avLst/>
          </a:prstGeom>
        </p:spPr>
      </p:pic>
      <p:pic>
        <p:nvPicPr>
          <p:cNvPr id="27" name="object 27" descr="Input, system, operation, process, insert icon - Download on Iconfind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6757" y="2054644"/>
            <a:ext cx="754849" cy="75481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8080" y="2053031"/>
            <a:ext cx="312788" cy="4374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4543" y="2551506"/>
            <a:ext cx="312788" cy="43743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956552" y="1323847"/>
            <a:ext cx="1209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One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or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more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BUFR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8559" y="4310251"/>
            <a:ext cx="3179445" cy="2548255"/>
            <a:chOff x="258559" y="4310251"/>
            <a:chExt cx="3179445" cy="2548255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084" y="4310251"/>
              <a:ext cx="3169793" cy="25477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68084" y="5171732"/>
              <a:ext cx="2091689" cy="275590"/>
            </a:xfrm>
            <a:custGeom>
              <a:avLst/>
              <a:gdLst/>
              <a:ahLst/>
              <a:cxnLst/>
              <a:rect l="l" t="t" r="r" b="b"/>
              <a:pathLst>
                <a:path w="2091689" h="275589">
                  <a:moveTo>
                    <a:pt x="0" y="275297"/>
                  </a:moveTo>
                  <a:lnTo>
                    <a:pt x="2091689" y="275297"/>
                  </a:lnTo>
                  <a:lnTo>
                    <a:pt x="2091689" y="0"/>
                  </a:lnTo>
                  <a:lnTo>
                    <a:pt x="0" y="0"/>
                  </a:lnTo>
                  <a:lnTo>
                    <a:pt x="0" y="275297"/>
                  </a:lnTo>
                  <a:close/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08919" y="1931477"/>
          <a:ext cx="697230" cy="461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E50"/>
                      </a:solidFill>
                      <a:prstDash val="solid"/>
                    </a:lnL>
                    <a:lnR w="190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333E50"/>
                      </a:solidFill>
                      <a:prstDash val="solid"/>
                    </a:lnT>
                    <a:lnB w="19050">
                      <a:solidFill>
                        <a:srgbClr val="333E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773" y="3456432"/>
            <a:ext cx="715073" cy="9144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022475" y="2142998"/>
            <a:ext cx="2038985" cy="76200"/>
          </a:xfrm>
          <a:custGeom>
            <a:avLst/>
            <a:gdLst/>
            <a:ahLst/>
            <a:cxnLst/>
            <a:rect l="l" t="t" r="r" b="b"/>
            <a:pathLst>
              <a:path w="2038985" h="76200">
                <a:moveTo>
                  <a:pt x="1962530" y="0"/>
                </a:moveTo>
                <a:lnTo>
                  <a:pt x="1962456" y="22351"/>
                </a:lnTo>
                <a:lnTo>
                  <a:pt x="1962403" y="38353"/>
                </a:lnTo>
                <a:lnTo>
                  <a:pt x="1962277" y="76200"/>
                </a:lnTo>
                <a:lnTo>
                  <a:pt x="2019906" y="47625"/>
                </a:lnTo>
                <a:lnTo>
                  <a:pt x="1975103" y="47625"/>
                </a:lnTo>
                <a:lnTo>
                  <a:pt x="1975103" y="28575"/>
                </a:lnTo>
                <a:lnTo>
                  <a:pt x="2019207" y="28575"/>
                </a:lnTo>
                <a:lnTo>
                  <a:pt x="1962530" y="0"/>
                </a:lnTo>
                <a:close/>
              </a:path>
              <a:path w="2038985" h="76200">
                <a:moveTo>
                  <a:pt x="0" y="22351"/>
                </a:moveTo>
                <a:lnTo>
                  <a:pt x="0" y="41401"/>
                </a:lnTo>
                <a:lnTo>
                  <a:pt x="1975103" y="47625"/>
                </a:lnTo>
                <a:lnTo>
                  <a:pt x="1962372" y="47625"/>
                </a:lnTo>
                <a:lnTo>
                  <a:pt x="1962435" y="28575"/>
                </a:lnTo>
                <a:lnTo>
                  <a:pt x="1975103" y="28575"/>
                </a:lnTo>
                <a:lnTo>
                  <a:pt x="0" y="22351"/>
                </a:lnTo>
                <a:close/>
              </a:path>
              <a:path w="2038985" h="76200">
                <a:moveTo>
                  <a:pt x="2019207" y="28575"/>
                </a:moveTo>
                <a:lnTo>
                  <a:pt x="1975103" y="28575"/>
                </a:lnTo>
                <a:lnTo>
                  <a:pt x="1975103" y="47625"/>
                </a:lnTo>
                <a:lnTo>
                  <a:pt x="2019906" y="47625"/>
                </a:lnTo>
                <a:lnTo>
                  <a:pt x="2038603" y="38353"/>
                </a:lnTo>
                <a:lnTo>
                  <a:pt x="2019207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0178" y="2638551"/>
            <a:ext cx="76200" cy="817880"/>
          </a:xfrm>
          <a:custGeom>
            <a:avLst/>
            <a:gdLst/>
            <a:ahLst/>
            <a:cxnLst/>
            <a:rect l="l" t="t" r="r" b="b"/>
            <a:pathLst>
              <a:path w="76200" h="817879">
                <a:moveTo>
                  <a:pt x="47625" y="63500"/>
                </a:moveTo>
                <a:lnTo>
                  <a:pt x="28575" y="63500"/>
                </a:lnTo>
                <a:lnTo>
                  <a:pt x="28575" y="817880"/>
                </a:lnTo>
                <a:lnTo>
                  <a:pt x="47625" y="817880"/>
                </a:lnTo>
                <a:lnTo>
                  <a:pt x="47625" y="63500"/>
                </a:lnTo>
                <a:close/>
              </a:path>
              <a:path w="76200" h="817879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17879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75478" y="2149348"/>
            <a:ext cx="1457325" cy="76200"/>
          </a:xfrm>
          <a:custGeom>
            <a:avLst/>
            <a:gdLst/>
            <a:ahLst/>
            <a:cxnLst/>
            <a:rect l="l" t="t" r="r" b="b"/>
            <a:pathLst>
              <a:path w="1457325" h="76200">
                <a:moveTo>
                  <a:pt x="1380871" y="0"/>
                </a:moveTo>
                <a:lnTo>
                  <a:pt x="1380796" y="22478"/>
                </a:lnTo>
                <a:lnTo>
                  <a:pt x="1380743" y="38353"/>
                </a:lnTo>
                <a:lnTo>
                  <a:pt x="1380617" y="76200"/>
                </a:lnTo>
                <a:lnTo>
                  <a:pt x="1438246" y="47625"/>
                </a:lnTo>
                <a:lnTo>
                  <a:pt x="1393444" y="47625"/>
                </a:lnTo>
                <a:lnTo>
                  <a:pt x="1393444" y="28575"/>
                </a:lnTo>
                <a:lnTo>
                  <a:pt x="1437547" y="28575"/>
                </a:lnTo>
                <a:lnTo>
                  <a:pt x="1380871" y="0"/>
                </a:lnTo>
                <a:close/>
              </a:path>
              <a:path w="1457325" h="76200">
                <a:moveTo>
                  <a:pt x="0" y="22478"/>
                </a:moveTo>
                <a:lnTo>
                  <a:pt x="0" y="41528"/>
                </a:lnTo>
                <a:lnTo>
                  <a:pt x="1393443" y="47625"/>
                </a:lnTo>
                <a:lnTo>
                  <a:pt x="1380712" y="47625"/>
                </a:lnTo>
                <a:lnTo>
                  <a:pt x="1380775" y="28575"/>
                </a:lnTo>
                <a:lnTo>
                  <a:pt x="1393443" y="28575"/>
                </a:lnTo>
                <a:lnTo>
                  <a:pt x="0" y="22478"/>
                </a:lnTo>
                <a:close/>
              </a:path>
              <a:path w="1457325" h="76200">
                <a:moveTo>
                  <a:pt x="1437547" y="28575"/>
                </a:moveTo>
                <a:lnTo>
                  <a:pt x="1393444" y="28575"/>
                </a:lnTo>
                <a:lnTo>
                  <a:pt x="1393444" y="47625"/>
                </a:lnTo>
                <a:lnTo>
                  <a:pt x="1438246" y="47625"/>
                </a:lnTo>
                <a:lnTo>
                  <a:pt x="1456944" y="38353"/>
                </a:lnTo>
                <a:lnTo>
                  <a:pt x="1437547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74033" y="1342390"/>
            <a:ext cx="817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csv2bufr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095" y="908430"/>
            <a:ext cx="2310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33E50"/>
                </a:solidFill>
                <a:latin typeface="Calibri"/>
                <a:cs typeface="Calibri"/>
              </a:rPr>
              <a:t>Tabulated</a:t>
            </a:r>
            <a:r>
              <a:rPr sz="1800" spc="-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CSV</a:t>
            </a:r>
            <a:r>
              <a:rPr sz="1800" spc="-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from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031" y="1182751"/>
            <a:ext cx="2574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5035" marR="5080" indent="-90296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observing</a:t>
            </a:r>
            <a:r>
              <a:rPr sz="1800" spc="-8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station,</a:t>
            </a:r>
            <a:r>
              <a:rPr sz="1800" spc="-8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including location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3409" y="4282185"/>
            <a:ext cx="17297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mapping</a:t>
            </a:r>
            <a:r>
              <a:rPr sz="1800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template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8004" y="1342390"/>
            <a:ext cx="1258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bufr2geojson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88225" y="2142489"/>
            <a:ext cx="1416050" cy="76200"/>
          </a:xfrm>
          <a:custGeom>
            <a:avLst/>
            <a:gdLst/>
            <a:ahLst/>
            <a:cxnLst/>
            <a:rect l="l" t="t" r="r" b="b"/>
            <a:pathLst>
              <a:path w="1416050" h="76200">
                <a:moveTo>
                  <a:pt x="1339723" y="0"/>
                </a:moveTo>
                <a:lnTo>
                  <a:pt x="1338960" y="76200"/>
                </a:lnTo>
                <a:lnTo>
                  <a:pt x="1397308" y="47751"/>
                </a:lnTo>
                <a:lnTo>
                  <a:pt x="1351915" y="47751"/>
                </a:lnTo>
                <a:lnTo>
                  <a:pt x="1352033" y="38862"/>
                </a:lnTo>
                <a:lnTo>
                  <a:pt x="1352077" y="35560"/>
                </a:lnTo>
                <a:lnTo>
                  <a:pt x="1352169" y="28701"/>
                </a:lnTo>
                <a:lnTo>
                  <a:pt x="1395720" y="28701"/>
                </a:lnTo>
                <a:lnTo>
                  <a:pt x="1339723" y="0"/>
                </a:lnTo>
                <a:close/>
              </a:path>
              <a:path w="1416050" h="76200">
                <a:moveTo>
                  <a:pt x="126" y="16510"/>
                </a:moveTo>
                <a:lnTo>
                  <a:pt x="0" y="35560"/>
                </a:lnTo>
                <a:lnTo>
                  <a:pt x="1351914" y="47751"/>
                </a:lnTo>
                <a:lnTo>
                  <a:pt x="1339245" y="47751"/>
                </a:lnTo>
                <a:lnTo>
                  <a:pt x="1339367" y="35560"/>
                </a:lnTo>
                <a:lnTo>
                  <a:pt x="1339435" y="28701"/>
                </a:lnTo>
                <a:lnTo>
                  <a:pt x="1352169" y="28701"/>
                </a:lnTo>
                <a:lnTo>
                  <a:pt x="126" y="16510"/>
                </a:lnTo>
                <a:close/>
              </a:path>
              <a:path w="1416050" h="76200">
                <a:moveTo>
                  <a:pt x="1395720" y="28701"/>
                </a:moveTo>
                <a:lnTo>
                  <a:pt x="1352169" y="28701"/>
                </a:lnTo>
                <a:lnTo>
                  <a:pt x="1352077" y="35560"/>
                </a:lnTo>
                <a:lnTo>
                  <a:pt x="1352033" y="38862"/>
                </a:lnTo>
                <a:lnTo>
                  <a:pt x="1351915" y="47751"/>
                </a:lnTo>
                <a:lnTo>
                  <a:pt x="1397308" y="47751"/>
                </a:lnTo>
                <a:lnTo>
                  <a:pt x="1415542" y="38862"/>
                </a:lnTo>
                <a:lnTo>
                  <a:pt x="1395720" y="2870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99703" y="3752469"/>
            <a:ext cx="9982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333E50"/>
                </a:solidFill>
                <a:latin typeface="Calibri"/>
                <a:cs typeface="Calibri"/>
              </a:rPr>
              <a:t>GeoJSON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280017" y="2738373"/>
            <a:ext cx="76200" cy="904240"/>
          </a:xfrm>
          <a:custGeom>
            <a:avLst/>
            <a:gdLst/>
            <a:ahLst/>
            <a:cxnLst/>
            <a:rect l="l" t="t" r="r" b="b"/>
            <a:pathLst>
              <a:path w="76200" h="904239">
                <a:moveTo>
                  <a:pt x="28575" y="827786"/>
                </a:moveTo>
                <a:lnTo>
                  <a:pt x="0" y="827786"/>
                </a:lnTo>
                <a:lnTo>
                  <a:pt x="38100" y="903986"/>
                </a:lnTo>
                <a:lnTo>
                  <a:pt x="69850" y="840486"/>
                </a:lnTo>
                <a:lnTo>
                  <a:pt x="28575" y="840486"/>
                </a:lnTo>
                <a:lnTo>
                  <a:pt x="28575" y="827786"/>
                </a:lnTo>
                <a:close/>
              </a:path>
              <a:path w="76200" h="904239">
                <a:moveTo>
                  <a:pt x="47625" y="0"/>
                </a:moveTo>
                <a:lnTo>
                  <a:pt x="28575" y="0"/>
                </a:lnTo>
                <a:lnTo>
                  <a:pt x="28575" y="840486"/>
                </a:lnTo>
                <a:lnTo>
                  <a:pt x="47625" y="840486"/>
                </a:lnTo>
                <a:lnTo>
                  <a:pt x="47625" y="0"/>
                </a:lnTo>
                <a:close/>
              </a:path>
              <a:path w="76200" h="904239">
                <a:moveTo>
                  <a:pt x="76200" y="827786"/>
                </a:moveTo>
                <a:lnTo>
                  <a:pt x="47625" y="827786"/>
                </a:lnTo>
                <a:lnTo>
                  <a:pt x="47625" y="840486"/>
                </a:lnTo>
                <a:lnTo>
                  <a:pt x="69850" y="840486"/>
                </a:lnTo>
                <a:lnTo>
                  <a:pt x="76200" y="82778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16" name="object 1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047239">
              <a:lnSpc>
                <a:spcPct val="100000"/>
              </a:lnSpc>
              <a:spcBef>
                <a:spcPts val="100"/>
              </a:spcBef>
            </a:pPr>
            <a:r>
              <a:rPr dirty="0"/>
              <a:t>wis2box</a:t>
            </a:r>
            <a:r>
              <a:rPr spc="-70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plugins:</a:t>
            </a:r>
            <a:r>
              <a:rPr spc="-85" dirty="0"/>
              <a:t> </a:t>
            </a:r>
            <a:r>
              <a:rPr spc="-10" dirty="0"/>
              <a:t>csv2bufr</a:t>
            </a:r>
          </a:p>
        </p:txBody>
      </p:sp>
      <p:sp>
        <p:nvSpPr>
          <p:cNvPr id="19" name="object 19"/>
          <p:cNvSpPr/>
          <p:nvPr/>
        </p:nvSpPr>
        <p:spPr>
          <a:xfrm>
            <a:off x="6851522" y="2738373"/>
            <a:ext cx="76200" cy="616585"/>
          </a:xfrm>
          <a:custGeom>
            <a:avLst/>
            <a:gdLst/>
            <a:ahLst/>
            <a:cxnLst/>
            <a:rect l="l" t="t" r="r" b="b"/>
            <a:pathLst>
              <a:path w="76200" h="616585">
                <a:moveTo>
                  <a:pt x="28575" y="540130"/>
                </a:moveTo>
                <a:lnTo>
                  <a:pt x="0" y="540130"/>
                </a:lnTo>
                <a:lnTo>
                  <a:pt x="38100" y="616330"/>
                </a:lnTo>
                <a:lnTo>
                  <a:pt x="69850" y="552830"/>
                </a:lnTo>
                <a:lnTo>
                  <a:pt x="28575" y="552830"/>
                </a:lnTo>
                <a:lnTo>
                  <a:pt x="28575" y="540130"/>
                </a:lnTo>
                <a:close/>
              </a:path>
              <a:path w="76200" h="616585">
                <a:moveTo>
                  <a:pt x="47625" y="0"/>
                </a:moveTo>
                <a:lnTo>
                  <a:pt x="28575" y="0"/>
                </a:lnTo>
                <a:lnTo>
                  <a:pt x="28575" y="552830"/>
                </a:lnTo>
                <a:lnTo>
                  <a:pt x="47625" y="552830"/>
                </a:lnTo>
                <a:lnTo>
                  <a:pt x="47625" y="0"/>
                </a:lnTo>
                <a:close/>
              </a:path>
              <a:path w="76200" h="616585">
                <a:moveTo>
                  <a:pt x="76200" y="540130"/>
                </a:moveTo>
                <a:lnTo>
                  <a:pt x="47625" y="540130"/>
                </a:lnTo>
                <a:lnTo>
                  <a:pt x="47625" y="552830"/>
                </a:lnTo>
                <a:lnTo>
                  <a:pt x="69850" y="552830"/>
                </a:lnTo>
                <a:lnTo>
                  <a:pt x="76200" y="54013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68215" y="4760721"/>
            <a:ext cx="7656195" cy="175450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7465" rIns="0" bIns="0" rtlCol="0">
            <a:spAutoFit/>
          </a:bodyPr>
          <a:lstStyle/>
          <a:p>
            <a:pPr marR="6918959" algn="r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latin typeface="Calibri"/>
                <a:cs typeface="Calibri"/>
              </a:rPr>
              <a:t>plugins:</a:t>
            </a:r>
            <a:endParaRPr sz="1200">
              <a:latin typeface="Calibri"/>
              <a:cs typeface="Calibri"/>
            </a:endParaRPr>
          </a:p>
          <a:p>
            <a:pPr marR="6899275" algn="r">
              <a:lnSpc>
                <a:spcPct val="100000"/>
              </a:lnSpc>
            </a:pPr>
            <a:r>
              <a:rPr sz="1200" b="1" spc="-20" dirty="0">
                <a:latin typeface="Calibri"/>
                <a:cs typeface="Calibri"/>
              </a:rPr>
              <a:t>csv:</a:t>
            </a:r>
            <a:endParaRPr sz="1200">
              <a:latin typeface="Calibri"/>
              <a:cs typeface="Calibri"/>
            </a:endParaRPr>
          </a:p>
          <a:p>
            <a:pPr marL="719455" marR="3261995" indent="-68580">
              <a:lnSpc>
                <a:spcPct val="100000"/>
              </a:lnSpc>
              <a:buChar char="-"/>
              <a:tabLst>
                <a:tab pos="719455" algn="l"/>
                <a:tab pos="731520" algn="l"/>
              </a:tabLst>
            </a:pPr>
            <a:r>
              <a:rPr sz="1200" b="1" dirty="0">
                <a:latin typeface="Calibri"/>
                <a:cs typeface="Calibri"/>
              </a:rPr>
              <a:t>	plugin: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wis2box.data.csv2bufr.ObservationDataCSV2BUFR template: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aws-template.json</a:t>
            </a:r>
            <a:endParaRPr sz="1200">
              <a:latin typeface="Calibri"/>
              <a:cs typeface="Calibri"/>
            </a:endParaRPr>
          </a:p>
          <a:p>
            <a:pPr marL="719455">
              <a:lnSpc>
                <a:spcPct val="100000"/>
              </a:lnSpc>
            </a:pPr>
            <a:r>
              <a:rPr sz="1200" b="1" dirty="0">
                <a:latin typeface="Calibri"/>
                <a:cs typeface="Calibri"/>
              </a:rPr>
              <a:t>notify:</a:t>
            </a:r>
            <a:r>
              <a:rPr sz="1200" b="1" spc="-20" dirty="0">
                <a:latin typeface="Calibri"/>
                <a:cs typeface="Calibri"/>
              </a:rPr>
              <a:t> true</a:t>
            </a:r>
            <a:endParaRPr sz="1200">
              <a:latin typeface="Calibri"/>
              <a:cs typeface="Calibri"/>
            </a:endParaRPr>
          </a:p>
          <a:p>
            <a:pPr marL="719455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file-pattern: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‘^.*\.csv$'</a:t>
            </a:r>
            <a:endParaRPr sz="12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bufr4:</a:t>
            </a:r>
            <a:endParaRPr sz="1200">
              <a:latin typeface="Calibri"/>
              <a:cs typeface="Calibri"/>
            </a:endParaRPr>
          </a:p>
          <a:p>
            <a:pPr marL="731520" indent="-80645">
              <a:lnSpc>
                <a:spcPct val="100000"/>
              </a:lnSpc>
              <a:buChar char="-"/>
              <a:tabLst>
                <a:tab pos="731520" algn="l"/>
              </a:tabLst>
            </a:pPr>
            <a:r>
              <a:rPr sz="1200" b="1" dirty="0">
                <a:latin typeface="Calibri"/>
                <a:cs typeface="Calibri"/>
              </a:rPr>
              <a:t>plugin: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wis2box.data.bufr2geojson.ObservationDataBUFR2GeoJSON</a:t>
            </a:r>
            <a:endParaRPr sz="1200">
              <a:latin typeface="Calibri"/>
              <a:cs typeface="Calibri"/>
            </a:endParaRPr>
          </a:p>
          <a:p>
            <a:pPr marL="719455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file-pattern: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’</a:t>
            </a:r>
            <a:r>
              <a:rPr sz="1200" b="1" spc="1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^WIGOS_(\d-\d+-\d+-\w+)_.*\.bufr4$’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53311" y="2790532"/>
            <a:ext cx="546735" cy="735330"/>
          </a:xfrm>
          <a:custGeom>
            <a:avLst/>
            <a:gdLst/>
            <a:ahLst/>
            <a:cxnLst/>
            <a:rect l="l" t="t" r="r" b="b"/>
            <a:pathLst>
              <a:path w="546735" h="735329">
                <a:moveTo>
                  <a:pt x="480288" y="621880"/>
                </a:moveTo>
                <a:lnTo>
                  <a:pt x="478802" y="614553"/>
                </a:lnTo>
                <a:lnTo>
                  <a:pt x="474764" y="608558"/>
                </a:lnTo>
                <a:lnTo>
                  <a:pt x="468782" y="604520"/>
                </a:lnTo>
                <a:lnTo>
                  <a:pt x="461454" y="603046"/>
                </a:lnTo>
                <a:lnTo>
                  <a:pt x="454113" y="604520"/>
                </a:lnTo>
                <a:lnTo>
                  <a:pt x="448132" y="608558"/>
                </a:lnTo>
                <a:lnTo>
                  <a:pt x="444093" y="614553"/>
                </a:lnTo>
                <a:lnTo>
                  <a:pt x="442620" y="621880"/>
                </a:lnTo>
                <a:lnTo>
                  <a:pt x="444093" y="629221"/>
                </a:lnTo>
                <a:lnTo>
                  <a:pt x="448132" y="635215"/>
                </a:lnTo>
                <a:lnTo>
                  <a:pt x="454113" y="639254"/>
                </a:lnTo>
                <a:lnTo>
                  <a:pt x="461454" y="640727"/>
                </a:lnTo>
                <a:lnTo>
                  <a:pt x="468782" y="639254"/>
                </a:lnTo>
                <a:lnTo>
                  <a:pt x="474764" y="635215"/>
                </a:lnTo>
                <a:lnTo>
                  <a:pt x="478802" y="629221"/>
                </a:lnTo>
                <a:lnTo>
                  <a:pt x="480288" y="621880"/>
                </a:lnTo>
                <a:close/>
              </a:path>
              <a:path w="546735" h="735329">
                <a:moveTo>
                  <a:pt x="480288" y="433438"/>
                </a:moveTo>
                <a:lnTo>
                  <a:pt x="478802" y="426097"/>
                </a:lnTo>
                <a:lnTo>
                  <a:pt x="474764" y="420116"/>
                </a:lnTo>
                <a:lnTo>
                  <a:pt x="468782" y="416077"/>
                </a:lnTo>
                <a:lnTo>
                  <a:pt x="461454" y="414591"/>
                </a:lnTo>
                <a:lnTo>
                  <a:pt x="454113" y="416077"/>
                </a:lnTo>
                <a:lnTo>
                  <a:pt x="448132" y="420116"/>
                </a:lnTo>
                <a:lnTo>
                  <a:pt x="444093" y="426097"/>
                </a:lnTo>
                <a:lnTo>
                  <a:pt x="442620" y="433438"/>
                </a:lnTo>
                <a:lnTo>
                  <a:pt x="444093" y="440766"/>
                </a:lnTo>
                <a:lnTo>
                  <a:pt x="448132" y="446760"/>
                </a:lnTo>
                <a:lnTo>
                  <a:pt x="454113" y="450799"/>
                </a:lnTo>
                <a:lnTo>
                  <a:pt x="461454" y="452285"/>
                </a:lnTo>
                <a:lnTo>
                  <a:pt x="468782" y="450799"/>
                </a:lnTo>
                <a:lnTo>
                  <a:pt x="474764" y="446760"/>
                </a:lnTo>
                <a:lnTo>
                  <a:pt x="478802" y="440766"/>
                </a:lnTo>
                <a:lnTo>
                  <a:pt x="480288" y="433438"/>
                </a:lnTo>
                <a:close/>
              </a:path>
              <a:path w="546735" h="735329">
                <a:moveTo>
                  <a:pt x="480288" y="244983"/>
                </a:moveTo>
                <a:lnTo>
                  <a:pt x="478802" y="237655"/>
                </a:lnTo>
                <a:lnTo>
                  <a:pt x="474764" y="231660"/>
                </a:lnTo>
                <a:lnTo>
                  <a:pt x="468782" y="227622"/>
                </a:lnTo>
                <a:lnTo>
                  <a:pt x="461454" y="226136"/>
                </a:lnTo>
                <a:lnTo>
                  <a:pt x="454113" y="227622"/>
                </a:lnTo>
                <a:lnTo>
                  <a:pt x="448132" y="231660"/>
                </a:lnTo>
                <a:lnTo>
                  <a:pt x="444093" y="237655"/>
                </a:lnTo>
                <a:lnTo>
                  <a:pt x="442620" y="244983"/>
                </a:lnTo>
                <a:lnTo>
                  <a:pt x="444093" y="252323"/>
                </a:lnTo>
                <a:lnTo>
                  <a:pt x="448132" y="258305"/>
                </a:lnTo>
                <a:lnTo>
                  <a:pt x="454113" y="262343"/>
                </a:lnTo>
                <a:lnTo>
                  <a:pt x="461454" y="263829"/>
                </a:lnTo>
                <a:lnTo>
                  <a:pt x="468782" y="262343"/>
                </a:lnTo>
                <a:lnTo>
                  <a:pt x="474764" y="258305"/>
                </a:lnTo>
                <a:lnTo>
                  <a:pt x="478802" y="252323"/>
                </a:lnTo>
                <a:lnTo>
                  <a:pt x="480288" y="244983"/>
                </a:lnTo>
                <a:close/>
              </a:path>
              <a:path w="546735" h="735329">
                <a:moveTo>
                  <a:pt x="546201" y="84797"/>
                </a:moveTo>
                <a:lnTo>
                  <a:pt x="538022" y="62763"/>
                </a:lnTo>
                <a:lnTo>
                  <a:pt x="527367" y="53949"/>
                </a:lnTo>
                <a:lnTo>
                  <a:pt x="527367" y="84797"/>
                </a:lnTo>
                <a:lnTo>
                  <a:pt x="527367" y="117398"/>
                </a:lnTo>
                <a:lnTo>
                  <a:pt x="527367" y="650151"/>
                </a:lnTo>
                <a:lnTo>
                  <a:pt x="518642" y="665835"/>
                </a:lnTo>
                <a:lnTo>
                  <a:pt x="454812" y="694791"/>
                </a:lnTo>
                <a:lnTo>
                  <a:pt x="403707" y="705916"/>
                </a:lnTo>
                <a:lnTo>
                  <a:pt x="342468" y="713384"/>
                </a:lnTo>
                <a:lnTo>
                  <a:pt x="273100" y="716114"/>
                </a:lnTo>
                <a:lnTo>
                  <a:pt x="203733" y="713384"/>
                </a:lnTo>
                <a:lnTo>
                  <a:pt x="142494" y="705916"/>
                </a:lnTo>
                <a:lnTo>
                  <a:pt x="91389" y="694791"/>
                </a:lnTo>
                <a:lnTo>
                  <a:pt x="52412" y="681075"/>
                </a:lnTo>
                <a:lnTo>
                  <a:pt x="18834" y="650151"/>
                </a:lnTo>
                <a:lnTo>
                  <a:pt x="18834" y="494309"/>
                </a:lnTo>
                <a:lnTo>
                  <a:pt x="51739" y="512826"/>
                </a:lnTo>
                <a:lnTo>
                  <a:pt x="97015" y="527418"/>
                </a:lnTo>
                <a:lnTo>
                  <a:pt x="151269" y="537959"/>
                </a:lnTo>
                <a:lnTo>
                  <a:pt x="211099" y="544347"/>
                </a:lnTo>
                <a:lnTo>
                  <a:pt x="273100" y="546506"/>
                </a:lnTo>
                <a:lnTo>
                  <a:pt x="335114" y="544347"/>
                </a:lnTo>
                <a:lnTo>
                  <a:pt x="394931" y="537959"/>
                </a:lnTo>
                <a:lnTo>
                  <a:pt x="447916" y="527659"/>
                </a:lnTo>
                <a:lnTo>
                  <a:pt x="449186" y="527418"/>
                </a:lnTo>
                <a:lnTo>
                  <a:pt x="494461" y="512826"/>
                </a:lnTo>
                <a:lnTo>
                  <a:pt x="527367" y="494309"/>
                </a:lnTo>
                <a:lnTo>
                  <a:pt x="527367" y="461708"/>
                </a:lnTo>
                <a:lnTo>
                  <a:pt x="518642" y="477380"/>
                </a:lnTo>
                <a:lnTo>
                  <a:pt x="493788" y="492620"/>
                </a:lnTo>
                <a:lnTo>
                  <a:pt x="454812" y="506336"/>
                </a:lnTo>
                <a:lnTo>
                  <a:pt x="403707" y="517474"/>
                </a:lnTo>
                <a:lnTo>
                  <a:pt x="342468" y="524929"/>
                </a:lnTo>
                <a:lnTo>
                  <a:pt x="273100" y="527659"/>
                </a:lnTo>
                <a:lnTo>
                  <a:pt x="203733" y="524929"/>
                </a:lnTo>
                <a:lnTo>
                  <a:pt x="142494" y="517474"/>
                </a:lnTo>
                <a:lnTo>
                  <a:pt x="91389" y="506336"/>
                </a:lnTo>
                <a:lnTo>
                  <a:pt x="52412" y="492620"/>
                </a:lnTo>
                <a:lnTo>
                  <a:pt x="18834" y="461708"/>
                </a:lnTo>
                <a:lnTo>
                  <a:pt x="18834" y="305854"/>
                </a:lnTo>
                <a:lnTo>
                  <a:pt x="51739" y="324383"/>
                </a:lnTo>
                <a:lnTo>
                  <a:pt x="97015" y="338963"/>
                </a:lnTo>
                <a:lnTo>
                  <a:pt x="151269" y="349504"/>
                </a:lnTo>
                <a:lnTo>
                  <a:pt x="211099" y="355904"/>
                </a:lnTo>
                <a:lnTo>
                  <a:pt x="273100" y="358051"/>
                </a:lnTo>
                <a:lnTo>
                  <a:pt x="335114" y="355904"/>
                </a:lnTo>
                <a:lnTo>
                  <a:pt x="394931" y="349504"/>
                </a:lnTo>
                <a:lnTo>
                  <a:pt x="447916" y="339204"/>
                </a:lnTo>
                <a:lnTo>
                  <a:pt x="449186" y="338963"/>
                </a:lnTo>
                <a:lnTo>
                  <a:pt x="494461" y="324383"/>
                </a:lnTo>
                <a:lnTo>
                  <a:pt x="527367" y="305854"/>
                </a:lnTo>
                <a:lnTo>
                  <a:pt x="527367" y="273253"/>
                </a:lnTo>
                <a:lnTo>
                  <a:pt x="518642" y="288937"/>
                </a:lnTo>
                <a:lnTo>
                  <a:pt x="493788" y="304177"/>
                </a:lnTo>
                <a:lnTo>
                  <a:pt x="454812" y="317893"/>
                </a:lnTo>
                <a:lnTo>
                  <a:pt x="403707" y="329018"/>
                </a:lnTo>
                <a:lnTo>
                  <a:pt x="342468" y="336486"/>
                </a:lnTo>
                <a:lnTo>
                  <a:pt x="273100" y="339204"/>
                </a:lnTo>
                <a:lnTo>
                  <a:pt x="203733" y="336486"/>
                </a:lnTo>
                <a:lnTo>
                  <a:pt x="142494" y="329018"/>
                </a:lnTo>
                <a:lnTo>
                  <a:pt x="91389" y="317893"/>
                </a:lnTo>
                <a:lnTo>
                  <a:pt x="52412" y="304165"/>
                </a:lnTo>
                <a:lnTo>
                  <a:pt x="18834" y="273253"/>
                </a:lnTo>
                <a:lnTo>
                  <a:pt x="18834" y="117398"/>
                </a:lnTo>
                <a:lnTo>
                  <a:pt x="51739" y="135928"/>
                </a:lnTo>
                <a:lnTo>
                  <a:pt x="97015" y="150507"/>
                </a:lnTo>
                <a:lnTo>
                  <a:pt x="151269" y="161048"/>
                </a:lnTo>
                <a:lnTo>
                  <a:pt x="211099" y="167449"/>
                </a:lnTo>
                <a:lnTo>
                  <a:pt x="273100" y="169608"/>
                </a:lnTo>
                <a:lnTo>
                  <a:pt x="335114" y="167449"/>
                </a:lnTo>
                <a:lnTo>
                  <a:pt x="394931" y="161048"/>
                </a:lnTo>
                <a:lnTo>
                  <a:pt x="447916" y="150761"/>
                </a:lnTo>
                <a:lnTo>
                  <a:pt x="494461" y="135928"/>
                </a:lnTo>
                <a:lnTo>
                  <a:pt x="527367" y="117398"/>
                </a:lnTo>
                <a:lnTo>
                  <a:pt x="527367" y="84797"/>
                </a:lnTo>
                <a:lnTo>
                  <a:pt x="518642" y="100482"/>
                </a:lnTo>
                <a:lnTo>
                  <a:pt x="493788" y="115722"/>
                </a:lnTo>
                <a:lnTo>
                  <a:pt x="454812" y="129438"/>
                </a:lnTo>
                <a:lnTo>
                  <a:pt x="403707" y="140563"/>
                </a:lnTo>
                <a:lnTo>
                  <a:pt x="342468" y="148031"/>
                </a:lnTo>
                <a:lnTo>
                  <a:pt x="273100" y="150761"/>
                </a:lnTo>
                <a:lnTo>
                  <a:pt x="203733" y="148031"/>
                </a:lnTo>
                <a:lnTo>
                  <a:pt x="142494" y="140563"/>
                </a:lnTo>
                <a:lnTo>
                  <a:pt x="91389" y="129438"/>
                </a:lnTo>
                <a:lnTo>
                  <a:pt x="57188" y="117398"/>
                </a:lnTo>
                <a:lnTo>
                  <a:pt x="52412" y="115722"/>
                </a:lnTo>
                <a:lnTo>
                  <a:pt x="27559" y="100482"/>
                </a:lnTo>
                <a:lnTo>
                  <a:pt x="18834" y="84797"/>
                </a:lnTo>
                <a:lnTo>
                  <a:pt x="27559" y="69113"/>
                </a:lnTo>
                <a:lnTo>
                  <a:pt x="91389" y="40157"/>
                </a:lnTo>
                <a:lnTo>
                  <a:pt x="142494" y="29032"/>
                </a:lnTo>
                <a:lnTo>
                  <a:pt x="203733" y="21564"/>
                </a:lnTo>
                <a:lnTo>
                  <a:pt x="273100" y="18846"/>
                </a:lnTo>
                <a:lnTo>
                  <a:pt x="342468" y="21564"/>
                </a:lnTo>
                <a:lnTo>
                  <a:pt x="403707" y="29032"/>
                </a:lnTo>
                <a:lnTo>
                  <a:pt x="454812" y="40157"/>
                </a:lnTo>
                <a:lnTo>
                  <a:pt x="493788" y="53873"/>
                </a:lnTo>
                <a:lnTo>
                  <a:pt x="527367" y="84797"/>
                </a:lnTo>
                <a:lnTo>
                  <a:pt x="527367" y="53949"/>
                </a:lnTo>
                <a:lnTo>
                  <a:pt x="515226" y="43903"/>
                </a:lnTo>
                <a:lnTo>
                  <a:pt x="480402" y="28295"/>
                </a:lnTo>
                <a:lnTo>
                  <a:pt x="446316" y="18846"/>
                </a:lnTo>
                <a:lnTo>
                  <a:pt x="436181" y="16027"/>
                </a:lnTo>
                <a:lnTo>
                  <a:pt x="385140" y="7175"/>
                </a:lnTo>
                <a:lnTo>
                  <a:pt x="329920" y="1803"/>
                </a:lnTo>
                <a:lnTo>
                  <a:pt x="273100" y="0"/>
                </a:lnTo>
                <a:lnTo>
                  <a:pt x="216281" y="1803"/>
                </a:lnTo>
                <a:lnTo>
                  <a:pt x="161061" y="7175"/>
                </a:lnTo>
                <a:lnTo>
                  <a:pt x="110032" y="16027"/>
                </a:lnTo>
                <a:lnTo>
                  <a:pt x="65798" y="28295"/>
                </a:lnTo>
                <a:lnTo>
                  <a:pt x="30975" y="43903"/>
                </a:lnTo>
                <a:lnTo>
                  <a:pt x="0" y="84797"/>
                </a:lnTo>
                <a:lnTo>
                  <a:pt x="0" y="650151"/>
                </a:lnTo>
                <a:lnTo>
                  <a:pt x="30975" y="691057"/>
                </a:lnTo>
                <a:lnTo>
                  <a:pt x="65798" y="706653"/>
                </a:lnTo>
                <a:lnTo>
                  <a:pt x="110032" y="718921"/>
                </a:lnTo>
                <a:lnTo>
                  <a:pt x="161061" y="727786"/>
                </a:lnTo>
                <a:lnTo>
                  <a:pt x="216281" y="733145"/>
                </a:lnTo>
                <a:lnTo>
                  <a:pt x="273100" y="734961"/>
                </a:lnTo>
                <a:lnTo>
                  <a:pt x="329920" y="733145"/>
                </a:lnTo>
                <a:lnTo>
                  <a:pt x="385140" y="727786"/>
                </a:lnTo>
                <a:lnTo>
                  <a:pt x="436181" y="718921"/>
                </a:lnTo>
                <a:lnTo>
                  <a:pt x="480402" y="706653"/>
                </a:lnTo>
                <a:lnTo>
                  <a:pt x="515226" y="691057"/>
                </a:lnTo>
                <a:lnTo>
                  <a:pt x="546201" y="650151"/>
                </a:lnTo>
                <a:lnTo>
                  <a:pt x="546201" y="494309"/>
                </a:lnTo>
                <a:lnTo>
                  <a:pt x="546201" y="305854"/>
                </a:lnTo>
                <a:lnTo>
                  <a:pt x="546201" y="117398"/>
                </a:lnTo>
                <a:lnTo>
                  <a:pt x="546201" y="84797"/>
                </a:lnTo>
                <a:close/>
              </a:path>
            </a:pathLst>
          </a:custGeom>
          <a:solidFill>
            <a:srgbClr val="313D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79066" y="2502916"/>
            <a:ext cx="1874520" cy="653415"/>
          </a:xfrm>
          <a:custGeom>
            <a:avLst/>
            <a:gdLst/>
            <a:ahLst/>
            <a:cxnLst/>
            <a:rect l="l" t="t" r="r" b="b"/>
            <a:pathLst>
              <a:path w="1874520" h="653414">
                <a:moveTo>
                  <a:pt x="1799350" y="27141"/>
                </a:moveTo>
                <a:lnTo>
                  <a:pt x="0" y="634873"/>
                </a:lnTo>
                <a:lnTo>
                  <a:pt x="6095" y="652907"/>
                </a:lnTo>
                <a:lnTo>
                  <a:pt x="1805436" y="45178"/>
                </a:lnTo>
                <a:lnTo>
                  <a:pt x="1799350" y="27141"/>
                </a:lnTo>
                <a:close/>
              </a:path>
              <a:path w="1874520" h="653414">
                <a:moveTo>
                  <a:pt x="1863311" y="23113"/>
                </a:moveTo>
                <a:lnTo>
                  <a:pt x="1811273" y="23113"/>
                </a:lnTo>
                <a:lnTo>
                  <a:pt x="1817370" y="41148"/>
                </a:lnTo>
                <a:lnTo>
                  <a:pt x="1805436" y="45178"/>
                </a:lnTo>
                <a:lnTo>
                  <a:pt x="1814575" y="72262"/>
                </a:lnTo>
                <a:lnTo>
                  <a:pt x="1863311" y="23113"/>
                </a:lnTo>
                <a:close/>
              </a:path>
              <a:path w="1874520" h="653414">
                <a:moveTo>
                  <a:pt x="1811273" y="23113"/>
                </a:moveTo>
                <a:lnTo>
                  <a:pt x="1799350" y="27141"/>
                </a:lnTo>
                <a:lnTo>
                  <a:pt x="1805436" y="45178"/>
                </a:lnTo>
                <a:lnTo>
                  <a:pt x="1817370" y="41148"/>
                </a:lnTo>
                <a:lnTo>
                  <a:pt x="1811273" y="23113"/>
                </a:lnTo>
                <a:close/>
              </a:path>
              <a:path w="1874520" h="653414">
                <a:moveTo>
                  <a:pt x="1790192" y="0"/>
                </a:moveTo>
                <a:lnTo>
                  <a:pt x="1799350" y="27141"/>
                </a:lnTo>
                <a:lnTo>
                  <a:pt x="1811273" y="23113"/>
                </a:lnTo>
                <a:lnTo>
                  <a:pt x="1863311" y="23113"/>
                </a:lnTo>
                <a:lnTo>
                  <a:pt x="1874520" y="11811"/>
                </a:lnTo>
                <a:lnTo>
                  <a:pt x="17901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19911" y="3622675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Station</a:t>
            </a:r>
            <a:r>
              <a:rPr sz="18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list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99860" y="3423564"/>
            <a:ext cx="1837055" cy="755650"/>
          </a:xfrm>
          <a:custGeom>
            <a:avLst/>
            <a:gdLst/>
            <a:ahLst/>
            <a:cxnLst/>
            <a:rect l="l" t="t" r="r" b="b"/>
            <a:pathLst>
              <a:path w="1837054" h="755650">
                <a:moveTo>
                  <a:pt x="1836673" y="0"/>
                </a:moveTo>
                <a:lnTo>
                  <a:pt x="0" y="0"/>
                </a:lnTo>
                <a:lnTo>
                  <a:pt x="0" y="755243"/>
                </a:lnTo>
                <a:lnTo>
                  <a:pt x="1836673" y="755243"/>
                </a:lnTo>
                <a:lnTo>
                  <a:pt x="1836673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999860" y="3423564"/>
            <a:ext cx="1837055" cy="7556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55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WIS</a:t>
            </a:r>
            <a:r>
              <a:rPr sz="1400" b="1" i="1" spc="-25" dirty="0">
                <a:solidFill>
                  <a:srgbClr val="0F243E"/>
                </a:solidFill>
                <a:latin typeface="Calibri"/>
                <a:cs typeface="Calibri"/>
              </a:rPr>
              <a:t> 2.0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6" name="object 26" descr="A picture containing text, balloon, transport, aircraft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6667" y="3450069"/>
            <a:ext cx="708545" cy="708545"/>
          </a:xfrm>
          <a:prstGeom prst="rect">
            <a:avLst/>
          </a:prstGeom>
        </p:spPr>
      </p:pic>
      <p:pic>
        <p:nvPicPr>
          <p:cNvPr id="27" name="object 27" descr="Input, system, operation, process, insert icon - Download on Iconfind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0896" y="1787055"/>
            <a:ext cx="754849" cy="754811"/>
          </a:xfrm>
          <a:prstGeom prst="rect">
            <a:avLst/>
          </a:prstGeom>
        </p:spPr>
      </p:pic>
      <p:pic>
        <p:nvPicPr>
          <p:cNvPr id="28" name="object 28" descr="Input, system, operation, process, insert icon - Download on Iconfind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0672" y="1797557"/>
            <a:ext cx="754849" cy="75476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8142" y="1717751"/>
            <a:ext cx="312788" cy="43743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6221" y="1717751"/>
            <a:ext cx="312788" cy="43743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34606" y="2216226"/>
            <a:ext cx="312788" cy="43743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2685" y="2216226"/>
            <a:ext cx="312788" cy="43743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314694" y="988567"/>
            <a:ext cx="1209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One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or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more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BUFR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58559" y="4310251"/>
            <a:ext cx="3179445" cy="2548255"/>
            <a:chOff x="258559" y="4310251"/>
            <a:chExt cx="3179445" cy="2548255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084" y="4310251"/>
              <a:ext cx="3169793" cy="254774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8084" y="5810872"/>
              <a:ext cx="2091689" cy="275590"/>
            </a:xfrm>
            <a:custGeom>
              <a:avLst/>
              <a:gdLst/>
              <a:ahLst/>
              <a:cxnLst/>
              <a:rect l="l" t="t" r="r" b="b"/>
              <a:pathLst>
                <a:path w="2091689" h="275589">
                  <a:moveTo>
                    <a:pt x="0" y="275297"/>
                  </a:moveTo>
                  <a:lnTo>
                    <a:pt x="2091689" y="275297"/>
                  </a:lnTo>
                  <a:lnTo>
                    <a:pt x="2091689" y="0"/>
                  </a:lnTo>
                  <a:lnTo>
                    <a:pt x="0" y="0"/>
                  </a:lnTo>
                  <a:lnTo>
                    <a:pt x="0" y="275297"/>
                  </a:lnTo>
                  <a:close/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45554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CSV-</a:t>
            </a:r>
            <a:r>
              <a:rPr spc="-25" dirty="0"/>
              <a:t>to-</a:t>
            </a:r>
            <a:r>
              <a:rPr dirty="0"/>
              <a:t>BUFR</a:t>
            </a:r>
            <a:r>
              <a:rPr spc="-40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62904" y="6357010"/>
            <a:ext cx="203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879" y="1145514"/>
            <a:ext cx="11217275" cy="230759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b="1" spc="-40" dirty="0">
                <a:solidFill>
                  <a:srgbClr val="44536A"/>
                </a:solidFill>
                <a:latin typeface="Trebuchet MS"/>
                <a:cs typeface="Trebuchet MS"/>
              </a:rPr>
              <a:t>wis2box</a:t>
            </a:r>
            <a:r>
              <a:rPr sz="2000" b="1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4536A"/>
                </a:solidFill>
                <a:latin typeface="Trebuchet MS"/>
                <a:cs typeface="Trebuchet MS"/>
              </a:rPr>
              <a:t>contains</a:t>
            </a:r>
            <a:r>
              <a:rPr sz="2000" b="1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sz="2000" b="1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44536A"/>
                </a:solidFill>
                <a:latin typeface="Trebuchet MS"/>
                <a:cs typeface="Trebuchet MS"/>
              </a:rPr>
              <a:t>built-</a:t>
            </a:r>
            <a:r>
              <a:rPr sz="2000" b="1" spc="-55" dirty="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sz="2000" b="1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44536A"/>
                </a:solidFill>
                <a:latin typeface="Trebuchet MS"/>
                <a:cs typeface="Trebuchet MS"/>
              </a:rPr>
              <a:t>data-</a:t>
            </a:r>
            <a:r>
              <a:rPr sz="2000" b="1" spc="-30" dirty="0">
                <a:solidFill>
                  <a:srgbClr val="44536A"/>
                </a:solidFill>
                <a:latin typeface="Trebuchet MS"/>
                <a:cs typeface="Trebuchet MS"/>
              </a:rPr>
              <a:t>plugin</a:t>
            </a:r>
            <a:r>
              <a:rPr sz="2000" b="1" spc="-15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44536A"/>
                </a:solidFill>
                <a:latin typeface="Trebuchet MS"/>
                <a:cs typeface="Trebuchet MS"/>
              </a:rPr>
              <a:t>for</a:t>
            </a:r>
            <a:r>
              <a:rPr sz="2000" b="1" spc="-2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4536A"/>
                </a:solidFill>
                <a:latin typeface="Trebuchet MS"/>
                <a:cs typeface="Trebuchet MS"/>
              </a:rPr>
              <a:t>“CSV</a:t>
            </a:r>
            <a:r>
              <a:rPr sz="2000" b="1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sz="2000" b="1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45" dirty="0">
                <a:solidFill>
                  <a:srgbClr val="44536A"/>
                </a:solidFill>
                <a:latin typeface="Trebuchet MS"/>
                <a:cs typeface="Trebuchet MS"/>
              </a:rPr>
              <a:t>converted</a:t>
            </a:r>
            <a:r>
              <a:rPr sz="2000" b="1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55" dirty="0">
                <a:solidFill>
                  <a:srgbClr val="44536A"/>
                </a:solidFill>
                <a:latin typeface="Trebuchet MS"/>
                <a:cs typeface="Trebuchet MS"/>
              </a:rPr>
              <a:t>to</a:t>
            </a:r>
            <a:r>
              <a:rPr sz="2000" b="1" spc="-12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44536A"/>
                </a:solidFill>
                <a:latin typeface="Trebuchet MS"/>
                <a:cs typeface="Trebuchet MS"/>
              </a:rPr>
              <a:t>BUFR”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spc="-75" dirty="0">
                <a:solidFill>
                  <a:srgbClr val="44536A"/>
                </a:solidFill>
                <a:latin typeface="Trebuchet MS"/>
                <a:cs typeface="Trebuchet MS"/>
              </a:rPr>
              <a:t>-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Enables</a:t>
            </a:r>
            <a:r>
              <a:rPr sz="20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44536A"/>
                </a:solidFill>
                <a:latin typeface="Trebuchet MS"/>
                <a:cs typeface="Trebuchet MS"/>
              </a:rPr>
              <a:t>ingesting</a:t>
            </a:r>
            <a:r>
              <a:rPr sz="20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sz="20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sz="20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44536A"/>
                </a:solidFill>
                <a:latin typeface="Trebuchet MS"/>
                <a:cs typeface="Trebuchet MS"/>
              </a:rPr>
              <a:t>CSV</a:t>
            </a:r>
            <a:r>
              <a:rPr sz="20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44536A"/>
                </a:solidFill>
                <a:latin typeface="Trebuchet MS"/>
                <a:cs typeface="Trebuchet MS"/>
              </a:rPr>
              <a:t>format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44536A"/>
                </a:solidFill>
                <a:latin typeface="Trebuchet MS"/>
                <a:cs typeface="Trebuchet MS"/>
              </a:rPr>
              <a:t>while</a:t>
            </a:r>
            <a:r>
              <a:rPr sz="20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4536A"/>
                </a:solidFill>
                <a:latin typeface="Trebuchet MS"/>
                <a:cs typeface="Trebuchet MS"/>
              </a:rPr>
              <a:t>publishing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WIS2</a:t>
            </a:r>
            <a:r>
              <a:rPr sz="2000" spc="-12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44536A"/>
                </a:solidFill>
                <a:latin typeface="Trebuchet MS"/>
                <a:cs typeface="Trebuchet MS"/>
              </a:rPr>
              <a:t>notifications</a:t>
            </a:r>
            <a:r>
              <a:rPr sz="20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4536A"/>
                </a:solidFill>
                <a:latin typeface="Trebuchet MS"/>
                <a:cs typeface="Trebuchet MS"/>
              </a:rPr>
              <a:t>containing</a:t>
            </a:r>
            <a:r>
              <a:rPr sz="2000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BUFR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75" dirty="0">
                <a:solidFill>
                  <a:srgbClr val="44536A"/>
                </a:solidFill>
                <a:latin typeface="Trebuchet MS"/>
                <a:cs typeface="Trebuchet MS"/>
              </a:rPr>
              <a:t>-</a:t>
            </a:r>
            <a:r>
              <a:rPr sz="2000" spc="80" dirty="0">
                <a:solidFill>
                  <a:srgbClr val="44536A"/>
                </a:solidFill>
                <a:latin typeface="Trebuchet MS"/>
                <a:cs typeface="Trebuchet MS"/>
              </a:rPr>
              <a:t>Uses</a:t>
            </a:r>
            <a:r>
              <a:rPr sz="2000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4536A"/>
                </a:solidFill>
                <a:latin typeface="Trebuchet MS"/>
                <a:cs typeface="Trebuchet MS"/>
              </a:rPr>
              <a:t>mapping</a:t>
            </a:r>
            <a:r>
              <a:rPr sz="2000" spc="-15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44536A"/>
                </a:solidFill>
                <a:latin typeface="Trebuchet MS"/>
                <a:cs typeface="Trebuchet MS"/>
              </a:rPr>
              <a:t>template</a:t>
            </a:r>
            <a:r>
              <a:rPr sz="2000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44536A"/>
                </a:solidFill>
                <a:latin typeface="Trebuchet MS"/>
                <a:cs typeface="Trebuchet MS"/>
              </a:rPr>
              <a:t>to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map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44536A"/>
                </a:solidFill>
                <a:latin typeface="Trebuchet MS"/>
                <a:cs typeface="Trebuchet MS"/>
              </a:rPr>
              <a:t>input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columns</a:t>
            </a:r>
            <a:r>
              <a:rPr sz="2000" spc="-15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44536A"/>
                </a:solidFill>
                <a:latin typeface="Trebuchet MS"/>
                <a:cs typeface="Trebuchet MS"/>
              </a:rPr>
              <a:t>to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4536A"/>
                </a:solidFill>
                <a:latin typeface="Trebuchet MS"/>
                <a:cs typeface="Trebuchet MS"/>
              </a:rPr>
              <a:t>BUFR</a:t>
            </a:r>
            <a:r>
              <a:rPr sz="20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4536A"/>
                </a:solidFill>
                <a:latin typeface="Trebuchet MS"/>
                <a:cs typeface="Trebuchet MS"/>
              </a:rPr>
              <a:t>codes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ts val="2160"/>
              </a:lnSpc>
            </a:pPr>
            <a:r>
              <a:rPr sz="2000" b="1" spc="-10" dirty="0">
                <a:solidFill>
                  <a:srgbClr val="6FAC46"/>
                </a:solidFill>
                <a:latin typeface="Calibri"/>
                <a:cs typeface="Calibri"/>
              </a:rPr>
              <a:t>csv2bufr-transformation</a:t>
            </a:r>
            <a:r>
              <a:rPr sz="2000" b="1" spc="-5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is</a:t>
            </a:r>
            <a:r>
              <a:rPr sz="2000" b="1" spc="-1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provided</a:t>
            </a:r>
            <a:r>
              <a:rPr sz="2000" b="1" spc="-3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by</a:t>
            </a:r>
            <a:r>
              <a:rPr sz="2000" b="1" spc="-3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the</a:t>
            </a:r>
            <a:r>
              <a:rPr sz="2000" b="1" spc="-2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‘csv2bufr’</a:t>
            </a:r>
            <a:r>
              <a:rPr sz="2000" b="1" spc="-5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module</a:t>
            </a:r>
            <a:r>
              <a:rPr sz="2000" b="1" spc="-3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that</a:t>
            </a:r>
            <a:r>
              <a:rPr sz="2000" b="1" spc="-3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can</a:t>
            </a:r>
            <a:r>
              <a:rPr sz="2000" b="1" spc="-3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also</a:t>
            </a:r>
            <a:r>
              <a:rPr sz="2000" b="1" spc="-2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be</a:t>
            </a:r>
            <a:r>
              <a:rPr sz="2000" b="1" spc="-1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used</a:t>
            </a:r>
            <a:r>
              <a:rPr sz="2000" b="1" spc="-3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outside</a:t>
            </a:r>
            <a:r>
              <a:rPr sz="2000" b="1" spc="-5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of</a:t>
            </a:r>
            <a:r>
              <a:rPr sz="2000" b="1" spc="-1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AC46"/>
                </a:solidFill>
                <a:latin typeface="Calibri"/>
                <a:cs typeface="Calibri"/>
              </a:rPr>
              <a:t>the</a:t>
            </a:r>
            <a:r>
              <a:rPr sz="2000" b="1" spc="-3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AC46"/>
                </a:solidFill>
                <a:latin typeface="Calibri"/>
                <a:cs typeface="Calibri"/>
              </a:rPr>
              <a:t>wis2box </a:t>
            </a:r>
            <a:r>
              <a:rPr sz="20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https://github.com/wmo-im/csv2bufr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12166" y="3667518"/>
            <a:ext cx="4914265" cy="3025140"/>
            <a:chOff x="6412166" y="3667518"/>
            <a:chExt cx="4914265" cy="30251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1754" y="3677170"/>
              <a:ext cx="4895087" cy="28450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16928" y="3672281"/>
              <a:ext cx="4904740" cy="3015615"/>
            </a:xfrm>
            <a:custGeom>
              <a:avLst/>
              <a:gdLst/>
              <a:ahLst/>
              <a:cxnLst/>
              <a:rect l="l" t="t" r="r" b="b"/>
              <a:pathLst>
                <a:path w="4904740" h="3015615">
                  <a:moveTo>
                    <a:pt x="0" y="3015234"/>
                  </a:moveTo>
                  <a:lnTo>
                    <a:pt x="4904613" y="3015234"/>
                  </a:lnTo>
                  <a:lnTo>
                    <a:pt x="4904613" y="0"/>
                  </a:lnTo>
                  <a:lnTo>
                    <a:pt x="0" y="0"/>
                  </a:lnTo>
                  <a:lnTo>
                    <a:pt x="0" y="3015234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9"/>
            <a:ext cx="12205335" cy="707390"/>
            <a:chOff x="-6350" y="-6349"/>
            <a:chExt cx="12205335" cy="7073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90"/>
                  </a:lnTo>
                  <a:lnTo>
                    <a:pt x="12192056" y="0"/>
                  </a:lnTo>
                  <a:lnTo>
                    <a:pt x="0" y="0"/>
                  </a:lnTo>
                  <a:lnTo>
                    <a:pt x="0" y="694689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89"/>
                  </a:lnTo>
                  <a:lnTo>
                    <a:pt x="12192056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CSV-</a:t>
            </a:r>
            <a:r>
              <a:rPr spc="-25" dirty="0"/>
              <a:t>to-</a:t>
            </a:r>
            <a:r>
              <a:rPr dirty="0"/>
              <a:t>BUFR</a:t>
            </a:r>
            <a:r>
              <a:rPr spc="-100" dirty="0"/>
              <a:t> </a:t>
            </a:r>
            <a:r>
              <a:rPr dirty="0"/>
              <a:t>key</a:t>
            </a:r>
            <a:r>
              <a:rPr spc="-75" dirty="0"/>
              <a:t> </a:t>
            </a:r>
            <a:r>
              <a:rPr spc="-10" dirty="0"/>
              <a:t>ingredients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02602" y="1751203"/>
            <a:ext cx="46589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BUFR</a:t>
            </a:r>
            <a:r>
              <a:rPr sz="3000" spc="-13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Mapping</a:t>
            </a:r>
            <a:r>
              <a:rPr sz="3000" spc="-130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54E83"/>
                </a:solidFill>
                <a:latin typeface="Verdana"/>
                <a:cs typeface="Verdana"/>
              </a:rPr>
              <a:t>Template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8457" y="1688719"/>
            <a:ext cx="15163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CSV</a:t>
            </a:r>
            <a:r>
              <a:rPr sz="3000" spc="-6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54E83"/>
                </a:solidFill>
                <a:latin typeface="Verdana"/>
                <a:cs typeface="Verdana"/>
              </a:rPr>
              <a:t>file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8315" y="4736719"/>
            <a:ext cx="2297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BUFR</a:t>
            </a:r>
            <a:r>
              <a:rPr sz="3000" spc="-100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54E83"/>
                </a:solidFill>
                <a:latin typeface="Verdana"/>
                <a:cs typeface="Verdana"/>
              </a:rPr>
              <a:t>file(s)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75428" y="1954022"/>
            <a:ext cx="2046605" cy="1088390"/>
            <a:chOff x="5075428" y="1954022"/>
            <a:chExt cx="2046605" cy="1088390"/>
          </a:xfrm>
        </p:grpSpPr>
        <p:sp>
          <p:nvSpPr>
            <p:cNvPr id="10" name="object 10"/>
            <p:cNvSpPr/>
            <p:nvPr/>
          </p:nvSpPr>
          <p:spPr>
            <a:xfrm>
              <a:off x="5094478" y="1973072"/>
              <a:ext cx="2008505" cy="979169"/>
            </a:xfrm>
            <a:custGeom>
              <a:avLst/>
              <a:gdLst/>
              <a:ahLst/>
              <a:cxnLst/>
              <a:rect l="l" t="t" r="r" b="b"/>
              <a:pathLst>
                <a:path w="2008504" h="979169">
                  <a:moveTo>
                    <a:pt x="0" y="0"/>
                  </a:moveTo>
                  <a:lnTo>
                    <a:pt x="46736" y="1160"/>
                  </a:lnTo>
                  <a:lnTo>
                    <a:pt x="92955" y="4607"/>
                  </a:lnTo>
                  <a:lnTo>
                    <a:pt x="138607" y="10293"/>
                  </a:lnTo>
                  <a:lnTo>
                    <a:pt x="183642" y="18168"/>
                  </a:lnTo>
                  <a:lnTo>
                    <a:pt x="228010" y="28184"/>
                  </a:lnTo>
                  <a:lnTo>
                    <a:pt x="271661" y="40292"/>
                  </a:lnTo>
                  <a:lnTo>
                    <a:pt x="314546" y="54442"/>
                  </a:lnTo>
                  <a:lnTo>
                    <a:pt x="356614" y="70586"/>
                  </a:lnTo>
                  <a:lnTo>
                    <a:pt x="397816" y="88674"/>
                  </a:lnTo>
                  <a:lnTo>
                    <a:pt x="438101" y="108659"/>
                  </a:lnTo>
                  <a:lnTo>
                    <a:pt x="477421" y="130490"/>
                  </a:lnTo>
                  <a:lnTo>
                    <a:pt x="515724" y="154119"/>
                  </a:lnTo>
                  <a:lnTo>
                    <a:pt x="552962" y="179496"/>
                  </a:lnTo>
                  <a:lnTo>
                    <a:pt x="589083" y="206574"/>
                  </a:lnTo>
                  <a:lnTo>
                    <a:pt x="624039" y="235303"/>
                  </a:lnTo>
                  <a:lnTo>
                    <a:pt x="657780" y="265633"/>
                  </a:lnTo>
                  <a:lnTo>
                    <a:pt x="690255" y="297517"/>
                  </a:lnTo>
                  <a:lnTo>
                    <a:pt x="721415" y="330904"/>
                  </a:lnTo>
                  <a:lnTo>
                    <a:pt x="751210" y="365747"/>
                  </a:lnTo>
                  <a:lnTo>
                    <a:pt x="779590" y="401996"/>
                  </a:lnTo>
                  <a:lnTo>
                    <a:pt x="806506" y="439602"/>
                  </a:lnTo>
                  <a:lnTo>
                    <a:pt x="831906" y="478517"/>
                  </a:lnTo>
                  <a:lnTo>
                    <a:pt x="855742" y="518690"/>
                  </a:lnTo>
                  <a:lnTo>
                    <a:pt x="877963" y="560074"/>
                  </a:lnTo>
                  <a:lnTo>
                    <a:pt x="898520" y="602620"/>
                  </a:lnTo>
                  <a:lnTo>
                    <a:pt x="917363" y="646277"/>
                  </a:lnTo>
                  <a:lnTo>
                    <a:pt x="934442" y="690998"/>
                  </a:lnTo>
                  <a:lnTo>
                    <a:pt x="949707" y="736734"/>
                  </a:lnTo>
                  <a:lnTo>
                    <a:pt x="963108" y="783435"/>
                  </a:lnTo>
                  <a:lnTo>
                    <a:pt x="974595" y="831053"/>
                  </a:lnTo>
                  <a:lnTo>
                    <a:pt x="984119" y="879538"/>
                  </a:lnTo>
                  <a:lnTo>
                    <a:pt x="991629" y="928842"/>
                  </a:lnTo>
                  <a:lnTo>
                    <a:pt x="997076" y="978915"/>
                  </a:lnTo>
                </a:path>
                <a:path w="2008504" h="979169">
                  <a:moveTo>
                    <a:pt x="2008124" y="0"/>
                  </a:moveTo>
                  <a:lnTo>
                    <a:pt x="1961387" y="1160"/>
                  </a:lnTo>
                  <a:lnTo>
                    <a:pt x="1915168" y="4607"/>
                  </a:lnTo>
                  <a:lnTo>
                    <a:pt x="1869516" y="10293"/>
                  </a:lnTo>
                  <a:lnTo>
                    <a:pt x="1824481" y="18168"/>
                  </a:lnTo>
                  <a:lnTo>
                    <a:pt x="1780113" y="28184"/>
                  </a:lnTo>
                  <a:lnTo>
                    <a:pt x="1736462" y="40292"/>
                  </a:lnTo>
                  <a:lnTo>
                    <a:pt x="1693577" y="54442"/>
                  </a:lnTo>
                  <a:lnTo>
                    <a:pt x="1651509" y="70586"/>
                  </a:lnTo>
                  <a:lnTo>
                    <a:pt x="1610307" y="88674"/>
                  </a:lnTo>
                  <a:lnTo>
                    <a:pt x="1570022" y="108659"/>
                  </a:lnTo>
                  <a:lnTo>
                    <a:pt x="1530702" y="130490"/>
                  </a:lnTo>
                  <a:lnTo>
                    <a:pt x="1492399" y="154119"/>
                  </a:lnTo>
                  <a:lnTo>
                    <a:pt x="1455161" y="179496"/>
                  </a:lnTo>
                  <a:lnTo>
                    <a:pt x="1419040" y="206574"/>
                  </a:lnTo>
                  <a:lnTo>
                    <a:pt x="1384084" y="235303"/>
                  </a:lnTo>
                  <a:lnTo>
                    <a:pt x="1350343" y="265633"/>
                  </a:lnTo>
                  <a:lnTo>
                    <a:pt x="1317868" y="297517"/>
                  </a:lnTo>
                  <a:lnTo>
                    <a:pt x="1286708" y="330904"/>
                  </a:lnTo>
                  <a:lnTo>
                    <a:pt x="1256913" y="365747"/>
                  </a:lnTo>
                  <a:lnTo>
                    <a:pt x="1228533" y="401996"/>
                  </a:lnTo>
                  <a:lnTo>
                    <a:pt x="1201617" y="439602"/>
                  </a:lnTo>
                  <a:lnTo>
                    <a:pt x="1176217" y="478517"/>
                  </a:lnTo>
                  <a:lnTo>
                    <a:pt x="1152381" y="518690"/>
                  </a:lnTo>
                  <a:lnTo>
                    <a:pt x="1130160" y="560074"/>
                  </a:lnTo>
                  <a:lnTo>
                    <a:pt x="1109603" y="602620"/>
                  </a:lnTo>
                  <a:lnTo>
                    <a:pt x="1090760" y="646277"/>
                  </a:lnTo>
                  <a:lnTo>
                    <a:pt x="1073681" y="690998"/>
                  </a:lnTo>
                  <a:lnTo>
                    <a:pt x="1058416" y="736734"/>
                  </a:lnTo>
                  <a:lnTo>
                    <a:pt x="1045015" y="783435"/>
                  </a:lnTo>
                  <a:lnTo>
                    <a:pt x="1033528" y="831053"/>
                  </a:lnTo>
                  <a:lnTo>
                    <a:pt x="1024004" y="879538"/>
                  </a:lnTo>
                  <a:lnTo>
                    <a:pt x="1016494" y="928842"/>
                  </a:lnTo>
                  <a:lnTo>
                    <a:pt x="1011047" y="978915"/>
                  </a:lnTo>
                </a:path>
              </a:pathLst>
            </a:custGeom>
            <a:ln w="38100">
              <a:solidFill>
                <a:srgbClr val="034D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2500" y="2872105"/>
              <a:ext cx="133350" cy="16992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5999860" y="3640709"/>
            <a:ext cx="133350" cy="984885"/>
          </a:xfrm>
          <a:custGeom>
            <a:avLst/>
            <a:gdLst/>
            <a:ahLst/>
            <a:cxnLst/>
            <a:rect l="l" t="t" r="r" b="b"/>
            <a:pathLst>
              <a:path w="133350" h="984885">
                <a:moveTo>
                  <a:pt x="0" y="851408"/>
                </a:moveTo>
                <a:lnTo>
                  <a:pt x="66294" y="984885"/>
                </a:lnTo>
                <a:lnTo>
                  <a:pt x="122216" y="873887"/>
                </a:lnTo>
                <a:lnTo>
                  <a:pt x="44449" y="873887"/>
                </a:lnTo>
                <a:lnTo>
                  <a:pt x="44513" y="851789"/>
                </a:lnTo>
                <a:lnTo>
                  <a:pt x="133350" y="851789"/>
                </a:lnTo>
                <a:lnTo>
                  <a:pt x="0" y="851408"/>
                </a:lnTo>
                <a:close/>
              </a:path>
              <a:path w="133350" h="984885">
                <a:moveTo>
                  <a:pt x="46990" y="0"/>
                </a:moveTo>
                <a:lnTo>
                  <a:pt x="44514" y="851408"/>
                </a:lnTo>
                <a:lnTo>
                  <a:pt x="44449" y="873887"/>
                </a:lnTo>
                <a:lnTo>
                  <a:pt x="88900" y="873887"/>
                </a:lnTo>
                <a:lnTo>
                  <a:pt x="91440" y="127"/>
                </a:lnTo>
                <a:lnTo>
                  <a:pt x="46990" y="0"/>
                </a:lnTo>
                <a:close/>
              </a:path>
              <a:path w="133350" h="984885">
                <a:moveTo>
                  <a:pt x="133350" y="851789"/>
                </a:moveTo>
                <a:lnTo>
                  <a:pt x="88964" y="851789"/>
                </a:lnTo>
                <a:lnTo>
                  <a:pt x="88900" y="873887"/>
                </a:lnTo>
                <a:lnTo>
                  <a:pt x="122216" y="873887"/>
                </a:lnTo>
                <a:lnTo>
                  <a:pt x="133350" y="851789"/>
                </a:lnTo>
                <a:close/>
              </a:path>
            </a:pathLst>
          </a:custGeom>
          <a:solidFill>
            <a:srgbClr val="034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73094" y="3126422"/>
            <a:ext cx="4515485" cy="584835"/>
          </a:xfrm>
          <a:prstGeom prst="rect">
            <a:avLst/>
          </a:prstGeom>
          <a:solidFill>
            <a:srgbClr val="034D9E"/>
          </a:solidFill>
          <a:ln w="31750">
            <a:solidFill>
              <a:srgbClr val="001F5F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3200" spc="-10" dirty="0">
                <a:solidFill>
                  <a:srgbClr val="FFFFFF"/>
                </a:solidFill>
                <a:latin typeface="Consolas"/>
                <a:cs typeface="Consolas"/>
              </a:rPr>
              <a:t>csv2bufr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581910">
              <a:lnSpc>
                <a:spcPct val="100000"/>
              </a:lnSpc>
              <a:spcBef>
                <a:spcPts val="100"/>
              </a:spcBef>
            </a:pPr>
            <a:r>
              <a:rPr dirty="0"/>
              <a:t>BUFR</a:t>
            </a:r>
            <a:r>
              <a:rPr spc="-60" dirty="0"/>
              <a:t> </a:t>
            </a:r>
            <a:r>
              <a:rPr dirty="0"/>
              <a:t>mapping</a:t>
            </a:r>
            <a:r>
              <a:rPr spc="-8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2024507"/>
            <a:ext cx="12192000" cy="1939289"/>
          </a:xfrm>
          <a:custGeom>
            <a:avLst/>
            <a:gdLst/>
            <a:ahLst/>
            <a:cxnLst/>
            <a:rect l="l" t="t" r="r" b="b"/>
            <a:pathLst>
              <a:path w="12192000" h="1939289">
                <a:moveTo>
                  <a:pt x="0" y="0"/>
                </a:moveTo>
                <a:lnTo>
                  <a:pt x="0" y="1939036"/>
                </a:lnTo>
                <a:lnTo>
                  <a:pt x="12192000" y="1939036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13" y="891921"/>
            <a:ext cx="12046585" cy="301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333333"/>
                </a:solidFill>
                <a:latin typeface="Trebuchet MS"/>
                <a:cs typeface="Trebuchet MS"/>
              </a:rPr>
              <a:t>Template</a:t>
            </a:r>
            <a:r>
              <a:rPr sz="1800" spc="-80" dirty="0">
                <a:solidFill>
                  <a:srgbClr val="333333"/>
                </a:solidFill>
                <a:latin typeface="Trebuchet MS"/>
                <a:cs typeface="Trebuchet MS"/>
              </a:rPr>
              <a:t>:</a:t>
            </a:r>
            <a:r>
              <a:rPr sz="1800" spc="-114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JSON</a:t>
            </a:r>
            <a:r>
              <a:rPr sz="1800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33333"/>
                </a:solidFill>
                <a:latin typeface="Trebuchet MS"/>
                <a:cs typeface="Trebuchet MS"/>
              </a:rPr>
              <a:t>file</a:t>
            </a:r>
            <a:r>
              <a:rPr sz="1800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33333"/>
                </a:solidFill>
                <a:latin typeface="Trebuchet MS"/>
                <a:cs typeface="Trebuchet MS"/>
              </a:rPr>
              <a:t>defining</a:t>
            </a:r>
            <a:r>
              <a:rPr sz="1800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Trebuchet MS"/>
                <a:cs typeface="Trebuchet MS"/>
              </a:rPr>
              <a:t>mapping</a:t>
            </a:r>
            <a:r>
              <a:rPr sz="1800" spc="-1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33333"/>
                </a:solidFill>
                <a:latin typeface="Trebuchet MS"/>
                <a:cs typeface="Trebuchet MS"/>
              </a:rPr>
              <a:t>between</a:t>
            </a:r>
            <a:r>
              <a:rPr sz="1800" spc="-114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columns</a:t>
            </a:r>
            <a:r>
              <a:rPr sz="1800" spc="-15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33333"/>
                </a:solidFill>
                <a:latin typeface="Trebuchet MS"/>
                <a:cs typeface="Trebuchet MS"/>
              </a:rPr>
              <a:t>in</a:t>
            </a:r>
            <a:r>
              <a:rPr sz="1800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1800" spc="-10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Trebuchet MS"/>
                <a:cs typeface="Trebuchet MS"/>
              </a:rPr>
              <a:t>input</a:t>
            </a:r>
            <a:r>
              <a:rPr sz="1800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333333"/>
                </a:solidFill>
                <a:latin typeface="Trebuchet MS"/>
                <a:cs typeface="Trebuchet MS"/>
              </a:rPr>
              <a:t>CSV</a:t>
            </a:r>
            <a:r>
              <a:rPr sz="1800" spc="-1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Trebuchet MS"/>
                <a:cs typeface="Trebuchet MS"/>
              </a:rPr>
              <a:t>data</a:t>
            </a:r>
            <a:r>
              <a:rPr sz="1800" spc="-10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33333"/>
                </a:solidFill>
                <a:latin typeface="Trebuchet MS"/>
                <a:cs typeface="Trebuchet MS"/>
              </a:rPr>
              <a:t>to</a:t>
            </a:r>
            <a:r>
              <a:rPr sz="1800" spc="-1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codes</a:t>
            </a:r>
            <a:r>
              <a:rPr sz="1800" spc="-114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encoded</a:t>
            </a:r>
            <a:r>
              <a:rPr sz="1800" spc="-1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33333"/>
                </a:solidFill>
                <a:latin typeface="Trebuchet MS"/>
                <a:cs typeface="Trebuchet MS"/>
              </a:rPr>
              <a:t>in</a:t>
            </a:r>
            <a:r>
              <a:rPr sz="1800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1800" spc="-1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33333"/>
                </a:solidFill>
                <a:latin typeface="Trebuchet MS"/>
                <a:cs typeface="Trebuchet MS"/>
              </a:rPr>
              <a:t>output</a:t>
            </a:r>
            <a:r>
              <a:rPr sz="1800" spc="-1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BUFR</a:t>
            </a:r>
            <a:r>
              <a:rPr sz="1800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80645">
              <a:lnSpc>
                <a:spcPct val="100000"/>
              </a:lnSpc>
            </a:pPr>
            <a:r>
              <a:rPr sz="1800" spc="145" dirty="0">
                <a:solidFill>
                  <a:srgbClr val="333333"/>
                </a:solidFill>
                <a:latin typeface="Trebuchet MS"/>
                <a:cs typeface="Trebuchet MS"/>
              </a:rPr>
              <a:t>…</a:t>
            </a:r>
            <a:r>
              <a:rPr sz="1800" spc="-1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using</a:t>
            </a:r>
            <a:r>
              <a:rPr sz="1800" spc="-1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1800" spc="-1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human-</a:t>
            </a:r>
            <a:r>
              <a:rPr sz="1800" spc="-45" dirty="0">
                <a:solidFill>
                  <a:srgbClr val="333333"/>
                </a:solidFill>
                <a:latin typeface="Trebuchet MS"/>
                <a:cs typeface="Trebuchet MS"/>
              </a:rPr>
              <a:t>readable</a:t>
            </a:r>
            <a:r>
              <a:rPr sz="1800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Trebuchet MS"/>
                <a:cs typeface="Trebuchet MS"/>
              </a:rPr>
              <a:t>eccodes_key</a:t>
            </a:r>
            <a:r>
              <a:rPr sz="1800" spc="-1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33333"/>
                </a:solidFill>
                <a:latin typeface="Trebuchet MS"/>
                <a:cs typeface="Trebuchet MS"/>
              </a:rPr>
              <a:t>rather</a:t>
            </a:r>
            <a:r>
              <a:rPr sz="1800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33333"/>
                </a:solidFill>
                <a:latin typeface="Trebuchet MS"/>
                <a:cs typeface="Trebuchet MS"/>
              </a:rPr>
              <a:t>than</a:t>
            </a:r>
            <a:r>
              <a:rPr sz="1800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1800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6</a:t>
            </a:r>
            <a:r>
              <a:rPr sz="1800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33333"/>
                </a:solidFill>
                <a:latin typeface="Trebuchet MS"/>
                <a:cs typeface="Trebuchet MS"/>
              </a:rPr>
              <a:t>digit</a:t>
            </a:r>
            <a:r>
              <a:rPr sz="1800" spc="-1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333333"/>
                </a:solidFill>
                <a:latin typeface="Trebuchet MS"/>
                <a:cs typeface="Trebuchet MS"/>
              </a:rPr>
              <a:t>BUFR</a:t>
            </a:r>
            <a:r>
              <a:rPr sz="1800" spc="-1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33333"/>
                </a:solidFill>
                <a:latin typeface="Trebuchet MS"/>
                <a:cs typeface="Trebuchet MS"/>
              </a:rPr>
              <a:t>FXXYYY</a:t>
            </a:r>
            <a:r>
              <a:rPr sz="1800" spc="-1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Trebuchet MS"/>
                <a:cs typeface="Trebuchet MS"/>
              </a:rPr>
              <a:t>code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spc="-125" dirty="0">
                <a:latin typeface="Arial MT"/>
                <a:cs typeface="Arial MT"/>
              </a:rPr>
              <a:t>"data":</a:t>
            </a:r>
            <a:r>
              <a:rPr sz="1500" spc="-50" dirty="0">
                <a:latin typeface="Arial MT"/>
                <a:cs typeface="Arial MT"/>
              </a:rPr>
              <a:t> [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25" dirty="0">
                <a:latin typeface="Arial MT"/>
                <a:cs typeface="Arial MT"/>
              </a:rPr>
              <a:t>….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"#1#nonCoordinatePressure",</a:t>
            </a:r>
            <a:r>
              <a:rPr sz="1500" spc="5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"data:station_pressure",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"const:50000",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"const:150000"},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60" dirty="0">
                <a:latin typeface="Arial MT"/>
                <a:cs typeface="Arial MT"/>
              </a:rPr>
              <a:t>"#1#pressureReducedToMeanSeaLevel",</a:t>
            </a:r>
            <a:r>
              <a:rPr sz="1500" spc="5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"data:msl_pressure",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"const:50000",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"const:150000"},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"#1#nonCoordinateGeopotentialHeight",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"data:geopotential_height",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6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"const:-</a:t>
            </a:r>
            <a:r>
              <a:rPr sz="1500" spc="-140" dirty="0">
                <a:latin typeface="Arial MT"/>
                <a:cs typeface="Arial MT"/>
              </a:rPr>
              <a:t>1000",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"const:130071"},</a:t>
            </a:r>
            <a:endParaRPr sz="1500">
              <a:latin typeface="Arial MT"/>
              <a:cs typeface="Arial MT"/>
            </a:endParaRPr>
          </a:p>
          <a:p>
            <a:pPr marL="14224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50" dirty="0">
                <a:latin typeface="Arial MT"/>
                <a:cs typeface="Arial MT"/>
              </a:rPr>
              <a:t>"#1#heightOfSensorAboveLocalGroundOrDeckOfMarinePlatform",</a:t>
            </a:r>
            <a:r>
              <a:rPr sz="1500" spc="7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"data:thermometer_height",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"const:0",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"const:655.35"},</a:t>
            </a:r>
            <a:endParaRPr sz="1500">
              <a:latin typeface="Arial MT"/>
              <a:cs typeface="Arial MT"/>
            </a:endParaRPr>
          </a:p>
          <a:p>
            <a:pPr marL="14224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"#1#airTemperature",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"data:air_temperature",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"const:193.15",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"const:333.15"},</a:t>
            </a:r>
            <a:endParaRPr sz="15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sz="1500" spc="-80" dirty="0">
                <a:latin typeface="Arial MT"/>
                <a:cs typeface="Arial MT"/>
              </a:rPr>
              <a:t>...</a:t>
            </a:r>
            <a:r>
              <a:rPr sz="1500" spc="-10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]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9836" y="4008246"/>
            <a:ext cx="2545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BUFR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Mapping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template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82058" y="4030726"/>
            <a:ext cx="1334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CSV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04863" y="5726099"/>
            <a:ext cx="133350" cy="509270"/>
          </a:xfrm>
          <a:custGeom>
            <a:avLst/>
            <a:gdLst/>
            <a:ahLst/>
            <a:cxnLst/>
            <a:rect l="l" t="t" r="r" b="b"/>
            <a:pathLst>
              <a:path w="133350" h="509270">
                <a:moveTo>
                  <a:pt x="44520" y="375513"/>
                </a:moveTo>
                <a:lnTo>
                  <a:pt x="0" y="375513"/>
                </a:lnTo>
                <a:lnTo>
                  <a:pt x="67055" y="508698"/>
                </a:lnTo>
                <a:lnTo>
                  <a:pt x="122207" y="397624"/>
                </a:lnTo>
                <a:lnTo>
                  <a:pt x="44576" y="397624"/>
                </a:lnTo>
                <a:lnTo>
                  <a:pt x="44520" y="375513"/>
                </a:lnTo>
                <a:close/>
              </a:path>
              <a:path w="133350" h="509270">
                <a:moveTo>
                  <a:pt x="88011" y="0"/>
                </a:moveTo>
                <a:lnTo>
                  <a:pt x="43560" y="0"/>
                </a:lnTo>
                <a:lnTo>
                  <a:pt x="44520" y="375513"/>
                </a:lnTo>
                <a:lnTo>
                  <a:pt x="44576" y="397624"/>
                </a:lnTo>
                <a:lnTo>
                  <a:pt x="89027" y="397624"/>
                </a:lnTo>
                <a:lnTo>
                  <a:pt x="88011" y="0"/>
                </a:lnTo>
                <a:close/>
              </a:path>
              <a:path w="133350" h="509270">
                <a:moveTo>
                  <a:pt x="133186" y="375513"/>
                </a:moveTo>
                <a:lnTo>
                  <a:pt x="88970" y="375513"/>
                </a:lnTo>
                <a:lnTo>
                  <a:pt x="89027" y="397624"/>
                </a:lnTo>
                <a:lnTo>
                  <a:pt x="122207" y="397624"/>
                </a:lnTo>
                <a:lnTo>
                  <a:pt x="133186" y="375513"/>
                </a:lnTo>
                <a:close/>
              </a:path>
            </a:pathLst>
          </a:custGeom>
          <a:solidFill>
            <a:srgbClr val="034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964301" y="4349496"/>
            <a:ext cx="2028189" cy="1036955"/>
            <a:chOff x="5964301" y="4349496"/>
            <a:chExt cx="2028189" cy="1036955"/>
          </a:xfrm>
        </p:grpSpPr>
        <p:sp>
          <p:nvSpPr>
            <p:cNvPr id="12" name="object 12"/>
            <p:cNvSpPr/>
            <p:nvPr/>
          </p:nvSpPr>
          <p:spPr>
            <a:xfrm>
              <a:off x="5983351" y="4368546"/>
              <a:ext cx="1990089" cy="979169"/>
            </a:xfrm>
            <a:custGeom>
              <a:avLst/>
              <a:gdLst/>
              <a:ahLst/>
              <a:cxnLst/>
              <a:rect l="l" t="t" r="r" b="b"/>
              <a:pathLst>
                <a:path w="1990090" h="979170">
                  <a:moveTo>
                    <a:pt x="0" y="0"/>
                  </a:moveTo>
                  <a:lnTo>
                    <a:pt x="46736" y="1160"/>
                  </a:lnTo>
                  <a:lnTo>
                    <a:pt x="92955" y="4607"/>
                  </a:lnTo>
                  <a:lnTo>
                    <a:pt x="138607" y="10293"/>
                  </a:lnTo>
                  <a:lnTo>
                    <a:pt x="183642" y="18168"/>
                  </a:lnTo>
                  <a:lnTo>
                    <a:pt x="228010" y="28184"/>
                  </a:lnTo>
                  <a:lnTo>
                    <a:pt x="271661" y="40292"/>
                  </a:lnTo>
                  <a:lnTo>
                    <a:pt x="314546" y="54442"/>
                  </a:lnTo>
                  <a:lnTo>
                    <a:pt x="356614" y="70586"/>
                  </a:lnTo>
                  <a:lnTo>
                    <a:pt x="397816" y="88674"/>
                  </a:lnTo>
                  <a:lnTo>
                    <a:pt x="438101" y="108659"/>
                  </a:lnTo>
                  <a:lnTo>
                    <a:pt x="477421" y="130490"/>
                  </a:lnTo>
                  <a:lnTo>
                    <a:pt x="515724" y="154119"/>
                  </a:lnTo>
                  <a:lnTo>
                    <a:pt x="552962" y="179496"/>
                  </a:lnTo>
                  <a:lnTo>
                    <a:pt x="589083" y="206574"/>
                  </a:lnTo>
                  <a:lnTo>
                    <a:pt x="624039" y="235303"/>
                  </a:lnTo>
                  <a:lnTo>
                    <a:pt x="657780" y="265633"/>
                  </a:lnTo>
                  <a:lnTo>
                    <a:pt x="690255" y="297517"/>
                  </a:lnTo>
                  <a:lnTo>
                    <a:pt x="721415" y="330904"/>
                  </a:lnTo>
                  <a:lnTo>
                    <a:pt x="751210" y="365747"/>
                  </a:lnTo>
                  <a:lnTo>
                    <a:pt x="779590" y="401996"/>
                  </a:lnTo>
                  <a:lnTo>
                    <a:pt x="806506" y="439602"/>
                  </a:lnTo>
                  <a:lnTo>
                    <a:pt x="831906" y="478517"/>
                  </a:lnTo>
                  <a:lnTo>
                    <a:pt x="855742" y="518690"/>
                  </a:lnTo>
                  <a:lnTo>
                    <a:pt x="877963" y="560074"/>
                  </a:lnTo>
                  <a:lnTo>
                    <a:pt x="898520" y="602620"/>
                  </a:lnTo>
                  <a:lnTo>
                    <a:pt x="917363" y="646277"/>
                  </a:lnTo>
                  <a:lnTo>
                    <a:pt x="934442" y="690998"/>
                  </a:lnTo>
                  <a:lnTo>
                    <a:pt x="949707" y="736734"/>
                  </a:lnTo>
                  <a:lnTo>
                    <a:pt x="963108" y="783435"/>
                  </a:lnTo>
                  <a:lnTo>
                    <a:pt x="974595" y="831053"/>
                  </a:lnTo>
                  <a:lnTo>
                    <a:pt x="984119" y="879538"/>
                  </a:lnTo>
                  <a:lnTo>
                    <a:pt x="991629" y="928842"/>
                  </a:lnTo>
                  <a:lnTo>
                    <a:pt x="997076" y="978915"/>
                  </a:lnTo>
                </a:path>
                <a:path w="1990090" h="979170">
                  <a:moveTo>
                    <a:pt x="1990090" y="0"/>
                  </a:moveTo>
                  <a:lnTo>
                    <a:pt x="1943353" y="1160"/>
                  </a:lnTo>
                  <a:lnTo>
                    <a:pt x="1897134" y="4607"/>
                  </a:lnTo>
                  <a:lnTo>
                    <a:pt x="1851482" y="10293"/>
                  </a:lnTo>
                  <a:lnTo>
                    <a:pt x="1806447" y="18168"/>
                  </a:lnTo>
                  <a:lnTo>
                    <a:pt x="1762079" y="28184"/>
                  </a:lnTo>
                  <a:lnTo>
                    <a:pt x="1718428" y="40292"/>
                  </a:lnTo>
                  <a:lnTo>
                    <a:pt x="1675543" y="54442"/>
                  </a:lnTo>
                  <a:lnTo>
                    <a:pt x="1633475" y="70586"/>
                  </a:lnTo>
                  <a:lnTo>
                    <a:pt x="1592273" y="88674"/>
                  </a:lnTo>
                  <a:lnTo>
                    <a:pt x="1551988" y="108659"/>
                  </a:lnTo>
                  <a:lnTo>
                    <a:pt x="1512668" y="130490"/>
                  </a:lnTo>
                  <a:lnTo>
                    <a:pt x="1474365" y="154119"/>
                  </a:lnTo>
                  <a:lnTo>
                    <a:pt x="1437127" y="179496"/>
                  </a:lnTo>
                  <a:lnTo>
                    <a:pt x="1401006" y="206574"/>
                  </a:lnTo>
                  <a:lnTo>
                    <a:pt x="1366050" y="235303"/>
                  </a:lnTo>
                  <a:lnTo>
                    <a:pt x="1332309" y="265633"/>
                  </a:lnTo>
                  <a:lnTo>
                    <a:pt x="1299834" y="297517"/>
                  </a:lnTo>
                  <a:lnTo>
                    <a:pt x="1268674" y="330904"/>
                  </a:lnTo>
                  <a:lnTo>
                    <a:pt x="1238879" y="365747"/>
                  </a:lnTo>
                  <a:lnTo>
                    <a:pt x="1210499" y="401996"/>
                  </a:lnTo>
                  <a:lnTo>
                    <a:pt x="1183583" y="439602"/>
                  </a:lnTo>
                  <a:lnTo>
                    <a:pt x="1158183" y="478517"/>
                  </a:lnTo>
                  <a:lnTo>
                    <a:pt x="1134347" y="518690"/>
                  </a:lnTo>
                  <a:lnTo>
                    <a:pt x="1112126" y="560074"/>
                  </a:lnTo>
                  <a:lnTo>
                    <a:pt x="1091569" y="602620"/>
                  </a:lnTo>
                  <a:lnTo>
                    <a:pt x="1072726" y="646277"/>
                  </a:lnTo>
                  <a:lnTo>
                    <a:pt x="1055647" y="690998"/>
                  </a:lnTo>
                  <a:lnTo>
                    <a:pt x="1040382" y="736734"/>
                  </a:lnTo>
                  <a:lnTo>
                    <a:pt x="1026981" y="783435"/>
                  </a:lnTo>
                  <a:lnTo>
                    <a:pt x="1015494" y="831053"/>
                  </a:lnTo>
                  <a:lnTo>
                    <a:pt x="1005970" y="879538"/>
                  </a:lnTo>
                  <a:lnTo>
                    <a:pt x="998460" y="928842"/>
                  </a:lnTo>
                  <a:lnTo>
                    <a:pt x="993013" y="978915"/>
                  </a:lnTo>
                </a:path>
              </a:pathLst>
            </a:custGeom>
            <a:ln w="38100">
              <a:solidFill>
                <a:srgbClr val="034D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3339" y="5216525"/>
              <a:ext cx="133350" cy="1699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23380" y="5348033"/>
            <a:ext cx="1481455" cy="408305"/>
          </a:xfrm>
          <a:prstGeom prst="rect">
            <a:avLst/>
          </a:prstGeom>
          <a:solidFill>
            <a:srgbClr val="034D9E"/>
          </a:solidFill>
          <a:ln w="31750">
            <a:solidFill>
              <a:srgbClr val="001F5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28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csv2bufr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66128" y="6270371"/>
            <a:ext cx="121348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dirty="0">
                <a:latin typeface="Calibri"/>
                <a:cs typeface="Calibri"/>
              </a:rPr>
              <a:t>BUFR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file(s)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581910">
              <a:lnSpc>
                <a:spcPct val="100000"/>
              </a:lnSpc>
              <a:spcBef>
                <a:spcPts val="100"/>
              </a:spcBef>
            </a:pPr>
            <a:r>
              <a:rPr dirty="0"/>
              <a:t>BUFR</a:t>
            </a:r>
            <a:r>
              <a:rPr spc="-60" dirty="0"/>
              <a:t> </a:t>
            </a:r>
            <a:r>
              <a:rPr dirty="0"/>
              <a:t>mapping</a:t>
            </a:r>
            <a:r>
              <a:rPr spc="-8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78877" y="4008246"/>
            <a:ext cx="2545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BUFR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Mapping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template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64301" y="4349496"/>
            <a:ext cx="2028189" cy="1036955"/>
            <a:chOff x="5964301" y="4349496"/>
            <a:chExt cx="2028189" cy="1036955"/>
          </a:xfrm>
        </p:grpSpPr>
        <p:sp>
          <p:nvSpPr>
            <p:cNvPr id="8" name="object 8"/>
            <p:cNvSpPr/>
            <p:nvPr/>
          </p:nvSpPr>
          <p:spPr>
            <a:xfrm>
              <a:off x="5983351" y="4368546"/>
              <a:ext cx="1990089" cy="979169"/>
            </a:xfrm>
            <a:custGeom>
              <a:avLst/>
              <a:gdLst/>
              <a:ahLst/>
              <a:cxnLst/>
              <a:rect l="l" t="t" r="r" b="b"/>
              <a:pathLst>
                <a:path w="1990090" h="979170">
                  <a:moveTo>
                    <a:pt x="0" y="0"/>
                  </a:moveTo>
                  <a:lnTo>
                    <a:pt x="46736" y="1160"/>
                  </a:lnTo>
                  <a:lnTo>
                    <a:pt x="92955" y="4607"/>
                  </a:lnTo>
                  <a:lnTo>
                    <a:pt x="138607" y="10293"/>
                  </a:lnTo>
                  <a:lnTo>
                    <a:pt x="183642" y="18168"/>
                  </a:lnTo>
                  <a:lnTo>
                    <a:pt x="228010" y="28184"/>
                  </a:lnTo>
                  <a:lnTo>
                    <a:pt x="271661" y="40292"/>
                  </a:lnTo>
                  <a:lnTo>
                    <a:pt x="314546" y="54442"/>
                  </a:lnTo>
                  <a:lnTo>
                    <a:pt x="356614" y="70586"/>
                  </a:lnTo>
                  <a:lnTo>
                    <a:pt x="397816" y="88674"/>
                  </a:lnTo>
                  <a:lnTo>
                    <a:pt x="438101" y="108659"/>
                  </a:lnTo>
                  <a:lnTo>
                    <a:pt x="477421" y="130490"/>
                  </a:lnTo>
                  <a:lnTo>
                    <a:pt x="515724" y="154119"/>
                  </a:lnTo>
                  <a:lnTo>
                    <a:pt x="552962" y="179496"/>
                  </a:lnTo>
                  <a:lnTo>
                    <a:pt x="589083" y="206574"/>
                  </a:lnTo>
                  <a:lnTo>
                    <a:pt x="624039" y="235303"/>
                  </a:lnTo>
                  <a:lnTo>
                    <a:pt x="657780" y="265633"/>
                  </a:lnTo>
                  <a:lnTo>
                    <a:pt x="690255" y="297517"/>
                  </a:lnTo>
                  <a:lnTo>
                    <a:pt x="721415" y="330904"/>
                  </a:lnTo>
                  <a:lnTo>
                    <a:pt x="751210" y="365747"/>
                  </a:lnTo>
                  <a:lnTo>
                    <a:pt x="779590" y="401996"/>
                  </a:lnTo>
                  <a:lnTo>
                    <a:pt x="806506" y="439602"/>
                  </a:lnTo>
                  <a:lnTo>
                    <a:pt x="831906" y="478517"/>
                  </a:lnTo>
                  <a:lnTo>
                    <a:pt x="855742" y="518690"/>
                  </a:lnTo>
                  <a:lnTo>
                    <a:pt x="877963" y="560074"/>
                  </a:lnTo>
                  <a:lnTo>
                    <a:pt x="898520" y="602620"/>
                  </a:lnTo>
                  <a:lnTo>
                    <a:pt x="917363" y="646277"/>
                  </a:lnTo>
                  <a:lnTo>
                    <a:pt x="934442" y="690998"/>
                  </a:lnTo>
                  <a:lnTo>
                    <a:pt x="949707" y="736734"/>
                  </a:lnTo>
                  <a:lnTo>
                    <a:pt x="963108" y="783435"/>
                  </a:lnTo>
                  <a:lnTo>
                    <a:pt x="974595" y="831053"/>
                  </a:lnTo>
                  <a:lnTo>
                    <a:pt x="984119" y="879538"/>
                  </a:lnTo>
                  <a:lnTo>
                    <a:pt x="991629" y="928842"/>
                  </a:lnTo>
                  <a:lnTo>
                    <a:pt x="997076" y="978915"/>
                  </a:lnTo>
                </a:path>
                <a:path w="1990090" h="979170">
                  <a:moveTo>
                    <a:pt x="1990090" y="0"/>
                  </a:moveTo>
                  <a:lnTo>
                    <a:pt x="1943353" y="1160"/>
                  </a:lnTo>
                  <a:lnTo>
                    <a:pt x="1897134" y="4607"/>
                  </a:lnTo>
                  <a:lnTo>
                    <a:pt x="1851482" y="10293"/>
                  </a:lnTo>
                  <a:lnTo>
                    <a:pt x="1806447" y="18168"/>
                  </a:lnTo>
                  <a:lnTo>
                    <a:pt x="1762079" y="28184"/>
                  </a:lnTo>
                  <a:lnTo>
                    <a:pt x="1718428" y="40292"/>
                  </a:lnTo>
                  <a:lnTo>
                    <a:pt x="1675543" y="54442"/>
                  </a:lnTo>
                  <a:lnTo>
                    <a:pt x="1633475" y="70586"/>
                  </a:lnTo>
                  <a:lnTo>
                    <a:pt x="1592273" y="88674"/>
                  </a:lnTo>
                  <a:lnTo>
                    <a:pt x="1551988" y="108659"/>
                  </a:lnTo>
                  <a:lnTo>
                    <a:pt x="1512668" y="130490"/>
                  </a:lnTo>
                  <a:lnTo>
                    <a:pt x="1474365" y="154119"/>
                  </a:lnTo>
                  <a:lnTo>
                    <a:pt x="1437127" y="179496"/>
                  </a:lnTo>
                  <a:lnTo>
                    <a:pt x="1401006" y="206574"/>
                  </a:lnTo>
                  <a:lnTo>
                    <a:pt x="1366050" y="235303"/>
                  </a:lnTo>
                  <a:lnTo>
                    <a:pt x="1332309" y="265633"/>
                  </a:lnTo>
                  <a:lnTo>
                    <a:pt x="1299834" y="297517"/>
                  </a:lnTo>
                  <a:lnTo>
                    <a:pt x="1268674" y="330904"/>
                  </a:lnTo>
                  <a:lnTo>
                    <a:pt x="1238879" y="365747"/>
                  </a:lnTo>
                  <a:lnTo>
                    <a:pt x="1210499" y="401996"/>
                  </a:lnTo>
                  <a:lnTo>
                    <a:pt x="1183583" y="439602"/>
                  </a:lnTo>
                  <a:lnTo>
                    <a:pt x="1158183" y="478517"/>
                  </a:lnTo>
                  <a:lnTo>
                    <a:pt x="1134347" y="518690"/>
                  </a:lnTo>
                  <a:lnTo>
                    <a:pt x="1112126" y="560074"/>
                  </a:lnTo>
                  <a:lnTo>
                    <a:pt x="1091569" y="602620"/>
                  </a:lnTo>
                  <a:lnTo>
                    <a:pt x="1072726" y="646277"/>
                  </a:lnTo>
                  <a:lnTo>
                    <a:pt x="1055647" y="690998"/>
                  </a:lnTo>
                  <a:lnTo>
                    <a:pt x="1040382" y="736734"/>
                  </a:lnTo>
                  <a:lnTo>
                    <a:pt x="1026981" y="783435"/>
                  </a:lnTo>
                  <a:lnTo>
                    <a:pt x="1015494" y="831053"/>
                  </a:lnTo>
                  <a:lnTo>
                    <a:pt x="1005970" y="879538"/>
                  </a:lnTo>
                  <a:lnTo>
                    <a:pt x="998460" y="928842"/>
                  </a:lnTo>
                  <a:lnTo>
                    <a:pt x="993013" y="978915"/>
                  </a:lnTo>
                </a:path>
              </a:pathLst>
            </a:custGeom>
            <a:ln w="38100">
              <a:solidFill>
                <a:srgbClr val="034D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3339" y="5216525"/>
              <a:ext cx="133350" cy="16992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6904863" y="5726099"/>
            <a:ext cx="133350" cy="509270"/>
          </a:xfrm>
          <a:custGeom>
            <a:avLst/>
            <a:gdLst/>
            <a:ahLst/>
            <a:cxnLst/>
            <a:rect l="l" t="t" r="r" b="b"/>
            <a:pathLst>
              <a:path w="133350" h="509270">
                <a:moveTo>
                  <a:pt x="44520" y="375513"/>
                </a:moveTo>
                <a:lnTo>
                  <a:pt x="0" y="375513"/>
                </a:lnTo>
                <a:lnTo>
                  <a:pt x="67055" y="508698"/>
                </a:lnTo>
                <a:lnTo>
                  <a:pt x="122207" y="397624"/>
                </a:lnTo>
                <a:lnTo>
                  <a:pt x="44576" y="397624"/>
                </a:lnTo>
                <a:lnTo>
                  <a:pt x="44520" y="375513"/>
                </a:lnTo>
                <a:close/>
              </a:path>
              <a:path w="133350" h="509270">
                <a:moveTo>
                  <a:pt x="88011" y="0"/>
                </a:moveTo>
                <a:lnTo>
                  <a:pt x="43560" y="0"/>
                </a:lnTo>
                <a:lnTo>
                  <a:pt x="44520" y="375513"/>
                </a:lnTo>
                <a:lnTo>
                  <a:pt x="44576" y="397624"/>
                </a:lnTo>
                <a:lnTo>
                  <a:pt x="89027" y="397624"/>
                </a:lnTo>
                <a:lnTo>
                  <a:pt x="88011" y="0"/>
                </a:lnTo>
                <a:close/>
              </a:path>
              <a:path w="133350" h="509270">
                <a:moveTo>
                  <a:pt x="133186" y="375513"/>
                </a:moveTo>
                <a:lnTo>
                  <a:pt x="88970" y="375513"/>
                </a:lnTo>
                <a:lnTo>
                  <a:pt x="89027" y="397624"/>
                </a:lnTo>
                <a:lnTo>
                  <a:pt x="122207" y="397624"/>
                </a:lnTo>
                <a:lnTo>
                  <a:pt x="133186" y="375513"/>
                </a:lnTo>
                <a:close/>
              </a:path>
            </a:pathLst>
          </a:custGeom>
          <a:solidFill>
            <a:srgbClr val="034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23380" y="5348033"/>
            <a:ext cx="1481455" cy="408305"/>
          </a:xfrm>
          <a:prstGeom prst="rect">
            <a:avLst/>
          </a:prstGeom>
          <a:solidFill>
            <a:srgbClr val="034D9E"/>
          </a:solidFill>
          <a:ln w="31750">
            <a:solidFill>
              <a:srgbClr val="001F5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28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csv2bufr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2058" y="4030726"/>
            <a:ext cx="1664335" cy="972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CSV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  <a:p>
            <a:pPr marL="291465">
              <a:lnSpc>
                <a:spcPct val="100000"/>
              </a:lnSpc>
              <a:spcBef>
                <a:spcPts val="1220"/>
              </a:spcBef>
            </a:pPr>
            <a:r>
              <a:rPr sz="1600" i="1" spc="-10" dirty="0">
                <a:latin typeface="Calibri"/>
                <a:cs typeface="Calibri"/>
              </a:rPr>
              <a:t>air_temperature</a:t>
            </a:r>
            <a:endParaRPr sz="1600">
              <a:latin typeface="Calibri"/>
              <a:cs typeface="Calibri"/>
            </a:endParaRPr>
          </a:p>
          <a:p>
            <a:pPr marL="291465">
              <a:lnSpc>
                <a:spcPct val="100000"/>
              </a:lnSpc>
            </a:pPr>
            <a:r>
              <a:rPr sz="1600" i="1" spc="-10" dirty="0">
                <a:latin typeface="Calibri"/>
                <a:cs typeface="Calibri"/>
              </a:rPr>
              <a:t>value=29.5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95692" y="5341620"/>
            <a:ext cx="4249420" cy="671830"/>
            <a:chOff x="7695692" y="5341620"/>
            <a:chExt cx="4249420" cy="671830"/>
          </a:xfrm>
        </p:grpSpPr>
        <p:sp>
          <p:nvSpPr>
            <p:cNvPr id="14" name="object 14"/>
            <p:cNvSpPr/>
            <p:nvPr/>
          </p:nvSpPr>
          <p:spPr>
            <a:xfrm>
              <a:off x="7702042" y="5347970"/>
              <a:ext cx="4236720" cy="659130"/>
            </a:xfrm>
            <a:custGeom>
              <a:avLst/>
              <a:gdLst/>
              <a:ahLst/>
              <a:cxnLst/>
              <a:rect l="l" t="t" r="r" b="b"/>
              <a:pathLst>
                <a:path w="4236720" h="659129">
                  <a:moveTo>
                    <a:pt x="4236211" y="0"/>
                  </a:moveTo>
                  <a:lnTo>
                    <a:pt x="427481" y="0"/>
                  </a:lnTo>
                  <a:lnTo>
                    <a:pt x="427481" y="109854"/>
                  </a:lnTo>
                  <a:lnTo>
                    <a:pt x="0" y="190753"/>
                  </a:lnTo>
                  <a:lnTo>
                    <a:pt x="427481" y="274650"/>
                  </a:lnTo>
                  <a:lnTo>
                    <a:pt x="427481" y="659066"/>
                  </a:lnTo>
                  <a:lnTo>
                    <a:pt x="4236211" y="659066"/>
                  </a:lnTo>
                  <a:lnTo>
                    <a:pt x="4236211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02042" y="5347970"/>
              <a:ext cx="4236720" cy="659130"/>
            </a:xfrm>
            <a:custGeom>
              <a:avLst/>
              <a:gdLst/>
              <a:ahLst/>
              <a:cxnLst/>
              <a:rect l="l" t="t" r="r" b="b"/>
              <a:pathLst>
                <a:path w="4236720" h="659129">
                  <a:moveTo>
                    <a:pt x="427481" y="0"/>
                  </a:moveTo>
                  <a:lnTo>
                    <a:pt x="1062354" y="0"/>
                  </a:lnTo>
                  <a:lnTo>
                    <a:pt x="2014474" y="0"/>
                  </a:lnTo>
                  <a:lnTo>
                    <a:pt x="4236211" y="0"/>
                  </a:lnTo>
                  <a:lnTo>
                    <a:pt x="4236211" y="109854"/>
                  </a:lnTo>
                  <a:lnTo>
                    <a:pt x="4236211" y="274650"/>
                  </a:lnTo>
                  <a:lnTo>
                    <a:pt x="4236211" y="659066"/>
                  </a:lnTo>
                  <a:lnTo>
                    <a:pt x="2014474" y="659066"/>
                  </a:lnTo>
                  <a:lnTo>
                    <a:pt x="1062354" y="659066"/>
                  </a:lnTo>
                  <a:lnTo>
                    <a:pt x="427481" y="659066"/>
                  </a:lnTo>
                  <a:lnTo>
                    <a:pt x="427481" y="274650"/>
                  </a:lnTo>
                  <a:lnTo>
                    <a:pt x="0" y="190753"/>
                  </a:lnTo>
                  <a:lnTo>
                    <a:pt x="427481" y="109854"/>
                  </a:lnTo>
                  <a:lnTo>
                    <a:pt x="427481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06181" y="5408472"/>
            <a:ext cx="34550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latin typeface="Calibri"/>
                <a:cs typeface="Calibri"/>
              </a:rPr>
              <a:t>WARNING: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Value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(29.5)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out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of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valid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range </a:t>
            </a:r>
            <a:r>
              <a:rPr sz="1600" i="1" dirty="0">
                <a:latin typeface="Calibri"/>
                <a:cs typeface="Calibri"/>
              </a:rPr>
              <a:t>(193.15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-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333.15);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Element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set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missing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1569" y="4390390"/>
            <a:ext cx="135381" cy="16344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0" y="2024507"/>
            <a:ext cx="12192000" cy="1939289"/>
          </a:xfrm>
          <a:custGeom>
            <a:avLst/>
            <a:gdLst/>
            <a:ahLst/>
            <a:cxnLst/>
            <a:rect l="l" t="t" r="r" b="b"/>
            <a:pathLst>
              <a:path w="12192000" h="1939289">
                <a:moveTo>
                  <a:pt x="0" y="0"/>
                </a:moveTo>
                <a:lnTo>
                  <a:pt x="0" y="1939036"/>
                </a:lnTo>
                <a:lnTo>
                  <a:pt x="12192000" y="1939036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6113" y="875791"/>
            <a:ext cx="12046585" cy="303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83045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valid_min: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Minimum</a:t>
            </a:r>
            <a:r>
              <a:rPr sz="18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tolerable</a:t>
            </a:r>
            <a:r>
              <a:rPr sz="1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value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valid_max:</a:t>
            </a:r>
            <a:r>
              <a:rPr sz="18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18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tolerable</a:t>
            </a:r>
            <a:r>
              <a:rPr sz="18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csv2bufr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uses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'valid_min'</a:t>
            </a:r>
            <a:r>
              <a:rPr sz="18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8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Calibri"/>
                <a:cs typeface="Calibri"/>
              </a:rPr>
              <a:t>'valid_max'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8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catch</a:t>
            </a:r>
            <a:r>
              <a:rPr sz="18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input</a:t>
            </a:r>
            <a:r>
              <a:rPr sz="18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errors:</a:t>
            </a:r>
            <a:r>
              <a:rPr sz="18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invalid</a:t>
            </a:r>
            <a:r>
              <a:rPr sz="1800" b="1" u="sng" spc="-5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values</a:t>
            </a:r>
            <a:r>
              <a:rPr sz="1800" b="1" u="sng" spc="-5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will</a:t>
            </a:r>
            <a:r>
              <a:rPr sz="1800" b="1" u="sng" spc="-2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not</a:t>
            </a:r>
            <a:r>
              <a:rPr sz="1800" b="1" u="sng" spc="-4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be</a:t>
            </a:r>
            <a:r>
              <a:rPr sz="1800" b="1" u="sng" spc="-3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encoded</a:t>
            </a:r>
            <a:r>
              <a:rPr sz="1800" b="1" u="sng" spc="-5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in</a:t>
            </a:r>
            <a:r>
              <a:rPr sz="1800" b="1" u="sng" spc="-2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the</a:t>
            </a:r>
            <a:r>
              <a:rPr sz="1800" b="1" u="sng" spc="-2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 BUFR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500" spc="-125" dirty="0">
                <a:latin typeface="Arial MT"/>
                <a:cs typeface="Arial MT"/>
              </a:rPr>
              <a:t>"data":</a:t>
            </a:r>
            <a:r>
              <a:rPr sz="1500" spc="-50" dirty="0">
                <a:latin typeface="Arial MT"/>
                <a:cs typeface="Arial MT"/>
              </a:rPr>
              <a:t> [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25" dirty="0">
                <a:latin typeface="Arial MT"/>
                <a:cs typeface="Arial MT"/>
              </a:rPr>
              <a:t>….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"#1#nonCoordinatePressure",</a:t>
            </a:r>
            <a:r>
              <a:rPr sz="1500" spc="5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"data:station_pressure",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"const:50000",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"const:150000"},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60" dirty="0">
                <a:latin typeface="Arial MT"/>
                <a:cs typeface="Arial MT"/>
              </a:rPr>
              <a:t>"#1#pressureReducedToMeanSeaLevel",</a:t>
            </a:r>
            <a:r>
              <a:rPr sz="1500" spc="5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"data:msl_pressure",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"const:50000",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"const:150000"},</a:t>
            </a:r>
            <a:endParaRPr sz="150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"#1#nonCoordinateGeopotentialHeight",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"data:geopotential_height",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6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"const:-</a:t>
            </a:r>
            <a:r>
              <a:rPr sz="1500" spc="-140" dirty="0">
                <a:latin typeface="Arial MT"/>
                <a:cs typeface="Arial MT"/>
              </a:rPr>
              <a:t>1000",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"const:130071"},</a:t>
            </a:r>
            <a:endParaRPr sz="1500">
              <a:latin typeface="Arial MT"/>
              <a:cs typeface="Arial MT"/>
            </a:endParaRPr>
          </a:p>
          <a:p>
            <a:pPr marL="14224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50" dirty="0">
                <a:latin typeface="Arial MT"/>
                <a:cs typeface="Arial MT"/>
              </a:rPr>
              <a:t>"#1#heightOfSensorAboveLocalGroundOrDeckOfMarinePlatform",</a:t>
            </a:r>
            <a:r>
              <a:rPr sz="1500" spc="7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"data:thermometer_height",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"const:0",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"const:655.35"},</a:t>
            </a:r>
            <a:endParaRPr sz="1500">
              <a:latin typeface="Arial MT"/>
              <a:cs typeface="Arial MT"/>
            </a:endParaRPr>
          </a:p>
          <a:p>
            <a:pPr marL="142240">
              <a:lnSpc>
                <a:spcPct val="100000"/>
              </a:lnSpc>
            </a:pPr>
            <a:r>
              <a:rPr sz="1500" spc="-145" dirty="0">
                <a:latin typeface="Arial MT"/>
                <a:cs typeface="Arial MT"/>
              </a:rPr>
              <a:t>{"</a:t>
            </a:r>
            <a:r>
              <a:rPr sz="1500" spc="-145" dirty="0">
                <a:solidFill>
                  <a:srgbClr val="44536A"/>
                </a:solidFill>
                <a:latin typeface="Arial MT"/>
                <a:cs typeface="Arial MT"/>
              </a:rPr>
              <a:t>eccodes_key</a:t>
            </a:r>
            <a:r>
              <a:rPr sz="1500" spc="-145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"#1#airTemperature",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"</a:t>
            </a:r>
            <a:r>
              <a:rPr sz="1500" spc="-125" dirty="0">
                <a:solidFill>
                  <a:srgbClr val="44536A"/>
                </a:solidFill>
                <a:latin typeface="Arial MT"/>
                <a:cs typeface="Arial MT"/>
              </a:rPr>
              <a:t>value</a:t>
            </a:r>
            <a:r>
              <a:rPr sz="1500" spc="-125" dirty="0">
                <a:latin typeface="Arial MT"/>
                <a:cs typeface="Arial MT"/>
              </a:rPr>
              <a:t>":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"data:air_temperature",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"</a:t>
            </a:r>
            <a:r>
              <a:rPr sz="1500" spc="-130" dirty="0">
                <a:solidFill>
                  <a:srgbClr val="44536A"/>
                </a:solidFill>
                <a:latin typeface="Arial MT"/>
                <a:cs typeface="Arial MT"/>
              </a:rPr>
              <a:t>valid_min</a:t>
            </a:r>
            <a:r>
              <a:rPr sz="1500" spc="-130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"const:193.15",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"</a:t>
            </a:r>
            <a:r>
              <a:rPr sz="1500" spc="-140" dirty="0">
                <a:solidFill>
                  <a:srgbClr val="44536A"/>
                </a:solidFill>
                <a:latin typeface="Arial MT"/>
                <a:cs typeface="Arial MT"/>
              </a:rPr>
              <a:t>valid_max</a:t>
            </a:r>
            <a:r>
              <a:rPr sz="1500" spc="-140" dirty="0">
                <a:latin typeface="Arial MT"/>
                <a:cs typeface="Arial MT"/>
              </a:rPr>
              <a:t>":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"const:333.15"},</a:t>
            </a:r>
            <a:endParaRPr sz="15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sz="1500" spc="-80" dirty="0">
                <a:latin typeface="Arial MT"/>
                <a:cs typeface="Arial MT"/>
              </a:rPr>
              <a:t>...</a:t>
            </a:r>
            <a:r>
              <a:rPr sz="1500" spc="-10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]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66128" y="6270371"/>
            <a:ext cx="121348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dirty="0">
                <a:latin typeface="Calibri"/>
                <a:cs typeface="Calibri"/>
              </a:rPr>
              <a:t>BUFR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file(s)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306705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95" dirty="0"/>
              <a:t> </a:t>
            </a:r>
            <a:r>
              <a:rPr dirty="0"/>
              <a:t>AWS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object 6"/>
          <p:cNvSpPr/>
          <p:nvPr/>
        </p:nvSpPr>
        <p:spPr>
          <a:xfrm>
            <a:off x="270357" y="1091819"/>
            <a:ext cx="11597640" cy="2308860"/>
          </a:xfrm>
          <a:custGeom>
            <a:avLst/>
            <a:gdLst/>
            <a:ahLst/>
            <a:cxnLst/>
            <a:rect l="l" t="t" r="r" b="b"/>
            <a:pathLst>
              <a:path w="11597640" h="2308860">
                <a:moveTo>
                  <a:pt x="11597513" y="0"/>
                </a:moveTo>
                <a:lnTo>
                  <a:pt x="0" y="0"/>
                </a:lnTo>
                <a:lnTo>
                  <a:pt x="0" y="2308352"/>
                </a:lnTo>
                <a:lnTo>
                  <a:pt x="11597513" y="2308352"/>
                </a:lnTo>
                <a:lnTo>
                  <a:pt x="115975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9097" y="1106804"/>
            <a:ext cx="106089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AWS</a:t>
            </a:r>
            <a:r>
              <a:rPr sz="1800" b="1" u="sng" spc="-1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Template: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35" dirty="0">
                <a:latin typeface="Trebuchet MS"/>
                <a:cs typeface="Trebuchet MS"/>
              </a:rPr>
              <a:t>Standardized</a:t>
            </a:r>
            <a:r>
              <a:rPr sz="1800" b="1" spc="-190" dirty="0">
                <a:latin typeface="Trebuchet MS"/>
                <a:cs typeface="Trebuchet MS"/>
              </a:rPr>
              <a:t> </a:t>
            </a:r>
            <a:r>
              <a:rPr sz="1800" b="1" spc="85" dirty="0">
                <a:latin typeface="Trebuchet MS"/>
                <a:cs typeface="Trebuchet MS"/>
              </a:rPr>
              <a:t>CSV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format</a:t>
            </a:r>
            <a:r>
              <a:rPr sz="1800" b="1" spc="-15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to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ingest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data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from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Automatic</a:t>
            </a:r>
            <a:r>
              <a:rPr sz="1800" b="1" spc="-114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Weather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Stations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in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support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Trebuchet MS"/>
                <a:cs typeface="Trebuchet MS"/>
              </a:rPr>
              <a:t>of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65" dirty="0">
                <a:latin typeface="Trebuchet MS"/>
                <a:cs typeface="Trebuchet MS"/>
              </a:rPr>
              <a:t>GBON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reporting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rebuchet MS"/>
                <a:cs typeface="Trebuchet MS"/>
              </a:rPr>
              <a:t>requirements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73660">
              <a:lnSpc>
                <a:spcPct val="100000"/>
              </a:lnSpc>
            </a:pPr>
            <a:r>
              <a:rPr sz="1800" spc="-90" dirty="0">
                <a:solidFill>
                  <a:srgbClr val="44536A"/>
                </a:solidFill>
                <a:latin typeface="Trebuchet MS"/>
                <a:cs typeface="Trebuchet MS"/>
              </a:rPr>
              <a:t>The</a:t>
            </a:r>
            <a:r>
              <a:rPr sz="1800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44536A"/>
                </a:solidFill>
                <a:latin typeface="Trebuchet MS"/>
                <a:cs typeface="Trebuchet MS"/>
              </a:rPr>
              <a:t>format</a:t>
            </a:r>
            <a:r>
              <a:rPr sz="18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is</a:t>
            </a:r>
            <a:r>
              <a:rPr sz="1800" spc="-16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4536A"/>
                </a:solidFill>
                <a:latin typeface="Trebuchet MS"/>
                <a:cs typeface="Trebuchet MS"/>
              </a:rPr>
              <a:t>intended</a:t>
            </a:r>
            <a:r>
              <a:rPr sz="18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44536A"/>
                </a:solidFill>
                <a:latin typeface="Trebuchet MS"/>
                <a:cs typeface="Trebuchet MS"/>
              </a:rPr>
              <a:t>for</a:t>
            </a:r>
            <a:r>
              <a:rPr sz="18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use</a:t>
            </a:r>
            <a:r>
              <a:rPr sz="18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44536A"/>
                </a:solidFill>
                <a:latin typeface="Trebuchet MS"/>
                <a:cs typeface="Trebuchet MS"/>
              </a:rPr>
              <a:t>with</a:t>
            </a:r>
            <a:r>
              <a:rPr sz="18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44536A"/>
                </a:solidFill>
                <a:latin typeface="Trebuchet MS"/>
                <a:cs typeface="Trebuchet MS"/>
              </a:rPr>
              <a:t>automatic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44536A"/>
                </a:solidFill>
                <a:latin typeface="Trebuchet MS"/>
                <a:cs typeface="Trebuchet MS"/>
              </a:rPr>
              <a:t>weather</a:t>
            </a:r>
            <a:r>
              <a:rPr sz="18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4536A"/>
                </a:solidFill>
                <a:latin typeface="Trebuchet MS"/>
                <a:cs typeface="Trebuchet MS"/>
              </a:rPr>
              <a:t>stations</a:t>
            </a:r>
            <a:r>
              <a:rPr sz="18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44536A"/>
                </a:solidFill>
                <a:latin typeface="Trebuchet MS"/>
                <a:cs typeface="Trebuchet MS"/>
              </a:rPr>
              <a:t>reporting</a:t>
            </a:r>
            <a:r>
              <a:rPr sz="1800" spc="-15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4536A"/>
                </a:solidFill>
                <a:latin typeface="Trebuchet MS"/>
                <a:cs typeface="Trebuchet MS"/>
              </a:rPr>
              <a:t>minimum</a:t>
            </a:r>
            <a:r>
              <a:rPr sz="1800" spc="-16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4536A"/>
                </a:solidFill>
                <a:latin typeface="Trebuchet MS"/>
                <a:cs typeface="Trebuchet MS"/>
              </a:rPr>
              <a:t>number</a:t>
            </a:r>
            <a:r>
              <a:rPr sz="1800" spc="-15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44536A"/>
                </a:solidFill>
                <a:latin typeface="Trebuchet MS"/>
                <a:cs typeface="Trebuchet MS"/>
              </a:rPr>
              <a:t>of</a:t>
            </a:r>
            <a:r>
              <a:rPr sz="18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4536A"/>
                </a:solidFill>
                <a:latin typeface="Trebuchet MS"/>
                <a:cs typeface="Trebuchet MS"/>
              </a:rPr>
              <a:t>parameters, </a:t>
            </a:r>
            <a:r>
              <a:rPr sz="1800" spc="-35" dirty="0">
                <a:solidFill>
                  <a:srgbClr val="44536A"/>
                </a:solidFill>
                <a:latin typeface="Trebuchet MS"/>
                <a:cs typeface="Trebuchet MS"/>
              </a:rPr>
              <a:t>including</a:t>
            </a:r>
            <a:r>
              <a:rPr sz="1800" spc="-18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44536A"/>
                </a:solidFill>
                <a:latin typeface="Trebuchet MS"/>
                <a:cs typeface="Trebuchet MS"/>
              </a:rPr>
              <a:t>pressure,</a:t>
            </a:r>
            <a:r>
              <a:rPr sz="18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44536A"/>
                </a:solidFill>
                <a:latin typeface="Trebuchet MS"/>
                <a:cs typeface="Trebuchet MS"/>
              </a:rPr>
              <a:t>air</a:t>
            </a:r>
            <a:r>
              <a:rPr sz="18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44536A"/>
                </a:solidFill>
                <a:latin typeface="Trebuchet MS"/>
                <a:cs typeface="Trebuchet MS"/>
              </a:rPr>
              <a:t>temperature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sz="18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44536A"/>
                </a:solidFill>
                <a:latin typeface="Trebuchet MS"/>
                <a:cs typeface="Trebuchet MS"/>
              </a:rPr>
              <a:t>humidity,</a:t>
            </a:r>
            <a:r>
              <a:rPr sz="1800" spc="-16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44536A"/>
                </a:solidFill>
                <a:latin typeface="Trebuchet MS"/>
                <a:cs typeface="Trebuchet MS"/>
              </a:rPr>
              <a:t>wind</a:t>
            </a:r>
            <a:r>
              <a:rPr sz="1800" spc="-15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speed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sz="18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44536A"/>
                </a:solidFill>
                <a:latin typeface="Trebuchet MS"/>
                <a:cs typeface="Trebuchet MS"/>
              </a:rPr>
              <a:t>direction</a:t>
            </a:r>
            <a:r>
              <a:rPr sz="18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sz="18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4536A"/>
                </a:solidFill>
                <a:latin typeface="Trebuchet MS"/>
                <a:cs typeface="Trebuchet MS"/>
              </a:rPr>
              <a:t>precipitation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Based</a:t>
            </a:r>
            <a:r>
              <a:rPr sz="1800" spc="-13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on</a:t>
            </a:r>
            <a:r>
              <a:rPr sz="18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sz="18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4536A"/>
                </a:solidFill>
                <a:latin typeface="Trebuchet MS"/>
                <a:cs typeface="Trebuchet MS"/>
              </a:rPr>
              <a:t>units,</a:t>
            </a:r>
            <a:r>
              <a:rPr sz="18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44536A"/>
                </a:solidFill>
                <a:latin typeface="Trebuchet MS"/>
                <a:cs typeface="Trebuchet MS"/>
              </a:rPr>
              <a:t>with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no</a:t>
            </a:r>
            <a:r>
              <a:rPr sz="1800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44536A"/>
                </a:solidFill>
                <a:latin typeface="Trebuchet MS"/>
                <a:cs typeface="Trebuchet MS"/>
              </a:rPr>
              <a:t>unit</a:t>
            </a:r>
            <a:r>
              <a:rPr sz="1800" spc="-15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44536A"/>
                </a:solidFill>
                <a:latin typeface="Trebuchet MS"/>
                <a:cs typeface="Trebuchet MS"/>
              </a:rPr>
              <a:t>prefixes,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44536A"/>
                </a:solidFill>
                <a:latin typeface="Trebuchet MS"/>
                <a:cs typeface="Trebuchet MS"/>
              </a:rPr>
              <a:t>e.g.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44536A"/>
                </a:solidFill>
                <a:latin typeface="Trebuchet MS"/>
                <a:cs typeface="Trebuchet MS"/>
              </a:rPr>
              <a:t>Pa</a:t>
            </a:r>
            <a:r>
              <a:rPr sz="18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44536A"/>
                </a:solidFill>
                <a:latin typeface="Trebuchet MS"/>
                <a:cs typeface="Trebuchet MS"/>
              </a:rPr>
              <a:t>rather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44536A"/>
                </a:solidFill>
                <a:latin typeface="Trebuchet MS"/>
                <a:cs typeface="Trebuchet MS"/>
              </a:rPr>
              <a:t>than</a:t>
            </a:r>
            <a:r>
              <a:rPr sz="1800" spc="-8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4536A"/>
                </a:solidFill>
                <a:latin typeface="Trebuchet MS"/>
                <a:cs typeface="Trebuchet MS"/>
              </a:rPr>
              <a:t>hPa,</a:t>
            </a:r>
            <a:r>
              <a:rPr sz="1800" spc="-14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44536A"/>
                </a:solidFill>
                <a:latin typeface="Trebuchet MS"/>
                <a:cs typeface="Trebuchet MS"/>
              </a:rPr>
              <a:t>Kelvin</a:t>
            </a:r>
            <a:r>
              <a:rPr sz="1800" spc="-14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44536A"/>
                </a:solidFill>
                <a:latin typeface="Trebuchet MS"/>
                <a:cs typeface="Trebuchet MS"/>
              </a:rPr>
              <a:t>rather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44536A"/>
                </a:solidFill>
                <a:latin typeface="Trebuchet MS"/>
                <a:cs typeface="Trebuchet MS"/>
              </a:rPr>
              <a:t>than</a:t>
            </a:r>
            <a:r>
              <a:rPr sz="1800" spc="-125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4536A"/>
                </a:solidFill>
                <a:latin typeface="Trebuchet MS"/>
                <a:cs typeface="Trebuchet MS"/>
              </a:rPr>
              <a:t>degrees</a:t>
            </a:r>
            <a:r>
              <a:rPr sz="18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4536A"/>
                </a:solidFill>
                <a:latin typeface="Trebuchet MS"/>
                <a:cs typeface="Trebuchet MS"/>
              </a:rPr>
              <a:t>Celsius</a:t>
            </a:r>
            <a:r>
              <a:rPr sz="1800" spc="-130" dirty="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4536A"/>
                </a:solidFill>
                <a:latin typeface="Trebuchet MS"/>
                <a:cs typeface="Trebuchet MS"/>
              </a:rPr>
              <a:t>etc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9391" y="3615144"/>
            <a:ext cx="4835525" cy="2976245"/>
            <a:chOff x="7069391" y="3615144"/>
            <a:chExt cx="4835525" cy="29762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8980" y="3624669"/>
              <a:ext cx="4816221" cy="29571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74154" y="3619906"/>
              <a:ext cx="4826000" cy="2966720"/>
            </a:xfrm>
            <a:custGeom>
              <a:avLst/>
              <a:gdLst/>
              <a:ahLst/>
              <a:cxnLst/>
              <a:rect l="l" t="t" r="r" b="b"/>
              <a:pathLst>
                <a:path w="4826000" h="2966720">
                  <a:moveTo>
                    <a:pt x="0" y="2966719"/>
                  </a:moveTo>
                  <a:lnTo>
                    <a:pt x="4825746" y="2966719"/>
                  </a:lnTo>
                  <a:lnTo>
                    <a:pt x="4825746" y="0"/>
                  </a:lnTo>
                  <a:lnTo>
                    <a:pt x="0" y="0"/>
                  </a:lnTo>
                  <a:lnTo>
                    <a:pt x="0" y="296671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90613" y="4750422"/>
              <a:ext cx="2288540" cy="554990"/>
            </a:xfrm>
            <a:custGeom>
              <a:avLst/>
              <a:gdLst/>
              <a:ahLst/>
              <a:cxnLst/>
              <a:rect l="l" t="t" r="r" b="b"/>
              <a:pathLst>
                <a:path w="2288540" h="554989">
                  <a:moveTo>
                    <a:pt x="0" y="554875"/>
                  </a:moveTo>
                  <a:lnTo>
                    <a:pt x="2288286" y="554875"/>
                  </a:lnTo>
                  <a:lnTo>
                    <a:pt x="2288286" y="0"/>
                  </a:lnTo>
                  <a:lnTo>
                    <a:pt x="0" y="0"/>
                  </a:lnTo>
                  <a:lnTo>
                    <a:pt x="0" y="5548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79345" y="4690059"/>
            <a:ext cx="45218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Template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=</a:t>
            </a:r>
            <a:r>
              <a:rPr sz="18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AWS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Plugin</a:t>
            </a:r>
            <a:r>
              <a:rPr sz="18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Calibri"/>
                <a:cs typeface="Calibri"/>
              </a:rPr>
              <a:t>Configuration refers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b="1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‘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aws-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template.json</a:t>
            </a:r>
            <a:r>
              <a:rPr sz="1800" b="1" spc="-10" dirty="0">
                <a:solidFill>
                  <a:srgbClr val="333333"/>
                </a:solidFill>
                <a:latin typeface="Calibri"/>
                <a:cs typeface="Calibri"/>
              </a:rPr>
              <a:t>’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8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defined</a:t>
            </a:r>
            <a:r>
              <a:rPr sz="1800" b="1" spc="-25" dirty="0">
                <a:solidFill>
                  <a:srgbClr val="333333"/>
                </a:solidFill>
                <a:latin typeface="Calibri"/>
                <a:cs typeface="Calibri"/>
              </a:rPr>
              <a:t> in 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https://github.com/wmo-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im/csv2bufr-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templates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96188" y="4118228"/>
            <a:ext cx="4457065" cy="2745105"/>
            <a:chOff x="7096188" y="4118228"/>
            <a:chExt cx="4457065" cy="2745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5650" y="4127753"/>
              <a:ext cx="4437507" cy="25874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00951" y="4122991"/>
              <a:ext cx="4447540" cy="2735580"/>
            </a:xfrm>
            <a:custGeom>
              <a:avLst/>
              <a:gdLst/>
              <a:ahLst/>
              <a:cxnLst/>
              <a:rect l="l" t="t" r="r" b="b"/>
              <a:pathLst>
                <a:path w="4447540" h="2735579">
                  <a:moveTo>
                    <a:pt x="4447032" y="2735008"/>
                  </a:moveTo>
                  <a:lnTo>
                    <a:pt x="4447032" y="0"/>
                  </a:lnTo>
                  <a:lnTo>
                    <a:pt x="0" y="0"/>
                  </a:lnTo>
                  <a:lnTo>
                    <a:pt x="0" y="2735008"/>
                  </a:lnTo>
                </a:path>
              </a:pathLst>
            </a:custGeom>
            <a:ln w="9525">
              <a:solidFill>
                <a:srgbClr val="004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88671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spc="-70" dirty="0"/>
              <a:t>DAYCLI</a:t>
            </a:r>
            <a:r>
              <a:rPr spc="-5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9" name="object 9"/>
          <p:cNvSpPr/>
          <p:nvPr/>
        </p:nvSpPr>
        <p:spPr>
          <a:xfrm>
            <a:off x="270357" y="1091819"/>
            <a:ext cx="11597640" cy="2924175"/>
          </a:xfrm>
          <a:custGeom>
            <a:avLst/>
            <a:gdLst/>
            <a:ahLst/>
            <a:cxnLst/>
            <a:rect l="l" t="t" r="r" b="b"/>
            <a:pathLst>
              <a:path w="11597640" h="2924175">
                <a:moveTo>
                  <a:pt x="11597513" y="0"/>
                </a:moveTo>
                <a:lnTo>
                  <a:pt x="0" y="0"/>
                </a:lnTo>
                <a:lnTo>
                  <a:pt x="0" y="2923920"/>
                </a:lnTo>
                <a:lnTo>
                  <a:pt x="11597513" y="2923920"/>
                </a:lnTo>
                <a:lnTo>
                  <a:pt x="115975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9097" y="1109853"/>
            <a:ext cx="10328275" cy="2834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DAYCLI</a:t>
            </a:r>
            <a:r>
              <a:rPr sz="18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Template: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Standardized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CSV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format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converting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daily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climate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BUFR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sequence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307075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format</a:t>
            </a:r>
            <a:r>
              <a:rPr sz="1800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is</a:t>
            </a:r>
            <a:r>
              <a:rPr sz="18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intended</a:t>
            </a:r>
            <a:r>
              <a:rPr sz="18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sz="18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use</a:t>
            </a:r>
            <a:r>
              <a:rPr sz="18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sz="18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Climate</a:t>
            </a:r>
            <a:r>
              <a:rPr sz="18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536A"/>
                </a:solidFill>
                <a:latin typeface="Calibri"/>
                <a:cs typeface="Calibri"/>
              </a:rPr>
              <a:t>Management</a:t>
            </a:r>
            <a:r>
              <a:rPr sz="1800" spc="-6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536A"/>
                </a:solidFill>
                <a:latin typeface="Calibri"/>
                <a:cs typeface="Calibri"/>
              </a:rPr>
              <a:t>Systems</a:t>
            </a:r>
            <a:r>
              <a:rPr sz="1800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publish</a:t>
            </a:r>
            <a:r>
              <a:rPr sz="18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on</a:t>
            </a:r>
            <a:r>
              <a:rPr sz="18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4536A"/>
                </a:solidFill>
                <a:latin typeface="Calibri"/>
                <a:cs typeface="Calibri"/>
              </a:rPr>
              <a:t>WIS2</a:t>
            </a:r>
            <a:endParaRPr sz="1800">
              <a:latin typeface="Calibri"/>
              <a:cs typeface="Calibri"/>
            </a:endParaRPr>
          </a:p>
          <a:p>
            <a:pPr marL="12700" marR="5673090">
              <a:lnSpc>
                <a:spcPct val="100000"/>
              </a:lnSpc>
              <a:spcBef>
                <a:spcPts val="30"/>
              </a:spcBef>
            </a:pPr>
            <a:r>
              <a:rPr sz="1400" spc="-10" dirty="0">
                <a:latin typeface="Calibri"/>
                <a:cs typeface="Calibri"/>
              </a:rPr>
              <a:t>Requirement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daily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climate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observations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monitor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extremes </a:t>
            </a:r>
            <a:r>
              <a:rPr sz="1400" dirty="0">
                <a:latin typeface="Calibri"/>
                <a:cs typeface="Calibri"/>
              </a:rPr>
              <a:t>Daily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observations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of: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Calibri"/>
                <a:cs typeface="Calibri"/>
              </a:rPr>
              <a:t>Minimum,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maximum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average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temperature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24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hours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spc="-25" dirty="0">
                <a:latin typeface="Calibri"/>
                <a:cs typeface="Calibri"/>
              </a:rPr>
              <a:t>Total </a:t>
            </a:r>
            <a:r>
              <a:rPr sz="1400" spc="-10" dirty="0">
                <a:latin typeface="Calibri"/>
                <a:cs typeface="Calibri"/>
              </a:rPr>
              <a:t>accumulated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precipitation</a:t>
            </a:r>
            <a:r>
              <a:rPr sz="1400" dirty="0">
                <a:latin typeface="Calibri"/>
                <a:cs typeface="Calibri"/>
              </a:rPr>
              <a:t> over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24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hours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spc="-25" dirty="0">
                <a:latin typeface="Calibri"/>
                <a:cs typeface="Calibri"/>
              </a:rPr>
              <a:t>Total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snow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depth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observation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dirty="0">
                <a:latin typeface="Calibri"/>
                <a:cs typeface="Calibri"/>
              </a:rPr>
              <a:t>Depth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fresh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snow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24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hours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Recognition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practices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Members,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explicit</a:t>
            </a:r>
            <a:r>
              <a:rPr sz="1400" spc="-10" dirty="0">
                <a:latin typeface="Calibri"/>
                <a:cs typeface="Calibri"/>
              </a:rPr>
              <a:t> reporting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24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hours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period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Additional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metadata: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method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calculating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average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temperature;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sensor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heights;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exposure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measurement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quality </a:t>
            </a:r>
            <a:r>
              <a:rPr sz="1400" spc="-10" dirty="0">
                <a:latin typeface="Calibri"/>
                <a:cs typeface="Calibri"/>
              </a:rPr>
              <a:t>classification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90613" y="5178577"/>
            <a:ext cx="2134870" cy="488950"/>
          </a:xfrm>
          <a:custGeom>
            <a:avLst/>
            <a:gdLst/>
            <a:ahLst/>
            <a:cxnLst/>
            <a:rect l="l" t="t" r="r" b="b"/>
            <a:pathLst>
              <a:path w="2134870" h="488950">
                <a:moveTo>
                  <a:pt x="0" y="488886"/>
                </a:moveTo>
                <a:lnTo>
                  <a:pt x="2134361" y="488886"/>
                </a:lnTo>
                <a:lnTo>
                  <a:pt x="2134361" y="0"/>
                </a:lnTo>
                <a:lnTo>
                  <a:pt x="0" y="0"/>
                </a:lnTo>
                <a:lnTo>
                  <a:pt x="0" y="488886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79345" y="4690059"/>
            <a:ext cx="45326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Template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=</a:t>
            </a:r>
            <a:r>
              <a:rPr sz="18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AWS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8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Plugin</a:t>
            </a:r>
            <a:r>
              <a:rPr sz="18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Calibri"/>
                <a:cs typeface="Calibri"/>
              </a:rPr>
              <a:t>Configuration refers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8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333333"/>
                </a:solidFill>
                <a:latin typeface="Calibri"/>
                <a:cs typeface="Calibri"/>
              </a:rPr>
              <a:t>‘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daycli-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template.json</a:t>
            </a:r>
            <a:r>
              <a:rPr sz="1800" b="1" spc="-10" dirty="0">
                <a:solidFill>
                  <a:srgbClr val="333333"/>
                </a:solidFill>
                <a:latin typeface="Calibri"/>
                <a:cs typeface="Calibri"/>
              </a:rPr>
              <a:t>’</a:t>
            </a:r>
            <a:r>
              <a:rPr sz="18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Calibri"/>
                <a:cs typeface="Calibri"/>
              </a:rPr>
              <a:t>defined</a:t>
            </a:r>
            <a:r>
              <a:rPr sz="18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33333"/>
                </a:solidFill>
                <a:latin typeface="Calibri"/>
                <a:cs typeface="Calibri"/>
              </a:rPr>
              <a:t>in 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https://github.com/wmo-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im/csv2bufr-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templates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8565" y="3857904"/>
            <a:ext cx="1837055" cy="755650"/>
          </a:xfrm>
          <a:custGeom>
            <a:avLst/>
            <a:gdLst/>
            <a:ahLst/>
            <a:cxnLst/>
            <a:rect l="l" t="t" r="r" b="b"/>
            <a:pathLst>
              <a:path w="1837054" h="755650">
                <a:moveTo>
                  <a:pt x="1836673" y="0"/>
                </a:moveTo>
                <a:lnTo>
                  <a:pt x="0" y="0"/>
                </a:lnTo>
                <a:lnTo>
                  <a:pt x="0" y="755243"/>
                </a:lnTo>
                <a:lnTo>
                  <a:pt x="1836673" y="755243"/>
                </a:lnTo>
                <a:lnTo>
                  <a:pt x="1836673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98565" y="3857904"/>
            <a:ext cx="1837055" cy="755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560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WIS</a:t>
            </a:r>
            <a:r>
              <a:rPr sz="1400" b="1" i="1" spc="-25" dirty="0">
                <a:solidFill>
                  <a:srgbClr val="0F243E"/>
                </a:solidFill>
                <a:latin typeface="Calibri"/>
                <a:cs typeface="Calibri"/>
              </a:rPr>
              <a:t> 2.0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1805305">
              <a:lnSpc>
                <a:spcPct val="100000"/>
              </a:lnSpc>
              <a:spcBef>
                <a:spcPts val="100"/>
              </a:spcBef>
            </a:pPr>
            <a:r>
              <a:rPr dirty="0"/>
              <a:t>wis2box</a:t>
            </a:r>
            <a:r>
              <a:rPr spc="-70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plugins:</a:t>
            </a:r>
            <a:r>
              <a:rPr spc="-85" dirty="0"/>
              <a:t> </a:t>
            </a:r>
            <a:r>
              <a:rPr spc="-10" dirty="0"/>
              <a:t>synop2bufr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22064" y="4900904"/>
            <a:ext cx="7656195" cy="156972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7465" rIns="0" bIns="0" rtlCol="0">
            <a:spAutoFit/>
          </a:bodyPr>
          <a:lstStyle/>
          <a:p>
            <a:pPr marR="6918325" algn="r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latin typeface="Calibri"/>
                <a:cs typeface="Calibri"/>
              </a:rPr>
              <a:t>plugins:</a:t>
            </a:r>
            <a:endParaRPr sz="1200">
              <a:latin typeface="Calibri"/>
              <a:cs typeface="Calibri"/>
            </a:endParaRPr>
          </a:p>
          <a:p>
            <a:pPr marR="6918325" algn="r">
              <a:lnSpc>
                <a:spcPct val="100000"/>
              </a:lnSpc>
            </a:pPr>
            <a:r>
              <a:rPr sz="1200" b="1" spc="-20" dirty="0">
                <a:latin typeface="Calibri"/>
                <a:cs typeface="Calibri"/>
              </a:rPr>
              <a:t>txt:</a:t>
            </a:r>
            <a:endParaRPr sz="1200">
              <a:latin typeface="Calibri"/>
              <a:cs typeface="Calibri"/>
            </a:endParaRPr>
          </a:p>
          <a:p>
            <a:pPr marL="719455" marR="2887980" indent="-68580">
              <a:lnSpc>
                <a:spcPct val="100000"/>
              </a:lnSpc>
              <a:buChar char="-"/>
              <a:tabLst>
                <a:tab pos="719455" algn="l"/>
                <a:tab pos="731520" algn="l"/>
              </a:tabLst>
            </a:pPr>
            <a:r>
              <a:rPr sz="1200" b="1" dirty="0">
                <a:latin typeface="Calibri"/>
                <a:cs typeface="Calibri"/>
              </a:rPr>
              <a:t>	plugin: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wis2box.data.synop2bufr.ObservationDataSYNOP2BUFR </a:t>
            </a:r>
            <a:r>
              <a:rPr sz="1200" b="1" dirty="0">
                <a:latin typeface="Calibri"/>
                <a:cs typeface="Calibri"/>
              </a:rPr>
              <a:t>notify:</a:t>
            </a:r>
            <a:r>
              <a:rPr sz="1200" b="1" spc="-20" dirty="0">
                <a:latin typeface="Calibri"/>
                <a:cs typeface="Calibri"/>
              </a:rPr>
              <a:t> true</a:t>
            </a:r>
            <a:endParaRPr sz="1200">
              <a:latin typeface="Calibri"/>
              <a:cs typeface="Calibri"/>
            </a:endParaRPr>
          </a:p>
          <a:p>
            <a:pPr marL="511175" marR="4509135" indent="208279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file-pattern: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‘^*_(\d{4})(\d{2}).*\.txt$' bufr4:</a:t>
            </a:r>
            <a:endParaRPr sz="1200">
              <a:latin typeface="Calibri"/>
              <a:cs typeface="Calibri"/>
            </a:endParaRPr>
          </a:p>
          <a:p>
            <a:pPr marL="731520" indent="-80645">
              <a:lnSpc>
                <a:spcPct val="100000"/>
              </a:lnSpc>
              <a:buChar char="-"/>
              <a:tabLst>
                <a:tab pos="731520" algn="l"/>
              </a:tabLst>
            </a:pPr>
            <a:r>
              <a:rPr sz="1200" b="1" dirty="0">
                <a:latin typeface="Calibri"/>
                <a:cs typeface="Calibri"/>
              </a:rPr>
              <a:t>plugin: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wis2box.data.bufr2geojson.ObservationDataBUFR2GeoJSON</a:t>
            </a:r>
            <a:endParaRPr sz="1200">
              <a:latin typeface="Calibri"/>
              <a:cs typeface="Calibri"/>
            </a:endParaRPr>
          </a:p>
          <a:p>
            <a:pPr marL="719455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file-pattern: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’</a:t>
            </a:r>
            <a:r>
              <a:rPr sz="1200" b="1" spc="114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^WIGOS_(\d-\d+-\d+-\w+)_.*\.bufr4$’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86813" y="3071329"/>
            <a:ext cx="546735" cy="735330"/>
          </a:xfrm>
          <a:custGeom>
            <a:avLst/>
            <a:gdLst/>
            <a:ahLst/>
            <a:cxnLst/>
            <a:rect l="l" t="t" r="r" b="b"/>
            <a:pathLst>
              <a:path w="546735" h="735329">
                <a:moveTo>
                  <a:pt x="480288" y="621880"/>
                </a:moveTo>
                <a:lnTo>
                  <a:pt x="478802" y="614553"/>
                </a:lnTo>
                <a:lnTo>
                  <a:pt x="474764" y="608558"/>
                </a:lnTo>
                <a:lnTo>
                  <a:pt x="468782" y="604520"/>
                </a:lnTo>
                <a:lnTo>
                  <a:pt x="461454" y="603046"/>
                </a:lnTo>
                <a:lnTo>
                  <a:pt x="454113" y="604520"/>
                </a:lnTo>
                <a:lnTo>
                  <a:pt x="448132" y="608558"/>
                </a:lnTo>
                <a:lnTo>
                  <a:pt x="444093" y="614553"/>
                </a:lnTo>
                <a:lnTo>
                  <a:pt x="442620" y="621880"/>
                </a:lnTo>
                <a:lnTo>
                  <a:pt x="444093" y="629221"/>
                </a:lnTo>
                <a:lnTo>
                  <a:pt x="448132" y="635215"/>
                </a:lnTo>
                <a:lnTo>
                  <a:pt x="454113" y="639254"/>
                </a:lnTo>
                <a:lnTo>
                  <a:pt x="461454" y="640727"/>
                </a:lnTo>
                <a:lnTo>
                  <a:pt x="468782" y="639254"/>
                </a:lnTo>
                <a:lnTo>
                  <a:pt x="474764" y="635215"/>
                </a:lnTo>
                <a:lnTo>
                  <a:pt x="478802" y="629221"/>
                </a:lnTo>
                <a:lnTo>
                  <a:pt x="480288" y="621880"/>
                </a:lnTo>
                <a:close/>
              </a:path>
              <a:path w="546735" h="735329">
                <a:moveTo>
                  <a:pt x="480288" y="433438"/>
                </a:moveTo>
                <a:lnTo>
                  <a:pt x="478802" y="426097"/>
                </a:lnTo>
                <a:lnTo>
                  <a:pt x="474764" y="420116"/>
                </a:lnTo>
                <a:lnTo>
                  <a:pt x="468782" y="416077"/>
                </a:lnTo>
                <a:lnTo>
                  <a:pt x="461454" y="414591"/>
                </a:lnTo>
                <a:lnTo>
                  <a:pt x="454113" y="416077"/>
                </a:lnTo>
                <a:lnTo>
                  <a:pt x="448132" y="420116"/>
                </a:lnTo>
                <a:lnTo>
                  <a:pt x="444093" y="426097"/>
                </a:lnTo>
                <a:lnTo>
                  <a:pt x="442620" y="433438"/>
                </a:lnTo>
                <a:lnTo>
                  <a:pt x="444093" y="440766"/>
                </a:lnTo>
                <a:lnTo>
                  <a:pt x="448132" y="446760"/>
                </a:lnTo>
                <a:lnTo>
                  <a:pt x="454113" y="450799"/>
                </a:lnTo>
                <a:lnTo>
                  <a:pt x="461454" y="452285"/>
                </a:lnTo>
                <a:lnTo>
                  <a:pt x="468782" y="450799"/>
                </a:lnTo>
                <a:lnTo>
                  <a:pt x="474764" y="446760"/>
                </a:lnTo>
                <a:lnTo>
                  <a:pt x="478802" y="440766"/>
                </a:lnTo>
                <a:lnTo>
                  <a:pt x="480288" y="433438"/>
                </a:lnTo>
                <a:close/>
              </a:path>
              <a:path w="546735" h="735329">
                <a:moveTo>
                  <a:pt x="480288" y="244983"/>
                </a:moveTo>
                <a:lnTo>
                  <a:pt x="478802" y="237655"/>
                </a:lnTo>
                <a:lnTo>
                  <a:pt x="474764" y="231660"/>
                </a:lnTo>
                <a:lnTo>
                  <a:pt x="468782" y="227622"/>
                </a:lnTo>
                <a:lnTo>
                  <a:pt x="461454" y="226136"/>
                </a:lnTo>
                <a:lnTo>
                  <a:pt x="454113" y="227622"/>
                </a:lnTo>
                <a:lnTo>
                  <a:pt x="448132" y="231660"/>
                </a:lnTo>
                <a:lnTo>
                  <a:pt x="444093" y="237655"/>
                </a:lnTo>
                <a:lnTo>
                  <a:pt x="442620" y="244983"/>
                </a:lnTo>
                <a:lnTo>
                  <a:pt x="444093" y="252323"/>
                </a:lnTo>
                <a:lnTo>
                  <a:pt x="448132" y="258305"/>
                </a:lnTo>
                <a:lnTo>
                  <a:pt x="454113" y="262343"/>
                </a:lnTo>
                <a:lnTo>
                  <a:pt x="461454" y="263829"/>
                </a:lnTo>
                <a:lnTo>
                  <a:pt x="468782" y="262343"/>
                </a:lnTo>
                <a:lnTo>
                  <a:pt x="474764" y="258305"/>
                </a:lnTo>
                <a:lnTo>
                  <a:pt x="478802" y="252323"/>
                </a:lnTo>
                <a:lnTo>
                  <a:pt x="480288" y="244983"/>
                </a:lnTo>
                <a:close/>
              </a:path>
              <a:path w="546735" h="735329">
                <a:moveTo>
                  <a:pt x="546201" y="84797"/>
                </a:moveTo>
                <a:lnTo>
                  <a:pt x="538022" y="62763"/>
                </a:lnTo>
                <a:lnTo>
                  <a:pt x="527367" y="53949"/>
                </a:lnTo>
                <a:lnTo>
                  <a:pt x="527367" y="84797"/>
                </a:lnTo>
                <a:lnTo>
                  <a:pt x="527367" y="117398"/>
                </a:lnTo>
                <a:lnTo>
                  <a:pt x="527367" y="650151"/>
                </a:lnTo>
                <a:lnTo>
                  <a:pt x="518642" y="665835"/>
                </a:lnTo>
                <a:lnTo>
                  <a:pt x="454812" y="694791"/>
                </a:lnTo>
                <a:lnTo>
                  <a:pt x="403707" y="705916"/>
                </a:lnTo>
                <a:lnTo>
                  <a:pt x="342468" y="713384"/>
                </a:lnTo>
                <a:lnTo>
                  <a:pt x="273100" y="716114"/>
                </a:lnTo>
                <a:lnTo>
                  <a:pt x="203733" y="713384"/>
                </a:lnTo>
                <a:lnTo>
                  <a:pt x="142494" y="705916"/>
                </a:lnTo>
                <a:lnTo>
                  <a:pt x="91389" y="694791"/>
                </a:lnTo>
                <a:lnTo>
                  <a:pt x="52412" y="681075"/>
                </a:lnTo>
                <a:lnTo>
                  <a:pt x="18834" y="650151"/>
                </a:lnTo>
                <a:lnTo>
                  <a:pt x="18834" y="494309"/>
                </a:lnTo>
                <a:lnTo>
                  <a:pt x="51739" y="512826"/>
                </a:lnTo>
                <a:lnTo>
                  <a:pt x="97015" y="527418"/>
                </a:lnTo>
                <a:lnTo>
                  <a:pt x="151269" y="537959"/>
                </a:lnTo>
                <a:lnTo>
                  <a:pt x="211099" y="544347"/>
                </a:lnTo>
                <a:lnTo>
                  <a:pt x="273100" y="546506"/>
                </a:lnTo>
                <a:lnTo>
                  <a:pt x="335114" y="544347"/>
                </a:lnTo>
                <a:lnTo>
                  <a:pt x="394931" y="537959"/>
                </a:lnTo>
                <a:lnTo>
                  <a:pt x="447916" y="527659"/>
                </a:lnTo>
                <a:lnTo>
                  <a:pt x="449186" y="527418"/>
                </a:lnTo>
                <a:lnTo>
                  <a:pt x="494461" y="512826"/>
                </a:lnTo>
                <a:lnTo>
                  <a:pt x="527367" y="494309"/>
                </a:lnTo>
                <a:lnTo>
                  <a:pt x="527367" y="461708"/>
                </a:lnTo>
                <a:lnTo>
                  <a:pt x="518642" y="477380"/>
                </a:lnTo>
                <a:lnTo>
                  <a:pt x="493788" y="492620"/>
                </a:lnTo>
                <a:lnTo>
                  <a:pt x="454812" y="506336"/>
                </a:lnTo>
                <a:lnTo>
                  <a:pt x="403707" y="517474"/>
                </a:lnTo>
                <a:lnTo>
                  <a:pt x="342468" y="524929"/>
                </a:lnTo>
                <a:lnTo>
                  <a:pt x="273100" y="527659"/>
                </a:lnTo>
                <a:lnTo>
                  <a:pt x="203733" y="524929"/>
                </a:lnTo>
                <a:lnTo>
                  <a:pt x="142494" y="517474"/>
                </a:lnTo>
                <a:lnTo>
                  <a:pt x="91389" y="506336"/>
                </a:lnTo>
                <a:lnTo>
                  <a:pt x="52412" y="492620"/>
                </a:lnTo>
                <a:lnTo>
                  <a:pt x="18834" y="461708"/>
                </a:lnTo>
                <a:lnTo>
                  <a:pt x="18834" y="305854"/>
                </a:lnTo>
                <a:lnTo>
                  <a:pt x="51739" y="324383"/>
                </a:lnTo>
                <a:lnTo>
                  <a:pt x="97015" y="338963"/>
                </a:lnTo>
                <a:lnTo>
                  <a:pt x="151269" y="349504"/>
                </a:lnTo>
                <a:lnTo>
                  <a:pt x="211099" y="355904"/>
                </a:lnTo>
                <a:lnTo>
                  <a:pt x="273100" y="358051"/>
                </a:lnTo>
                <a:lnTo>
                  <a:pt x="335114" y="355904"/>
                </a:lnTo>
                <a:lnTo>
                  <a:pt x="394931" y="349504"/>
                </a:lnTo>
                <a:lnTo>
                  <a:pt x="447916" y="339204"/>
                </a:lnTo>
                <a:lnTo>
                  <a:pt x="449186" y="338963"/>
                </a:lnTo>
                <a:lnTo>
                  <a:pt x="494461" y="324383"/>
                </a:lnTo>
                <a:lnTo>
                  <a:pt x="527367" y="305854"/>
                </a:lnTo>
                <a:lnTo>
                  <a:pt x="527367" y="273253"/>
                </a:lnTo>
                <a:lnTo>
                  <a:pt x="518642" y="288937"/>
                </a:lnTo>
                <a:lnTo>
                  <a:pt x="493788" y="304177"/>
                </a:lnTo>
                <a:lnTo>
                  <a:pt x="454812" y="317893"/>
                </a:lnTo>
                <a:lnTo>
                  <a:pt x="403707" y="329018"/>
                </a:lnTo>
                <a:lnTo>
                  <a:pt x="342468" y="336486"/>
                </a:lnTo>
                <a:lnTo>
                  <a:pt x="273100" y="339204"/>
                </a:lnTo>
                <a:lnTo>
                  <a:pt x="203733" y="336486"/>
                </a:lnTo>
                <a:lnTo>
                  <a:pt x="142494" y="329018"/>
                </a:lnTo>
                <a:lnTo>
                  <a:pt x="91389" y="317893"/>
                </a:lnTo>
                <a:lnTo>
                  <a:pt x="52412" y="304165"/>
                </a:lnTo>
                <a:lnTo>
                  <a:pt x="18834" y="273253"/>
                </a:lnTo>
                <a:lnTo>
                  <a:pt x="18834" y="117398"/>
                </a:lnTo>
                <a:lnTo>
                  <a:pt x="51739" y="135928"/>
                </a:lnTo>
                <a:lnTo>
                  <a:pt x="97015" y="150507"/>
                </a:lnTo>
                <a:lnTo>
                  <a:pt x="151269" y="161048"/>
                </a:lnTo>
                <a:lnTo>
                  <a:pt x="211099" y="167449"/>
                </a:lnTo>
                <a:lnTo>
                  <a:pt x="273100" y="169608"/>
                </a:lnTo>
                <a:lnTo>
                  <a:pt x="335114" y="167449"/>
                </a:lnTo>
                <a:lnTo>
                  <a:pt x="394931" y="161048"/>
                </a:lnTo>
                <a:lnTo>
                  <a:pt x="447916" y="150761"/>
                </a:lnTo>
                <a:lnTo>
                  <a:pt x="494461" y="135928"/>
                </a:lnTo>
                <a:lnTo>
                  <a:pt x="527367" y="117398"/>
                </a:lnTo>
                <a:lnTo>
                  <a:pt x="527367" y="84797"/>
                </a:lnTo>
                <a:lnTo>
                  <a:pt x="518642" y="100482"/>
                </a:lnTo>
                <a:lnTo>
                  <a:pt x="493788" y="115722"/>
                </a:lnTo>
                <a:lnTo>
                  <a:pt x="454812" y="129438"/>
                </a:lnTo>
                <a:lnTo>
                  <a:pt x="403707" y="140563"/>
                </a:lnTo>
                <a:lnTo>
                  <a:pt x="342468" y="148031"/>
                </a:lnTo>
                <a:lnTo>
                  <a:pt x="273100" y="150761"/>
                </a:lnTo>
                <a:lnTo>
                  <a:pt x="203733" y="148031"/>
                </a:lnTo>
                <a:lnTo>
                  <a:pt x="142494" y="140563"/>
                </a:lnTo>
                <a:lnTo>
                  <a:pt x="91389" y="129438"/>
                </a:lnTo>
                <a:lnTo>
                  <a:pt x="57188" y="117398"/>
                </a:lnTo>
                <a:lnTo>
                  <a:pt x="52412" y="115722"/>
                </a:lnTo>
                <a:lnTo>
                  <a:pt x="27559" y="100482"/>
                </a:lnTo>
                <a:lnTo>
                  <a:pt x="18834" y="84797"/>
                </a:lnTo>
                <a:lnTo>
                  <a:pt x="27559" y="69113"/>
                </a:lnTo>
                <a:lnTo>
                  <a:pt x="91389" y="40157"/>
                </a:lnTo>
                <a:lnTo>
                  <a:pt x="142494" y="29032"/>
                </a:lnTo>
                <a:lnTo>
                  <a:pt x="203733" y="21564"/>
                </a:lnTo>
                <a:lnTo>
                  <a:pt x="273100" y="18846"/>
                </a:lnTo>
                <a:lnTo>
                  <a:pt x="342468" y="21564"/>
                </a:lnTo>
                <a:lnTo>
                  <a:pt x="403707" y="29032"/>
                </a:lnTo>
                <a:lnTo>
                  <a:pt x="454812" y="40157"/>
                </a:lnTo>
                <a:lnTo>
                  <a:pt x="493788" y="53873"/>
                </a:lnTo>
                <a:lnTo>
                  <a:pt x="527367" y="84797"/>
                </a:lnTo>
                <a:lnTo>
                  <a:pt x="527367" y="53949"/>
                </a:lnTo>
                <a:lnTo>
                  <a:pt x="515226" y="43903"/>
                </a:lnTo>
                <a:lnTo>
                  <a:pt x="480402" y="28295"/>
                </a:lnTo>
                <a:lnTo>
                  <a:pt x="446316" y="18846"/>
                </a:lnTo>
                <a:lnTo>
                  <a:pt x="436181" y="16027"/>
                </a:lnTo>
                <a:lnTo>
                  <a:pt x="385140" y="7175"/>
                </a:lnTo>
                <a:lnTo>
                  <a:pt x="329920" y="1803"/>
                </a:lnTo>
                <a:lnTo>
                  <a:pt x="273100" y="0"/>
                </a:lnTo>
                <a:lnTo>
                  <a:pt x="216281" y="1803"/>
                </a:lnTo>
                <a:lnTo>
                  <a:pt x="161061" y="7175"/>
                </a:lnTo>
                <a:lnTo>
                  <a:pt x="110032" y="16027"/>
                </a:lnTo>
                <a:lnTo>
                  <a:pt x="65798" y="28295"/>
                </a:lnTo>
                <a:lnTo>
                  <a:pt x="30975" y="43903"/>
                </a:lnTo>
                <a:lnTo>
                  <a:pt x="0" y="84797"/>
                </a:lnTo>
                <a:lnTo>
                  <a:pt x="0" y="650151"/>
                </a:lnTo>
                <a:lnTo>
                  <a:pt x="30975" y="691057"/>
                </a:lnTo>
                <a:lnTo>
                  <a:pt x="65798" y="706653"/>
                </a:lnTo>
                <a:lnTo>
                  <a:pt x="110032" y="718921"/>
                </a:lnTo>
                <a:lnTo>
                  <a:pt x="161061" y="727786"/>
                </a:lnTo>
                <a:lnTo>
                  <a:pt x="216281" y="733145"/>
                </a:lnTo>
                <a:lnTo>
                  <a:pt x="273100" y="734961"/>
                </a:lnTo>
                <a:lnTo>
                  <a:pt x="329920" y="733145"/>
                </a:lnTo>
                <a:lnTo>
                  <a:pt x="385140" y="727786"/>
                </a:lnTo>
                <a:lnTo>
                  <a:pt x="436181" y="718921"/>
                </a:lnTo>
                <a:lnTo>
                  <a:pt x="480402" y="706653"/>
                </a:lnTo>
                <a:lnTo>
                  <a:pt x="515226" y="691057"/>
                </a:lnTo>
                <a:lnTo>
                  <a:pt x="546201" y="650151"/>
                </a:lnTo>
                <a:lnTo>
                  <a:pt x="546201" y="494309"/>
                </a:lnTo>
                <a:lnTo>
                  <a:pt x="546201" y="305854"/>
                </a:lnTo>
                <a:lnTo>
                  <a:pt x="546201" y="117398"/>
                </a:lnTo>
                <a:lnTo>
                  <a:pt x="546201" y="84797"/>
                </a:lnTo>
                <a:close/>
              </a:path>
            </a:pathLst>
          </a:custGeom>
          <a:solidFill>
            <a:srgbClr val="313D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12695" y="1861185"/>
            <a:ext cx="1975485" cy="664845"/>
          </a:xfrm>
          <a:custGeom>
            <a:avLst/>
            <a:gdLst/>
            <a:ahLst/>
            <a:cxnLst/>
            <a:rect l="l" t="t" r="r" b="b"/>
            <a:pathLst>
              <a:path w="1975485" h="664844">
                <a:moveTo>
                  <a:pt x="1899885" y="637531"/>
                </a:moveTo>
                <a:lnTo>
                  <a:pt x="1891030" y="664717"/>
                </a:lnTo>
                <a:lnTo>
                  <a:pt x="1975231" y="652017"/>
                </a:lnTo>
                <a:lnTo>
                  <a:pt x="1964555" y="641476"/>
                </a:lnTo>
                <a:lnTo>
                  <a:pt x="1911984" y="641476"/>
                </a:lnTo>
                <a:lnTo>
                  <a:pt x="1899885" y="637531"/>
                </a:lnTo>
                <a:close/>
              </a:path>
              <a:path w="1975485" h="664844">
                <a:moveTo>
                  <a:pt x="1905794" y="619393"/>
                </a:moveTo>
                <a:lnTo>
                  <a:pt x="1899885" y="637531"/>
                </a:lnTo>
                <a:lnTo>
                  <a:pt x="1911984" y="641476"/>
                </a:lnTo>
                <a:lnTo>
                  <a:pt x="1917827" y="623315"/>
                </a:lnTo>
                <a:lnTo>
                  <a:pt x="1905794" y="619393"/>
                </a:lnTo>
                <a:close/>
              </a:path>
              <a:path w="1975485" h="664844">
                <a:moveTo>
                  <a:pt x="1914652" y="592201"/>
                </a:moveTo>
                <a:lnTo>
                  <a:pt x="1905794" y="619393"/>
                </a:lnTo>
                <a:lnTo>
                  <a:pt x="1917827" y="623315"/>
                </a:lnTo>
                <a:lnTo>
                  <a:pt x="1911984" y="641476"/>
                </a:lnTo>
                <a:lnTo>
                  <a:pt x="1964555" y="641476"/>
                </a:lnTo>
                <a:lnTo>
                  <a:pt x="1914652" y="592201"/>
                </a:lnTo>
                <a:close/>
              </a:path>
              <a:path w="1975485" h="664844">
                <a:moveTo>
                  <a:pt x="5842" y="0"/>
                </a:moveTo>
                <a:lnTo>
                  <a:pt x="0" y="18034"/>
                </a:lnTo>
                <a:lnTo>
                  <a:pt x="1899885" y="637531"/>
                </a:lnTo>
                <a:lnTo>
                  <a:pt x="1905794" y="619393"/>
                </a:lnTo>
                <a:lnTo>
                  <a:pt x="584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2567" y="2783839"/>
            <a:ext cx="1874520" cy="652780"/>
          </a:xfrm>
          <a:custGeom>
            <a:avLst/>
            <a:gdLst/>
            <a:ahLst/>
            <a:cxnLst/>
            <a:rect l="l" t="t" r="r" b="b"/>
            <a:pathLst>
              <a:path w="1874520" h="652779">
                <a:moveTo>
                  <a:pt x="1799339" y="27060"/>
                </a:moveTo>
                <a:lnTo>
                  <a:pt x="0" y="634746"/>
                </a:lnTo>
                <a:lnTo>
                  <a:pt x="6095" y="652780"/>
                </a:lnTo>
                <a:lnTo>
                  <a:pt x="1805435" y="45094"/>
                </a:lnTo>
                <a:lnTo>
                  <a:pt x="1799339" y="27060"/>
                </a:lnTo>
                <a:close/>
              </a:path>
              <a:path w="1874520" h="652779">
                <a:moveTo>
                  <a:pt x="1863311" y="22987"/>
                </a:moveTo>
                <a:lnTo>
                  <a:pt x="1811401" y="22987"/>
                </a:lnTo>
                <a:lnTo>
                  <a:pt x="1817496" y="41021"/>
                </a:lnTo>
                <a:lnTo>
                  <a:pt x="1805435" y="45094"/>
                </a:lnTo>
                <a:lnTo>
                  <a:pt x="1814576" y="72136"/>
                </a:lnTo>
                <a:lnTo>
                  <a:pt x="1863311" y="22987"/>
                </a:lnTo>
                <a:close/>
              </a:path>
              <a:path w="1874520" h="652779">
                <a:moveTo>
                  <a:pt x="1811401" y="22987"/>
                </a:moveTo>
                <a:lnTo>
                  <a:pt x="1799339" y="27060"/>
                </a:lnTo>
                <a:lnTo>
                  <a:pt x="1805435" y="45094"/>
                </a:lnTo>
                <a:lnTo>
                  <a:pt x="1817496" y="41021"/>
                </a:lnTo>
                <a:lnTo>
                  <a:pt x="1811401" y="22987"/>
                </a:lnTo>
                <a:close/>
              </a:path>
              <a:path w="1874520" h="652779">
                <a:moveTo>
                  <a:pt x="1790192" y="0"/>
                </a:moveTo>
                <a:lnTo>
                  <a:pt x="1799339" y="27060"/>
                </a:lnTo>
                <a:lnTo>
                  <a:pt x="1811401" y="22987"/>
                </a:lnTo>
                <a:lnTo>
                  <a:pt x="1863311" y="22987"/>
                </a:lnTo>
                <a:lnTo>
                  <a:pt x="1874520" y="11684"/>
                </a:lnTo>
                <a:lnTo>
                  <a:pt x="17901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542028" y="2175636"/>
            <a:ext cx="2176145" cy="755015"/>
            <a:chOff x="4542028" y="2175636"/>
            <a:chExt cx="2176145" cy="755015"/>
          </a:xfrm>
        </p:grpSpPr>
        <p:sp>
          <p:nvSpPr>
            <p:cNvPr id="13" name="object 13"/>
            <p:cNvSpPr/>
            <p:nvPr/>
          </p:nvSpPr>
          <p:spPr>
            <a:xfrm>
              <a:off x="5302631" y="2583687"/>
              <a:ext cx="1416050" cy="76200"/>
            </a:xfrm>
            <a:custGeom>
              <a:avLst/>
              <a:gdLst/>
              <a:ahLst/>
              <a:cxnLst/>
              <a:rect l="l" t="t" r="r" b="b"/>
              <a:pathLst>
                <a:path w="1416050" h="76200">
                  <a:moveTo>
                    <a:pt x="1339723" y="0"/>
                  </a:moveTo>
                  <a:lnTo>
                    <a:pt x="1338961" y="76200"/>
                  </a:lnTo>
                  <a:lnTo>
                    <a:pt x="1397110" y="47751"/>
                  </a:lnTo>
                  <a:lnTo>
                    <a:pt x="1351915" y="47751"/>
                  </a:lnTo>
                  <a:lnTo>
                    <a:pt x="1352035" y="38735"/>
                  </a:lnTo>
                  <a:lnTo>
                    <a:pt x="1352077" y="35560"/>
                  </a:lnTo>
                  <a:lnTo>
                    <a:pt x="1352169" y="28701"/>
                  </a:lnTo>
                  <a:lnTo>
                    <a:pt x="1395903" y="28701"/>
                  </a:lnTo>
                  <a:lnTo>
                    <a:pt x="1339723" y="0"/>
                  </a:lnTo>
                  <a:close/>
                </a:path>
                <a:path w="1416050" h="76200">
                  <a:moveTo>
                    <a:pt x="127" y="16510"/>
                  </a:moveTo>
                  <a:lnTo>
                    <a:pt x="45" y="28701"/>
                  </a:lnTo>
                  <a:lnTo>
                    <a:pt x="0" y="35560"/>
                  </a:lnTo>
                  <a:lnTo>
                    <a:pt x="1351914" y="47751"/>
                  </a:lnTo>
                  <a:lnTo>
                    <a:pt x="1339245" y="47751"/>
                  </a:lnTo>
                  <a:lnTo>
                    <a:pt x="1339367" y="35560"/>
                  </a:lnTo>
                  <a:lnTo>
                    <a:pt x="1339435" y="28701"/>
                  </a:lnTo>
                  <a:lnTo>
                    <a:pt x="1352169" y="28701"/>
                  </a:lnTo>
                  <a:lnTo>
                    <a:pt x="127" y="16510"/>
                  </a:lnTo>
                  <a:close/>
                </a:path>
                <a:path w="1416050" h="76200">
                  <a:moveTo>
                    <a:pt x="1395903" y="28701"/>
                  </a:moveTo>
                  <a:lnTo>
                    <a:pt x="1352169" y="28701"/>
                  </a:lnTo>
                  <a:lnTo>
                    <a:pt x="1352077" y="35560"/>
                  </a:lnTo>
                  <a:lnTo>
                    <a:pt x="1352035" y="38735"/>
                  </a:lnTo>
                  <a:lnTo>
                    <a:pt x="1351915" y="47751"/>
                  </a:lnTo>
                  <a:lnTo>
                    <a:pt x="1397110" y="47751"/>
                  </a:lnTo>
                  <a:lnTo>
                    <a:pt x="1415542" y="38735"/>
                  </a:lnTo>
                  <a:lnTo>
                    <a:pt x="1395903" y="2870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Input, system, operation, process, insert icon - Download on Iconfinder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2028" y="2175636"/>
              <a:ext cx="754849" cy="75476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401439" y="1770634"/>
            <a:ext cx="1083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synop2bufr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0325" y="812419"/>
            <a:ext cx="2056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File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containing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SYNOP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messages</a:t>
            </a:r>
            <a:r>
              <a:rPr sz="18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(FM-</a:t>
            </a:r>
            <a:r>
              <a:rPr sz="1800" spc="-25" dirty="0">
                <a:solidFill>
                  <a:srgbClr val="333E50"/>
                </a:solidFill>
                <a:latin typeface="Calibri"/>
                <a:cs typeface="Calibri"/>
              </a:rPr>
              <a:t>12)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66748" y="3852164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Station</a:t>
            </a:r>
            <a:r>
              <a:rPr sz="1800" spc="-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list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95409" y="1770634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bufr2geojson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15504" y="2570860"/>
            <a:ext cx="1416050" cy="76200"/>
          </a:xfrm>
          <a:custGeom>
            <a:avLst/>
            <a:gdLst/>
            <a:ahLst/>
            <a:cxnLst/>
            <a:rect l="l" t="t" r="r" b="b"/>
            <a:pathLst>
              <a:path w="1416050" h="76200">
                <a:moveTo>
                  <a:pt x="1339723" y="0"/>
                </a:moveTo>
                <a:lnTo>
                  <a:pt x="1338961" y="76200"/>
                </a:lnTo>
                <a:lnTo>
                  <a:pt x="1397308" y="47751"/>
                </a:lnTo>
                <a:lnTo>
                  <a:pt x="1351915" y="47751"/>
                </a:lnTo>
                <a:lnTo>
                  <a:pt x="1352033" y="38862"/>
                </a:lnTo>
                <a:lnTo>
                  <a:pt x="1352077" y="35560"/>
                </a:lnTo>
                <a:lnTo>
                  <a:pt x="1352169" y="28701"/>
                </a:lnTo>
                <a:lnTo>
                  <a:pt x="1395720" y="28701"/>
                </a:lnTo>
                <a:lnTo>
                  <a:pt x="1339723" y="0"/>
                </a:lnTo>
                <a:close/>
              </a:path>
              <a:path w="1416050" h="76200">
                <a:moveTo>
                  <a:pt x="126" y="16510"/>
                </a:moveTo>
                <a:lnTo>
                  <a:pt x="0" y="35560"/>
                </a:lnTo>
                <a:lnTo>
                  <a:pt x="1351914" y="47751"/>
                </a:lnTo>
                <a:lnTo>
                  <a:pt x="1339245" y="47751"/>
                </a:lnTo>
                <a:lnTo>
                  <a:pt x="1339367" y="35560"/>
                </a:lnTo>
                <a:lnTo>
                  <a:pt x="1339435" y="28701"/>
                </a:lnTo>
                <a:lnTo>
                  <a:pt x="1352169" y="28701"/>
                </a:lnTo>
                <a:lnTo>
                  <a:pt x="126" y="16510"/>
                </a:lnTo>
                <a:close/>
              </a:path>
              <a:path w="1416050" h="76200">
                <a:moveTo>
                  <a:pt x="1395720" y="28701"/>
                </a:moveTo>
                <a:lnTo>
                  <a:pt x="1352169" y="28701"/>
                </a:lnTo>
                <a:lnTo>
                  <a:pt x="1352077" y="35560"/>
                </a:lnTo>
                <a:lnTo>
                  <a:pt x="1352033" y="38862"/>
                </a:lnTo>
                <a:lnTo>
                  <a:pt x="1351915" y="47751"/>
                </a:lnTo>
                <a:lnTo>
                  <a:pt x="1397308" y="47751"/>
                </a:lnTo>
                <a:lnTo>
                  <a:pt x="1415542" y="38862"/>
                </a:lnTo>
                <a:lnTo>
                  <a:pt x="1395720" y="2870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26981" y="4181094"/>
            <a:ext cx="9963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333E50"/>
                </a:solidFill>
                <a:latin typeface="Calibri"/>
                <a:cs typeface="Calibri"/>
              </a:rPr>
              <a:t>GeoJSON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07168" y="3166745"/>
            <a:ext cx="76200" cy="904240"/>
          </a:xfrm>
          <a:custGeom>
            <a:avLst/>
            <a:gdLst/>
            <a:ahLst/>
            <a:cxnLst/>
            <a:rect l="l" t="t" r="r" b="b"/>
            <a:pathLst>
              <a:path w="76200" h="904239">
                <a:moveTo>
                  <a:pt x="28575" y="827785"/>
                </a:moveTo>
                <a:lnTo>
                  <a:pt x="0" y="827785"/>
                </a:lnTo>
                <a:lnTo>
                  <a:pt x="38100" y="903985"/>
                </a:lnTo>
                <a:lnTo>
                  <a:pt x="69850" y="840485"/>
                </a:lnTo>
                <a:lnTo>
                  <a:pt x="28575" y="840485"/>
                </a:lnTo>
                <a:lnTo>
                  <a:pt x="28575" y="827785"/>
                </a:lnTo>
                <a:close/>
              </a:path>
              <a:path w="76200" h="904239">
                <a:moveTo>
                  <a:pt x="47625" y="0"/>
                </a:moveTo>
                <a:lnTo>
                  <a:pt x="28575" y="0"/>
                </a:lnTo>
                <a:lnTo>
                  <a:pt x="28575" y="840485"/>
                </a:lnTo>
                <a:lnTo>
                  <a:pt x="47625" y="840485"/>
                </a:lnTo>
                <a:lnTo>
                  <a:pt x="47625" y="0"/>
                </a:lnTo>
                <a:close/>
              </a:path>
              <a:path w="76200" h="904239">
                <a:moveTo>
                  <a:pt x="76200" y="827785"/>
                </a:moveTo>
                <a:lnTo>
                  <a:pt x="47625" y="827785"/>
                </a:lnTo>
                <a:lnTo>
                  <a:pt x="47625" y="840485"/>
                </a:lnTo>
                <a:lnTo>
                  <a:pt x="69850" y="840485"/>
                </a:lnTo>
                <a:lnTo>
                  <a:pt x="76200" y="82778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8802" y="3166745"/>
            <a:ext cx="76200" cy="616585"/>
          </a:xfrm>
          <a:custGeom>
            <a:avLst/>
            <a:gdLst/>
            <a:ahLst/>
            <a:cxnLst/>
            <a:rect l="l" t="t" r="r" b="b"/>
            <a:pathLst>
              <a:path w="76200" h="616585">
                <a:moveTo>
                  <a:pt x="28575" y="540130"/>
                </a:moveTo>
                <a:lnTo>
                  <a:pt x="0" y="540130"/>
                </a:lnTo>
                <a:lnTo>
                  <a:pt x="38100" y="616330"/>
                </a:lnTo>
                <a:lnTo>
                  <a:pt x="69850" y="552830"/>
                </a:lnTo>
                <a:lnTo>
                  <a:pt x="28575" y="552830"/>
                </a:lnTo>
                <a:lnTo>
                  <a:pt x="28575" y="540130"/>
                </a:lnTo>
                <a:close/>
              </a:path>
              <a:path w="76200" h="616585">
                <a:moveTo>
                  <a:pt x="47625" y="0"/>
                </a:moveTo>
                <a:lnTo>
                  <a:pt x="28575" y="0"/>
                </a:lnTo>
                <a:lnTo>
                  <a:pt x="28575" y="552830"/>
                </a:lnTo>
                <a:lnTo>
                  <a:pt x="47625" y="552830"/>
                </a:lnTo>
                <a:lnTo>
                  <a:pt x="47625" y="0"/>
                </a:lnTo>
                <a:close/>
              </a:path>
              <a:path w="76200" h="616585">
                <a:moveTo>
                  <a:pt x="76200" y="540130"/>
                </a:moveTo>
                <a:lnTo>
                  <a:pt x="47625" y="540130"/>
                </a:lnTo>
                <a:lnTo>
                  <a:pt x="47625" y="552830"/>
                </a:lnTo>
                <a:lnTo>
                  <a:pt x="69850" y="552830"/>
                </a:lnTo>
                <a:lnTo>
                  <a:pt x="76200" y="54013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 descr="A picture containing text, balloon, transport, aircraft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5371" y="3884409"/>
            <a:ext cx="708545" cy="708545"/>
          </a:xfrm>
          <a:prstGeom prst="rect">
            <a:avLst/>
          </a:prstGeom>
        </p:spPr>
      </p:pic>
      <p:pic>
        <p:nvPicPr>
          <p:cNvPr id="24" name="object 24" descr="Input, system, operation, process, insert icon - Download on Iconfind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7825" y="2184907"/>
            <a:ext cx="754849" cy="754761"/>
          </a:xfrm>
          <a:prstGeom prst="rect">
            <a:avLst/>
          </a:prstGeom>
        </p:spPr>
      </p:pic>
      <p:pic>
        <p:nvPicPr>
          <p:cNvPr id="25" name="object 25" descr="Ascii - Free files and folders icon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1175" y="1545958"/>
            <a:ext cx="486041" cy="48604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9894" y="2141042"/>
            <a:ext cx="312788" cy="43743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7973" y="2141042"/>
            <a:ext cx="312788" cy="43743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6231" y="2639517"/>
            <a:ext cx="312788" cy="4374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4310" y="2639517"/>
            <a:ext cx="312788" cy="43743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554469" y="1447546"/>
            <a:ext cx="1209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One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or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more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BUFR</a:t>
            </a:r>
            <a:r>
              <a:rPr sz="1800" spc="-1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8559" y="4310251"/>
            <a:ext cx="3179445" cy="2548255"/>
            <a:chOff x="258559" y="4310251"/>
            <a:chExt cx="3179445" cy="2548255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084" y="4310251"/>
              <a:ext cx="3169793" cy="25477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68084" y="5496242"/>
              <a:ext cx="2091689" cy="275590"/>
            </a:xfrm>
            <a:custGeom>
              <a:avLst/>
              <a:gdLst/>
              <a:ahLst/>
              <a:cxnLst/>
              <a:rect l="l" t="t" r="r" b="b"/>
              <a:pathLst>
                <a:path w="2091689" h="275589">
                  <a:moveTo>
                    <a:pt x="0" y="275297"/>
                  </a:moveTo>
                  <a:lnTo>
                    <a:pt x="2091689" y="275297"/>
                  </a:lnTo>
                  <a:lnTo>
                    <a:pt x="2091689" y="0"/>
                  </a:lnTo>
                  <a:lnTo>
                    <a:pt x="0" y="0"/>
                  </a:lnTo>
                  <a:lnTo>
                    <a:pt x="0" y="275297"/>
                  </a:lnTo>
                  <a:close/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9"/>
            <a:ext cx="12205335" cy="707390"/>
            <a:chOff x="-6350" y="-6349"/>
            <a:chExt cx="12205335" cy="7073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90"/>
                  </a:lnTo>
                  <a:lnTo>
                    <a:pt x="12192056" y="0"/>
                  </a:lnTo>
                  <a:lnTo>
                    <a:pt x="0" y="0"/>
                  </a:lnTo>
                  <a:lnTo>
                    <a:pt x="0" y="694689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89"/>
                  </a:lnTo>
                  <a:lnTo>
                    <a:pt x="12192056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37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SYNOP-</a:t>
            </a:r>
            <a:r>
              <a:rPr spc="-25" dirty="0"/>
              <a:t>to-</a:t>
            </a:r>
            <a:r>
              <a:rPr spc="-20" dirty="0"/>
              <a:t>BUFR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97622" y="1667002"/>
            <a:ext cx="3704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Station</a:t>
            </a:r>
            <a:r>
              <a:rPr sz="3000" spc="-8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list</a:t>
            </a:r>
            <a:r>
              <a:rPr sz="3000" spc="-70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CSV</a:t>
            </a:r>
            <a:r>
              <a:rPr sz="3000" spc="-7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54E83"/>
                </a:solidFill>
                <a:latin typeface="Verdana"/>
                <a:cs typeface="Verdana"/>
              </a:rPr>
              <a:t>file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728" y="1688719"/>
            <a:ext cx="4258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SYNOP</a:t>
            </a:r>
            <a:r>
              <a:rPr sz="3000" spc="-7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FM-12</a:t>
            </a:r>
            <a:r>
              <a:rPr sz="3000" spc="-90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text</a:t>
            </a:r>
            <a:r>
              <a:rPr sz="3000" spc="-80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54E83"/>
                </a:solidFill>
                <a:latin typeface="Verdana"/>
                <a:cs typeface="Verdana"/>
              </a:rPr>
              <a:t>file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4015" y="5398109"/>
            <a:ext cx="2297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54E83"/>
                </a:solidFill>
                <a:latin typeface="Verdana"/>
                <a:cs typeface="Verdana"/>
              </a:rPr>
              <a:t>BUFR</a:t>
            </a:r>
            <a:r>
              <a:rPr sz="3000" spc="-100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54E83"/>
                </a:solidFill>
                <a:latin typeface="Verdana"/>
                <a:cs typeface="Verdana"/>
              </a:rPr>
              <a:t>file(s)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75428" y="1954022"/>
            <a:ext cx="2046605" cy="1088390"/>
            <a:chOff x="5075428" y="1954022"/>
            <a:chExt cx="2046605" cy="1088390"/>
          </a:xfrm>
        </p:grpSpPr>
        <p:sp>
          <p:nvSpPr>
            <p:cNvPr id="10" name="object 10"/>
            <p:cNvSpPr/>
            <p:nvPr/>
          </p:nvSpPr>
          <p:spPr>
            <a:xfrm>
              <a:off x="5094478" y="1973072"/>
              <a:ext cx="2008505" cy="979169"/>
            </a:xfrm>
            <a:custGeom>
              <a:avLst/>
              <a:gdLst/>
              <a:ahLst/>
              <a:cxnLst/>
              <a:rect l="l" t="t" r="r" b="b"/>
              <a:pathLst>
                <a:path w="2008504" h="979169">
                  <a:moveTo>
                    <a:pt x="0" y="0"/>
                  </a:moveTo>
                  <a:lnTo>
                    <a:pt x="46736" y="1160"/>
                  </a:lnTo>
                  <a:lnTo>
                    <a:pt x="92955" y="4607"/>
                  </a:lnTo>
                  <a:lnTo>
                    <a:pt x="138607" y="10293"/>
                  </a:lnTo>
                  <a:lnTo>
                    <a:pt x="183642" y="18168"/>
                  </a:lnTo>
                  <a:lnTo>
                    <a:pt x="228010" y="28184"/>
                  </a:lnTo>
                  <a:lnTo>
                    <a:pt x="271661" y="40292"/>
                  </a:lnTo>
                  <a:lnTo>
                    <a:pt x="314546" y="54442"/>
                  </a:lnTo>
                  <a:lnTo>
                    <a:pt x="356614" y="70586"/>
                  </a:lnTo>
                  <a:lnTo>
                    <a:pt x="397816" y="88674"/>
                  </a:lnTo>
                  <a:lnTo>
                    <a:pt x="438101" y="108659"/>
                  </a:lnTo>
                  <a:lnTo>
                    <a:pt x="477421" y="130490"/>
                  </a:lnTo>
                  <a:lnTo>
                    <a:pt x="515724" y="154119"/>
                  </a:lnTo>
                  <a:lnTo>
                    <a:pt x="552962" y="179496"/>
                  </a:lnTo>
                  <a:lnTo>
                    <a:pt x="589083" y="206574"/>
                  </a:lnTo>
                  <a:lnTo>
                    <a:pt x="624039" y="235303"/>
                  </a:lnTo>
                  <a:lnTo>
                    <a:pt x="657780" y="265633"/>
                  </a:lnTo>
                  <a:lnTo>
                    <a:pt x="690255" y="297517"/>
                  </a:lnTo>
                  <a:lnTo>
                    <a:pt x="721415" y="330904"/>
                  </a:lnTo>
                  <a:lnTo>
                    <a:pt x="751210" y="365747"/>
                  </a:lnTo>
                  <a:lnTo>
                    <a:pt x="779590" y="401996"/>
                  </a:lnTo>
                  <a:lnTo>
                    <a:pt x="806506" y="439602"/>
                  </a:lnTo>
                  <a:lnTo>
                    <a:pt x="831906" y="478517"/>
                  </a:lnTo>
                  <a:lnTo>
                    <a:pt x="855742" y="518690"/>
                  </a:lnTo>
                  <a:lnTo>
                    <a:pt x="877963" y="560074"/>
                  </a:lnTo>
                  <a:lnTo>
                    <a:pt x="898520" y="602620"/>
                  </a:lnTo>
                  <a:lnTo>
                    <a:pt x="917363" y="646277"/>
                  </a:lnTo>
                  <a:lnTo>
                    <a:pt x="934442" y="690998"/>
                  </a:lnTo>
                  <a:lnTo>
                    <a:pt x="949707" y="736734"/>
                  </a:lnTo>
                  <a:lnTo>
                    <a:pt x="963108" y="783435"/>
                  </a:lnTo>
                  <a:lnTo>
                    <a:pt x="974595" y="831053"/>
                  </a:lnTo>
                  <a:lnTo>
                    <a:pt x="984119" y="879538"/>
                  </a:lnTo>
                  <a:lnTo>
                    <a:pt x="991629" y="928842"/>
                  </a:lnTo>
                  <a:lnTo>
                    <a:pt x="997076" y="978915"/>
                  </a:lnTo>
                </a:path>
                <a:path w="2008504" h="979169">
                  <a:moveTo>
                    <a:pt x="2008124" y="0"/>
                  </a:moveTo>
                  <a:lnTo>
                    <a:pt x="1961387" y="1160"/>
                  </a:lnTo>
                  <a:lnTo>
                    <a:pt x="1915168" y="4607"/>
                  </a:lnTo>
                  <a:lnTo>
                    <a:pt x="1869516" y="10293"/>
                  </a:lnTo>
                  <a:lnTo>
                    <a:pt x="1824481" y="18168"/>
                  </a:lnTo>
                  <a:lnTo>
                    <a:pt x="1780113" y="28184"/>
                  </a:lnTo>
                  <a:lnTo>
                    <a:pt x="1736462" y="40292"/>
                  </a:lnTo>
                  <a:lnTo>
                    <a:pt x="1693577" y="54442"/>
                  </a:lnTo>
                  <a:lnTo>
                    <a:pt x="1651509" y="70586"/>
                  </a:lnTo>
                  <a:lnTo>
                    <a:pt x="1610307" y="88674"/>
                  </a:lnTo>
                  <a:lnTo>
                    <a:pt x="1570022" y="108659"/>
                  </a:lnTo>
                  <a:lnTo>
                    <a:pt x="1530702" y="130490"/>
                  </a:lnTo>
                  <a:lnTo>
                    <a:pt x="1492399" y="154119"/>
                  </a:lnTo>
                  <a:lnTo>
                    <a:pt x="1455161" y="179496"/>
                  </a:lnTo>
                  <a:lnTo>
                    <a:pt x="1419040" y="206574"/>
                  </a:lnTo>
                  <a:lnTo>
                    <a:pt x="1384084" y="235303"/>
                  </a:lnTo>
                  <a:lnTo>
                    <a:pt x="1350343" y="265633"/>
                  </a:lnTo>
                  <a:lnTo>
                    <a:pt x="1317868" y="297517"/>
                  </a:lnTo>
                  <a:lnTo>
                    <a:pt x="1286708" y="330904"/>
                  </a:lnTo>
                  <a:lnTo>
                    <a:pt x="1256913" y="365747"/>
                  </a:lnTo>
                  <a:lnTo>
                    <a:pt x="1228533" y="401996"/>
                  </a:lnTo>
                  <a:lnTo>
                    <a:pt x="1201617" y="439602"/>
                  </a:lnTo>
                  <a:lnTo>
                    <a:pt x="1176217" y="478517"/>
                  </a:lnTo>
                  <a:lnTo>
                    <a:pt x="1152381" y="518690"/>
                  </a:lnTo>
                  <a:lnTo>
                    <a:pt x="1130160" y="560074"/>
                  </a:lnTo>
                  <a:lnTo>
                    <a:pt x="1109603" y="602620"/>
                  </a:lnTo>
                  <a:lnTo>
                    <a:pt x="1090760" y="646277"/>
                  </a:lnTo>
                  <a:lnTo>
                    <a:pt x="1073681" y="690998"/>
                  </a:lnTo>
                  <a:lnTo>
                    <a:pt x="1058416" y="736734"/>
                  </a:lnTo>
                  <a:lnTo>
                    <a:pt x="1045015" y="783435"/>
                  </a:lnTo>
                  <a:lnTo>
                    <a:pt x="1033528" y="831053"/>
                  </a:lnTo>
                  <a:lnTo>
                    <a:pt x="1024004" y="879538"/>
                  </a:lnTo>
                  <a:lnTo>
                    <a:pt x="1016494" y="928842"/>
                  </a:lnTo>
                  <a:lnTo>
                    <a:pt x="1011047" y="978915"/>
                  </a:lnTo>
                </a:path>
              </a:pathLst>
            </a:custGeom>
            <a:ln w="38100">
              <a:solidFill>
                <a:srgbClr val="034D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2500" y="2872105"/>
              <a:ext cx="133350" cy="16992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5735065" y="4330827"/>
            <a:ext cx="133350" cy="984885"/>
          </a:xfrm>
          <a:custGeom>
            <a:avLst/>
            <a:gdLst/>
            <a:ahLst/>
            <a:cxnLst/>
            <a:rect l="l" t="t" r="r" b="b"/>
            <a:pathLst>
              <a:path w="133350" h="984885">
                <a:moveTo>
                  <a:pt x="44264" y="851534"/>
                </a:moveTo>
                <a:lnTo>
                  <a:pt x="0" y="851534"/>
                </a:lnTo>
                <a:lnTo>
                  <a:pt x="66168" y="984885"/>
                </a:lnTo>
                <a:lnTo>
                  <a:pt x="122101" y="873760"/>
                </a:lnTo>
                <a:lnTo>
                  <a:pt x="44196" y="873760"/>
                </a:lnTo>
                <a:lnTo>
                  <a:pt x="44264" y="851534"/>
                </a:lnTo>
                <a:close/>
              </a:path>
              <a:path w="133350" h="984885">
                <a:moveTo>
                  <a:pt x="46864" y="0"/>
                </a:moveTo>
                <a:lnTo>
                  <a:pt x="44264" y="851534"/>
                </a:lnTo>
                <a:lnTo>
                  <a:pt x="44196" y="873760"/>
                </a:lnTo>
                <a:lnTo>
                  <a:pt x="88647" y="873760"/>
                </a:lnTo>
                <a:lnTo>
                  <a:pt x="91314" y="127"/>
                </a:lnTo>
                <a:lnTo>
                  <a:pt x="46864" y="0"/>
                </a:lnTo>
                <a:close/>
              </a:path>
              <a:path w="133350" h="984885">
                <a:moveTo>
                  <a:pt x="88714" y="851534"/>
                </a:moveTo>
                <a:lnTo>
                  <a:pt x="88647" y="873760"/>
                </a:lnTo>
                <a:lnTo>
                  <a:pt x="122101" y="873760"/>
                </a:lnTo>
                <a:lnTo>
                  <a:pt x="133224" y="851662"/>
                </a:lnTo>
                <a:lnTo>
                  <a:pt x="88714" y="851534"/>
                </a:lnTo>
                <a:close/>
              </a:path>
            </a:pathLst>
          </a:custGeom>
          <a:solidFill>
            <a:srgbClr val="034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73094" y="3126473"/>
            <a:ext cx="4515485" cy="1244600"/>
          </a:xfrm>
          <a:prstGeom prst="rect">
            <a:avLst/>
          </a:prstGeom>
          <a:solidFill>
            <a:srgbClr val="034D9E"/>
          </a:solidFill>
          <a:ln w="31750">
            <a:solidFill>
              <a:srgbClr val="001F5F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139190">
              <a:lnSpc>
                <a:spcPct val="100000"/>
              </a:lnSpc>
              <a:spcBef>
                <a:spcPts val="175"/>
              </a:spcBef>
            </a:pPr>
            <a:r>
              <a:rPr sz="3200" spc="-10" dirty="0">
                <a:solidFill>
                  <a:srgbClr val="FFFFFF"/>
                </a:solidFill>
                <a:latin typeface="Consolas"/>
                <a:cs typeface="Consolas"/>
              </a:rPr>
              <a:t>synop2bufr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930519" y="3816426"/>
            <a:ext cx="2087880" cy="398145"/>
          </a:xfrm>
          <a:prstGeom prst="rect">
            <a:avLst/>
          </a:prstGeom>
          <a:solidFill>
            <a:srgbClr val="8496AF"/>
          </a:solidFill>
          <a:ln w="31750">
            <a:solidFill>
              <a:srgbClr val="001F5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254"/>
              </a:spcBef>
            </a:pPr>
            <a:r>
              <a:rPr sz="2000" spc="-10" dirty="0">
                <a:solidFill>
                  <a:srgbClr val="FFFFFF"/>
                </a:solidFill>
                <a:latin typeface="Consolas"/>
                <a:cs typeface="Consolas"/>
              </a:rPr>
              <a:t>pymetdecoder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3800" y="4433696"/>
            <a:ext cx="5425440" cy="82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pymetdecoder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https://github.com/antarctica/pymetdecoder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3292E"/>
                </a:solidFill>
                <a:latin typeface="Calibri"/>
                <a:cs typeface="Calibri"/>
              </a:rPr>
              <a:t>UK</a:t>
            </a:r>
            <a:r>
              <a:rPr sz="1600" spc="-30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3292E"/>
                </a:solidFill>
                <a:latin typeface="Calibri"/>
                <a:cs typeface="Calibri"/>
              </a:rPr>
              <a:t>Research </a:t>
            </a:r>
            <a:r>
              <a:rPr sz="1600" dirty="0">
                <a:solidFill>
                  <a:srgbClr val="23292E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3292E"/>
                </a:solidFill>
                <a:latin typeface="Calibri"/>
                <a:cs typeface="Calibri"/>
              </a:rPr>
              <a:t>Innovation</a:t>
            </a:r>
            <a:r>
              <a:rPr sz="1600" spc="-35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3292E"/>
                </a:solidFill>
                <a:latin typeface="Calibri"/>
                <a:cs typeface="Calibri"/>
              </a:rPr>
              <a:t>(UKRI),</a:t>
            </a:r>
            <a:r>
              <a:rPr sz="1600" spc="-10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3292E"/>
                </a:solidFill>
                <a:latin typeface="Calibri"/>
                <a:cs typeface="Calibri"/>
              </a:rPr>
              <a:t>2021,</a:t>
            </a:r>
            <a:r>
              <a:rPr sz="1600" spc="5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3292E"/>
                </a:solidFill>
                <a:latin typeface="Calibri"/>
                <a:cs typeface="Calibri"/>
              </a:rPr>
              <a:t>British</a:t>
            </a:r>
            <a:r>
              <a:rPr sz="1600" spc="-35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3292E"/>
                </a:solidFill>
                <a:latin typeface="Calibri"/>
                <a:cs typeface="Calibri"/>
              </a:rPr>
              <a:t>Antarctic</a:t>
            </a:r>
            <a:r>
              <a:rPr sz="1600" spc="-35" dirty="0">
                <a:solidFill>
                  <a:srgbClr val="23292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3292E"/>
                </a:solidFill>
                <a:latin typeface="Calibri"/>
                <a:cs typeface="Calibri"/>
              </a:rPr>
              <a:t>Survey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8933" y="3816426"/>
            <a:ext cx="1790700" cy="398145"/>
          </a:xfrm>
          <a:prstGeom prst="rect">
            <a:avLst/>
          </a:prstGeom>
          <a:solidFill>
            <a:srgbClr val="8496AF"/>
          </a:solidFill>
          <a:ln w="31750">
            <a:solidFill>
              <a:srgbClr val="001F5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254"/>
              </a:spcBef>
            </a:pPr>
            <a:r>
              <a:rPr sz="2000" spc="-10" dirty="0">
                <a:solidFill>
                  <a:srgbClr val="FFFFFF"/>
                </a:solidFill>
                <a:latin typeface="Consolas"/>
                <a:cs typeface="Consolas"/>
              </a:rPr>
              <a:t>csv2bufr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15325" y="3126486"/>
            <a:ext cx="3362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synop2bufr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https://github.com/wmo-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im/synop2bufr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9707" y="4550409"/>
            <a:ext cx="312928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csv2bufr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https://github.com/wmo-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im/csv2bufr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9"/>
            <a:ext cx="12205335" cy="707390"/>
            <a:chOff x="-6350" y="-6349"/>
            <a:chExt cx="12205335" cy="7073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90"/>
                  </a:lnTo>
                  <a:lnTo>
                    <a:pt x="12192056" y="0"/>
                  </a:lnTo>
                  <a:lnTo>
                    <a:pt x="0" y="0"/>
                  </a:lnTo>
                  <a:lnTo>
                    <a:pt x="0" y="694689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635" cy="694690"/>
            </a:xfrm>
            <a:custGeom>
              <a:avLst/>
              <a:gdLst/>
              <a:ahLst/>
              <a:cxnLst/>
              <a:rect l="l" t="t" r="r" b="b"/>
              <a:pathLst>
                <a:path w="12192635" h="694690">
                  <a:moveTo>
                    <a:pt x="0" y="694689"/>
                  </a:moveTo>
                  <a:lnTo>
                    <a:pt x="12192000" y="694689"/>
                  </a:lnTo>
                  <a:lnTo>
                    <a:pt x="12192056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37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SYNOP-</a:t>
            </a:r>
            <a:r>
              <a:rPr spc="-25" dirty="0"/>
              <a:t>to-</a:t>
            </a:r>
            <a:r>
              <a:rPr spc="-20" dirty="0"/>
              <a:t>BUFR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86485" y="1721739"/>
            <a:ext cx="5156835" cy="2569845"/>
            <a:chOff x="686485" y="1721739"/>
            <a:chExt cx="5156835" cy="25698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328" y="1892089"/>
              <a:ext cx="5113512" cy="23993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2835" y="2131568"/>
              <a:ext cx="365125" cy="292735"/>
            </a:xfrm>
            <a:custGeom>
              <a:avLst/>
              <a:gdLst/>
              <a:ahLst/>
              <a:cxnLst/>
              <a:rect l="l" t="t" r="r" b="b"/>
              <a:pathLst>
                <a:path w="365125" h="292735">
                  <a:moveTo>
                    <a:pt x="182270" y="0"/>
                  </a:moveTo>
                  <a:lnTo>
                    <a:pt x="133817" y="5228"/>
                  </a:lnTo>
                  <a:lnTo>
                    <a:pt x="90277" y="19981"/>
                  </a:lnTo>
                  <a:lnTo>
                    <a:pt x="53387" y="42862"/>
                  </a:lnTo>
                  <a:lnTo>
                    <a:pt x="24886" y="72474"/>
                  </a:lnTo>
                  <a:lnTo>
                    <a:pt x="6511" y="107420"/>
                  </a:lnTo>
                  <a:lnTo>
                    <a:pt x="0" y="146304"/>
                  </a:lnTo>
                  <a:lnTo>
                    <a:pt x="6511" y="185231"/>
                  </a:lnTo>
                  <a:lnTo>
                    <a:pt x="24886" y="220189"/>
                  </a:lnTo>
                  <a:lnTo>
                    <a:pt x="53387" y="249793"/>
                  </a:lnTo>
                  <a:lnTo>
                    <a:pt x="90277" y="272654"/>
                  </a:lnTo>
                  <a:lnTo>
                    <a:pt x="133817" y="287388"/>
                  </a:lnTo>
                  <a:lnTo>
                    <a:pt x="182270" y="292608"/>
                  </a:lnTo>
                  <a:lnTo>
                    <a:pt x="230728" y="287388"/>
                  </a:lnTo>
                  <a:lnTo>
                    <a:pt x="274272" y="272654"/>
                  </a:lnTo>
                  <a:lnTo>
                    <a:pt x="311164" y="249793"/>
                  </a:lnTo>
                  <a:lnTo>
                    <a:pt x="339666" y="220189"/>
                  </a:lnTo>
                  <a:lnTo>
                    <a:pt x="358042" y="185231"/>
                  </a:lnTo>
                  <a:lnTo>
                    <a:pt x="364553" y="146304"/>
                  </a:lnTo>
                  <a:lnTo>
                    <a:pt x="358042" y="107420"/>
                  </a:lnTo>
                  <a:lnTo>
                    <a:pt x="339666" y="72474"/>
                  </a:lnTo>
                  <a:lnTo>
                    <a:pt x="311164" y="42862"/>
                  </a:lnTo>
                  <a:lnTo>
                    <a:pt x="274272" y="19981"/>
                  </a:lnTo>
                  <a:lnTo>
                    <a:pt x="230728" y="5228"/>
                  </a:lnTo>
                  <a:lnTo>
                    <a:pt x="182270" y="0"/>
                  </a:lnTo>
                  <a:close/>
                </a:path>
              </a:pathLst>
            </a:custGeom>
            <a:solidFill>
              <a:srgbClr val="F4B083">
                <a:alpha val="2117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2835" y="1728089"/>
              <a:ext cx="365125" cy="696595"/>
            </a:xfrm>
            <a:custGeom>
              <a:avLst/>
              <a:gdLst/>
              <a:ahLst/>
              <a:cxnLst/>
              <a:rect l="l" t="t" r="r" b="b"/>
              <a:pathLst>
                <a:path w="365125" h="696594">
                  <a:moveTo>
                    <a:pt x="0" y="549783"/>
                  </a:moveTo>
                  <a:lnTo>
                    <a:pt x="6511" y="510899"/>
                  </a:lnTo>
                  <a:lnTo>
                    <a:pt x="24886" y="475953"/>
                  </a:lnTo>
                  <a:lnTo>
                    <a:pt x="53387" y="446341"/>
                  </a:lnTo>
                  <a:lnTo>
                    <a:pt x="90277" y="423460"/>
                  </a:lnTo>
                  <a:lnTo>
                    <a:pt x="133817" y="408707"/>
                  </a:lnTo>
                  <a:lnTo>
                    <a:pt x="182270" y="403478"/>
                  </a:lnTo>
                  <a:lnTo>
                    <a:pt x="230728" y="408707"/>
                  </a:lnTo>
                  <a:lnTo>
                    <a:pt x="274272" y="423460"/>
                  </a:lnTo>
                  <a:lnTo>
                    <a:pt x="311164" y="446341"/>
                  </a:lnTo>
                  <a:lnTo>
                    <a:pt x="339666" y="475953"/>
                  </a:lnTo>
                  <a:lnTo>
                    <a:pt x="358042" y="510899"/>
                  </a:lnTo>
                  <a:lnTo>
                    <a:pt x="364553" y="549783"/>
                  </a:lnTo>
                  <a:lnTo>
                    <a:pt x="358042" y="588710"/>
                  </a:lnTo>
                  <a:lnTo>
                    <a:pt x="339666" y="623668"/>
                  </a:lnTo>
                  <a:lnTo>
                    <a:pt x="311164" y="653272"/>
                  </a:lnTo>
                  <a:lnTo>
                    <a:pt x="274272" y="676133"/>
                  </a:lnTo>
                  <a:lnTo>
                    <a:pt x="230728" y="690867"/>
                  </a:lnTo>
                  <a:lnTo>
                    <a:pt x="182270" y="696087"/>
                  </a:lnTo>
                  <a:lnTo>
                    <a:pt x="133817" y="690867"/>
                  </a:lnTo>
                  <a:lnTo>
                    <a:pt x="90277" y="676133"/>
                  </a:lnTo>
                  <a:lnTo>
                    <a:pt x="53387" y="653272"/>
                  </a:lnTo>
                  <a:lnTo>
                    <a:pt x="24886" y="623668"/>
                  </a:lnTo>
                  <a:lnTo>
                    <a:pt x="6511" y="588710"/>
                  </a:lnTo>
                  <a:lnTo>
                    <a:pt x="0" y="549783"/>
                  </a:lnTo>
                  <a:close/>
                </a:path>
                <a:path w="365125" h="696594">
                  <a:moveTo>
                    <a:pt x="258800" y="0"/>
                  </a:moveTo>
                  <a:lnTo>
                    <a:pt x="182270" y="403478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7389" y="2131568"/>
              <a:ext cx="457200" cy="292735"/>
            </a:xfrm>
            <a:custGeom>
              <a:avLst/>
              <a:gdLst/>
              <a:ahLst/>
              <a:cxnLst/>
              <a:rect l="l" t="t" r="r" b="b"/>
              <a:pathLst>
                <a:path w="457200" h="292735">
                  <a:moveTo>
                    <a:pt x="228358" y="0"/>
                  </a:moveTo>
                  <a:lnTo>
                    <a:pt x="167650" y="5228"/>
                  </a:lnTo>
                  <a:lnTo>
                    <a:pt x="113099" y="19981"/>
                  </a:lnTo>
                  <a:lnTo>
                    <a:pt x="66882" y="42862"/>
                  </a:lnTo>
                  <a:lnTo>
                    <a:pt x="31176" y="72474"/>
                  </a:lnTo>
                  <a:lnTo>
                    <a:pt x="8156" y="107420"/>
                  </a:lnTo>
                  <a:lnTo>
                    <a:pt x="0" y="146304"/>
                  </a:lnTo>
                  <a:lnTo>
                    <a:pt x="8156" y="185231"/>
                  </a:lnTo>
                  <a:lnTo>
                    <a:pt x="31176" y="220189"/>
                  </a:lnTo>
                  <a:lnTo>
                    <a:pt x="66882" y="249793"/>
                  </a:lnTo>
                  <a:lnTo>
                    <a:pt x="113099" y="272654"/>
                  </a:lnTo>
                  <a:lnTo>
                    <a:pt x="167650" y="287388"/>
                  </a:lnTo>
                  <a:lnTo>
                    <a:pt x="228358" y="292608"/>
                  </a:lnTo>
                  <a:lnTo>
                    <a:pt x="289061" y="287388"/>
                  </a:lnTo>
                  <a:lnTo>
                    <a:pt x="343608" y="272654"/>
                  </a:lnTo>
                  <a:lnTo>
                    <a:pt x="389823" y="249793"/>
                  </a:lnTo>
                  <a:lnTo>
                    <a:pt x="425528" y="220189"/>
                  </a:lnTo>
                  <a:lnTo>
                    <a:pt x="448547" y="185231"/>
                  </a:lnTo>
                  <a:lnTo>
                    <a:pt x="456704" y="146304"/>
                  </a:lnTo>
                  <a:lnTo>
                    <a:pt x="448547" y="107420"/>
                  </a:lnTo>
                  <a:lnTo>
                    <a:pt x="425528" y="72474"/>
                  </a:lnTo>
                  <a:lnTo>
                    <a:pt x="389823" y="42862"/>
                  </a:lnTo>
                  <a:lnTo>
                    <a:pt x="343608" y="19981"/>
                  </a:lnTo>
                  <a:lnTo>
                    <a:pt x="289061" y="5228"/>
                  </a:lnTo>
                  <a:lnTo>
                    <a:pt x="228358" y="0"/>
                  </a:lnTo>
                  <a:close/>
                </a:path>
              </a:pathLst>
            </a:custGeom>
            <a:solidFill>
              <a:srgbClr val="F4B083">
                <a:alpha val="2117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7389" y="2131568"/>
              <a:ext cx="1008380" cy="292735"/>
            </a:xfrm>
            <a:custGeom>
              <a:avLst/>
              <a:gdLst/>
              <a:ahLst/>
              <a:cxnLst/>
              <a:rect l="l" t="t" r="r" b="b"/>
              <a:pathLst>
                <a:path w="1008380" h="292735">
                  <a:moveTo>
                    <a:pt x="0" y="146304"/>
                  </a:moveTo>
                  <a:lnTo>
                    <a:pt x="8156" y="107420"/>
                  </a:lnTo>
                  <a:lnTo>
                    <a:pt x="31176" y="72474"/>
                  </a:lnTo>
                  <a:lnTo>
                    <a:pt x="66882" y="42862"/>
                  </a:lnTo>
                  <a:lnTo>
                    <a:pt x="113099" y="19981"/>
                  </a:lnTo>
                  <a:lnTo>
                    <a:pt x="167650" y="5228"/>
                  </a:lnTo>
                  <a:lnTo>
                    <a:pt x="228358" y="0"/>
                  </a:lnTo>
                  <a:lnTo>
                    <a:pt x="289061" y="5228"/>
                  </a:lnTo>
                  <a:lnTo>
                    <a:pt x="343608" y="19981"/>
                  </a:lnTo>
                  <a:lnTo>
                    <a:pt x="389823" y="42862"/>
                  </a:lnTo>
                  <a:lnTo>
                    <a:pt x="425528" y="72474"/>
                  </a:lnTo>
                  <a:lnTo>
                    <a:pt x="448547" y="107420"/>
                  </a:lnTo>
                  <a:lnTo>
                    <a:pt x="456704" y="146304"/>
                  </a:lnTo>
                  <a:lnTo>
                    <a:pt x="448547" y="185231"/>
                  </a:lnTo>
                  <a:lnTo>
                    <a:pt x="425528" y="220189"/>
                  </a:lnTo>
                  <a:lnTo>
                    <a:pt x="389823" y="249793"/>
                  </a:lnTo>
                  <a:lnTo>
                    <a:pt x="343608" y="272654"/>
                  </a:lnTo>
                  <a:lnTo>
                    <a:pt x="289061" y="287388"/>
                  </a:lnTo>
                  <a:lnTo>
                    <a:pt x="228358" y="292608"/>
                  </a:lnTo>
                  <a:lnTo>
                    <a:pt x="167650" y="287388"/>
                  </a:lnTo>
                  <a:lnTo>
                    <a:pt x="113099" y="272654"/>
                  </a:lnTo>
                  <a:lnTo>
                    <a:pt x="66882" y="249793"/>
                  </a:lnTo>
                  <a:lnTo>
                    <a:pt x="31176" y="220189"/>
                  </a:lnTo>
                  <a:lnTo>
                    <a:pt x="8156" y="185231"/>
                  </a:lnTo>
                  <a:lnTo>
                    <a:pt x="0" y="146304"/>
                  </a:lnTo>
                  <a:close/>
                </a:path>
                <a:path w="1008380" h="292735">
                  <a:moveTo>
                    <a:pt x="1008138" y="110236"/>
                  </a:moveTo>
                  <a:lnTo>
                    <a:pt x="456704" y="146304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835" y="2466721"/>
              <a:ext cx="457200" cy="292735"/>
            </a:xfrm>
            <a:custGeom>
              <a:avLst/>
              <a:gdLst/>
              <a:ahLst/>
              <a:cxnLst/>
              <a:rect l="l" t="t" r="r" b="b"/>
              <a:pathLst>
                <a:path w="457200" h="292735">
                  <a:moveTo>
                    <a:pt x="228358" y="0"/>
                  </a:moveTo>
                  <a:lnTo>
                    <a:pt x="167650" y="5228"/>
                  </a:lnTo>
                  <a:lnTo>
                    <a:pt x="113099" y="19981"/>
                  </a:lnTo>
                  <a:lnTo>
                    <a:pt x="66882" y="42862"/>
                  </a:lnTo>
                  <a:lnTo>
                    <a:pt x="31176" y="72474"/>
                  </a:lnTo>
                  <a:lnTo>
                    <a:pt x="8156" y="107420"/>
                  </a:lnTo>
                  <a:lnTo>
                    <a:pt x="0" y="146303"/>
                  </a:lnTo>
                  <a:lnTo>
                    <a:pt x="8156" y="185231"/>
                  </a:lnTo>
                  <a:lnTo>
                    <a:pt x="31176" y="220189"/>
                  </a:lnTo>
                  <a:lnTo>
                    <a:pt x="66882" y="249793"/>
                  </a:lnTo>
                  <a:lnTo>
                    <a:pt x="113099" y="272654"/>
                  </a:lnTo>
                  <a:lnTo>
                    <a:pt x="167650" y="287388"/>
                  </a:lnTo>
                  <a:lnTo>
                    <a:pt x="228358" y="292607"/>
                  </a:lnTo>
                  <a:lnTo>
                    <a:pt x="289067" y="287388"/>
                  </a:lnTo>
                  <a:lnTo>
                    <a:pt x="343617" y="272654"/>
                  </a:lnTo>
                  <a:lnTo>
                    <a:pt x="389834" y="249793"/>
                  </a:lnTo>
                  <a:lnTo>
                    <a:pt x="425540" y="220189"/>
                  </a:lnTo>
                  <a:lnTo>
                    <a:pt x="448560" y="185231"/>
                  </a:lnTo>
                  <a:lnTo>
                    <a:pt x="456717" y="146303"/>
                  </a:lnTo>
                  <a:lnTo>
                    <a:pt x="448560" y="107420"/>
                  </a:lnTo>
                  <a:lnTo>
                    <a:pt x="425540" y="72474"/>
                  </a:lnTo>
                  <a:lnTo>
                    <a:pt x="389834" y="42862"/>
                  </a:lnTo>
                  <a:lnTo>
                    <a:pt x="343617" y="19981"/>
                  </a:lnTo>
                  <a:lnTo>
                    <a:pt x="289067" y="5228"/>
                  </a:lnTo>
                  <a:lnTo>
                    <a:pt x="228358" y="0"/>
                  </a:lnTo>
                  <a:close/>
                </a:path>
              </a:pathLst>
            </a:custGeom>
            <a:solidFill>
              <a:srgbClr val="F4B083">
                <a:alpha val="2117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2835" y="2466721"/>
              <a:ext cx="716915" cy="358775"/>
            </a:xfrm>
            <a:custGeom>
              <a:avLst/>
              <a:gdLst/>
              <a:ahLst/>
              <a:cxnLst/>
              <a:rect l="l" t="t" r="r" b="b"/>
              <a:pathLst>
                <a:path w="716915" h="358775">
                  <a:moveTo>
                    <a:pt x="0" y="146303"/>
                  </a:moveTo>
                  <a:lnTo>
                    <a:pt x="8156" y="107420"/>
                  </a:lnTo>
                  <a:lnTo>
                    <a:pt x="31176" y="72474"/>
                  </a:lnTo>
                  <a:lnTo>
                    <a:pt x="66882" y="42862"/>
                  </a:lnTo>
                  <a:lnTo>
                    <a:pt x="113099" y="19981"/>
                  </a:lnTo>
                  <a:lnTo>
                    <a:pt x="167650" y="5228"/>
                  </a:lnTo>
                  <a:lnTo>
                    <a:pt x="228358" y="0"/>
                  </a:lnTo>
                  <a:lnTo>
                    <a:pt x="289067" y="5228"/>
                  </a:lnTo>
                  <a:lnTo>
                    <a:pt x="343617" y="19981"/>
                  </a:lnTo>
                  <a:lnTo>
                    <a:pt x="389834" y="42862"/>
                  </a:lnTo>
                  <a:lnTo>
                    <a:pt x="425540" y="72474"/>
                  </a:lnTo>
                  <a:lnTo>
                    <a:pt x="448560" y="107420"/>
                  </a:lnTo>
                  <a:lnTo>
                    <a:pt x="456717" y="146303"/>
                  </a:lnTo>
                  <a:lnTo>
                    <a:pt x="448560" y="185231"/>
                  </a:lnTo>
                  <a:lnTo>
                    <a:pt x="425540" y="220189"/>
                  </a:lnTo>
                  <a:lnTo>
                    <a:pt x="389834" y="249793"/>
                  </a:lnTo>
                  <a:lnTo>
                    <a:pt x="343617" y="272654"/>
                  </a:lnTo>
                  <a:lnTo>
                    <a:pt x="289067" y="287388"/>
                  </a:lnTo>
                  <a:lnTo>
                    <a:pt x="228358" y="292607"/>
                  </a:lnTo>
                  <a:lnTo>
                    <a:pt x="167650" y="287388"/>
                  </a:lnTo>
                  <a:lnTo>
                    <a:pt x="113099" y="272654"/>
                  </a:lnTo>
                  <a:lnTo>
                    <a:pt x="66882" y="249793"/>
                  </a:lnTo>
                  <a:lnTo>
                    <a:pt x="31176" y="220189"/>
                  </a:lnTo>
                  <a:lnTo>
                    <a:pt x="8156" y="185231"/>
                  </a:lnTo>
                  <a:lnTo>
                    <a:pt x="0" y="146303"/>
                  </a:lnTo>
                  <a:close/>
                </a:path>
                <a:path w="716915" h="358775">
                  <a:moveTo>
                    <a:pt x="716737" y="358520"/>
                  </a:moveTo>
                  <a:lnTo>
                    <a:pt x="389826" y="249808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2835" y="3438779"/>
              <a:ext cx="457200" cy="292735"/>
            </a:xfrm>
            <a:custGeom>
              <a:avLst/>
              <a:gdLst/>
              <a:ahLst/>
              <a:cxnLst/>
              <a:rect l="l" t="t" r="r" b="b"/>
              <a:pathLst>
                <a:path w="457200" h="292735">
                  <a:moveTo>
                    <a:pt x="228358" y="0"/>
                  </a:moveTo>
                  <a:lnTo>
                    <a:pt x="167650" y="5219"/>
                  </a:lnTo>
                  <a:lnTo>
                    <a:pt x="113099" y="19953"/>
                  </a:lnTo>
                  <a:lnTo>
                    <a:pt x="66882" y="42814"/>
                  </a:lnTo>
                  <a:lnTo>
                    <a:pt x="31176" y="72418"/>
                  </a:lnTo>
                  <a:lnTo>
                    <a:pt x="8156" y="107376"/>
                  </a:lnTo>
                  <a:lnTo>
                    <a:pt x="0" y="146304"/>
                  </a:lnTo>
                  <a:lnTo>
                    <a:pt x="8156" y="185187"/>
                  </a:lnTo>
                  <a:lnTo>
                    <a:pt x="31176" y="220133"/>
                  </a:lnTo>
                  <a:lnTo>
                    <a:pt x="66882" y="249745"/>
                  </a:lnTo>
                  <a:lnTo>
                    <a:pt x="113099" y="272626"/>
                  </a:lnTo>
                  <a:lnTo>
                    <a:pt x="167650" y="287379"/>
                  </a:lnTo>
                  <a:lnTo>
                    <a:pt x="228358" y="292608"/>
                  </a:lnTo>
                  <a:lnTo>
                    <a:pt x="289067" y="287379"/>
                  </a:lnTo>
                  <a:lnTo>
                    <a:pt x="343617" y="272626"/>
                  </a:lnTo>
                  <a:lnTo>
                    <a:pt x="389834" y="249745"/>
                  </a:lnTo>
                  <a:lnTo>
                    <a:pt x="425540" y="220133"/>
                  </a:lnTo>
                  <a:lnTo>
                    <a:pt x="448560" y="185187"/>
                  </a:lnTo>
                  <a:lnTo>
                    <a:pt x="456717" y="146304"/>
                  </a:lnTo>
                  <a:lnTo>
                    <a:pt x="448560" y="107376"/>
                  </a:lnTo>
                  <a:lnTo>
                    <a:pt x="425540" y="72418"/>
                  </a:lnTo>
                  <a:lnTo>
                    <a:pt x="389834" y="42814"/>
                  </a:lnTo>
                  <a:lnTo>
                    <a:pt x="343617" y="19953"/>
                  </a:lnTo>
                  <a:lnTo>
                    <a:pt x="289067" y="5219"/>
                  </a:lnTo>
                  <a:lnTo>
                    <a:pt x="228358" y="0"/>
                  </a:lnTo>
                  <a:close/>
                </a:path>
              </a:pathLst>
            </a:custGeom>
            <a:solidFill>
              <a:srgbClr val="F4B083">
                <a:alpha val="2117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2835" y="3438779"/>
              <a:ext cx="716915" cy="358775"/>
            </a:xfrm>
            <a:custGeom>
              <a:avLst/>
              <a:gdLst/>
              <a:ahLst/>
              <a:cxnLst/>
              <a:rect l="l" t="t" r="r" b="b"/>
              <a:pathLst>
                <a:path w="716915" h="358775">
                  <a:moveTo>
                    <a:pt x="0" y="146304"/>
                  </a:moveTo>
                  <a:lnTo>
                    <a:pt x="8156" y="107376"/>
                  </a:lnTo>
                  <a:lnTo>
                    <a:pt x="31176" y="72418"/>
                  </a:lnTo>
                  <a:lnTo>
                    <a:pt x="66882" y="42814"/>
                  </a:lnTo>
                  <a:lnTo>
                    <a:pt x="113099" y="19953"/>
                  </a:lnTo>
                  <a:lnTo>
                    <a:pt x="167650" y="5219"/>
                  </a:lnTo>
                  <a:lnTo>
                    <a:pt x="228358" y="0"/>
                  </a:lnTo>
                  <a:lnTo>
                    <a:pt x="289067" y="5219"/>
                  </a:lnTo>
                  <a:lnTo>
                    <a:pt x="343617" y="19953"/>
                  </a:lnTo>
                  <a:lnTo>
                    <a:pt x="389834" y="42814"/>
                  </a:lnTo>
                  <a:lnTo>
                    <a:pt x="425540" y="72418"/>
                  </a:lnTo>
                  <a:lnTo>
                    <a:pt x="448560" y="107376"/>
                  </a:lnTo>
                  <a:lnTo>
                    <a:pt x="456717" y="146304"/>
                  </a:lnTo>
                  <a:lnTo>
                    <a:pt x="448560" y="185187"/>
                  </a:lnTo>
                  <a:lnTo>
                    <a:pt x="425540" y="220133"/>
                  </a:lnTo>
                  <a:lnTo>
                    <a:pt x="389834" y="249745"/>
                  </a:lnTo>
                  <a:lnTo>
                    <a:pt x="343617" y="272626"/>
                  </a:lnTo>
                  <a:lnTo>
                    <a:pt x="289067" y="287379"/>
                  </a:lnTo>
                  <a:lnTo>
                    <a:pt x="228358" y="292608"/>
                  </a:lnTo>
                  <a:lnTo>
                    <a:pt x="167650" y="287379"/>
                  </a:lnTo>
                  <a:lnTo>
                    <a:pt x="113099" y="272626"/>
                  </a:lnTo>
                  <a:lnTo>
                    <a:pt x="66882" y="249745"/>
                  </a:lnTo>
                  <a:lnTo>
                    <a:pt x="31176" y="220133"/>
                  </a:lnTo>
                  <a:lnTo>
                    <a:pt x="8156" y="185187"/>
                  </a:lnTo>
                  <a:lnTo>
                    <a:pt x="0" y="146304"/>
                  </a:lnTo>
                  <a:close/>
                </a:path>
                <a:path w="716915" h="358775">
                  <a:moveTo>
                    <a:pt x="716737" y="358394"/>
                  </a:moveTo>
                  <a:lnTo>
                    <a:pt x="389826" y="249682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200647" y="1830197"/>
            <a:ext cx="5265420" cy="2546350"/>
            <a:chOff x="6200647" y="1830197"/>
            <a:chExt cx="5265420" cy="254635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6047" y="1855597"/>
              <a:ext cx="5214492" cy="24951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13347" y="1842897"/>
              <a:ext cx="5240020" cy="2520950"/>
            </a:xfrm>
            <a:custGeom>
              <a:avLst/>
              <a:gdLst/>
              <a:ahLst/>
              <a:cxnLst/>
              <a:rect l="l" t="t" r="r" b="b"/>
              <a:pathLst>
                <a:path w="5240020" h="2520950">
                  <a:moveTo>
                    <a:pt x="0" y="2520569"/>
                  </a:moveTo>
                  <a:lnTo>
                    <a:pt x="5239892" y="2520569"/>
                  </a:lnTo>
                  <a:lnTo>
                    <a:pt x="5239892" y="0"/>
                  </a:lnTo>
                  <a:lnTo>
                    <a:pt x="0" y="0"/>
                  </a:lnTo>
                  <a:lnTo>
                    <a:pt x="0" y="252056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30095" y="1299158"/>
            <a:ext cx="2789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54E83"/>
                </a:solidFill>
                <a:latin typeface="Verdana"/>
                <a:cs typeface="Verdana"/>
              </a:rPr>
              <a:t>FM-</a:t>
            </a:r>
            <a:r>
              <a:rPr sz="2000" dirty="0">
                <a:solidFill>
                  <a:srgbClr val="054E83"/>
                </a:solidFill>
                <a:latin typeface="Verdana"/>
                <a:cs typeface="Verdana"/>
              </a:rPr>
              <a:t>12</a:t>
            </a:r>
            <a:r>
              <a:rPr sz="2000" spc="-2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54E83"/>
                </a:solidFill>
                <a:latin typeface="Verdana"/>
                <a:cs typeface="Verdana"/>
              </a:rPr>
              <a:t>SYNOP</a:t>
            </a:r>
            <a:r>
              <a:rPr sz="2000" spc="-2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54E83"/>
                </a:solidFill>
                <a:latin typeface="Verdana"/>
                <a:cs typeface="Verdana"/>
              </a:rPr>
              <a:t>reports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7323201" y="1299158"/>
            <a:ext cx="27012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54E83"/>
                </a:solidFill>
                <a:latin typeface="Verdana"/>
                <a:cs typeface="Verdana"/>
              </a:rPr>
              <a:t>Station</a:t>
            </a:r>
            <a:r>
              <a:rPr sz="2000" spc="-4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54E83"/>
                </a:solidFill>
                <a:latin typeface="Verdana"/>
                <a:cs typeface="Verdana"/>
              </a:rPr>
              <a:t>list</a:t>
            </a:r>
            <a:r>
              <a:rPr sz="2000" spc="-25" dirty="0">
                <a:solidFill>
                  <a:srgbClr val="054E83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54E83"/>
                </a:solidFill>
                <a:latin typeface="Verdana"/>
                <a:cs typeface="Verdana"/>
              </a:rPr>
              <a:t>metadata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2313" y="1321434"/>
            <a:ext cx="137414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AAXX</a:t>
            </a:r>
            <a:r>
              <a:rPr sz="11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from</a:t>
            </a:r>
            <a:r>
              <a:rPr sz="1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C00000"/>
                </a:solidFill>
                <a:latin typeface="Calibri"/>
                <a:cs typeface="Calibri"/>
              </a:rPr>
              <a:t>fixed</a:t>
            </a:r>
            <a:endParaRPr sz="1100">
              <a:latin typeface="Calibri"/>
              <a:cs typeface="Calibri"/>
            </a:endParaRPr>
          </a:p>
          <a:p>
            <a:pPr marL="433070">
              <a:lnSpc>
                <a:spcPct val="100000"/>
              </a:lnSpc>
            </a:pP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land</a:t>
            </a:r>
            <a:r>
              <a:rPr sz="11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station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0135" y="1842897"/>
            <a:ext cx="5299075" cy="25209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1477010">
              <a:lnSpc>
                <a:spcPct val="100000"/>
              </a:lnSpc>
              <a:spcBef>
                <a:spcPts val="405"/>
              </a:spcBef>
            </a:pP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YY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1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21</a:t>
            </a:r>
            <a:r>
              <a:rPr sz="11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100" b="1" spc="-20" dirty="0">
                <a:solidFill>
                  <a:srgbClr val="C00000"/>
                </a:solidFill>
                <a:latin typeface="Calibri"/>
                <a:cs typeface="Calibri"/>
              </a:rPr>
              <a:t> month</a:t>
            </a:r>
            <a:endParaRPr sz="1100">
              <a:latin typeface="Calibri"/>
              <a:cs typeface="Calibri"/>
            </a:endParaRPr>
          </a:p>
          <a:p>
            <a:pPr marL="1477010">
              <a:lnSpc>
                <a:spcPct val="100000"/>
              </a:lnSpc>
            </a:pP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GG</a:t>
            </a:r>
            <a:r>
              <a:rPr sz="11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1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12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hour</a:t>
            </a:r>
            <a:r>
              <a:rPr sz="1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observation</a:t>
            </a:r>
            <a:endParaRPr sz="1100">
              <a:latin typeface="Calibri"/>
              <a:cs typeface="Calibri"/>
            </a:endParaRPr>
          </a:p>
          <a:p>
            <a:pPr marL="1477010">
              <a:lnSpc>
                <a:spcPct val="100000"/>
              </a:lnSpc>
            </a:pP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iw</a:t>
            </a:r>
            <a:r>
              <a:rPr sz="11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1 Wind</a:t>
            </a:r>
            <a:r>
              <a:rPr sz="1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speed</a:t>
            </a:r>
            <a:r>
              <a:rPr sz="11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obtained</a:t>
            </a:r>
            <a:r>
              <a:rPr sz="11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from</a:t>
            </a:r>
            <a:r>
              <a:rPr sz="1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anemometer</a:t>
            </a:r>
            <a:r>
              <a:rPr sz="11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C00000"/>
                </a:solidFill>
                <a:latin typeface="Calibri"/>
                <a:cs typeface="Calibri"/>
              </a:rPr>
              <a:t>m/s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100">
              <a:latin typeface="Calibri"/>
              <a:cs typeface="Calibri"/>
            </a:endParaRPr>
          </a:p>
          <a:p>
            <a:pPr marL="820419">
              <a:lnSpc>
                <a:spcPct val="100000"/>
              </a:lnSpc>
              <a:spcBef>
                <a:spcPts val="5"/>
              </a:spcBef>
            </a:pPr>
            <a:r>
              <a:rPr sz="1100" b="1" spc="-25" dirty="0">
                <a:solidFill>
                  <a:srgbClr val="C00000"/>
                </a:solidFill>
                <a:latin typeface="Calibri"/>
                <a:cs typeface="Calibri"/>
              </a:rPr>
              <a:t>TSI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100">
              <a:latin typeface="Calibri"/>
              <a:cs typeface="Calibri"/>
            </a:endParaRPr>
          </a:p>
          <a:p>
            <a:pPr marL="820419">
              <a:lnSpc>
                <a:spcPct val="100000"/>
              </a:lnSpc>
            </a:pPr>
            <a:r>
              <a:rPr sz="1100" b="1" spc="-25" dirty="0">
                <a:solidFill>
                  <a:srgbClr val="C00000"/>
                </a:solidFill>
                <a:latin typeface="Calibri"/>
                <a:cs typeface="Calibri"/>
              </a:rPr>
              <a:t>TSI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wis2box</a:t>
            </a:r>
            <a:r>
              <a:rPr spc="-70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plugins:</a:t>
            </a:r>
            <a:r>
              <a:rPr spc="-80" dirty="0"/>
              <a:t> </a:t>
            </a:r>
            <a:r>
              <a:rPr dirty="0"/>
              <a:t>Common</a:t>
            </a:r>
            <a:r>
              <a:rPr spc="-45" dirty="0"/>
              <a:t> </a:t>
            </a:r>
            <a:r>
              <a:rPr dirty="0"/>
              <a:t>Alerting</a:t>
            </a:r>
            <a:r>
              <a:rPr spc="-80" dirty="0"/>
              <a:t> </a:t>
            </a:r>
            <a:r>
              <a:rPr spc="-10" dirty="0"/>
              <a:t>Protocol</a:t>
            </a:r>
            <a:r>
              <a:rPr spc="-65" dirty="0"/>
              <a:t> </a:t>
            </a:r>
            <a:r>
              <a:rPr spc="-10" dirty="0"/>
              <a:t>(CAP)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53686" y="5032082"/>
            <a:ext cx="7656195" cy="138493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7465" rIns="0" bIns="0" rtlCol="0">
            <a:spAutoFit/>
          </a:bodyPr>
          <a:lstStyle/>
          <a:p>
            <a:pPr marR="6918325" algn="r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latin typeface="Calibri"/>
                <a:cs typeface="Calibri"/>
              </a:rPr>
              <a:t>plugins:</a:t>
            </a:r>
            <a:endParaRPr sz="1200">
              <a:latin typeface="Calibri"/>
              <a:cs typeface="Calibri"/>
            </a:endParaRPr>
          </a:p>
          <a:p>
            <a:pPr marR="6863080" algn="r">
              <a:lnSpc>
                <a:spcPct val="100000"/>
              </a:lnSpc>
            </a:pPr>
            <a:r>
              <a:rPr sz="1200" b="1" spc="-20" dirty="0">
                <a:latin typeface="Calibri"/>
                <a:cs typeface="Calibri"/>
              </a:rPr>
              <a:t>xml:</a:t>
            </a:r>
            <a:endParaRPr sz="1200">
              <a:latin typeface="Calibri"/>
              <a:cs typeface="Calibri"/>
            </a:endParaRPr>
          </a:p>
          <a:p>
            <a:pPr marL="721360" marR="3578225" indent="-70485">
              <a:lnSpc>
                <a:spcPct val="100000"/>
              </a:lnSpc>
            </a:pPr>
            <a:r>
              <a:rPr sz="1200" b="1" dirty="0">
                <a:latin typeface="Calibri"/>
                <a:cs typeface="Calibri"/>
              </a:rPr>
              <a:t>-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plugin: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wis2box.data.cap_message.CAPMessageData </a:t>
            </a:r>
            <a:r>
              <a:rPr sz="1200" b="1" dirty="0">
                <a:latin typeface="Calibri"/>
                <a:cs typeface="Calibri"/>
              </a:rPr>
              <a:t>notify: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true</a:t>
            </a:r>
            <a:endParaRPr sz="120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buckets:</a:t>
            </a:r>
            <a:endParaRPr sz="1200">
              <a:latin typeface="Calibri"/>
              <a:cs typeface="Calibri"/>
            </a:endParaRPr>
          </a:p>
          <a:p>
            <a:pPr marL="1955800">
              <a:lnSpc>
                <a:spcPct val="100000"/>
              </a:lnSpc>
            </a:pPr>
            <a:r>
              <a:rPr sz="1200" b="1" dirty="0">
                <a:latin typeface="Calibri"/>
                <a:cs typeface="Calibri"/>
              </a:rPr>
              <a:t>-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${WIS2BOX_STORAGE_INCOMING}</a:t>
            </a:r>
            <a:endParaRPr sz="120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file-pattern: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‘^.*\.xml$'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9667" y="2479929"/>
            <a:ext cx="2038985" cy="76200"/>
          </a:xfrm>
          <a:custGeom>
            <a:avLst/>
            <a:gdLst/>
            <a:ahLst/>
            <a:cxnLst/>
            <a:rect l="l" t="t" r="r" b="b"/>
            <a:pathLst>
              <a:path w="2038985" h="76200">
                <a:moveTo>
                  <a:pt x="1962658" y="0"/>
                </a:moveTo>
                <a:lnTo>
                  <a:pt x="1962583" y="22351"/>
                </a:lnTo>
                <a:lnTo>
                  <a:pt x="1962530" y="38354"/>
                </a:lnTo>
                <a:lnTo>
                  <a:pt x="1962404" y="76200"/>
                </a:lnTo>
                <a:lnTo>
                  <a:pt x="2020033" y="47625"/>
                </a:lnTo>
                <a:lnTo>
                  <a:pt x="1975104" y="47625"/>
                </a:lnTo>
                <a:lnTo>
                  <a:pt x="1975231" y="28575"/>
                </a:lnTo>
                <a:lnTo>
                  <a:pt x="2019334" y="28575"/>
                </a:lnTo>
                <a:lnTo>
                  <a:pt x="1962658" y="0"/>
                </a:lnTo>
                <a:close/>
              </a:path>
              <a:path w="2038985" h="76200">
                <a:moveTo>
                  <a:pt x="126" y="22351"/>
                </a:moveTo>
                <a:lnTo>
                  <a:pt x="0" y="41401"/>
                </a:lnTo>
                <a:lnTo>
                  <a:pt x="1975103" y="47625"/>
                </a:lnTo>
                <a:lnTo>
                  <a:pt x="1962499" y="47625"/>
                </a:lnTo>
                <a:lnTo>
                  <a:pt x="1962562" y="28575"/>
                </a:lnTo>
                <a:lnTo>
                  <a:pt x="1975230" y="28575"/>
                </a:lnTo>
                <a:lnTo>
                  <a:pt x="126" y="22351"/>
                </a:lnTo>
                <a:close/>
              </a:path>
              <a:path w="2038985" h="76200">
                <a:moveTo>
                  <a:pt x="2019334" y="28575"/>
                </a:moveTo>
                <a:lnTo>
                  <a:pt x="1975231" y="28575"/>
                </a:lnTo>
                <a:lnTo>
                  <a:pt x="1975104" y="47625"/>
                </a:lnTo>
                <a:lnTo>
                  <a:pt x="2020033" y="47625"/>
                </a:lnTo>
                <a:lnTo>
                  <a:pt x="2038731" y="38354"/>
                </a:lnTo>
                <a:lnTo>
                  <a:pt x="2019334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22671" y="2486151"/>
            <a:ext cx="1457325" cy="76200"/>
          </a:xfrm>
          <a:custGeom>
            <a:avLst/>
            <a:gdLst/>
            <a:ahLst/>
            <a:cxnLst/>
            <a:rect l="l" t="t" r="r" b="b"/>
            <a:pathLst>
              <a:path w="1457325" h="76200">
                <a:moveTo>
                  <a:pt x="1380998" y="0"/>
                </a:moveTo>
                <a:lnTo>
                  <a:pt x="1380617" y="76200"/>
                </a:lnTo>
                <a:lnTo>
                  <a:pt x="1438279" y="47751"/>
                </a:lnTo>
                <a:lnTo>
                  <a:pt x="1393444" y="47751"/>
                </a:lnTo>
                <a:lnTo>
                  <a:pt x="1393571" y="28701"/>
                </a:lnTo>
                <a:lnTo>
                  <a:pt x="1437738" y="28701"/>
                </a:lnTo>
                <a:lnTo>
                  <a:pt x="1380998" y="0"/>
                </a:lnTo>
                <a:close/>
              </a:path>
              <a:path w="1457325" h="76200">
                <a:moveTo>
                  <a:pt x="126" y="22606"/>
                </a:moveTo>
                <a:lnTo>
                  <a:pt x="0" y="41656"/>
                </a:lnTo>
                <a:lnTo>
                  <a:pt x="1393443" y="47751"/>
                </a:lnTo>
                <a:lnTo>
                  <a:pt x="1380759" y="47751"/>
                </a:lnTo>
                <a:lnTo>
                  <a:pt x="1380854" y="28701"/>
                </a:lnTo>
                <a:lnTo>
                  <a:pt x="1393571" y="28701"/>
                </a:lnTo>
                <a:lnTo>
                  <a:pt x="126" y="22606"/>
                </a:lnTo>
                <a:close/>
              </a:path>
              <a:path w="1457325" h="76200">
                <a:moveTo>
                  <a:pt x="1437738" y="28701"/>
                </a:moveTo>
                <a:lnTo>
                  <a:pt x="1393571" y="28701"/>
                </a:lnTo>
                <a:lnTo>
                  <a:pt x="1393444" y="47751"/>
                </a:lnTo>
                <a:lnTo>
                  <a:pt x="1438279" y="47751"/>
                </a:lnTo>
                <a:lnTo>
                  <a:pt x="1457071" y="38481"/>
                </a:lnTo>
                <a:lnTo>
                  <a:pt x="1437738" y="2870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85235" y="1191005"/>
            <a:ext cx="3470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1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Validate</a:t>
            </a:r>
            <a:r>
              <a:rPr sz="1800" spc="-3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against</a:t>
            </a:r>
            <a:r>
              <a:rPr sz="1800" spc="3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CAP</a:t>
            </a:r>
            <a:r>
              <a:rPr sz="1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v1.2</a:t>
            </a:r>
            <a:r>
              <a:rPr sz="1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schema</a:t>
            </a:r>
            <a:r>
              <a:rPr sz="18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verify</a:t>
            </a:r>
            <a:r>
              <a:rPr sz="1800" spc="-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digital</a:t>
            </a:r>
            <a:r>
              <a:rPr sz="1800" spc="-2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signature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extract</a:t>
            </a:r>
            <a:r>
              <a:rPr sz="1800" spc="-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33E50"/>
                </a:solidFill>
                <a:latin typeface="Calibri"/>
                <a:cs typeface="Calibri"/>
              </a:rPr>
              <a:t>data-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timestamp</a:t>
            </a:r>
            <a:r>
              <a:rPr sz="1800" spc="-4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E50"/>
                </a:solidFill>
                <a:latin typeface="Calibri"/>
                <a:cs typeface="Calibri"/>
              </a:rPr>
              <a:t>from</a:t>
            </a:r>
            <a:r>
              <a:rPr sz="1800" spc="-3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E50"/>
                </a:solidFill>
                <a:latin typeface="Calibri"/>
                <a:cs typeface="Calibri"/>
              </a:rPr>
              <a:t>content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4154" y="1851152"/>
            <a:ext cx="39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33E50"/>
                </a:solidFill>
                <a:latin typeface="Calibri"/>
                <a:cs typeface="Calibri"/>
              </a:rPr>
              <a:t>CAP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98842" y="2956814"/>
            <a:ext cx="76200" cy="735330"/>
          </a:xfrm>
          <a:custGeom>
            <a:avLst/>
            <a:gdLst/>
            <a:ahLst/>
            <a:cxnLst/>
            <a:rect l="l" t="t" r="r" b="b"/>
            <a:pathLst>
              <a:path w="76200" h="735329">
                <a:moveTo>
                  <a:pt x="28575" y="658622"/>
                </a:moveTo>
                <a:lnTo>
                  <a:pt x="0" y="658622"/>
                </a:lnTo>
                <a:lnTo>
                  <a:pt x="38100" y="734822"/>
                </a:lnTo>
                <a:lnTo>
                  <a:pt x="69850" y="671322"/>
                </a:lnTo>
                <a:lnTo>
                  <a:pt x="28575" y="671322"/>
                </a:lnTo>
                <a:lnTo>
                  <a:pt x="28575" y="658622"/>
                </a:lnTo>
                <a:close/>
              </a:path>
              <a:path w="76200" h="735329">
                <a:moveTo>
                  <a:pt x="47625" y="0"/>
                </a:moveTo>
                <a:lnTo>
                  <a:pt x="28575" y="0"/>
                </a:lnTo>
                <a:lnTo>
                  <a:pt x="28575" y="671322"/>
                </a:lnTo>
                <a:lnTo>
                  <a:pt x="47625" y="671322"/>
                </a:lnTo>
                <a:lnTo>
                  <a:pt x="47625" y="0"/>
                </a:lnTo>
                <a:close/>
              </a:path>
              <a:path w="76200" h="735329">
                <a:moveTo>
                  <a:pt x="76200" y="658622"/>
                </a:moveTo>
                <a:lnTo>
                  <a:pt x="47625" y="658622"/>
                </a:lnTo>
                <a:lnTo>
                  <a:pt x="47625" y="671322"/>
                </a:lnTo>
                <a:lnTo>
                  <a:pt x="69850" y="671322"/>
                </a:lnTo>
                <a:lnTo>
                  <a:pt x="76200" y="65862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8605" y="3770909"/>
            <a:ext cx="1837055" cy="755650"/>
          </a:xfrm>
          <a:custGeom>
            <a:avLst/>
            <a:gdLst/>
            <a:ahLst/>
            <a:cxnLst/>
            <a:rect l="l" t="t" r="r" b="b"/>
            <a:pathLst>
              <a:path w="1837054" h="755650">
                <a:moveTo>
                  <a:pt x="1836674" y="0"/>
                </a:moveTo>
                <a:lnTo>
                  <a:pt x="0" y="0"/>
                </a:lnTo>
                <a:lnTo>
                  <a:pt x="0" y="755243"/>
                </a:lnTo>
                <a:lnTo>
                  <a:pt x="1836674" y="755243"/>
                </a:lnTo>
                <a:lnTo>
                  <a:pt x="183667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18605" y="3770909"/>
            <a:ext cx="1837055" cy="7556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555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WIS</a:t>
            </a:r>
            <a:r>
              <a:rPr sz="1400" b="1" i="1" spc="-25" dirty="0">
                <a:solidFill>
                  <a:srgbClr val="0F243E"/>
                </a:solidFill>
                <a:latin typeface="Calibri"/>
                <a:cs typeface="Calibri"/>
              </a:rPr>
              <a:t> 2.0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4" name="object 14" descr="A picture containing text, balloon, transport, aircraft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5411" y="3797300"/>
            <a:ext cx="708545" cy="708532"/>
          </a:xfrm>
          <a:prstGeom prst="rect">
            <a:avLst/>
          </a:prstGeom>
        </p:spPr>
      </p:pic>
      <p:pic>
        <p:nvPicPr>
          <p:cNvPr id="15" name="object 15" descr="Input, system, operation, process, insert icon - Download on Iconfind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8153" y="2054644"/>
            <a:ext cx="754849" cy="75481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307960" y="1860930"/>
            <a:ext cx="39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33E50"/>
                </a:solidFill>
                <a:latin typeface="Calibri"/>
                <a:cs typeface="Calibri"/>
              </a:rPr>
              <a:t>CAP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8559" y="4310251"/>
            <a:ext cx="3179445" cy="2548255"/>
            <a:chOff x="258559" y="4310251"/>
            <a:chExt cx="3179445" cy="254825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084" y="4310251"/>
              <a:ext cx="3169793" cy="254774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8084" y="6459797"/>
              <a:ext cx="2091689" cy="275590"/>
            </a:xfrm>
            <a:custGeom>
              <a:avLst/>
              <a:gdLst/>
              <a:ahLst/>
              <a:cxnLst/>
              <a:rect l="l" t="t" r="r" b="b"/>
              <a:pathLst>
                <a:path w="2091689" h="275590">
                  <a:moveTo>
                    <a:pt x="0" y="275297"/>
                  </a:moveTo>
                  <a:lnTo>
                    <a:pt x="2091689" y="275297"/>
                  </a:lnTo>
                  <a:lnTo>
                    <a:pt x="2091689" y="0"/>
                  </a:lnTo>
                  <a:lnTo>
                    <a:pt x="0" y="0"/>
                  </a:lnTo>
                  <a:lnTo>
                    <a:pt x="0" y="275297"/>
                  </a:lnTo>
                  <a:close/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 descr="Xml - Free interface icons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85342" y="2185708"/>
            <a:ext cx="454083" cy="582510"/>
          </a:xfrm>
          <a:prstGeom prst="rect">
            <a:avLst/>
          </a:prstGeom>
        </p:spPr>
      </p:pic>
      <p:pic>
        <p:nvPicPr>
          <p:cNvPr id="21" name="object 21" descr="Xml - Free interface icons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9182" y="2242477"/>
            <a:ext cx="454083" cy="58251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75033" y="6558915"/>
            <a:ext cx="11620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5"/>
              </a:lnSpc>
            </a:pPr>
            <a:r>
              <a:rPr sz="900" spc="-25" dirty="0"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814" y="4160532"/>
            <a:ext cx="4526280" cy="248475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627630">
              <a:lnSpc>
                <a:spcPct val="100000"/>
              </a:lnSpc>
              <a:spcBef>
                <a:spcPts val="100"/>
              </a:spcBef>
            </a:pPr>
            <a:r>
              <a:rPr dirty="0"/>
              <a:t>Publishing</a:t>
            </a:r>
            <a:r>
              <a:rPr spc="-65" dirty="0"/>
              <a:t> </a:t>
            </a:r>
            <a:r>
              <a:rPr dirty="0"/>
              <a:t>CAP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20" dirty="0"/>
              <a:t>WIS2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653" y="3830828"/>
            <a:ext cx="635254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5"/>
              </a:lnSpc>
            </a:pPr>
            <a:r>
              <a:rPr sz="1800" spc="-10" dirty="0">
                <a:latin typeface="Calibri"/>
                <a:cs typeface="Calibri"/>
              </a:rPr>
              <a:t>wis2box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dataset-</a:t>
            </a:r>
            <a:r>
              <a:rPr sz="1800" dirty="0">
                <a:latin typeface="Calibri"/>
                <a:cs typeface="Calibri"/>
              </a:rPr>
              <a:t>editor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template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publish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951103"/>
            <a:ext cx="31229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Common</a:t>
            </a:r>
            <a:r>
              <a:rPr sz="1800" u="sng" spc="-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Alerting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Protocol</a:t>
            </a:r>
            <a:r>
              <a:rPr sz="1800" spc="-150" dirty="0">
                <a:solidFill>
                  <a:srgbClr val="0462C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(CAP)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XML-</a:t>
            </a:r>
            <a:r>
              <a:rPr sz="1800" spc="-10" dirty="0">
                <a:latin typeface="Trebuchet MS"/>
                <a:cs typeface="Trebuchet MS"/>
              </a:rPr>
              <a:t>based </a:t>
            </a:r>
            <a:r>
              <a:rPr sz="1800" spc="-50" dirty="0">
                <a:latin typeface="Trebuchet MS"/>
                <a:cs typeface="Trebuchet MS"/>
              </a:rPr>
              <a:t>data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for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exchanging </a:t>
            </a:r>
            <a:r>
              <a:rPr sz="1800" spc="-20" dirty="0">
                <a:latin typeface="Trebuchet MS"/>
                <a:cs typeface="Trebuchet MS"/>
              </a:rPr>
              <a:t>public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warnings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and </a:t>
            </a:r>
            <a:r>
              <a:rPr sz="1800" spc="-30" dirty="0">
                <a:latin typeface="Trebuchet MS"/>
                <a:cs typeface="Trebuchet MS"/>
              </a:rPr>
              <a:t>emergencies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between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different </a:t>
            </a:r>
            <a:r>
              <a:rPr sz="1800" spc="-10" dirty="0"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4564" y="2258566"/>
            <a:ext cx="5441087" cy="459943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453378" y="1639951"/>
            <a:ext cx="5633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WMO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Composer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configured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forward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XML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publication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WIS2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06762" y="757745"/>
            <a:ext cx="2999740" cy="3021330"/>
            <a:chOff x="3306762" y="757745"/>
            <a:chExt cx="2999740" cy="302133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6350" y="774328"/>
              <a:ext cx="2980436" cy="29732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11525" y="762508"/>
              <a:ext cx="2990215" cy="3011805"/>
            </a:xfrm>
            <a:custGeom>
              <a:avLst/>
              <a:gdLst/>
              <a:ahLst/>
              <a:cxnLst/>
              <a:rect l="l" t="t" r="r" b="b"/>
              <a:pathLst>
                <a:path w="2990215" h="3011804">
                  <a:moveTo>
                    <a:pt x="0" y="3011297"/>
                  </a:moveTo>
                  <a:lnTo>
                    <a:pt x="2989961" y="3011297"/>
                  </a:lnTo>
                  <a:lnTo>
                    <a:pt x="2989961" y="0"/>
                  </a:lnTo>
                  <a:lnTo>
                    <a:pt x="0" y="0"/>
                  </a:lnTo>
                  <a:lnTo>
                    <a:pt x="0" y="30112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49"/>
            <a:ext cx="12205335" cy="741045"/>
            <a:chOff x="-6350" y="-6349"/>
            <a:chExt cx="12205335" cy="7410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  <a:lnTo>
                    <a:pt x="0" y="0"/>
                  </a:lnTo>
                  <a:lnTo>
                    <a:pt x="0" y="728217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635" cy="728345"/>
            </a:xfrm>
            <a:custGeom>
              <a:avLst/>
              <a:gdLst/>
              <a:ahLst/>
              <a:cxnLst/>
              <a:rect l="l" t="t" r="r" b="b"/>
              <a:pathLst>
                <a:path w="12192635" h="728345">
                  <a:moveTo>
                    <a:pt x="0" y="728217"/>
                  </a:moveTo>
                  <a:lnTo>
                    <a:pt x="12192000" y="728217"/>
                  </a:lnTo>
                  <a:lnTo>
                    <a:pt x="12192059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38879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rebuchet MS"/>
                <a:cs typeface="Trebuchet MS"/>
              </a:rPr>
              <a:t>Summary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4772" y="985265"/>
            <a:ext cx="1112774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WIS2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50" dirty="0">
                <a:latin typeface="Trebuchet MS"/>
                <a:cs typeface="Trebuchet MS"/>
              </a:rPr>
              <a:t>is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framework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for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sharing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data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for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all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105" dirty="0">
                <a:latin typeface="Trebuchet MS"/>
                <a:cs typeface="Trebuchet MS"/>
              </a:rPr>
              <a:t>WMO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domains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disciplines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114" dirty="0">
                <a:latin typeface="Trebuchet MS"/>
                <a:cs typeface="Trebuchet MS"/>
              </a:rPr>
              <a:t>WMO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Unified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Policy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provides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guidance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if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should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exchanged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80" dirty="0">
                <a:latin typeface="Trebuchet MS"/>
                <a:cs typeface="Trebuchet MS"/>
              </a:rPr>
              <a:t>as</a:t>
            </a:r>
            <a:r>
              <a:rPr sz="2000" spc="-229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“core”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or</a:t>
            </a:r>
            <a:r>
              <a:rPr sz="2000" spc="-2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“recommended”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188" y="2204085"/>
            <a:ext cx="71196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Recommended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data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in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WIS2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MUST</a:t>
            </a:r>
            <a:r>
              <a:rPr sz="1600" b="1" spc="-105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include</a:t>
            </a:r>
            <a:r>
              <a:rPr sz="1600" b="1" spc="-11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</a:t>
            </a:r>
            <a:r>
              <a:rPr sz="1600" b="1" spc="-10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license</a:t>
            </a:r>
            <a:r>
              <a:rPr sz="1600" b="1" spc="-11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URL</a:t>
            </a:r>
            <a:r>
              <a:rPr sz="1600" b="1" spc="-10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in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metadata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record </a:t>
            </a:r>
            <a:r>
              <a:rPr sz="1600" spc="-30" dirty="0">
                <a:solidFill>
                  <a:srgbClr val="0F42D2"/>
                </a:solidFill>
                <a:latin typeface="Trebuchet MS"/>
                <a:cs typeface="Trebuchet MS"/>
              </a:rPr>
              <a:t>wis2box-</a:t>
            </a:r>
            <a:r>
              <a:rPr sz="1600" spc="-20" dirty="0">
                <a:solidFill>
                  <a:srgbClr val="0F42D2"/>
                </a:solidFill>
                <a:latin typeface="Trebuchet MS"/>
                <a:cs typeface="Trebuchet MS"/>
              </a:rPr>
              <a:t>instance</a:t>
            </a:r>
            <a:r>
              <a:rPr sz="1600" spc="-7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can</a:t>
            </a:r>
            <a:r>
              <a:rPr sz="1600" spc="-10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host</a:t>
            </a:r>
            <a:r>
              <a:rPr sz="1600" spc="-10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0F42D2"/>
                </a:solidFill>
                <a:latin typeface="Trebuchet MS"/>
                <a:cs typeface="Trebuchet MS"/>
              </a:rPr>
              <a:t>the</a:t>
            </a:r>
            <a:r>
              <a:rPr sz="1600" spc="-10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0F42D2"/>
                </a:solidFill>
                <a:latin typeface="Trebuchet MS"/>
                <a:cs typeface="Trebuchet MS"/>
              </a:rPr>
              <a:t>license-</a:t>
            </a:r>
            <a:r>
              <a:rPr sz="1600" spc="-80" dirty="0">
                <a:solidFill>
                  <a:srgbClr val="0F42D2"/>
                </a:solidFill>
                <a:latin typeface="Trebuchet MS"/>
                <a:cs typeface="Trebuchet MS"/>
              </a:rPr>
              <a:t>file</a:t>
            </a:r>
            <a:r>
              <a:rPr sz="1600" spc="-11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0F42D2"/>
                </a:solidFill>
                <a:latin typeface="Trebuchet MS"/>
                <a:cs typeface="Trebuchet MS"/>
              </a:rPr>
              <a:t>if</a:t>
            </a:r>
            <a:r>
              <a:rPr sz="1600" spc="-10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0F42D2"/>
                </a:solidFill>
                <a:latin typeface="Trebuchet MS"/>
                <a:cs typeface="Trebuchet MS"/>
              </a:rPr>
              <a:t>required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Recommended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data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in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WIS2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b="1" spc="-35" dirty="0">
                <a:latin typeface="Trebuchet MS"/>
                <a:cs typeface="Trebuchet MS"/>
              </a:rPr>
              <a:t>MAY</a:t>
            </a:r>
            <a:r>
              <a:rPr sz="1600" b="1" spc="-114" dirty="0">
                <a:latin typeface="Trebuchet MS"/>
                <a:cs typeface="Trebuchet MS"/>
              </a:rPr>
              <a:t> </a:t>
            </a:r>
            <a:r>
              <a:rPr sz="1600" b="1" spc="-30" dirty="0">
                <a:latin typeface="Trebuchet MS"/>
                <a:cs typeface="Trebuchet MS"/>
              </a:rPr>
              <a:t>be</a:t>
            </a:r>
            <a:r>
              <a:rPr sz="1600" b="1" spc="-100" dirty="0">
                <a:latin typeface="Trebuchet MS"/>
                <a:cs typeface="Trebuchet MS"/>
              </a:rPr>
              <a:t> </a:t>
            </a:r>
            <a:r>
              <a:rPr sz="1600" b="1" spc="55" dirty="0">
                <a:latin typeface="Trebuchet MS"/>
                <a:cs typeface="Trebuchet MS"/>
              </a:rPr>
              <a:t>access</a:t>
            </a:r>
            <a:r>
              <a:rPr sz="1600" b="1" spc="-10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controlled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solidFill>
                  <a:srgbClr val="0F42D2"/>
                </a:solidFill>
                <a:latin typeface="Trebuchet MS"/>
                <a:cs typeface="Trebuchet MS"/>
              </a:rPr>
              <a:t>wis2box</a:t>
            </a:r>
            <a:r>
              <a:rPr sz="1600" spc="-8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0F42D2"/>
                </a:solidFill>
                <a:latin typeface="Trebuchet MS"/>
                <a:cs typeface="Trebuchet MS"/>
              </a:rPr>
              <a:t>provides</a:t>
            </a:r>
            <a:r>
              <a:rPr sz="1600" spc="-6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0F42D2"/>
                </a:solidFill>
                <a:latin typeface="Trebuchet MS"/>
                <a:cs typeface="Trebuchet MS"/>
              </a:rPr>
              <a:t>the</a:t>
            </a:r>
            <a:r>
              <a:rPr sz="1600" spc="-9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0F42D2"/>
                </a:solidFill>
                <a:latin typeface="Trebuchet MS"/>
                <a:cs typeface="Trebuchet MS"/>
              </a:rPr>
              <a:t>option</a:t>
            </a:r>
            <a:r>
              <a:rPr sz="1600" spc="-5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0F42D2"/>
                </a:solidFill>
                <a:latin typeface="Trebuchet MS"/>
                <a:cs typeface="Trebuchet MS"/>
              </a:rPr>
              <a:t>to</a:t>
            </a:r>
            <a:r>
              <a:rPr sz="1600" spc="-9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add</a:t>
            </a:r>
            <a:r>
              <a:rPr sz="1600" spc="-9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access-</a:t>
            </a:r>
            <a:r>
              <a:rPr sz="1600" spc="-45" dirty="0">
                <a:solidFill>
                  <a:srgbClr val="0F42D2"/>
                </a:solidFill>
                <a:latin typeface="Trebuchet MS"/>
                <a:cs typeface="Trebuchet MS"/>
              </a:rPr>
              <a:t>control</a:t>
            </a:r>
            <a:r>
              <a:rPr sz="1600" spc="-6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using</a:t>
            </a:r>
            <a:r>
              <a:rPr sz="1600" spc="-6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0F42D2"/>
                </a:solidFill>
                <a:latin typeface="Trebuchet MS"/>
                <a:cs typeface="Trebuchet MS"/>
              </a:rPr>
              <a:t>an</a:t>
            </a:r>
            <a:r>
              <a:rPr sz="1600" spc="-9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0F42D2"/>
                </a:solidFill>
                <a:latin typeface="Trebuchet MS"/>
                <a:cs typeface="Trebuchet MS"/>
              </a:rPr>
              <a:t>authentication</a:t>
            </a:r>
            <a:r>
              <a:rPr sz="1600" spc="-4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0F42D2"/>
                </a:solidFill>
                <a:latin typeface="Trebuchet MS"/>
                <a:cs typeface="Trebuchet MS"/>
              </a:rPr>
              <a:t>token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8296" y="4218177"/>
            <a:ext cx="10357485" cy="145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WIS2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30" dirty="0">
                <a:latin typeface="Calibri"/>
                <a:cs typeface="Calibri"/>
              </a:rPr>
              <a:t> “data-</a:t>
            </a:r>
            <a:r>
              <a:rPr sz="2000" b="1" spc="-25" dirty="0">
                <a:latin typeface="Calibri"/>
                <a:cs typeface="Calibri"/>
              </a:rPr>
              <a:t>agnostic”,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please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refer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WIGOS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manuals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complete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requirements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spc="-10" dirty="0">
                <a:latin typeface="Calibri"/>
                <a:cs typeface="Calibri"/>
              </a:rPr>
              <a:t>wis2box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additional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tools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WMO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international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exchange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WIS2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regulations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80"/>
              </a:lnSpc>
            </a:pPr>
            <a:r>
              <a:rPr sz="1600" spc="-10" dirty="0">
                <a:latin typeface="Calibri"/>
                <a:cs typeface="Calibri"/>
              </a:rPr>
              <a:t>(data-visualization,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BUFR-</a:t>
            </a:r>
            <a:r>
              <a:rPr sz="1600" spc="-10" dirty="0">
                <a:latin typeface="Calibri"/>
                <a:cs typeface="Calibri"/>
              </a:rPr>
              <a:t>conversion,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CAP-</a:t>
            </a:r>
            <a:r>
              <a:rPr sz="1600" spc="-10" dirty="0">
                <a:latin typeface="Calibri"/>
                <a:cs typeface="Calibri"/>
              </a:rPr>
              <a:t>validation,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mapping-template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 </a:t>
            </a:r>
            <a:r>
              <a:rPr sz="1600" spc="-10" dirty="0">
                <a:latin typeface="Calibri"/>
                <a:cs typeface="Calibri"/>
              </a:rPr>
              <a:t>DAYCLI)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2840"/>
              </a:lnSpc>
            </a:pPr>
            <a:r>
              <a:rPr sz="2400" spc="-25" dirty="0">
                <a:solidFill>
                  <a:srgbClr val="0F42D2"/>
                </a:solidFill>
                <a:latin typeface="Trebuchet MS"/>
                <a:cs typeface="Trebuchet MS"/>
              </a:rPr>
              <a:t>wis2box</a:t>
            </a:r>
            <a:r>
              <a:rPr sz="2400" spc="-19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F42D2"/>
                </a:solidFill>
                <a:latin typeface="Trebuchet MS"/>
                <a:cs typeface="Trebuchet MS"/>
              </a:rPr>
              <a:t>can</a:t>
            </a:r>
            <a:r>
              <a:rPr sz="2400" spc="-20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F42D2"/>
                </a:solidFill>
                <a:latin typeface="Trebuchet MS"/>
                <a:cs typeface="Trebuchet MS"/>
              </a:rPr>
              <a:t>publish</a:t>
            </a:r>
            <a:r>
              <a:rPr sz="2400" spc="-20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F42D2"/>
                </a:solidFill>
                <a:latin typeface="Trebuchet MS"/>
                <a:cs typeface="Trebuchet MS"/>
              </a:rPr>
              <a:t>any</a:t>
            </a:r>
            <a:r>
              <a:rPr sz="2400" spc="-19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F42D2"/>
                </a:solidFill>
                <a:latin typeface="Trebuchet MS"/>
                <a:cs typeface="Trebuchet MS"/>
              </a:rPr>
              <a:t>data</a:t>
            </a:r>
            <a:r>
              <a:rPr sz="2400" spc="-20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F42D2"/>
                </a:solidFill>
                <a:latin typeface="Trebuchet MS"/>
                <a:cs typeface="Trebuchet MS"/>
              </a:rPr>
              <a:t>on</a:t>
            </a:r>
            <a:r>
              <a:rPr sz="2400" spc="-19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2400" spc="35" dirty="0">
                <a:solidFill>
                  <a:srgbClr val="0F42D2"/>
                </a:solidFill>
                <a:latin typeface="Trebuchet MS"/>
                <a:cs typeface="Trebuchet MS"/>
              </a:rPr>
              <a:t>WIS2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solidFill>
                  <a:srgbClr val="0F42D2"/>
                </a:solidFill>
                <a:latin typeface="Trebuchet MS"/>
                <a:cs typeface="Trebuchet MS"/>
              </a:rPr>
              <a:t>Using</a:t>
            </a:r>
            <a:r>
              <a:rPr sz="1800" spc="-12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u="sng" spc="-6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Trebuchet MS"/>
                <a:cs typeface="Trebuchet MS"/>
              </a:rPr>
              <a:t>predefined</a:t>
            </a:r>
            <a:r>
              <a:rPr sz="1800" u="sng" spc="-12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4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Trebuchet MS"/>
                <a:cs typeface="Trebuchet MS"/>
              </a:rPr>
              <a:t>templates</a:t>
            </a:r>
            <a:r>
              <a:rPr sz="1800" u="sng" spc="-7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0F42D2"/>
                </a:solidFill>
                <a:latin typeface="Trebuchet MS"/>
                <a:cs typeface="Trebuchet MS"/>
              </a:rPr>
              <a:t>in</a:t>
            </a:r>
            <a:r>
              <a:rPr sz="1800" spc="-12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0F42D2"/>
                </a:solidFill>
                <a:latin typeface="Trebuchet MS"/>
                <a:cs typeface="Trebuchet MS"/>
              </a:rPr>
              <a:t>the</a:t>
            </a:r>
            <a:r>
              <a:rPr sz="1800" spc="-11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0F42D2"/>
                </a:solidFill>
                <a:latin typeface="Trebuchet MS"/>
                <a:cs typeface="Trebuchet MS"/>
              </a:rPr>
              <a:t>dataset-</a:t>
            </a:r>
            <a:r>
              <a:rPr sz="1800" spc="-100" dirty="0">
                <a:solidFill>
                  <a:srgbClr val="0F42D2"/>
                </a:solidFill>
                <a:latin typeface="Trebuchet MS"/>
                <a:cs typeface="Trebuchet MS"/>
              </a:rPr>
              <a:t>editor,</a:t>
            </a:r>
            <a:r>
              <a:rPr sz="1800" spc="-5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F42D2"/>
                </a:solidFill>
                <a:latin typeface="Trebuchet MS"/>
                <a:cs typeface="Trebuchet MS"/>
              </a:rPr>
              <a:t>or</a:t>
            </a:r>
            <a:r>
              <a:rPr sz="1800" spc="-13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F42D2"/>
                </a:solidFill>
                <a:latin typeface="Trebuchet MS"/>
                <a:cs typeface="Trebuchet MS"/>
              </a:rPr>
              <a:t>use</a:t>
            </a:r>
            <a:r>
              <a:rPr sz="1800" spc="-11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0F42D2"/>
                </a:solidFill>
                <a:latin typeface="Trebuchet MS"/>
                <a:cs typeface="Trebuchet MS"/>
              </a:rPr>
              <a:t>template=other</a:t>
            </a:r>
            <a:r>
              <a:rPr sz="1800" spc="-9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F42D2"/>
                </a:solidFill>
                <a:latin typeface="Trebuchet MS"/>
                <a:cs typeface="Trebuchet MS"/>
              </a:rPr>
              <a:t>and</a:t>
            </a:r>
            <a:r>
              <a:rPr sz="1800" spc="-21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0F42D2"/>
                </a:solidFill>
                <a:latin typeface="Trebuchet MS"/>
                <a:cs typeface="Trebuchet MS"/>
              </a:rPr>
              <a:t>“Universal</a:t>
            </a:r>
            <a:r>
              <a:rPr sz="1800" spc="-16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F42D2"/>
                </a:solidFill>
                <a:latin typeface="Trebuchet MS"/>
                <a:cs typeface="Trebuchet MS"/>
              </a:rPr>
              <a:t>Data”-</a:t>
            </a:r>
            <a:r>
              <a:rPr sz="1800" spc="-10" dirty="0">
                <a:solidFill>
                  <a:srgbClr val="0F42D2"/>
                </a:solidFill>
                <a:latin typeface="Trebuchet MS"/>
                <a:cs typeface="Trebuchet MS"/>
              </a:rPr>
              <a:t>plugin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3389" y="1873911"/>
            <a:ext cx="4571631" cy="221485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38258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7" name="object 7"/>
          <p:cNvSpPr/>
          <p:nvPr/>
        </p:nvSpPr>
        <p:spPr>
          <a:xfrm>
            <a:off x="426313" y="841121"/>
            <a:ext cx="11632565" cy="3170555"/>
          </a:xfrm>
          <a:custGeom>
            <a:avLst/>
            <a:gdLst/>
            <a:ahLst/>
            <a:cxnLst/>
            <a:rect l="l" t="t" r="r" b="b"/>
            <a:pathLst>
              <a:path w="11632565" h="3170554">
                <a:moveTo>
                  <a:pt x="11632184" y="0"/>
                </a:moveTo>
                <a:lnTo>
                  <a:pt x="0" y="0"/>
                </a:lnTo>
                <a:lnTo>
                  <a:pt x="0" y="3170047"/>
                </a:lnTo>
                <a:lnTo>
                  <a:pt x="11632184" y="3170047"/>
                </a:lnTo>
                <a:lnTo>
                  <a:pt x="116321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5155" y="854456"/>
            <a:ext cx="1093279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80" dirty="0">
                <a:latin typeface="Trebuchet MS"/>
                <a:cs typeface="Trebuchet MS"/>
              </a:rPr>
              <a:t>To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publish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wis2box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you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must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0033CC"/>
                </a:solidFill>
                <a:latin typeface="Trebuchet MS"/>
                <a:cs typeface="Trebuchet MS"/>
              </a:rPr>
              <a:t>first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0033CC"/>
                </a:solidFill>
                <a:latin typeface="Trebuchet MS"/>
                <a:cs typeface="Trebuchet MS"/>
              </a:rPr>
              <a:t>define</a:t>
            </a:r>
            <a:r>
              <a:rPr sz="2000" b="1" spc="-16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dataset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publish</a:t>
            </a:r>
            <a:r>
              <a:rPr sz="2000" b="1" spc="-15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50" dirty="0">
                <a:solidFill>
                  <a:srgbClr val="0033CC"/>
                </a:solidFill>
                <a:latin typeface="Trebuchet MS"/>
                <a:cs typeface="Trebuchet MS"/>
              </a:rPr>
              <a:t>WCMP2</a:t>
            </a:r>
            <a:endParaRPr sz="2000">
              <a:latin typeface="Trebuchet MS"/>
              <a:cs typeface="Trebuchet MS"/>
            </a:endParaRPr>
          </a:p>
          <a:p>
            <a:pPr marL="12700" marR="962025">
              <a:lnSpc>
                <a:spcPct val="200000"/>
              </a:lnSpc>
            </a:pPr>
            <a:r>
              <a:rPr sz="2000" spc="-25" dirty="0">
                <a:latin typeface="Trebuchet MS"/>
                <a:cs typeface="Trebuchet MS"/>
              </a:rPr>
              <a:t>In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wis2box,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datasets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define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both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0033CC"/>
                </a:solidFill>
                <a:latin typeface="Trebuchet MS"/>
                <a:cs typeface="Trebuchet MS"/>
              </a:rPr>
              <a:t>discovery</a:t>
            </a:r>
            <a:r>
              <a:rPr sz="2000" b="1" spc="-13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metadata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data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plugins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Data</a:t>
            </a:r>
            <a:r>
              <a:rPr sz="2000" b="1" spc="-16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plugins</a:t>
            </a:r>
            <a:r>
              <a:rPr sz="2000" b="1" spc="-13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determine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taken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0033CC"/>
                </a:solidFill>
                <a:latin typeface="Trebuchet MS"/>
                <a:cs typeface="Trebuchet MS"/>
              </a:rPr>
              <a:t>transform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publish</a:t>
            </a:r>
            <a:r>
              <a:rPr sz="2000" b="1" spc="-15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Trebuchet MS"/>
                <a:cs typeface="Trebuchet MS"/>
              </a:rPr>
              <a:t>wis2box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includes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pre-</a:t>
            </a:r>
            <a:r>
              <a:rPr sz="2000" spc="-45" dirty="0">
                <a:latin typeface="Trebuchet MS"/>
                <a:cs typeface="Trebuchet MS"/>
              </a:rPr>
              <a:t>defined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plugins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enable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transform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40" dirty="0">
                <a:latin typeface="Trebuchet MS"/>
                <a:cs typeface="Trebuchet MS"/>
              </a:rPr>
              <a:t>ecCodes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217804">
              <a:lnSpc>
                <a:spcPct val="100000"/>
              </a:lnSpc>
              <a:spcBef>
                <a:spcPts val="5"/>
              </a:spcBef>
            </a:pPr>
            <a:r>
              <a:rPr sz="2000" spc="-8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dataset-</a:t>
            </a:r>
            <a:r>
              <a:rPr sz="2000" b="1" spc="-60" dirty="0">
                <a:latin typeface="Trebuchet MS"/>
                <a:cs typeface="Trebuchet MS"/>
              </a:rPr>
              <a:t>editor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makes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it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easier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define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correct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data-plugin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their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data-</a:t>
            </a:r>
            <a:r>
              <a:rPr sz="2000" spc="-70" dirty="0">
                <a:latin typeface="Trebuchet MS"/>
                <a:cs typeface="Trebuchet MS"/>
              </a:rPr>
              <a:t>type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by </a:t>
            </a:r>
            <a:r>
              <a:rPr sz="2000" spc="-55" dirty="0">
                <a:latin typeface="Trebuchet MS"/>
                <a:cs typeface="Trebuchet MS"/>
              </a:rPr>
              <a:t>providing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“</a:t>
            </a:r>
            <a:r>
              <a:rPr sz="2000" b="1" spc="-35" dirty="0">
                <a:latin typeface="Trebuchet MS"/>
                <a:cs typeface="Trebuchet MS"/>
              </a:rPr>
              <a:t>templates</a:t>
            </a:r>
            <a:r>
              <a:rPr sz="2000" spc="-35" dirty="0">
                <a:latin typeface="Trebuchet MS"/>
                <a:cs typeface="Trebuchet MS"/>
              </a:rPr>
              <a:t>”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that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selected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when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creating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dataset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55381" y="4703762"/>
            <a:ext cx="3014345" cy="905510"/>
            <a:chOff x="7755381" y="4703762"/>
            <a:chExt cx="3014345" cy="905510"/>
          </a:xfrm>
        </p:grpSpPr>
        <p:sp>
          <p:nvSpPr>
            <p:cNvPr id="10" name="object 10"/>
            <p:cNvSpPr/>
            <p:nvPr/>
          </p:nvSpPr>
          <p:spPr>
            <a:xfrm>
              <a:off x="7755381" y="4703762"/>
              <a:ext cx="3014345" cy="905510"/>
            </a:xfrm>
            <a:custGeom>
              <a:avLst/>
              <a:gdLst/>
              <a:ahLst/>
              <a:cxnLst/>
              <a:rect l="l" t="t" r="r" b="b"/>
              <a:pathLst>
                <a:path w="3014345" h="905510">
                  <a:moveTo>
                    <a:pt x="3014091" y="0"/>
                  </a:moveTo>
                  <a:lnTo>
                    <a:pt x="0" y="0"/>
                  </a:lnTo>
                  <a:lnTo>
                    <a:pt x="0" y="905471"/>
                  </a:lnTo>
                  <a:lnTo>
                    <a:pt x="3014091" y="905471"/>
                  </a:lnTo>
                  <a:lnTo>
                    <a:pt x="3014091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MinIO | Understand the guidelines for using MinIO's mark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4267" y="4816487"/>
              <a:ext cx="939571" cy="1332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09432" y="5210809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70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909432" y="5210809"/>
            <a:ext cx="1233805" cy="3314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36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incoming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797670" y="5197983"/>
            <a:ext cx="1892935" cy="335915"/>
            <a:chOff x="8797670" y="5197983"/>
            <a:chExt cx="1892935" cy="3359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7670" y="5223560"/>
              <a:ext cx="296811" cy="3098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57054" y="5197983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70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57055" y="5197983"/>
            <a:ext cx="1233805" cy="3314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36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70595" y="5210733"/>
            <a:ext cx="2634615" cy="1642745"/>
            <a:chOff x="8070595" y="5210733"/>
            <a:chExt cx="2634615" cy="164274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5292" y="5210733"/>
              <a:ext cx="296811" cy="3098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070595" y="5814508"/>
              <a:ext cx="2634615" cy="1038860"/>
            </a:xfrm>
            <a:custGeom>
              <a:avLst/>
              <a:gdLst/>
              <a:ahLst/>
              <a:cxnLst/>
              <a:rect l="l" t="t" r="r" b="b"/>
              <a:pathLst>
                <a:path w="2634615" h="1038859">
                  <a:moveTo>
                    <a:pt x="2634106" y="0"/>
                  </a:moveTo>
                  <a:lnTo>
                    <a:pt x="0" y="0"/>
                  </a:lnTo>
                  <a:lnTo>
                    <a:pt x="0" y="1038555"/>
                  </a:lnTo>
                  <a:lnTo>
                    <a:pt x="2634106" y="1038555"/>
                  </a:lnTo>
                  <a:lnTo>
                    <a:pt x="2634106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070595" y="5814508"/>
            <a:ext cx="2634615" cy="103886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75"/>
              </a:spcBef>
            </a:pPr>
            <a:r>
              <a:rPr sz="1600" b="1" spc="-20" dirty="0">
                <a:solidFill>
                  <a:srgbClr val="0D0D0D"/>
                </a:solidFill>
                <a:latin typeface="Calibri"/>
                <a:cs typeface="Calibri"/>
              </a:rPr>
              <a:t>wis2box-</a:t>
            </a:r>
            <a:r>
              <a:rPr sz="1600" b="1" spc="-10" dirty="0">
                <a:solidFill>
                  <a:srgbClr val="0D0D0D"/>
                </a:solidFill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  <a:p>
            <a:pPr marL="1018540" marR="43815" indent="269240" algn="r">
              <a:lnSpc>
                <a:spcPct val="100000"/>
              </a:lnSpc>
              <a:spcBef>
                <a:spcPts val="1110"/>
              </a:spcBef>
            </a:pP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apply</a:t>
            </a:r>
            <a:r>
              <a:rPr sz="12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data-mappings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WIS2-notifications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WCMP2-records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01283" y="4816551"/>
            <a:ext cx="3910965" cy="1706880"/>
            <a:chOff x="6201283" y="4816551"/>
            <a:chExt cx="3910965" cy="1706880"/>
          </a:xfrm>
        </p:grpSpPr>
        <p:pic>
          <p:nvPicPr>
            <p:cNvPr id="23" name="object 23" descr="Input, system, operation, process, insert icon - Download on Iconfinder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7276" y="5830786"/>
              <a:ext cx="692607" cy="69259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86140" y="5529199"/>
              <a:ext cx="1625600" cy="301625"/>
            </a:xfrm>
            <a:custGeom>
              <a:avLst/>
              <a:gdLst/>
              <a:ahLst/>
              <a:cxnLst/>
              <a:rect l="l" t="t" r="r" b="b"/>
              <a:pathLst>
                <a:path w="1625600" h="301625">
                  <a:moveTo>
                    <a:pt x="76200" y="225704"/>
                  </a:moveTo>
                  <a:lnTo>
                    <a:pt x="47599" y="225463"/>
                  </a:lnTo>
                  <a:lnTo>
                    <a:pt x="49403" y="12954"/>
                  </a:lnTo>
                  <a:lnTo>
                    <a:pt x="30353" y="12700"/>
                  </a:lnTo>
                  <a:lnTo>
                    <a:pt x="28549" y="225056"/>
                  </a:lnTo>
                  <a:lnTo>
                    <a:pt x="28549" y="225310"/>
                  </a:lnTo>
                  <a:lnTo>
                    <a:pt x="0" y="225056"/>
                  </a:lnTo>
                  <a:lnTo>
                    <a:pt x="37465" y="301586"/>
                  </a:lnTo>
                  <a:lnTo>
                    <a:pt x="69837" y="238163"/>
                  </a:lnTo>
                  <a:lnTo>
                    <a:pt x="76200" y="225704"/>
                  </a:lnTo>
                  <a:close/>
                </a:path>
                <a:path w="1625600" h="301625">
                  <a:moveTo>
                    <a:pt x="1625600" y="76250"/>
                  </a:moveTo>
                  <a:lnTo>
                    <a:pt x="1619250" y="63550"/>
                  </a:lnTo>
                  <a:lnTo>
                    <a:pt x="1587500" y="0"/>
                  </a:lnTo>
                  <a:lnTo>
                    <a:pt x="1549400" y="76250"/>
                  </a:lnTo>
                  <a:lnTo>
                    <a:pt x="1577975" y="76250"/>
                  </a:lnTo>
                  <a:lnTo>
                    <a:pt x="1577975" y="260934"/>
                  </a:lnTo>
                  <a:lnTo>
                    <a:pt x="1597025" y="260934"/>
                  </a:lnTo>
                  <a:lnTo>
                    <a:pt x="1597025" y="76250"/>
                  </a:lnTo>
                  <a:lnTo>
                    <a:pt x="1625600" y="76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1283" y="4816551"/>
              <a:ext cx="1437005" cy="729615"/>
            </a:xfrm>
            <a:custGeom>
              <a:avLst/>
              <a:gdLst/>
              <a:ahLst/>
              <a:cxnLst/>
              <a:rect l="l" t="t" r="r" b="b"/>
              <a:pathLst>
                <a:path w="1437004" h="729614">
                  <a:moveTo>
                    <a:pt x="1436496" y="0"/>
                  </a:moveTo>
                  <a:lnTo>
                    <a:pt x="0" y="0"/>
                  </a:lnTo>
                  <a:lnTo>
                    <a:pt x="0" y="729284"/>
                  </a:lnTo>
                  <a:lnTo>
                    <a:pt x="1436496" y="729284"/>
                  </a:lnTo>
                  <a:lnTo>
                    <a:pt x="1436496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858125" y="4694301"/>
            <a:ext cx="647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E5496"/>
                </a:solidFill>
                <a:latin typeface="Calibri"/>
                <a:cs typeface="Calibri"/>
              </a:rPr>
              <a:t>storage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90513" y="4772405"/>
            <a:ext cx="1167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National</a:t>
            </a:r>
            <a:r>
              <a:rPr sz="1400" b="1" i="1" spc="-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F243E"/>
                </a:solidFill>
                <a:latin typeface="Calibri"/>
                <a:cs typeface="Calibri"/>
              </a:rPr>
              <a:t>Sector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01283" y="5330063"/>
            <a:ext cx="1708150" cy="76200"/>
          </a:xfrm>
          <a:custGeom>
            <a:avLst/>
            <a:gdLst/>
            <a:ahLst/>
            <a:cxnLst/>
            <a:rect l="l" t="t" r="r" b="b"/>
            <a:pathLst>
              <a:path w="1708150" h="76200">
                <a:moveTo>
                  <a:pt x="1631568" y="0"/>
                </a:moveTo>
                <a:lnTo>
                  <a:pt x="1631806" y="28557"/>
                </a:lnTo>
                <a:lnTo>
                  <a:pt x="1631880" y="37337"/>
                </a:lnTo>
                <a:lnTo>
                  <a:pt x="1631965" y="47607"/>
                </a:lnTo>
                <a:lnTo>
                  <a:pt x="1632083" y="61721"/>
                </a:lnTo>
                <a:lnTo>
                  <a:pt x="1632203" y="76200"/>
                </a:lnTo>
                <a:lnTo>
                  <a:pt x="1688080" y="47607"/>
                </a:lnTo>
                <a:lnTo>
                  <a:pt x="1644650" y="47607"/>
                </a:lnTo>
                <a:lnTo>
                  <a:pt x="1644523" y="28557"/>
                </a:lnTo>
                <a:lnTo>
                  <a:pt x="1690142" y="28557"/>
                </a:lnTo>
                <a:lnTo>
                  <a:pt x="1631568" y="0"/>
                </a:lnTo>
                <a:close/>
              </a:path>
              <a:path w="1708150" h="76200">
                <a:moveTo>
                  <a:pt x="1631806" y="28557"/>
                </a:moveTo>
                <a:lnTo>
                  <a:pt x="0" y="42671"/>
                </a:lnTo>
                <a:lnTo>
                  <a:pt x="126" y="61721"/>
                </a:lnTo>
                <a:lnTo>
                  <a:pt x="1631965" y="47607"/>
                </a:lnTo>
                <a:lnTo>
                  <a:pt x="1631880" y="37337"/>
                </a:lnTo>
                <a:lnTo>
                  <a:pt x="1631806" y="28557"/>
                </a:lnTo>
                <a:close/>
              </a:path>
              <a:path w="1708150" h="76200">
                <a:moveTo>
                  <a:pt x="1690142" y="28557"/>
                </a:moveTo>
                <a:lnTo>
                  <a:pt x="1644523" y="28557"/>
                </a:lnTo>
                <a:lnTo>
                  <a:pt x="1644650" y="47607"/>
                </a:lnTo>
                <a:lnTo>
                  <a:pt x="1688080" y="47607"/>
                </a:lnTo>
                <a:lnTo>
                  <a:pt x="1708149" y="37337"/>
                </a:lnTo>
                <a:lnTo>
                  <a:pt x="1690142" y="2855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59042" y="5164328"/>
            <a:ext cx="8661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data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uploaded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37977" y="5554598"/>
            <a:ext cx="1407541" cy="75989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94436" y="4403216"/>
            <a:ext cx="502285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45" dirty="0">
                <a:solidFill>
                  <a:srgbClr val="2E5496"/>
                </a:solidFill>
                <a:latin typeface="Trebuchet MS"/>
                <a:cs typeface="Trebuchet MS"/>
              </a:rPr>
              <a:t>wis2box-</a:t>
            </a:r>
            <a:r>
              <a:rPr sz="2000" b="1" spc="-20" dirty="0">
                <a:solidFill>
                  <a:srgbClr val="2E5496"/>
                </a:solidFill>
                <a:latin typeface="Trebuchet MS"/>
                <a:cs typeface="Trebuchet MS"/>
              </a:rPr>
              <a:t>managemen</a:t>
            </a:r>
            <a:r>
              <a:rPr sz="2000" spc="-20" dirty="0">
                <a:solidFill>
                  <a:srgbClr val="2E5496"/>
                </a:solidFill>
                <a:latin typeface="Trebuchet MS"/>
                <a:cs typeface="Trebuchet MS"/>
              </a:rPr>
              <a:t>t</a:t>
            </a:r>
            <a:r>
              <a:rPr sz="2000" spc="-15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2E5496"/>
                </a:solidFill>
                <a:latin typeface="Trebuchet MS"/>
                <a:cs typeface="Trebuchet MS"/>
              </a:rPr>
              <a:t>container</a:t>
            </a:r>
            <a:r>
              <a:rPr sz="2000" spc="-12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rebuchet MS"/>
                <a:cs typeface="Trebuchet MS"/>
              </a:rPr>
              <a:t>listens</a:t>
            </a:r>
            <a:r>
              <a:rPr sz="2000" b="1" spc="-9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2E5496"/>
                </a:solidFill>
                <a:latin typeface="Trebuchet MS"/>
                <a:cs typeface="Trebuchet MS"/>
              </a:rPr>
              <a:t>to </a:t>
            </a:r>
            <a:r>
              <a:rPr sz="2000" spc="-35" dirty="0">
                <a:solidFill>
                  <a:srgbClr val="2E5496"/>
                </a:solidFill>
                <a:latin typeface="Trebuchet MS"/>
                <a:cs typeface="Trebuchet MS"/>
              </a:rPr>
              <a:t>events</a:t>
            </a:r>
            <a:r>
              <a:rPr sz="2000" spc="-16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from</a:t>
            </a:r>
            <a:r>
              <a:rPr sz="2000" spc="-15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rebuchet MS"/>
                <a:cs typeface="Trebuchet MS"/>
              </a:rPr>
              <a:t>MinIO</a:t>
            </a:r>
            <a:r>
              <a:rPr sz="2000" b="1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2E5496"/>
                </a:solidFill>
                <a:latin typeface="Trebuchet MS"/>
                <a:cs typeface="Trebuchet MS"/>
              </a:rPr>
              <a:t>to</a:t>
            </a:r>
            <a:r>
              <a:rPr sz="2000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2E5496"/>
                </a:solidFill>
                <a:latin typeface="Trebuchet MS"/>
                <a:cs typeface="Trebuchet MS"/>
              </a:rPr>
              <a:t>trigger</a:t>
            </a:r>
            <a:r>
              <a:rPr sz="2000" b="1" spc="-14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rebuchet MS"/>
                <a:cs typeface="Trebuchet MS"/>
              </a:rPr>
              <a:t>data</a:t>
            </a:r>
            <a:r>
              <a:rPr sz="2000" b="1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rebuchet MS"/>
                <a:cs typeface="Trebuchet MS"/>
              </a:rPr>
              <a:t>processing </a:t>
            </a:r>
            <a:r>
              <a:rPr sz="2000" spc="-85" dirty="0">
                <a:solidFill>
                  <a:srgbClr val="2E5496"/>
                </a:solidFill>
                <a:latin typeface="Trebuchet MS"/>
                <a:cs typeface="Trebuchet MS"/>
              </a:rPr>
              <a:t>The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2E5496"/>
                </a:solidFill>
                <a:latin typeface="Trebuchet MS"/>
                <a:cs typeface="Trebuchet MS"/>
              </a:rPr>
              <a:t>file-</a:t>
            </a:r>
            <a:r>
              <a:rPr sz="2000" spc="-40" dirty="0">
                <a:solidFill>
                  <a:srgbClr val="2E5496"/>
                </a:solidFill>
                <a:latin typeface="Trebuchet MS"/>
                <a:cs typeface="Trebuchet MS"/>
              </a:rPr>
              <a:t>path</a:t>
            </a:r>
            <a:r>
              <a:rPr sz="2000" spc="-18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of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the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E5496"/>
                </a:solidFill>
                <a:latin typeface="Trebuchet MS"/>
                <a:cs typeface="Trebuchet MS"/>
              </a:rPr>
              <a:t>incoming</a:t>
            </a:r>
            <a:r>
              <a:rPr sz="2000" spc="-17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2E5496"/>
                </a:solidFill>
                <a:latin typeface="Trebuchet MS"/>
                <a:cs typeface="Trebuchet MS"/>
              </a:rPr>
              <a:t>data</a:t>
            </a:r>
            <a:r>
              <a:rPr sz="2000" spc="-15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E5496"/>
                </a:solidFill>
                <a:latin typeface="Trebuchet MS"/>
                <a:cs typeface="Trebuchet MS"/>
              </a:rPr>
              <a:t>is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E5496"/>
                </a:solidFill>
                <a:latin typeface="Trebuchet MS"/>
                <a:cs typeface="Trebuchet MS"/>
              </a:rPr>
              <a:t>used</a:t>
            </a:r>
            <a:r>
              <a:rPr sz="2000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2E5496"/>
                </a:solidFill>
                <a:latin typeface="Trebuchet MS"/>
                <a:cs typeface="Trebuchet MS"/>
              </a:rPr>
              <a:t>to </a:t>
            </a:r>
            <a:r>
              <a:rPr sz="2000" spc="-55" dirty="0">
                <a:solidFill>
                  <a:srgbClr val="2E5496"/>
                </a:solidFill>
                <a:latin typeface="Trebuchet MS"/>
                <a:cs typeface="Trebuchet MS"/>
              </a:rPr>
              <a:t>determine</a:t>
            </a:r>
            <a:r>
              <a:rPr sz="2000" spc="-18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the</a:t>
            </a:r>
            <a:r>
              <a:rPr sz="2000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E5496"/>
                </a:solidFill>
                <a:latin typeface="Trebuchet MS"/>
                <a:cs typeface="Trebuchet MS"/>
              </a:rPr>
              <a:t>corresponding</a:t>
            </a:r>
            <a:r>
              <a:rPr sz="2000" spc="-17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2E5496"/>
                </a:solidFill>
                <a:latin typeface="Trebuchet MS"/>
                <a:cs typeface="Trebuchet MS"/>
              </a:rPr>
              <a:t>dataset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0540-4FBE-582C-EE0C-19BE57BD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enter for Geospatial Solutions Home">
            <a:extLst>
              <a:ext uri="{FF2B5EF4-FFF2-40B4-BE49-F238E27FC236}">
                <a16:creationId xmlns:a16="http://schemas.microsoft.com/office/drawing/2014/main" id="{324039AB-39CE-417A-2799-0940F9F96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72" y="5278278"/>
            <a:ext cx="2123623" cy="75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4D6130-ECB5-3B0B-B46D-0678B7647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128259"/>
            <a:ext cx="1051877" cy="105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A4F7F84-0D00-3B3A-D7DB-DD6999AB2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209" y="5293642"/>
            <a:ext cx="1087437" cy="108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0571C086-065D-49D0-5AA9-BA9F3DFBD0C3}"/>
              </a:ext>
            </a:extLst>
          </p:cNvPr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Thank You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40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</TotalTime>
  <Words>3570</Words>
  <Application>Microsoft Office PowerPoint</Application>
  <PresentationFormat>Widescreen</PresentationFormat>
  <Paragraphs>461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Aptos</vt:lpstr>
      <vt:lpstr>Aptos Display</vt:lpstr>
      <vt:lpstr>Arial</vt:lpstr>
      <vt:lpstr>Arial MT</vt:lpstr>
      <vt:lpstr>Calibri</vt:lpstr>
      <vt:lpstr>Consolas</vt:lpstr>
      <vt:lpstr>Times New Roman</vt:lpstr>
      <vt:lpstr>Trebuchet MS</vt:lpstr>
      <vt:lpstr>Verdana</vt:lpstr>
      <vt:lpstr>Wingdings</vt:lpstr>
      <vt:lpstr>Office Theme</vt:lpstr>
      <vt:lpstr>1_Office Theme</vt:lpstr>
      <vt:lpstr>2_Office Theme</vt:lpstr>
      <vt:lpstr>PowerPoint Presentation</vt:lpstr>
      <vt:lpstr>Introduction</vt:lpstr>
      <vt:lpstr>The WMO Unified Data Policy</vt:lpstr>
      <vt:lpstr>GBON land-surface and upper-air</vt:lpstr>
      <vt:lpstr>GBON land and upper-air</vt:lpstr>
      <vt:lpstr>Publishing CAP on WIS2</vt:lpstr>
      <vt:lpstr>Publishing DAYCLI on WIS2</vt:lpstr>
      <vt:lpstr>Aviation data on WIS2</vt:lpstr>
      <vt:lpstr>Adding a license for recommended data in wis2box</vt:lpstr>
      <vt:lpstr>Using a custom license hosted on wis2box</vt:lpstr>
      <vt:lpstr>Recommended data in WIS 2.0: access control</vt:lpstr>
      <vt:lpstr>access control in wis2box</vt:lpstr>
      <vt:lpstr>No WIS2 Topic available for your data ?</vt:lpstr>
      <vt:lpstr>wis2box data ingest workflow</vt:lpstr>
      <vt:lpstr>How to upload data to wis2box</vt:lpstr>
      <vt:lpstr>BUFR ?</vt:lpstr>
      <vt:lpstr>BUFR tools in wis2box</vt:lpstr>
      <vt:lpstr>BUFR tools in wis2box</vt:lpstr>
      <vt:lpstr>Station metadata used in transformation to BUFR</vt:lpstr>
      <vt:lpstr>wis2box data plugins: bufr2bufr</vt:lpstr>
      <vt:lpstr>wis2box data plugins: csv2bufr</vt:lpstr>
      <vt:lpstr>CSV-to-BUFR introduction</vt:lpstr>
      <vt:lpstr>CSV-to-BUFR key ingredients</vt:lpstr>
      <vt:lpstr>BUFR mapping template</vt:lpstr>
      <vt:lpstr>BUFR mapping template</vt:lpstr>
      <vt:lpstr>The AWS template</vt:lpstr>
      <vt:lpstr>The DAYCLI template</vt:lpstr>
      <vt:lpstr>wis2box data plugins: synop2bufr</vt:lpstr>
      <vt:lpstr>SYNOP-to-BUFR</vt:lpstr>
      <vt:lpstr>SYNOP-to-BUFR</vt:lpstr>
      <vt:lpstr>wis2box data plugins: Common Alerting Protocol (CAP)</vt:lpstr>
      <vt:lpstr>Publishing CAP on WIS2</vt:lpstr>
      <vt:lpstr>Summary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Benjamin Webb</dc:creator>
  <cp:lastModifiedBy>Peter Mutai</cp:lastModifiedBy>
  <cp:revision>1</cp:revision>
  <dcterms:created xsi:type="dcterms:W3CDTF">2026-09-08T15:56:58Z</dcterms:created>
  <dcterms:modified xsi:type="dcterms:W3CDTF">2026-09-14T13:01:31Z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2026-09-08T00:00:00Z</vt:filetime>
  </property>
  <property fmtid="{D5CDD505-2E9C-101B-9397-08002B2CF9AE}" pid="6" name="Producer">
    <vt:lpwstr>Microsoft® PowerPoint® for Microsoft 365</vt:lpwstr>
  </property>
</Properties>
</file>